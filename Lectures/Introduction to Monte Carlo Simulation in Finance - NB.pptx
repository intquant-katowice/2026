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notesSlides/notesSlide1.xml" ContentType="application/vnd.openxmlformats-officedocument.presentationml.notesSlide+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notesSlides/notesSlide2.xml" ContentType="application/vnd.openxmlformats-officedocument.presentationml.notesSlide+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notesSlides/notesSlide3.xml" ContentType="application/vnd.openxmlformats-officedocument.presentationml.notesSlide+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notesSlides/notesSlide4.xml" ContentType="application/vnd.openxmlformats-officedocument.presentationml.notesSlide+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notesSlides/notesSlide5.xml" ContentType="application/vnd.openxmlformats-officedocument.presentationml.notesSlide+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notesSlides/notesSlide6.xml" ContentType="application/vnd.openxmlformats-officedocument.presentationml.notesSlide+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notesSlides/notesSlide7.xml" ContentType="application/vnd.openxmlformats-officedocument.presentationml.notesSlide+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notesSlides/notesSlide8.xml" ContentType="application/vnd.openxmlformats-officedocument.presentationml.notesSlide+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notesSlides/notesSlide9.xml" ContentType="application/vnd.openxmlformats-officedocument.presentationml.notesSlide+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notesSlides/notesSlide10.xml" ContentType="application/vnd.openxmlformats-officedocument.presentationml.notesSlide+xml"/>
  <Override PartName="/ppt/tags/tag234.xml" ContentType="application/vnd.openxmlformats-officedocument.presentationml.tags+xml"/>
  <Override PartName="/ppt/tags/tag235.xml" ContentType="application/vnd.openxmlformats-officedocument.presentationml.tags+xml"/>
  <Override PartName="/ppt/notesSlides/notesSlide11.xml" ContentType="application/vnd.openxmlformats-officedocument.presentationml.notesSlide+xml"/>
  <Override PartName="/ppt/tags/tag236.xml" ContentType="application/vnd.openxmlformats-officedocument.presentationml.tags+xml"/>
  <Override PartName="/ppt/tags/tag237.xml" ContentType="application/vnd.openxmlformats-officedocument.presentationml.tags+xml"/>
  <Override PartName="/ppt/notesSlides/notesSlide12.xml" ContentType="application/vnd.openxmlformats-officedocument.presentationml.notesSlide+xml"/>
  <Override PartName="/ppt/tags/tag238.xml" ContentType="application/vnd.openxmlformats-officedocument.presentationml.tags+xml"/>
  <Override PartName="/ppt/tags/tag239.xml" ContentType="application/vnd.openxmlformats-officedocument.presentationml.tags+xml"/>
  <Override PartName="/ppt/notesSlides/notesSlide13.xml" ContentType="application/vnd.openxmlformats-officedocument.presentationml.notesSlide+xml"/>
  <Override PartName="/ppt/tags/tag240.xml" ContentType="application/vnd.openxmlformats-officedocument.presentationml.tags+xml"/>
  <Override PartName="/ppt/tags/tag241.xml" ContentType="application/vnd.openxmlformats-officedocument.presentationml.tags+xml"/>
  <Override PartName="/ppt/notesSlides/notesSlide14.xml" ContentType="application/vnd.openxmlformats-officedocument.presentationml.notesSlide+xml"/>
  <Override PartName="/ppt/tags/tag242.xml" ContentType="application/vnd.openxmlformats-officedocument.presentationml.tags+xml"/>
  <Override PartName="/ppt/tags/tag243.xml" ContentType="application/vnd.openxmlformats-officedocument.presentationml.tags+xml"/>
  <Override PartName="/ppt/notesSlides/notesSlide15.xml" ContentType="application/vnd.openxmlformats-officedocument.presentationml.notesSlide+xml"/>
  <Override PartName="/ppt/tags/tag244.xml" ContentType="application/vnd.openxmlformats-officedocument.presentationml.tags+xml"/>
  <Override PartName="/ppt/tags/tag245.xml" ContentType="application/vnd.openxmlformats-officedocument.presentationml.tags+xml"/>
  <Override PartName="/ppt/notesSlides/notesSlide16.xml" ContentType="application/vnd.openxmlformats-officedocument.presentationml.notesSlide+xml"/>
  <Override PartName="/ppt/tags/tag246.xml" ContentType="application/vnd.openxmlformats-officedocument.presentationml.tags+xml"/>
  <Override PartName="/ppt/tags/tag247.xml" ContentType="application/vnd.openxmlformats-officedocument.presentationml.tags+xml"/>
  <Override PartName="/ppt/notesSlides/notesSlide17.xml" ContentType="application/vnd.openxmlformats-officedocument.presentationml.notesSlide+xml"/>
  <Override PartName="/ppt/tags/tag248.xml" ContentType="application/vnd.openxmlformats-officedocument.presentationml.tags+xml"/>
  <Override PartName="/ppt/tags/tag249.xml" ContentType="application/vnd.openxmlformats-officedocument.presentationml.tags+xml"/>
  <Override PartName="/ppt/notesSlides/notesSlide18.xml" ContentType="application/vnd.openxmlformats-officedocument.presentationml.notesSlide+xml"/>
  <Override PartName="/ppt/tags/tag250.xml" ContentType="application/vnd.openxmlformats-officedocument.presentationml.tags+xml"/>
  <Override PartName="/ppt/tags/tag251.xml" ContentType="application/vnd.openxmlformats-officedocument.presentationml.tags+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tags/tag1830.xml" ContentType="application/vnd.openxmlformats-officedocument.presentationml.tags+xml"/>
  <Override PartName="/ppt/tags/tag1840.xml" ContentType="application/vnd.openxmlformats-officedocument.presentationml.tags+xml"/>
  <Override PartName="/ppt/tags/tag1880.xml" ContentType="application/vnd.openxmlformats-officedocument.presentationml.tags+xml"/>
  <Override PartName="/ppt/tags/tag1900.xml" ContentType="application/vnd.openxmlformats-officedocument.presentationml.tags+xml"/>
  <Override PartName="/ppt/tags/tag1950.xml" ContentType="application/vnd.openxmlformats-officedocument.presentationml.tags+xml"/>
  <Override PartName="/ppt/tags/tag2000.xml" ContentType="application/vnd.openxmlformats-officedocument.presentationml.tag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trictFirstAndLastChars="0" saveSubsetFonts="1">
  <p:sldMasterIdLst>
    <p:sldMasterId id="2147484183" r:id="rId2"/>
  </p:sldMasterIdLst>
  <p:notesMasterIdLst>
    <p:notesMasterId r:id="rId44"/>
  </p:notesMasterIdLst>
  <p:handoutMasterIdLst>
    <p:handoutMasterId r:id="rId45"/>
  </p:handoutMasterIdLst>
  <p:sldIdLst>
    <p:sldId id="265" r:id="rId3"/>
    <p:sldId id="297" r:id="rId4"/>
    <p:sldId id="258" r:id="rId5"/>
    <p:sldId id="273" r:id="rId6"/>
    <p:sldId id="264" r:id="rId7"/>
    <p:sldId id="299" r:id="rId8"/>
    <p:sldId id="300" r:id="rId9"/>
    <p:sldId id="298" r:id="rId10"/>
    <p:sldId id="274" r:id="rId11"/>
    <p:sldId id="301" r:id="rId12"/>
    <p:sldId id="303" r:id="rId13"/>
    <p:sldId id="276" r:id="rId14"/>
    <p:sldId id="304" r:id="rId15"/>
    <p:sldId id="269" r:id="rId16"/>
    <p:sldId id="306" r:id="rId17"/>
    <p:sldId id="309" r:id="rId18"/>
    <p:sldId id="310" r:id="rId19"/>
    <p:sldId id="308" r:id="rId20"/>
    <p:sldId id="311" r:id="rId21"/>
    <p:sldId id="315" r:id="rId22"/>
    <p:sldId id="316" r:id="rId23"/>
    <p:sldId id="312" r:id="rId24"/>
    <p:sldId id="317" r:id="rId25"/>
    <p:sldId id="307" r:id="rId26"/>
    <p:sldId id="275" r:id="rId27"/>
    <p:sldId id="305" r:id="rId28"/>
    <p:sldId id="270" r:id="rId29"/>
    <p:sldId id="290" r:id="rId30"/>
    <p:sldId id="288" r:id="rId31"/>
    <p:sldId id="292" r:id="rId32"/>
    <p:sldId id="314" r:id="rId33"/>
    <p:sldId id="283" r:id="rId34"/>
    <p:sldId id="284" r:id="rId35"/>
    <p:sldId id="285" r:id="rId36"/>
    <p:sldId id="286" r:id="rId37"/>
    <p:sldId id="287" r:id="rId38"/>
    <p:sldId id="289" r:id="rId39"/>
    <p:sldId id="318" r:id="rId40"/>
    <p:sldId id="291" r:id="rId41"/>
    <p:sldId id="319" r:id="rId42"/>
    <p:sldId id="293" r:id="rId43"/>
  </p:sldIdLst>
  <p:sldSz cx="10058400" cy="7543800"/>
  <p:notesSz cx="6996113" cy="9282113"/>
  <p:custDataLst>
    <p:tags r:id="rId46"/>
  </p:custDataLst>
  <p:defaultTextStyle>
    <a:defPPr>
      <a:defRPr lang="en-US"/>
    </a:defPPr>
    <a:lvl1pPr algn="l" rtl="0" eaLnBrk="0" fontAlgn="base" hangingPunct="0">
      <a:spcBef>
        <a:spcPct val="50000"/>
      </a:spcBef>
      <a:spcAft>
        <a:spcPct val="0"/>
      </a:spcAft>
      <a:defRPr lang="en-US" kern="1200">
        <a:solidFill>
          <a:schemeClr val="tx1"/>
        </a:solidFill>
        <a:latin typeface="Frutiger 55 Roman"/>
        <a:ea typeface="+mn-ea"/>
        <a:cs typeface="+mn-cs"/>
      </a:defRPr>
    </a:lvl1pPr>
    <a:lvl2pPr marL="457200" algn="l" rtl="0" eaLnBrk="0" fontAlgn="base" hangingPunct="0">
      <a:spcBef>
        <a:spcPct val="50000"/>
      </a:spcBef>
      <a:spcAft>
        <a:spcPct val="0"/>
      </a:spcAft>
      <a:defRPr kern="1200">
        <a:solidFill>
          <a:schemeClr val="tx1"/>
        </a:solidFill>
        <a:latin typeface="Frutiger 55 Roman" pitchFamily="34" charset="0"/>
        <a:ea typeface="+mn-ea"/>
        <a:cs typeface="+mn-cs"/>
      </a:defRPr>
    </a:lvl2pPr>
    <a:lvl3pPr marL="914400" algn="l" rtl="0" eaLnBrk="0" fontAlgn="base" hangingPunct="0">
      <a:spcBef>
        <a:spcPct val="50000"/>
      </a:spcBef>
      <a:spcAft>
        <a:spcPct val="0"/>
      </a:spcAft>
      <a:defRPr kern="1200">
        <a:solidFill>
          <a:schemeClr val="tx1"/>
        </a:solidFill>
        <a:latin typeface="Frutiger 55 Roman" pitchFamily="34" charset="0"/>
        <a:ea typeface="+mn-ea"/>
        <a:cs typeface="+mn-cs"/>
      </a:defRPr>
    </a:lvl3pPr>
    <a:lvl4pPr marL="1371600" algn="l" rtl="0" eaLnBrk="0" fontAlgn="base" hangingPunct="0">
      <a:spcBef>
        <a:spcPct val="50000"/>
      </a:spcBef>
      <a:spcAft>
        <a:spcPct val="0"/>
      </a:spcAft>
      <a:defRPr kern="1200">
        <a:solidFill>
          <a:schemeClr val="tx1"/>
        </a:solidFill>
        <a:latin typeface="Frutiger 55 Roman" pitchFamily="34" charset="0"/>
        <a:ea typeface="+mn-ea"/>
        <a:cs typeface="+mn-cs"/>
      </a:defRPr>
    </a:lvl4pPr>
    <a:lvl5pPr marL="1828800" algn="l" rtl="0" eaLnBrk="0" fontAlgn="base" hangingPunct="0">
      <a:spcBef>
        <a:spcPct val="50000"/>
      </a:spcBef>
      <a:spcAft>
        <a:spcPct val="0"/>
      </a:spcAft>
      <a:defRPr kern="1200">
        <a:solidFill>
          <a:schemeClr val="tx1"/>
        </a:solidFill>
        <a:latin typeface="Frutiger 55 Roman" pitchFamily="34" charset="0"/>
        <a:ea typeface="+mn-ea"/>
        <a:cs typeface="+mn-cs"/>
      </a:defRPr>
    </a:lvl5pPr>
    <a:lvl6pPr marL="2286000" algn="l" defTabSz="914400" rtl="0" eaLnBrk="1" latinLnBrk="0" hangingPunct="1">
      <a:defRPr kern="1200">
        <a:solidFill>
          <a:schemeClr val="tx1"/>
        </a:solidFill>
        <a:latin typeface="Frutiger 55 Roman" pitchFamily="34" charset="0"/>
        <a:ea typeface="+mn-ea"/>
        <a:cs typeface="+mn-cs"/>
      </a:defRPr>
    </a:lvl6pPr>
    <a:lvl7pPr marL="2743200" algn="l" defTabSz="914400" rtl="0" eaLnBrk="1" latinLnBrk="0" hangingPunct="1">
      <a:defRPr kern="1200">
        <a:solidFill>
          <a:schemeClr val="tx1"/>
        </a:solidFill>
        <a:latin typeface="Frutiger 55 Roman" pitchFamily="34" charset="0"/>
        <a:ea typeface="+mn-ea"/>
        <a:cs typeface="+mn-cs"/>
      </a:defRPr>
    </a:lvl7pPr>
    <a:lvl8pPr marL="3200400" algn="l" defTabSz="914400" rtl="0" eaLnBrk="1" latinLnBrk="0" hangingPunct="1">
      <a:defRPr kern="1200">
        <a:solidFill>
          <a:schemeClr val="tx1"/>
        </a:solidFill>
        <a:latin typeface="Frutiger 55 Roman" pitchFamily="34" charset="0"/>
        <a:ea typeface="+mn-ea"/>
        <a:cs typeface="+mn-cs"/>
      </a:defRPr>
    </a:lvl8pPr>
    <a:lvl9pPr marL="3657600" algn="l" defTabSz="914400" rtl="0" eaLnBrk="1" latinLnBrk="0" hangingPunct="1">
      <a:defRPr kern="1200">
        <a:solidFill>
          <a:schemeClr val="tx1"/>
        </a:solidFill>
        <a:latin typeface="Frutiger 55 Roman" pitchFamily="34" charset="0"/>
        <a:ea typeface="+mn-ea"/>
        <a:cs typeface="+mn-cs"/>
      </a:defRPr>
    </a:lvl9pPr>
  </p:defaultTextStyle>
  <p:extLst>
    <p:ext uri="{521415D9-36F7-43E2-AB2F-B90AF26B5E84}">
      <p14:sectionLst xmlns:p14="http://schemas.microsoft.com/office/powerpoint/2010/main">
        <p14:section name="Untitled Section" id="{1030C549-4C55-4C9A-8619-56AC5A5EDCB9}">
          <p14:sldIdLst>
            <p14:sldId id="265"/>
            <p14:sldId id="297"/>
          </p14:sldIdLst>
        </p14:section>
        <p14:section name="Untitled Section" id="{B84B32C3-02CE-4382-A6AF-5E9B2CF4795D}">
          <p14:sldIdLst>
            <p14:sldId id="258"/>
            <p14:sldId id="273"/>
            <p14:sldId id="264"/>
            <p14:sldId id="299"/>
            <p14:sldId id="300"/>
          </p14:sldIdLst>
        </p14:section>
        <p14:section name="&lt;&lt;Divider title&gt;&gt;" id="{6F0A6F0A-81D8-475C-9CF8-0BEADFC98B08}">
          <p14:sldIdLst>
            <p14:sldId id="298"/>
            <p14:sldId id="274"/>
            <p14:sldId id="301"/>
            <p14:sldId id="303"/>
            <p14:sldId id="276"/>
            <p14:sldId id="304"/>
          </p14:sldIdLst>
        </p14:section>
        <p14:section name="&lt;&lt;Divider title&gt;&gt;" id="{3B9FE805-70F3-46F0-BD17-0B0788757EEA}">
          <p14:sldIdLst/>
        </p14:section>
        <p14:section name="&lt;&lt;Divider title&gt;&gt;" id="{3F3D3DA5-9121-4B00-B72F-DAF93111B851}">
          <p14:sldIdLst>
            <p14:sldId id="269"/>
            <p14:sldId id="306"/>
            <p14:sldId id="309"/>
            <p14:sldId id="310"/>
            <p14:sldId id="308"/>
            <p14:sldId id="311"/>
            <p14:sldId id="315"/>
            <p14:sldId id="316"/>
            <p14:sldId id="312"/>
            <p14:sldId id="317"/>
            <p14:sldId id="307"/>
            <p14:sldId id="275"/>
            <p14:sldId id="305"/>
          </p14:sldIdLst>
        </p14:section>
        <p14:section name="&lt;&lt;Divider title&gt;&gt;" id="{3AB9198A-5BC6-46BD-87A7-C94B104A23FF}">
          <p14:sldIdLst>
            <p14:sldId id="270"/>
            <p14:sldId id="290"/>
            <p14:sldId id="288"/>
            <p14:sldId id="292"/>
            <p14:sldId id="314"/>
            <p14:sldId id="283"/>
            <p14:sldId id="284"/>
            <p14:sldId id="285"/>
            <p14:sldId id="286"/>
            <p14:sldId id="287"/>
            <p14:sldId id="289"/>
            <p14:sldId id="318"/>
            <p14:sldId id="291"/>
            <p14:sldId id="319"/>
            <p14:sldId id="293"/>
          </p14:sldIdLst>
        </p14:section>
      </p14:sectionLst>
    </p:ext>
    <p:ext uri="{EFAFB233-063F-42B5-8137-9DF3F51BA10A}">
      <p15:sldGuideLst xmlns:p15="http://schemas.microsoft.com/office/powerpoint/2012/main">
        <p15:guide id="1" orient="horz" pos="4579">
          <p15:clr>
            <a:srgbClr val="A4A3A4"/>
          </p15:clr>
        </p15:guide>
        <p15:guide id="2" orient="horz" pos="687">
          <p15:clr>
            <a:srgbClr val="A4A3A4"/>
          </p15:clr>
        </p15:guide>
        <p15:guide id="3" orient="horz" pos="539">
          <p15:clr>
            <a:srgbClr val="A4A3A4"/>
          </p15:clr>
        </p15:guide>
        <p15:guide id="4" orient="horz" pos="343">
          <p15:clr>
            <a:srgbClr val="A4A3A4"/>
          </p15:clr>
        </p15:guide>
        <p15:guide id="5" orient="horz" pos="4164">
          <p15:clr>
            <a:srgbClr val="A4A3A4"/>
          </p15:clr>
        </p15:guide>
        <p15:guide id="6" orient="horz" pos="2559">
          <p15:clr>
            <a:srgbClr val="A4A3A4"/>
          </p15:clr>
        </p15:guide>
        <p15:guide id="7" orient="horz" pos="1176">
          <p15:clr>
            <a:srgbClr val="A4A3A4"/>
          </p15:clr>
        </p15:guide>
        <p15:guide id="8" orient="horz" pos="944">
          <p15:clr>
            <a:srgbClr val="A4A3A4"/>
          </p15:clr>
        </p15:guide>
        <p15:guide id="9" orient="horz" pos="2785">
          <p15:clr>
            <a:srgbClr val="A4A3A4"/>
          </p15:clr>
        </p15:guide>
        <p15:guide id="10" pos="3168">
          <p15:clr>
            <a:srgbClr val="A4A3A4"/>
          </p15:clr>
        </p15:guide>
        <p15:guide id="11" pos="266">
          <p15:clr>
            <a:srgbClr val="A4A3A4"/>
          </p15:clr>
        </p15:guide>
        <p15:guide id="12" pos="6053">
          <p15:clr>
            <a:srgbClr val="A4A3A4"/>
          </p15:clr>
        </p15:guide>
      </p15:sldGuideLst>
    </p:ext>
    <p:ext uri="{2D200454-40CA-4A62-9FC3-DE9A4176ACB9}">
      <p15:notesGuideLst xmlns:p15="http://schemas.microsoft.com/office/powerpoint/2012/main">
        <p15:guide id="1" orient="horz" pos="2923">
          <p15:clr>
            <a:srgbClr val="A4A3A4"/>
          </p15:clr>
        </p15:guide>
        <p15:guide id="2" pos="2203">
          <p15:clr>
            <a:srgbClr val="A4A3A4"/>
          </p15:clr>
        </p15:guide>
      </p15:notesGuideLst>
    </p:ext>
    <p:ext uri="{50385BFA-195E-4E9F-9E8A-86900EEC6D5D}">
      <p14:sectionPr xmlns:p14="http://schemas.microsoft.com/office/powerpoint/2007/7/12/main" xmlns="">
        <p14:section name="Default Section" slideIdLst="263 258" id="{F3A50AD0-1C96-4FFB-A588-4C2E07833EC5}"/>
        <p14:section name="Untitled Section" slideIdLst="259 260" id="{731A7D92-B090-44AE-BDF3-5EDBB7844CCD}"/>
        <p14:section name="Untitled Section" slideIdLst="261 262" id="{8A1131A8-562D-483F-B678-EACC5503E90B}"/>
      </p14:sectionPr>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hiddenSlides="1" scaleToFitPaper="1"/>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B7D80"/>
    <a:srgbClr val="919191"/>
    <a:srgbClr val="929395"/>
    <a:srgbClr val="66008C"/>
    <a:srgbClr val="F7B50C"/>
    <a:srgbClr val="CC7A02"/>
    <a:srgbClr val="002B7F"/>
    <a:srgbClr val="BEBEBE"/>
    <a:srgbClr val="5B77CC"/>
    <a:srgbClr val="FFD53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540" autoAdjust="0"/>
    <p:restoredTop sz="94669" autoAdjust="0"/>
  </p:normalViewPr>
  <p:slideViewPr>
    <p:cSldViewPr snapToGrid="0">
      <p:cViewPr varScale="1">
        <p:scale>
          <a:sx n="73" d="100"/>
          <a:sy n="73" d="100"/>
        </p:scale>
        <p:origin x="1278" y="294"/>
      </p:cViewPr>
      <p:guideLst>
        <p:guide orient="horz" pos="4579"/>
        <p:guide orient="horz" pos="687"/>
        <p:guide orient="horz" pos="539"/>
        <p:guide orient="horz" pos="343"/>
        <p:guide orient="horz" pos="4164"/>
        <p:guide orient="horz" pos="2559"/>
        <p:guide orient="horz" pos="1176"/>
        <p:guide orient="horz" pos="944"/>
        <p:guide orient="horz" pos="2785"/>
        <p:guide pos="3168"/>
        <p:guide pos="266"/>
        <p:guide pos="6053"/>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82" d="100"/>
          <a:sy n="82" d="100"/>
        </p:scale>
        <p:origin x="-1896" y="-102"/>
      </p:cViewPr>
      <p:guideLst>
        <p:guide orient="horz" pos="2923"/>
        <p:guide pos="2203"/>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1.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ags" Target="tags/tag1.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customXml" Target="../customXml/item1.xml"/><Relationship Id="rId6"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42" name="Rectangle 2"/>
          <p:cNvSpPr>
            <a:spLocks noGrp="1" noChangeArrowheads="1"/>
          </p:cNvSpPr>
          <p:nvPr>
            <p:ph type="hdr" sz="quarter"/>
          </p:nvPr>
        </p:nvSpPr>
        <p:spPr bwMode="auto">
          <a:xfrm>
            <a:off x="0" y="0"/>
            <a:ext cx="573088" cy="182563"/>
          </a:xfrm>
          <a:prstGeom prst="rect">
            <a:avLst/>
          </a:prstGeom>
          <a:noFill/>
          <a:ln w="28575">
            <a:noFill/>
            <a:miter lim="800000"/>
            <a:headEnd/>
            <a:tailEnd/>
          </a:ln>
          <a:effectLst/>
        </p:spPr>
        <p:txBody>
          <a:bodyPr vert="horz" wrap="none" lIns="0" tIns="0" rIns="0" bIns="0" numCol="1" anchor="t" anchorCtr="0" compatLnSpc="1">
            <a:prstTxWarp prst="textNoShape">
              <a:avLst/>
            </a:prstTxWarp>
            <a:spAutoFit/>
          </a:bodyPr>
          <a:lstStyle>
            <a:lvl1pPr defTabSz="885825">
              <a:defRPr sz="1200">
                <a:latin typeface="Arial Unicode MS" pitchFamily="34" charset="-128"/>
                <a:ea typeface="Arial Unicode MS" pitchFamily="34" charset="-128"/>
                <a:cs typeface="Arial Unicode MS" pitchFamily="34" charset="-128"/>
              </a:defRPr>
            </a:lvl1pPr>
          </a:lstStyle>
          <a:p>
            <a:endParaRPr lang="en-US" altLang="zh-TW" dirty="0"/>
          </a:p>
        </p:txBody>
      </p:sp>
      <p:sp>
        <p:nvSpPr>
          <p:cNvPr id="112643" name="Rectangle 3"/>
          <p:cNvSpPr>
            <a:spLocks noGrp="1" noChangeArrowheads="1"/>
          </p:cNvSpPr>
          <p:nvPr>
            <p:ph type="dt" sz="quarter" idx="1"/>
          </p:nvPr>
        </p:nvSpPr>
        <p:spPr bwMode="auto">
          <a:xfrm>
            <a:off x="6245225" y="0"/>
            <a:ext cx="727075" cy="182563"/>
          </a:xfrm>
          <a:prstGeom prst="rect">
            <a:avLst/>
          </a:prstGeom>
          <a:noFill/>
          <a:ln w="28575">
            <a:noFill/>
            <a:miter lim="800000"/>
            <a:headEnd/>
            <a:tailEnd/>
          </a:ln>
          <a:effectLst/>
        </p:spPr>
        <p:txBody>
          <a:bodyPr vert="horz" wrap="none" lIns="0" tIns="0" rIns="0" bIns="0" numCol="1" anchor="t" anchorCtr="0" compatLnSpc="1">
            <a:prstTxWarp prst="textNoShape">
              <a:avLst/>
            </a:prstTxWarp>
            <a:spAutoFit/>
          </a:bodyPr>
          <a:lstStyle>
            <a:lvl1pPr algn="r" defTabSz="885825">
              <a:defRPr sz="1200">
                <a:latin typeface="Arial Unicode MS" pitchFamily="34" charset="-128"/>
                <a:ea typeface="Arial Unicode MS" pitchFamily="34" charset="-128"/>
                <a:cs typeface="Arial Unicode MS" pitchFamily="34" charset="-128"/>
              </a:defRPr>
            </a:lvl1pPr>
          </a:lstStyle>
          <a:p>
            <a:endParaRPr lang="en-US" altLang="zh-TW" dirty="0"/>
          </a:p>
        </p:txBody>
      </p:sp>
      <p:sp>
        <p:nvSpPr>
          <p:cNvPr id="112644" name="Rectangle 4"/>
          <p:cNvSpPr>
            <a:spLocks noGrp="1" noChangeArrowheads="1"/>
          </p:cNvSpPr>
          <p:nvPr>
            <p:ph type="ftr" sz="quarter" idx="2"/>
          </p:nvPr>
        </p:nvSpPr>
        <p:spPr bwMode="auto">
          <a:xfrm>
            <a:off x="0" y="9064625"/>
            <a:ext cx="490538" cy="182563"/>
          </a:xfrm>
          <a:prstGeom prst="rect">
            <a:avLst/>
          </a:prstGeom>
          <a:noFill/>
          <a:ln w="28575">
            <a:noFill/>
            <a:miter lim="800000"/>
            <a:headEnd/>
            <a:tailEnd/>
          </a:ln>
          <a:effectLst/>
        </p:spPr>
        <p:txBody>
          <a:bodyPr vert="horz" wrap="none" lIns="0" tIns="0" rIns="0" bIns="0" numCol="1" anchor="b" anchorCtr="0" compatLnSpc="1">
            <a:prstTxWarp prst="textNoShape">
              <a:avLst/>
            </a:prstTxWarp>
            <a:spAutoFit/>
          </a:bodyPr>
          <a:lstStyle>
            <a:lvl1pPr defTabSz="885825">
              <a:defRPr sz="1200">
                <a:latin typeface="Arial Unicode MS" pitchFamily="34" charset="-128"/>
                <a:ea typeface="Arial Unicode MS" pitchFamily="34" charset="-128"/>
                <a:cs typeface="Arial Unicode MS" pitchFamily="34" charset="-128"/>
              </a:defRPr>
            </a:lvl1pPr>
          </a:lstStyle>
          <a:p>
            <a:endParaRPr lang="en-US" altLang="zh-TW" dirty="0"/>
          </a:p>
        </p:txBody>
      </p:sp>
      <p:sp>
        <p:nvSpPr>
          <p:cNvPr id="112645" name="Rectangle 5"/>
          <p:cNvSpPr>
            <a:spLocks noGrp="1" noChangeArrowheads="1"/>
          </p:cNvSpPr>
          <p:nvPr>
            <p:ph type="sldNum" sz="quarter" idx="3"/>
          </p:nvPr>
        </p:nvSpPr>
        <p:spPr bwMode="auto">
          <a:xfrm>
            <a:off x="6786563" y="9064625"/>
            <a:ext cx="185737" cy="182563"/>
          </a:xfrm>
          <a:prstGeom prst="rect">
            <a:avLst/>
          </a:prstGeom>
          <a:noFill/>
          <a:ln w="28575">
            <a:noFill/>
            <a:miter lim="800000"/>
            <a:headEnd/>
            <a:tailEnd/>
          </a:ln>
          <a:effectLst/>
        </p:spPr>
        <p:txBody>
          <a:bodyPr vert="horz" wrap="none" lIns="0" tIns="0" rIns="0" bIns="0" numCol="1" anchor="b" anchorCtr="0" compatLnSpc="1">
            <a:prstTxWarp prst="textNoShape">
              <a:avLst/>
            </a:prstTxWarp>
            <a:spAutoFit/>
          </a:bodyPr>
          <a:lstStyle>
            <a:lvl1pPr algn="r" defTabSz="885825">
              <a:defRPr sz="1200">
                <a:latin typeface="Arial Unicode MS" pitchFamily="34" charset="-128"/>
                <a:ea typeface="Arial Unicode MS" pitchFamily="34" charset="-128"/>
                <a:cs typeface="Arial Unicode MS" pitchFamily="34" charset="-128"/>
              </a:defRPr>
            </a:lvl1pPr>
          </a:lstStyle>
          <a:p>
            <a:fld id="{23696B7D-EF83-44B5-82B1-48F110CC46E5}" type="slidenum">
              <a:rPr lang="zh-TW" altLang="en-US"/>
              <a:pPr/>
              <a:t>‹#›</a:t>
            </a:fld>
            <a:endParaRPr lang="en-US" altLang="zh-TW" dirty="0"/>
          </a:p>
        </p:txBody>
      </p:sp>
    </p:spTree>
    <p:extLst>
      <p:ext uri="{BB962C8B-B14F-4D97-AF65-F5344CB8AC3E}">
        <p14:creationId xmlns:p14="http://schemas.microsoft.com/office/powerpoint/2010/main" val="248459227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4" name="Rectangle 4"/>
          <p:cNvSpPr>
            <a:spLocks noGrp="1" noRot="1" noChangeAspect="1" noChangeArrowheads="1" noTextEdit="1"/>
          </p:cNvSpPr>
          <p:nvPr>
            <p:ph type="sldImg" idx="2"/>
          </p:nvPr>
        </p:nvSpPr>
        <p:spPr bwMode="auto">
          <a:xfrm>
            <a:off x="638175" y="257175"/>
            <a:ext cx="3544888" cy="2659063"/>
          </a:xfrm>
          <a:prstGeom prst="rect">
            <a:avLst/>
          </a:prstGeom>
          <a:noFill/>
          <a:ln w="9525">
            <a:solidFill>
              <a:srgbClr val="000000"/>
            </a:solidFill>
            <a:miter lim="800000"/>
            <a:headEnd/>
            <a:tailEnd/>
          </a:ln>
          <a:effectLst/>
        </p:spPr>
      </p:sp>
      <p:sp>
        <p:nvSpPr>
          <p:cNvPr id="10245" name="Rectangle 5"/>
          <p:cNvSpPr>
            <a:spLocks noGrp="1" noChangeArrowheads="1"/>
          </p:cNvSpPr>
          <p:nvPr>
            <p:ph type="body" sz="quarter" idx="3"/>
          </p:nvPr>
        </p:nvSpPr>
        <p:spPr bwMode="auto">
          <a:xfrm>
            <a:off x="681038" y="3267075"/>
            <a:ext cx="5937250" cy="5314950"/>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p>
        </p:txBody>
      </p:sp>
      <p:sp>
        <p:nvSpPr>
          <p:cNvPr id="10247" name="Rectangle 7"/>
          <p:cNvSpPr>
            <a:spLocks noGrp="1" noChangeArrowheads="1"/>
          </p:cNvSpPr>
          <p:nvPr>
            <p:ph type="sldNum" sz="quarter" idx="5"/>
          </p:nvPr>
        </p:nvSpPr>
        <p:spPr bwMode="auto">
          <a:xfrm>
            <a:off x="3790950" y="8820150"/>
            <a:ext cx="3033713" cy="417513"/>
          </a:xfrm>
          <a:prstGeom prst="rect">
            <a:avLst/>
          </a:prstGeom>
          <a:noFill/>
          <a:ln w="9525">
            <a:noFill/>
            <a:miter lim="800000"/>
            <a:headEnd/>
            <a:tailEnd/>
          </a:ln>
          <a:effectLst/>
        </p:spPr>
        <p:txBody>
          <a:bodyPr vert="horz" wrap="square" lIns="19980" tIns="0" rIns="19980" bIns="0" numCol="1" anchor="b" anchorCtr="0" compatLnSpc="1">
            <a:prstTxWarp prst="textNoShape">
              <a:avLst/>
            </a:prstTxWarp>
          </a:bodyPr>
          <a:lstStyle>
            <a:lvl1pPr algn="r" defTabSz="950913">
              <a:spcBef>
                <a:spcPct val="0"/>
              </a:spcBef>
              <a:defRPr sz="1100">
                <a:ea typeface="Arial Unicode MS" pitchFamily="34" charset="-128"/>
                <a:cs typeface="Arial Unicode MS" pitchFamily="34" charset="-128"/>
              </a:defRPr>
            </a:lvl1pPr>
          </a:lstStyle>
          <a:p>
            <a:fld id="{2A45EEF0-2412-4E74-8042-71FA5C916756}" type="slidenum">
              <a:rPr lang="zh-TW" altLang="en-US"/>
              <a:pPr/>
              <a:t>‹#›</a:t>
            </a:fld>
            <a:endParaRPr lang="en-US" altLang="zh-TW" dirty="0"/>
          </a:p>
        </p:txBody>
      </p:sp>
      <p:sp>
        <p:nvSpPr>
          <p:cNvPr id="10248" name="Line 8"/>
          <p:cNvSpPr>
            <a:spLocks noChangeShapeType="1"/>
          </p:cNvSpPr>
          <p:nvPr/>
        </p:nvSpPr>
        <p:spPr bwMode="gray">
          <a:xfrm>
            <a:off x="681038" y="3128963"/>
            <a:ext cx="5911850" cy="0"/>
          </a:xfrm>
          <a:prstGeom prst="line">
            <a:avLst/>
          </a:prstGeom>
          <a:noFill/>
          <a:ln w="25400">
            <a:solidFill>
              <a:schemeClr val="bg2"/>
            </a:solidFill>
            <a:round/>
            <a:headEnd type="none" w="sm" len="sm"/>
            <a:tailEnd type="none" w="sm" len="sm"/>
          </a:ln>
          <a:effectLst/>
        </p:spPr>
        <p:txBody>
          <a:bodyPr wrap="none" anchor="ctr"/>
          <a:lstStyle/>
          <a:p>
            <a:endParaRPr lang="en-US" dirty="0"/>
          </a:p>
        </p:txBody>
      </p:sp>
    </p:spTree>
    <p:extLst>
      <p:ext uri="{BB962C8B-B14F-4D97-AF65-F5344CB8AC3E}">
        <p14:creationId xmlns:p14="http://schemas.microsoft.com/office/powerpoint/2010/main" val="575836602"/>
      </p:ext>
    </p:extLst>
  </p:cSld>
  <p:clrMap bg1="lt1" tx1="dk1" bg2="lt2" tx2="dk2" accent1="accent1" accent2="accent2" accent3="accent3" accent4="accent4" accent5="accent5" accent6="accent6" hlink="hlink" folHlink="folHlink"/>
  <p:notesStyle>
    <a:lvl1pPr marL="193675" indent="-193675" algn="l" rtl="0" eaLnBrk="0" fontAlgn="base" hangingPunct="0">
      <a:spcBef>
        <a:spcPct val="30000"/>
      </a:spcBef>
      <a:spcAft>
        <a:spcPct val="0"/>
      </a:spcAft>
      <a:buClr>
        <a:srgbClr val="FF0000"/>
      </a:buClr>
      <a:buSzPct val="100000"/>
      <a:buFont typeface="Frutiger 55 Roman" pitchFamily="34" charset="0"/>
      <a:buChar char="•"/>
      <a:defRPr sz="1200" kern="1200">
        <a:solidFill>
          <a:schemeClr val="tx1"/>
        </a:solidFill>
        <a:latin typeface="Frutiger 55 Roman" pitchFamily="34" charset="0"/>
        <a:ea typeface="+mn-ea"/>
        <a:cs typeface="+mn-cs"/>
      </a:defRPr>
    </a:lvl1pPr>
    <a:lvl2pPr marL="563563" indent="-179388" algn="l" rtl="0" eaLnBrk="0" fontAlgn="base" hangingPunct="0">
      <a:spcBef>
        <a:spcPct val="30000"/>
      </a:spcBef>
      <a:spcAft>
        <a:spcPct val="0"/>
      </a:spcAft>
      <a:buSzPct val="80000"/>
      <a:buChar char="—"/>
      <a:defRPr sz="1200" kern="1200">
        <a:solidFill>
          <a:schemeClr val="tx1"/>
        </a:solidFill>
        <a:latin typeface="Frutiger 55 Roman" pitchFamily="34" charset="0"/>
        <a:ea typeface="+mn-ea"/>
        <a:cs typeface="+mn-cs"/>
      </a:defRPr>
    </a:lvl2pPr>
    <a:lvl3pPr marL="947738" indent="-193675" algn="l" rtl="0" eaLnBrk="0" fontAlgn="base" hangingPunct="0">
      <a:spcBef>
        <a:spcPct val="30000"/>
      </a:spcBef>
      <a:spcAft>
        <a:spcPct val="0"/>
      </a:spcAft>
      <a:buSzPct val="85000"/>
      <a:buChar char="–"/>
      <a:defRPr sz="1200" kern="1200">
        <a:solidFill>
          <a:schemeClr val="tx1"/>
        </a:solidFill>
        <a:latin typeface="Frutiger 55 Roman" pitchFamily="34" charset="0"/>
        <a:ea typeface="+mn-ea"/>
        <a:cs typeface="+mn-cs"/>
      </a:defRPr>
    </a:lvl3pPr>
    <a:lvl4pPr marL="1341438" indent="-203200" algn="l" rtl="0" eaLnBrk="0" fontAlgn="base" hangingPunct="0">
      <a:spcBef>
        <a:spcPct val="30000"/>
      </a:spcBef>
      <a:spcAft>
        <a:spcPct val="0"/>
      </a:spcAft>
      <a:buSzPct val="85000"/>
      <a:buChar char="–"/>
      <a:defRPr sz="1200" kern="1200">
        <a:solidFill>
          <a:schemeClr val="tx1"/>
        </a:solidFill>
        <a:latin typeface="Frutiger 55 Roman" pitchFamily="34" charset="0"/>
        <a:ea typeface="+mn-ea"/>
        <a:cs typeface="+mn-cs"/>
      </a:defRPr>
    </a:lvl4pPr>
    <a:lvl5pPr marL="1711325" indent="-179388" algn="l" rtl="0" eaLnBrk="0" fontAlgn="base" hangingPunct="0">
      <a:spcBef>
        <a:spcPct val="30000"/>
      </a:spcBef>
      <a:spcAft>
        <a:spcPct val="0"/>
      </a:spcAft>
      <a:buSzPct val="85000"/>
      <a:buChar char="–"/>
      <a:defRPr sz="1200" kern="1200">
        <a:solidFill>
          <a:schemeClr val="tx1"/>
        </a:solidFill>
        <a:latin typeface="Frutiger 55 Roman"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A45EEF0-2412-4E74-8042-71FA5C916756}" type="slidenum">
              <a:rPr lang="en-US" altLang="zh-TW" smtClean="0"/>
              <a:pPr/>
              <a:t>0</a:t>
            </a:fld>
            <a:endParaRPr lang="en-US" altLang="zh-TW" dirty="0"/>
          </a:p>
        </p:txBody>
      </p:sp>
    </p:spTree>
    <p:extLst>
      <p:ext uri="{BB962C8B-B14F-4D97-AF65-F5344CB8AC3E}">
        <p14:creationId xmlns:p14="http://schemas.microsoft.com/office/powerpoint/2010/main" val="26591446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A45EEF0-2412-4E74-8042-71FA5C916756}" type="slidenum">
              <a:rPr lang="en-US" altLang="zh-TW" smtClean="0"/>
              <a:pPr/>
              <a:t>2</a:t>
            </a:fld>
            <a:endParaRPr lang="en-US" altLang="zh-TW" dirty="0"/>
          </a:p>
        </p:txBody>
      </p:sp>
    </p:spTree>
    <p:extLst>
      <p:ext uri="{BB962C8B-B14F-4D97-AF65-F5344CB8AC3E}">
        <p14:creationId xmlns:p14="http://schemas.microsoft.com/office/powerpoint/2010/main" val="21840360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What can go wrong? The company will default and it will not able to fulfil its payment obligation with UBS. UBS will not receive floating payments from the company but will still be required to pay floating rate to the other bank.</a:t>
            </a:r>
          </a:p>
        </p:txBody>
      </p:sp>
      <p:sp>
        <p:nvSpPr>
          <p:cNvPr id="4" name="Slide Number Placeholder 3"/>
          <p:cNvSpPr>
            <a:spLocks noGrp="1"/>
          </p:cNvSpPr>
          <p:nvPr>
            <p:ph type="sldNum" sz="quarter" idx="5"/>
          </p:nvPr>
        </p:nvSpPr>
        <p:spPr/>
        <p:txBody>
          <a:bodyPr/>
          <a:lstStyle/>
          <a:p>
            <a:fld id="{2A45EEF0-2412-4E74-8042-71FA5C916756}" type="slidenum">
              <a:rPr lang="zh-TW" altLang="en-US" smtClean="0"/>
              <a:pPr/>
              <a:t>3</a:t>
            </a:fld>
            <a:endParaRPr lang="en-US" altLang="zh-TW" dirty="0"/>
          </a:p>
        </p:txBody>
      </p:sp>
    </p:spTree>
    <p:extLst>
      <p:ext uri="{BB962C8B-B14F-4D97-AF65-F5344CB8AC3E}">
        <p14:creationId xmlns:p14="http://schemas.microsoft.com/office/powerpoint/2010/main" val="24424687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A45EEF0-2412-4E74-8042-71FA5C916756}" type="slidenum">
              <a:rPr lang="en-US" altLang="zh-TW" smtClean="0"/>
              <a:pPr/>
              <a:t>4</a:t>
            </a:fld>
            <a:endParaRPr lang="en-US" altLang="zh-TW" dirty="0"/>
          </a:p>
        </p:txBody>
      </p:sp>
    </p:spTree>
    <p:extLst>
      <p:ext uri="{BB962C8B-B14F-4D97-AF65-F5344CB8AC3E}">
        <p14:creationId xmlns:p14="http://schemas.microsoft.com/office/powerpoint/2010/main" val="19138088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err="1"/>
              <a:t>Counterpaty</a:t>
            </a:r>
            <a:r>
              <a:rPr lang="en-GB" dirty="0"/>
              <a:t> credit risk is only present when one counterparty has an exposure to the other.</a:t>
            </a:r>
          </a:p>
        </p:txBody>
      </p:sp>
      <p:sp>
        <p:nvSpPr>
          <p:cNvPr id="4" name="Slide Number Placeholder 3"/>
          <p:cNvSpPr>
            <a:spLocks noGrp="1"/>
          </p:cNvSpPr>
          <p:nvPr>
            <p:ph type="sldNum" sz="quarter" idx="5"/>
          </p:nvPr>
        </p:nvSpPr>
        <p:spPr/>
        <p:txBody>
          <a:bodyPr/>
          <a:lstStyle/>
          <a:p>
            <a:fld id="{2A45EEF0-2412-4E74-8042-71FA5C916756}" type="slidenum">
              <a:rPr lang="zh-TW" altLang="en-US" smtClean="0"/>
              <a:pPr/>
              <a:t>6</a:t>
            </a:fld>
            <a:endParaRPr lang="en-US" altLang="zh-TW" dirty="0"/>
          </a:p>
        </p:txBody>
      </p:sp>
    </p:spTree>
    <p:extLst>
      <p:ext uri="{BB962C8B-B14F-4D97-AF65-F5344CB8AC3E}">
        <p14:creationId xmlns:p14="http://schemas.microsoft.com/office/powerpoint/2010/main" val="4710892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A45EEF0-2412-4E74-8042-71FA5C916756}" type="slidenum">
              <a:rPr lang="zh-TW" altLang="en-US" smtClean="0"/>
              <a:pPr/>
              <a:t>8</a:t>
            </a:fld>
            <a:endParaRPr lang="en-US" altLang="zh-TW" dirty="0"/>
          </a:p>
        </p:txBody>
      </p:sp>
    </p:spTree>
    <p:extLst>
      <p:ext uri="{BB962C8B-B14F-4D97-AF65-F5344CB8AC3E}">
        <p14:creationId xmlns:p14="http://schemas.microsoft.com/office/powerpoint/2010/main" val="5597953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A45EEF0-2412-4E74-8042-71FA5C916756}" type="slidenum">
              <a:rPr lang="zh-TW" altLang="en-US" smtClean="0"/>
              <a:pPr/>
              <a:t>15</a:t>
            </a:fld>
            <a:endParaRPr lang="en-US" altLang="zh-TW" dirty="0"/>
          </a:p>
        </p:txBody>
      </p:sp>
    </p:spTree>
    <p:extLst>
      <p:ext uri="{BB962C8B-B14F-4D97-AF65-F5344CB8AC3E}">
        <p14:creationId xmlns:p14="http://schemas.microsoft.com/office/powerpoint/2010/main" val="34992425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A01BB5-13B3-72F0-459C-C77F3A6E1B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11B026-8C40-22E9-98F2-2660FB0DE1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C05BC4-2DC2-C1BD-C099-7D294FE2380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E52CCD7C-70B9-BBE0-125D-0D76CBCB2B17}"/>
              </a:ext>
            </a:extLst>
          </p:cNvPr>
          <p:cNvSpPr>
            <a:spLocks noGrp="1"/>
          </p:cNvSpPr>
          <p:nvPr>
            <p:ph type="sldNum" sz="quarter" idx="5"/>
          </p:nvPr>
        </p:nvSpPr>
        <p:spPr/>
        <p:txBody>
          <a:bodyPr/>
          <a:lstStyle/>
          <a:p>
            <a:fld id="{2A45EEF0-2412-4E74-8042-71FA5C916756}" type="slidenum">
              <a:rPr lang="zh-TW" altLang="en-US" smtClean="0"/>
              <a:pPr/>
              <a:t>22</a:t>
            </a:fld>
            <a:endParaRPr lang="en-US" altLang="zh-TW" dirty="0"/>
          </a:p>
        </p:txBody>
      </p:sp>
    </p:spTree>
    <p:extLst>
      <p:ext uri="{BB962C8B-B14F-4D97-AF65-F5344CB8AC3E}">
        <p14:creationId xmlns:p14="http://schemas.microsoft.com/office/powerpoint/2010/main" val="29905335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A45EEF0-2412-4E74-8042-71FA5C916756}" type="slidenum">
              <a:rPr lang="zh-TW" altLang="en-US" smtClean="0"/>
              <a:pPr/>
              <a:t>28</a:t>
            </a:fld>
            <a:endParaRPr lang="en-US" altLang="zh-TW" dirty="0"/>
          </a:p>
        </p:txBody>
      </p:sp>
    </p:spTree>
    <p:extLst>
      <p:ext uri="{BB962C8B-B14F-4D97-AF65-F5344CB8AC3E}">
        <p14:creationId xmlns:p14="http://schemas.microsoft.com/office/powerpoint/2010/main" val="5289756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A45EEF0-2412-4E74-8042-71FA5C916756}" type="slidenum">
              <a:rPr lang="zh-TW" altLang="en-US" smtClean="0"/>
              <a:pPr/>
              <a:t>31</a:t>
            </a:fld>
            <a:endParaRPr lang="en-US" altLang="zh-TW" dirty="0"/>
          </a:p>
        </p:txBody>
      </p:sp>
    </p:spTree>
    <p:extLst>
      <p:ext uri="{BB962C8B-B14F-4D97-AF65-F5344CB8AC3E}">
        <p14:creationId xmlns:p14="http://schemas.microsoft.com/office/powerpoint/2010/main" val="23363559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A45EEF0-2412-4E74-8042-71FA5C916756}" type="slidenum">
              <a:rPr lang="zh-TW" altLang="en-US" smtClean="0"/>
              <a:pPr/>
              <a:t>32</a:t>
            </a:fld>
            <a:endParaRPr lang="en-US" altLang="zh-TW" dirty="0"/>
          </a:p>
        </p:txBody>
      </p:sp>
    </p:spTree>
    <p:extLst>
      <p:ext uri="{BB962C8B-B14F-4D97-AF65-F5344CB8AC3E}">
        <p14:creationId xmlns:p14="http://schemas.microsoft.com/office/powerpoint/2010/main" val="29160131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A45EEF0-2412-4E74-8042-71FA5C916756}" type="slidenum">
              <a:rPr lang="zh-TW" altLang="en-US" smtClean="0"/>
              <a:pPr/>
              <a:t>33</a:t>
            </a:fld>
            <a:endParaRPr lang="en-US" altLang="zh-TW" dirty="0"/>
          </a:p>
        </p:txBody>
      </p:sp>
    </p:spTree>
    <p:extLst>
      <p:ext uri="{BB962C8B-B14F-4D97-AF65-F5344CB8AC3E}">
        <p14:creationId xmlns:p14="http://schemas.microsoft.com/office/powerpoint/2010/main" val="5182566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A45EEF0-2412-4E74-8042-71FA5C916756}" type="slidenum">
              <a:rPr lang="zh-TW" altLang="en-US" smtClean="0"/>
              <a:pPr/>
              <a:t>34</a:t>
            </a:fld>
            <a:endParaRPr lang="en-US" altLang="zh-TW" dirty="0"/>
          </a:p>
        </p:txBody>
      </p:sp>
    </p:spTree>
    <p:extLst>
      <p:ext uri="{BB962C8B-B14F-4D97-AF65-F5344CB8AC3E}">
        <p14:creationId xmlns:p14="http://schemas.microsoft.com/office/powerpoint/2010/main" val="42848642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A45EEF0-2412-4E74-8042-71FA5C916756}" type="slidenum">
              <a:rPr lang="zh-TW" altLang="en-US" smtClean="0"/>
              <a:pPr/>
              <a:t>35</a:t>
            </a:fld>
            <a:endParaRPr lang="en-US" altLang="zh-TW" dirty="0"/>
          </a:p>
        </p:txBody>
      </p:sp>
    </p:spTree>
    <p:extLst>
      <p:ext uri="{BB962C8B-B14F-4D97-AF65-F5344CB8AC3E}">
        <p14:creationId xmlns:p14="http://schemas.microsoft.com/office/powerpoint/2010/main" val="20097144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A45EEF0-2412-4E74-8042-71FA5C916756}" type="slidenum">
              <a:rPr lang="zh-TW" altLang="en-US" smtClean="0"/>
              <a:pPr/>
              <a:t>36</a:t>
            </a:fld>
            <a:endParaRPr lang="en-US" altLang="zh-TW" dirty="0"/>
          </a:p>
        </p:txBody>
      </p:sp>
    </p:spTree>
    <p:extLst>
      <p:ext uri="{BB962C8B-B14F-4D97-AF65-F5344CB8AC3E}">
        <p14:creationId xmlns:p14="http://schemas.microsoft.com/office/powerpoint/2010/main" val="26288548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A45EEF0-2412-4E74-8042-71FA5C916756}" type="slidenum">
              <a:rPr lang="zh-TW" altLang="en-US" smtClean="0"/>
              <a:pPr/>
              <a:t>37</a:t>
            </a:fld>
            <a:endParaRPr lang="en-US" altLang="zh-TW" dirty="0"/>
          </a:p>
        </p:txBody>
      </p:sp>
    </p:spTree>
    <p:extLst>
      <p:ext uri="{BB962C8B-B14F-4D97-AF65-F5344CB8AC3E}">
        <p14:creationId xmlns:p14="http://schemas.microsoft.com/office/powerpoint/2010/main" val="26906234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A45EEF0-2412-4E74-8042-71FA5C916756}" type="slidenum">
              <a:rPr lang="zh-TW" altLang="en-US" smtClean="0"/>
              <a:pPr/>
              <a:t>38</a:t>
            </a:fld>
            <a:endParaRPr lang="en-US" altLang="zh-TW" dirty="0"/>
          </a:p>
        </p:txBody>
      </p:sp>
    </p:spTree>
    <p:extLst>
      <p:ext uri="{BB962C8B-B14F-4D97-AF65-F5344CB8AC3E}">
        <p14:creationId xmlns:p14="http://schemas.microsoft.com/office/powerpoint/2010/main" val="38548278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A45EEF0-2412-4E74-8042-71FA5C916756}" type="slidenum">
              <a:rPr lang="zh-TW" altLang="en-US" smtClean="0"/>
              <a:pPr/>
              <a:t>39</a:t>
            </a:fld>
            <a:endParaRPr lang="en-US" altLang="zh-TW" dirty="0"/>
          </a:p>
        </p:txBody>
      </p:sp>
    </p:spTree>
    <p:extLst>
      <p:ext uri="{BB962C8B-B14F-4D97-AF65-F5344CB8AC3E}">
        <p14:creationId xmlns:p14="http://schemas.microsoft.com/office/powerpoint/2010/main" val="2375452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B220E-603E-5800-BE7B-F625819040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D7B76E-B0AB-C1ED-D988-DD0415A18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9FC3FE-9F7C-3A94-E804-4C28940DEE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7306887-ABEF-C4A3-ABB7-B359C3429C2E}"/>
              </a:ext>
            </a:extLst>
          </p:cNvPr>
          <p:cNvSpPr>
            <a:spLocks noGrp="1"/>
          </p:cNvSpPr>
          <p:nvPr>
            <p:ph type="sldNum" sz="quarter" idx="10"/>
          </p:nvPr>
        </p:nvSpPr>
        <p:spPr/>
        <p:txBody>
          <a:bodyPr/>
          <a:lstStyle/>
          <a:p>
            <a:fld id="{2A45EEF0-2412-4E74-8042-71FA5C916756}" type="slidenum">
              <a:rPr lang="zh-TW" altLang="en-US" smtClean="0"/>
              <a:pPr/>
              <a:t>40</a:t>
            </a:fld>
            <a:endParaRPr lang="en-US" altLang="zh-TW" dirty="0"/>
          </a:p>
        </p:txBody>
      </p:sp>
    </p:spTree>
    <p:extLst>
      <p:ext uri="{BB962C8B-B14F-4D97-AF65-F5344CB8AC3E}">
        <p14:creationId xmlns:p14="http://schemas.microsoft.com/office/powerpoint/2010/main" val="1868792834"/>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4.xml"/><Relationship Id="rId7" Type="http://schemas.openxmlformats.org/officeDocument/2006/relationships/tags" Target="../tags/tag8.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tags" Target="../tags/tag10.xml"/><Relationship Id="rId5" Type="http://schemas.openxmlformats.org/officeDocument/2006/relationships/slideMaster" Target="../slideMasters/slideMaster1.xml"/><Relationship Id="rId4" Type="http://schemas.openxmlformats.org/officeDocument/2006/relationships/tags" Target="../tags/tag13.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16.xml"/><Relationship Id="rId2" Type="http://schemas.openxmlformats.org/officeDocument/2006/relationships/tags" Target="../tags/tag15.xml"/><Relationship Id="rId1" Type="http://schemas.openxmlformats.org/officeDocument/2006/relationships/tags" Target="../tags/tag14.xml"/><Relationship Id="rId5" Type="http://schemas.openxmlformats.org/officeDocument/2006/relationships/slideMaster" Target="../slideMasters/slideMaster1.xml"/><Relationship Id="rId4" Type="http://schemas.openxmlformats.org/officeDocument/2006/relationships/tags" Target="../tags/tag17.xml"/></Relationships>
</file>

<file path=ppt/slideLayouts/_rels/slideLayout5.xml.rels><?xml version="1.0" encoding="UTF-8" standalone="yes"?>
<Relationships xmlns="http://schemas.openxmlformats.org/package/2006/relationships"><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tags" Target="../tags/tag18.xml"/><Relationship Id="rId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23.xml"/><Relationship Id="rId7" Type="http://schemas.openxmlformats.org/officeDocument/2006/relationships/slideMaster" Target="../slideMasters/slideMaster1.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s>
</file>

<file path=ppt/slideLayouts/_rels/slideLayout7.xml.rels><?xml version="1.0" encoding="UTF-8" standalone="yes"?>
<Relationships xmlns="http://schemas.openxmlformats.org/package/2006/relationships"><Relationship Id="rId8" Type="http://schemas.openxmlformats.org/officeDocument/2006/relationships/tags" Target="../tags/tag34.xml"/><Relationship Id="rId3" Type="http://schemas.openxmlformats.org/officeDocument/2006/relationships/tags" Target="../tags/tag29.xml"/><Relationship Id="rId7" Type="http://schemas.openxmlformats.org/officeDocument/2006/relationships/tags" Target="../tags/tag33.xml"/><Relationship Id="rId2" Type="http://schemas.openxmlformats.org/officeDocument/2006/relationships/tags" Target="../tags/tag28.xml"/><Relationship Id="rId1" Type="http://schemas.openxmlformats.org/officeDocument/2006/relationships/tags" Target="../tags/tag27.xml"/><Relationship Id="rId6" Type="http://schemas.openxmlformats.org/officeDocument/2006/relationships/tags" Target="../tags/tag32.xml"/><Relationship Id="rId5" Type="http://schemas.openxmlformats.org/officeDocument/2006/relationships/tags" Target="../tags/tag31.xml"/><Relationship Id="rId10" Type="http://schemas.openxmlformats.org/officeDocument/2006/relationships/slideMaster" Target="../slideMasters/slideMaster1.xml"/><Relationship Id="rId4" Type="http://schemas.openxmlformats.org/officeDocument/2006/relationships/tags" Target="../tags/tag30.xml"/><Relationship Id="rId9" Type="http://schemas.openxmlformats.org/officeDocument/2006/relationships/tags" Target="../tags/tag35.xml"/></Relationships>
</file>

<file path=ppt/slideLayouts/_rels/slideLayout8.xml.rels><?xml version="1.0" encoding="UTF-8" standalone="yes"?>
<Relationships xmlns="http://schemas.openxmlformats.org/package/2006/relationships"><Relationship Id="rId8" Type="http://schemas.openxmlformats.org/officeDocument/2006/relationships/tags" Target="../tags/tag43.xml"/><Relationship Id="rId3" Type="http://schemas.openxmlformats.org/officeDocument/2006/relationships/tags" Target="../tags/tag38.xml"/><Relationship Id="rId7" Type="http://schemas.openxmlformats.org/officeDocument/2006/relationships/tags" Target="../tags/tag42.xml"/><Relationship Id="rId2" Type="http://schemas.openxmlformats.org/officeDocument/2006/relationships/tags" Target="../tags/tag37.xml"/><Relationship Id="rId1" Type="http://schemas.openxmlformats.org/officeDocument/2006/relationships/tags" Target="../tags/tag36.xml"/><Relationship Id="rId6" Type="http://schemas.openxmlformats.org/officeDocument/2006/relationships/tags" Target="../tags/tag41.xml"/><Relationship Id="rId5" Type="http://schemas.openxmlformats.org/officeDocument/2006/relationships/tags" Target="../tags/tag40.xml"/><Relationship Id="rId10" Type="http://schemas.openxmlformats.org/officeDocument/2006/relationships/slideMaster" Target="../slideMasters/slideMaster1.xml"/><Relationship Id="rId4" Type="http://schemas.openxmlformats.org/officeDocument/2006/relationships/tags" Target="../tags/tag39.xml"/><Relationship Id="rId9" Type="http://schemas.openxmlformats.org/officeDocument/2006/relationships/tags" Target="../tags/tag44.xml"/></Relationships>
</file>

<file path=ppt/slideLayouts/_rels/slideLayout9.xml.rels><?xml version="1.0" encoding="UTF-8" standalone="yes"?>
<Relationships xmlns="http://schemas.openxmlformats.org/package/2006/relationships"><Relationship Id="rId8" Type="http://schemas.openxmlformats.org/officeDocument/2006/relationships/tags" Target="../tags/tag52.xml"/><Relationship Id="rId13" Type="http://schemas.openxmlformats.org/officeDocument/2006/relationships/slideMaster" Target="../slideMasters/slideMaster1.xml"/><Relationship Id="rId3" Type="http://schemas.openxmlformats.org/officeDocument/2006/relationships/tags" Target="../tags/tag47.xml"/><Relationship Id="rId7" Type="http://schemas.openxmlformats.org/officeDocument/2006/relationships/tags" Target="../tags/tag51.xml"/><Relationship Id="rId12" Type="http://schemas.openxmlformats.org/officeDocument/2006/relationships/tags" Target="../tags/tag56.xml"/><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tags" Target="../tags/tag50.xml"/><Relationship Id="rId11" Type="http://schemas.openxmlformats.org/officeDocument/2006/relationships/tags" Target="../tags/tag55.xml"/><Relationship Id="rId5" Type="http://schemas.openxmlformats.org/officeDocument/2006/relationships/tags" Target="../tags/tag49.xml"/><Relationship Id="rId10" Type="http://schemas.openxmlformats.org/officeDocument/2006/relationships/tags" Target="../tags/tag54.xml"/><Relationship Id="rId4" Type="http://schemas.openxmlformats.org/officeDocument/2006/relationships/tags" Target="../tags/tag48.xml"/><Relationship Id="rId9" Type="http://schemas.openxmlformats.org/officeDocument/2006/relationships/tags" Target="../tags/tag53.xml"/></Relationships>
</file>

<file path=ppt/slideLayouts/_rels/slideLayout10.xml.rels><?xml version="1.0" encoding="UTF-8" standalone="yes"?>
<Relationships xmlns="http://schemas.openxmlformats.org/package/2006/relationships"><Relationship Id="rId8" Type="http://schemas.openxmlformats.org/officeDocument/2006/relationships/tags" Target="../tags/tag64.xml"/><Relationship Id="rId13" Type="http://schemas.openxmlformats.org/officeDocument/2006/relationships/tags" Target="../tags/tag69.xml"/><Relationship Id="rId3" Type="http://schemas.openxmlformats.org/officeDocument/2006/relationships/tags" Target="../tags/tag59.xml"/><Relationship Id="rId7" Type="http://schemas.openxmlformats.org/officeDocument/2006/relationships/tags" Target="../tags/tag63.xml"/><Relationship Id="rId12" Type="http://schemas.openxmlformats.org/officeDocument/2006/relationships/tags" Target="../tags/tag68.xml"/><Relationship Id="rId2" Type="http://schemas.openxmlformats.org/officeDocument/2006/relationships/tags" Target="../tags/tag58.xml"/><Relationship Id="rId16" Type="http://schemas.openxmlformats.org/officeDocument/2006/relationships/slideMaster" Target="../slideMasters/slideMaster1.xml"/><Relationship Id="rId1" Type="http://schemas.openxmlformats.org/officeDocument/2006/relationships/tags" Target="../tags/tag57.xml"/><Relationship Id="rId6" Type="http://schemas.openxmlformats.org/officeDocument/2006/relationships/tags" Target="../tags/tag62.xml"/><Relationship Id="rId11" Type="http://schemas.openxmlformats.org/officeDocument/2006/relationships/tags" Target="../tags/tag67.xml"/><Relationship Id="rId5" Type="http://schemas.openxmlformats.org/officeDocument/2006/relationships/tags" Target="../tags/tag61.xml"/><Relationship Id="rId15" Type="http://schemas.openxmlformats.org/officeDocument/2006/relationships/tags" Target="../tags/tag71.xml"/><Relationship Id="rId10" Type="http://schemas.openxmlformats.org/officeDocument/2006/relationships/tags" Target="../tags/tag66.xml"/><Relationship Id="rId4" Type="http://schemas.openxmlformats.org/officeDocument/2006/relationships/tags" Target="../tags/tag60.xml"/><Relationship Id="rId9" Type="http://schemas.openxmlformats.org/officeDocument/2006/relationships/tags" Target="../tags/tag65.xml"/><Relationship Id="rId14" Type="http://schemas.openxmlformats.org/officeDocument/2006/relationships/tags" Target="../tags/tag70.xml"/></Relationships>
</file>

<file path=ppt/slideLayouts/_rels/slideLayout11.xml.rels><?xml version="1.0" encoding="UTF-8" standalone="yes"?>
<Relationships xmlns="http://schemas.openxmlformats.org/package/2006/relationships"><Relationship Id="rId8" Type="http://schemas.openxmlformats.org/officeDocument/2006/relationships/tags" Target="../tags/tag79.xml"/><Relationship Id="rId13" Type="http://schemas.openxmlformats.org/officeDocument/2006/relationships/slideMaster" Target="../slideMasters/slideMaster1.xml"/><Relationship Id="rId3" Type="http://schemas.openxmlformats.org/officeDocument/2006/relationships/tags" Target="../tags/tag74.xml"/><Relationship Id="rId7" Type="http://schemas.openxmlformats.org/officeDocument/2006/relationships/tags" Target="../tags/tag78.xml"/><Relationship Id="rId12" Type="http://schemas.openxmlformats.org/officeDocument/2006/relationships/tags" Target="../tags/tag83.xml"/><Relationship Id="rId2" Type="http://schemas.openxmlformats.org/officeDocument/2006/relationships/tags" Target="../tags/tag73.xml"/><Relationship Id="rId1" Type="http://schemas.openxmlformats.org/officeDocument/2006/relationships/tags" Target="../tags/tag72.xml"/><Relationship Id="rId6" Type="http://schemas.openxmlformats.org/officeDocument/2006/relationships/tags" Target="../tags/tag77.xml"/><Relationship Id="rId11" Type="http://schemas.openxmlformats.org/officeDocument/2006/relationships/tags" Target="../tags/tag82.xml"/><Relationship Id="rId5" Type="http://schemas.openxmlformats.org/officeDocument/2006/relationships/tags" Target="../tags/tag76.xml"/><Relationship Id="rId10" Type="http://schemas.openxmlformats.org/officeDocument/2006/relationships/tags" Target="../tags/tag81.xml"/><Relationship Id="rId4" Type="http://schemas.openxmlformats.org/officeDocument/2006/relationships/tags" Target="../tags/tag75.xml"/><Relationship Id="rId9" Type="http://schemas.openxmlformats.org/officeDocument/2006/relationships/tags" Target="../tags/tag80.xml"/></Relationships>
</file>

<file path=ppt/slideLayouts/_rels/slideLayout12.xml.rels><?xml version="1.0" encoding="UTF-8" standalone="yes"?>
<Relationships xmlns="http://schemas.openxmlformats.org/package/2006/relationships"><Relationship Id="rId8" Type="http://schemas.openxmlformats.org/officeDocument/2006/relationships/tags" Target="../tags/tag91.xml"/><Relationship Id="rId13" Type="http://schemas.openxmlformats.org/officeDocument/2006/relationships/slideMaster" Target="../slideMasters/slideMaster1.xml"/><Relationship Id="rId3" Type="http://schemas.openxmlformats.org/officeDocument/2006/relationships/tags" Target="../tags/tag86.xml"/><Relationship Id="rId7" Type="http://schemas.openxmlformats.org/officeDocument/2006/relationships/tags" Target="../tags/tag90.xml"/><Relationship Id="rId12" Type="http://schemas.openxmlformats.org/officeDocument/2006/relationships/tags" Target="../tags/tag95.xml"/><Relationship Id="rId2" Type="http://schemas.openxmlformats.org/officeDocument/2006/relationships/tags" Target="../tags/tag85.xml"/><Relationship Id="rId1" Type="http://schemas.openxmlformats.org/officeDocument/2006/relationships/tags" Target="../tags/tag84.xml"/><Relationship Id="rId6" Type="http://schemas.openxmlformats.org/officeDocument/2006/relationships/tags" Target="../tags/tag89.xml"/><Relationship Id="rId11" Type="http://schemas.openxmlformats.org/officeDocument/2006/relationships/tags" Target="../tags/tag94.xml"/><Relationship Id="rId5" Type="http://schemas.openxmlformats.org/officeDocument/2006/relationships/tags" Target="../tags/tag88.xml"/><Relationship Id="rId10" Type="http://schemas.openxmlformats.org/officeDocument/2006/relationships/tags" Target="../tags/tag93.xml"/><Relationship Id="rId4" Type="http://schemas.openxmlformats.org/officeDocument/2006/relationships/tags" Target="../tags/tag87.xml"/><Relationship Id="rId9" Type="http://schemas.openxmlformats.org/officeDocument/2006/relationships/tags" Target="../tags/tag92.xml"/></Relationships>
</file>

<file path=ppt/slideLayouts/_rels/slideLayout13.xml.rels><?xml version="1.0" encoding="UTF-8" standalone="yes"?>
<Relationships xmlns="http://schemas.openxmlformats.org/package/2006/relationships"><Relationship Id="rId8" Type="http://schemas.openxmlformats.org/officeDocument/2006/relationships/tags" Target="../tags/tag103.xml"/><Relationship Id="rId13" Type="http://schemas.openxmlformats.org/officeDocument/2006/relationships/tags" Target="../tags/tag108.xml"/><Relationship Id="rId18" Type="http://schemas.openxmlformats.org/officeDocument/2006/relationships/tags" Target="../tags/tag113.xml"/><Relationship Id="rId3" Type="http://schemas.openxmlformats.org/officeDocument/2006/relationships/tags" Target="../tags/tag98.xml"/><Relationship Id="rId21" Type="http://schemas.openxmlformats.org/officeDocument/2006/relationships/tags" Target="../tags/tag116.xml"/><Relationship Id="rId7" Type="http://schemas.openxmlformats.org/officeDocument/2006/relationships/tags" Target="../tags/tag102.xml"/><Relationship Id="rId12" Type="http://schemas.openxmlformats.org/officeDocument/2006/relationships/tags" Target="../tags/tag107.xml"/><Relationship Id="rId17" Type="http://schemas.openxmlformats.org/officeDocument/2006/relationships/tags" Target="../tags/tag112.xml"/><Relationship Id="rId2" Type="http://schemas.openxmlformats.org/officeDocument/2006/relationships/tags" Target="../tags/tag97.xml"/><Relationship Id="rId16" Type="http://schemas.openxmlformats.org/officeDocument/2006/relationships/tags" Target="../tags/tag111.xml"/><Relationship Id="rId20" Type="http://schemas.openxmlformats.org/officeDocument/2006/relationships/tags" Target="../tags/tag115.xml"/><Relationship Id="rId1" Type="http://schemas.openxmlformats.org/officeDocument/2006/relationships/tags" Target="../tags/tag96.xml"/><Relationship Id="rId6" Type="http://schemas.openxmlformats.org/officeDocument/2006/relationships/tags" Target="../tags/tag101.xml"/><Relationship Id="rId11" Type="http://schemas.openxmlformats.org/officeDocument/2006/relationships/tags" Target="../tags/tag106.xml"/><Relationship Id="rId5" Type="http://schemas.openxmlformats.org/officeDocument/2006/relationships/tags" Target="../tags/tag100.xml"/><Relationship Id="rId15" Type="http://schemas.openxmlformats.org/officeDocument/2006/relationships/tags" Target="../tags/tag110.xml"/><Relationship Id="rId10" Type="http://schemas.openxmlformats.org/officeDocument/2006/relationships/tags" Target="../tags/tag105.xml"/><Relationship Id="rId19" Type="http://schemas.openxmlformats.org/officeDocument/2006/relationships/tags" Target="../tags/tag114.xml"/><Relationship Id="rId4" Type="http://schemas.openxmlformats.org/officeDocument/2006/relationships/tags" Target="../tags/tag99.xml"/><Relationship Id="rId9" Type="http://schemas.openxmlformats.org/officeDocument/2006/relationships/tags" Target="../tags/tag104.xml"/><Relationship Id="rId14" Type="http://schemas.openxmlformats.org/officeDocument/2006/relationships/tags" Target="../tags/tag109.xml"/><Relationship Id="rId22"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18.xml"/><Relationship Id="rId1" Type="http://schemas.openxmlformats.org/officeDocument/2006/relationships/tags" Target="../tags/tag117.xml"/></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121.xml"/><Relationship Id="rId2" Type="http://schemas.openxmlformats.org/officeDocument/2006/relationships/tags" Target="../tags/tag120.xml"/><Relationship Id="rId1" Type="http://schemas.openxmlformats.org/officeDocument/2006/relationships/tags" Target="../tags/tag119.xml"/><Relationship Id="rId4"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tags" Target="../tags/tag124.xml"/><Relationship Id="rId2" Type="http://schemas.openxmlformats.org/officeDocument/2006/relationships/tags" Target="../tags/tag123.xml"/><Relationship Id="rId1" Type="http://schemas.openxmlformats.org/officeDocument/2006/relationships/tags" Target="../tags/tag122.xml"/><Relationship Id="rId5" Type="http://schemas.openxmlformats.org/officeDocument/2006/relationships/slideMaster" Target="../slideMasters/slideMaster1.xml"/><Relationship Id="rId4" Type="http://schemas.openxmlformats.org/officeDocument/2006/relationships/tags" Target="../tags/tag12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age">
    <p:spTree>
      <p:nvGrpSpPr>
        <p:cNvPr id="1" name=""/>
        <p:cNvGrpSpPr/>
        <p:nvPr/>
      </p:nvGrpSpPr>
      <p:grpSpPr>
        <a:xfrm>
          <a:off x="0" y="0"/>
          <a:ext cx="0" cy="0"/>
          <a:chOff x="0" y="0"/>
          <a:chExt cx="0" cy="0"/>
        </a:xfrm>
      </p:grpSpPr>
      <p:sp>
        <p:nvSpPr>
          <p:cNvPr id="5" name="CREATE DATE"/>
          <p:cNvSpPr>
            <a:spLocks noGrp="1"/>
          </p:cNvSpPr>
          <p:nvPr>
            <p:ph type="body" sz="quarter" idx="11" hasCustomPrompt="1"/>
            <p:custDataLst>
              <p:tags r:id="rId1"/>
            </p:custDataLst>
          </p:nvPr>
        </p:nvSpPr>
        <p:spPr>
          <a:xfrm>
            <a:off x="420624" y="7059168"/>
            <a:ext cx="3575304" cy="246221"/>
          </a:xfrm>
        </p:spPr>
        <p:txBody>
          <a:bodyPr>
            <a:spAutoFit/>
          </a:bodyPr>
          <a:lstStyle>
            <a:lvl1pPr marL="0" indent="0">
              <a:buNone/>
              <a:defRPr sz="1600"/>
            </a:lvl1pPr>
          </a:lstStyle>
          <a:p>
            <a:pPr lvl="0"/>
            <a:r>
              <a:rPr lang="en-US" dirty="0"/>
              <a:t>&lt;&lt;COVER PAGE DATE&gt;&gt;</a:t>
            </a:r>
          </a:p>
        </p:txBody>
      </p:sp>
      <p:sp>
        <p:nvSpPr>
          <p:cNvPr id="7" name="PRESENTATION PRESENTER FUNCTION"/>
          <p:cNvSpPr>
            <a:spLocks noGrp="1"/>
          </p:cNvSpPr>
          <p:nvPr>
            <p:ph type="body" sz="quarter" idx="10" hasCustomPrompt="1"/>
            <p:custDataLst>
              <p:tags r:id="rId2"/>
            </p:custDataLst>
          </p:nvPr>
        </p:nvSpPr>
        <p:spPr>
          <a:xfrm>
            <a:off x="422159" y="4599432"/>
            <a:ext cx="4999789" cy="274320"/>
          </a:xfrm>
        </p:spPr>
        <p:txBody>
          <a:bodyPr lIns="0" rIns="0">
            <a:noAutofit/>
          </a:bodyPr>
          <a:lstStyle>
            <a:lvl1pPr marL="0" indent="0">
              <a:spcBef>
                <a:spcPts val="1800"/>
              </a:spcBef>
              <a:buNone/>
              <a:defRPr sz="1600" i="0" baseline="0">
                <a:solidFill>
                  <a:schemeClr val="tx1"/>
                </a:solidFill>
                <a:latin typeface="Frutiger 55 Roman"/>
              </a:defRPr>
            </a:lvl1pPr>
          </a:lstStyle>
          <a:p>
            <a:pPr lvl="0"/>
            <a:r>
              <a:rPr lang="en-US" dirty="0"/>
              <a:t>&lt;&lt;Presenter function&gt;&gt;</a:t>
            </a:r>
          </a:p>
        </p:txBody>
      </p:sp>
      <p:sp>
        <p:nvSpPr>
          <p:cNvPr id="3" name="PRESENTATION PRESENTER"/>
          <p:cNvSpPr>
            <a:spLocks noGrp="1"/>
          </p:cNvSpPr>
          <p:nvPr>
            <p:ph type="subTitle" idx="1" hasCustomPrompt="1"/>
            <p:custDataLst>
              <p:tags r:id="rId3"/>
            </p:custDataLst>
          </p:nvPr>
        </p:nvSpPr>
        <p:spPr>
          <a:xfrm>
            <a:off x="420624" y="4352544"/>
            <a:ext cx="4998747" cy="274320"/>
          </a:xfrm>
        </p:spPr>
        <p:txBody>
          <a:bodyPr lIns="0" tIns="0" rIns="0" bIns="0" anchor="t" anchorCtr="0">
            <a:noAutofit/>
          </a:bodyPr>
          <a:lstStyle>
            <a:lvl1pPr marL="0" indent="0" algn="l">
              <a:spcBef>
                <a:spcPts val="1800"/>
              </a:spcBef>
              <a:buNone/>
              <a:defRPr sz="1600" i="0" baseline="0">
                <a:solidFill>
                  <a:schemeClr val="tx1"/>
                </a:solidFill>
                <a:latin typeface="Frutiger 55 Roman"/>
                <a:ea typeface="Arial Unicode MS" pitchFamily="34" charset="-128"/>
              </a:defRPr>
            </a:lvl1pPr>
            <a:lvl2pPr marL="502753" indent="0" algn="ctr">
              <a:buNone/>
              <a:defRPr>
                <a:solidFill>
                  <a:schemeClr val="tx1">
                    <a:tint val="75000"/>
                  </a:schemeClr>
                </a:solidFill>
              </a:defRPr>
            </a:lvl2pPr>
            <a:lvl3pPr marL="1005505" indent="0" algn="ctr">
              <a:buNone/>
              <a:defRPr>
                <a:solidFill>
                  <a:schemeClr val="tx1">
                    <a:tint val="75000"/>
                  </a:schemeClr>
                </a:solidFill>
              </a:defRPr>
            </a:lvl3pPr>
            <a:lvl4pPr marL="1508257" indent="0" algn="ctr">
              <a:buNone/>
              <a:defRPr>
                <a:solidFill>
                  <a:schemeClr val="tx1">
                    <a:tint val="75000"/>
                  </a:schemeClr>
                </a:solidFill>
              </a:defRPr>
            </a:lvl4pPr>
            <a:lvl5pPr marL="2011009" indent="0" algn="ctr">
              <a:buNone/>
              <a:defRPr>
                <a:solidFill>
                  <a:schemeClr val="tx1">
                    <a:tint val="75000"/>
                  </a:schemeClr>
                </a:solidFill>
              </a:defRPr>
            </a:lvl5pPr>
            <a:lvl6pPr marL="2513761" indent="0" algn="ctr">
              <a:buNone/>
              <a:defRPr>
                <a:solidFill>
                  <a:schemeClr val="tx1">
                    <a:tint val="75000"/>
                  </a:schemeClr>
                </a:solidFill>
              </a:defRPr>
            </a:lvl6pPr>
            <a:lvl7pPr marL="3016512" indent="0" algn="ctr">
              <a:buNone/>
              <a:defRPr>
                <a:solidFill>
                  <a:schemeClr val="tx1">
                    <a:tint val="75000"/>
                  </a:schemeClr>
                </a:solidFill>
              </a:defRPr>
            </a:lvl7pPr>
            <a:lvl8pPr marL="3519265" indent="0" algn="ctr">
              <a:buNone/>
              <a:defRPr>
                <a:solidFill>
                  <a:schemeClr val="tx1">
                    <a:tint val="75000"/>
                  </a:schemeClr>
                </a:solidFill>
              </a:defRPr>
            </a:lvl8pPr>
            <a:lvl9pPr marL="4022016" indent="0" algn="ctr">
              <a:buNone/>
              <a:defRPr>
                <a:solidFill>
                  <a:schemeClr val="tx1">
                    <a:tint val="75000"/>
                  </a:schemeClr>
                </a:solidFill>
              </a:defRPr>
            </a:lvl9pPr>
          </a:lstStyle>
          <a:p>
            <a:r>
              <a:rPr lang="en-US" dirty="0"/>
              <a:t>&lt;&lt;Presentation presenter&gt;&gt;</a:t>
            </a:r>
          </a:p>
        </p:txBody>
      </p:sp>
      <p:sp>
        <p:nvSpPr>
          <p:cNvPr id="2" name="PRESENTATION TITLE"/>
          <p:cNvSpPr>
            <a:spLocks noGrp="1"/>
          </p:cNvSpPr>
          <p:nvPr>
            <p:ph type="ctrTitle" hasCustomPrompt="1"/>
            <p:custDataLst>
              <p:tags r:id="rId4"/>
            </p:custDataLst>
          </p:nvPr>
        </p:nvSpPr>
        <p:spPr>
          <a:xfrm>
            <a:off x="420624" y="2176272"/>
            <a:ext cx="8202168" cy="941832"/>
          </a:xfrm>
        </p:spPr>
        <p:txBody>
          <a:bodyPr lIns="0" tIns="0" rIns="0" bIns="0" anchor="b" anchorCtr="0">
            <a:noAutofit/>
          </a:bodyPr>
          <a:lstStyle>
            <a:lvl1pPr>
              <a:lnSpc>
                <a:spcPts val="4200"/>
              </a:lnSpc>
              <a:spcBef>
                <a:spcPts val="4200"/>
              </a:spcBef>
              <a:defRPr sz="4000" baseline="0">
                <a:solidFill>
                  <a:schemeClr val="tx1"/>
                </a:solidFill>
                <a:latin typeface="Frutiger 45 Light"/>
                <a:ea typeface="Arial Unicode MS" pitchFamily="34" charset="-128"/>
              </a:defRPr>
            </a:lvl1pPr>
          </a:lstStyle>
          <a:p>
            <a:r>
              <a:rPr lang="en-US" dirty="0"/>
              <a:t>&lt;&lt;Keyline: short headline&gt;&gt;</a:t>
            </a:r>
          </a:p>
        </p:txBody>
      </p:sp>
      <p:sp>
        <p:nvSpPr>
          <p:cNvPr id="9" name="SECURITY TEXT"/>
          <p:cNvSpPr txBox="1">
            <a:spLocks/>
          </p:cNvSpPr>
          <p:nvPr userDrawn="1">
            <p:custDataLst>
              <p:tags r:id="rId5"/>
            </p:custDataLst>
          </p:nvPr>
        </p:nvSpPr>
        <p:spPr>
          <a:xfrm>
            <a:off x="7607808" y="742950"/>
            <a:ext cx="1993392" cy="184658"/>
          </a:xfrm>
          <a:prstGeom prst="rect">
            <a:avLst/>
          </a:prstGeom>
        </p:spPr>
        <p:txBody>
          <a:bodyPr vert="horz" wrap="square" lIns="73152" tIns="0" rIns="0" bIns="0" rtlCol="0" anchor="b" anchorCtr="0">
            <a:spAutoFit/>
          </a:bodyPr>
          <a:lstStyle>
            <a:lvl1pPr marL="0" indent="0" algn="l" defTabSz="1005505" rtl="0" eaLnBrk="1" latinLnBrk="0" hangingPunct="1">
              <a:spcBef>
                <a:spcPct val="20000"/>
              </a:spcBef>
              <a:buSzPct val="120000"/>
              <a:buFont typeface="Symbol" pitchFamily="18" charset="2"/>
              <a:buNone/>
              <a:defRPr sz="1200" b="0" kern="1200" baseline="0">
                <a:solidFill>
                  <a:schemeClr val="tx1"/>
                </a:solidFill>
                <a:latin typeface="+mn-lt"/>
                <a:ea typeface="+mn-ea"/>
                <a:cs typeface="+mn-cs"/>
              </a:defRPr>
            </a:lvl1pPr>
            <a:lvl2pPr marL="816973" indent="-314218" algn="l" defTabSz="1005505" rtl="0" eaLnBrk="1" latinLnBrk="0" hangingPunct="1">
              <a:spcBef>
                <a:spcPct val="20000"/>
              </a:spcBef>
              <a:buFont typeface="Arial" pitchFamily="34" charset="0"/>
              <a:buChar char="–"/>
              <a:defRPr sz="1300" kern="1200">
                <a:solidFill>
                  <a:schemeClr val="tx1"/>
                </a:solidFill>
                <a:latin typeface="+mj-lt"/>
                <a:ea typeface="+mn-ea"/>
                <a:cs typeface="+mn-cs"/>
              </a:defRPr>
            </a:lvl2pPr>
            <a:lvl3pPr marL="1256881" indent="-251375" algn="l" defTabSz="1005505" rtl="0" eaLnBrk="1" latinLnBrk="0" hangingPunct="1">
              <a:spcBef>
                <a:spcPct val="20000"/>
              </a:spcBef>
              <a:buFont typeface="Arial" pitchFamily="34" charset="0"/>
              <a:buChar char="•"/>
              <a:defRPr sz="1300" kern="1200">
                <a:solidFill>
                  <a:schemeClr val="tx1"/>
                </a:solidFill>
                <a:latin typeface="+mj-lt"/>
                <a:ea typeface="+mn-ea"/>
                <a:cs typeface="+mn-cs"/>
              </a:defRPr>
            </a:lvl3pPr>
            <a:lvl4pPr marL="1759633" indent="-251375" algn="l" defTabSz="1005505" rtl="0" eaLnBrk="1" latinLnBrk="0" hangingPunct="1">
              <a:spcBef>
                <a:spcPct val="20000"/>
              </a:spcBef>
              <a:buFont typeface="Arial" pitchFamily="34" charset="0"/>
              <a:buChar char="–"/>
              <a:defRPr sz="1300" kern="1200">
                <a:solidFill>
                  <a:schemeClr val="tx1"/>
                </a:solidFill>
                <a:latin typeface="+mj-lt"/>
                <a:ea typeface="+mn-ea"/>
                <a:cs typeface="+mn-cs"/>
              </a:defRPr>
            </a:lvl4pPr>
            <a:lvl5pPr marL="2262384" indent="-251375" algn="l" defTabSz="1005505" rtl="0" eaLnBrk="1" latinLnBrk="0" hangingPunct="1">
              <a:spcBef>
                <a:spcPct val="20000"/>
              </a:spcBef>
              <a:buFont typeface="Arial" pitchFamily="34" charset="0"/>
              <a:buChar char="»"/>
              <a:defRPr sz="1300" kern="1200">
                <a:solidFill>
                  <a:schemeClr val="tx1"/>
                </a:solidFill>
                <a:latin typeface="+mj-lt"/>
                <a:ea typeface="+mn-ea"/>
                <a:cs typeface="+mn-cs"/>
              </a:defRPr>
            </a:lvl5pPr>
            <a:lvl6pPr marL="2765137" indent="-251375" algn="l" defTabSz="1005505" rtl="0" eaLnBrk="1" latinLnBrk="0" hangingPunct="1">
              <a:spcBef>
                <a:spcPct val="20000"/>
              </a:spcBef>
              <a:buFont typeface="Arial" pitchFamily="34" charset="0"/>
              <a:buChar char="•"/>
              <a:defRPr sz="2200" kern="1200">
                <a:solidFill>
                  <a:schemeClr val="tx1"/>
                </a:solidFill>
                <a:latin typeface="+mn-lt"/>
                <a:ea typeface="+mn-ea"/>
                <a:cs typeface="+mn-cs"/>
              </a:defRPr>
            </a:lvl6pPr>
            <a:lvl7pPr marL="3267890" indent="-251375" algn="l" defTabSz="1005505" rtl="0" eaLnBrk="1" latinLnBrk="0" hangingPunct="1">
              <a:spcBef>
                <a:spcPct val="20000"/>
              </a:spcBef>
              <a:buFont typeface="Arial" pitchFamily="34" charset="0"/>
              <a:buChar char="•"/>
              <a:defRPr sz="2200" kern="1200">
                <a:solidFill>
                  <a:schemeClr val="tx1"/>
                </a:solidFill>
                <a:latin typeface="+mn-lt"/>
                <a:ea typeface="+mn-ea"/>
                <a:cs typeface="+mn-cs"/>
              </a:defRPr>
            </a:lvl7pPr>
            <a:lvl8pPr marL="3770641" indent="-251375" algn="l" defTabSz="1005505" rtl="0" eaLnBrk="1" latinLnBrk="0" hangingPunct="1">
              <a:spcBef>
                <a:spcPct val="20000"/>
              </a:spcBef>
              <a:buFont typeface="Arial" pitchFamily="34" charset="0"/>
              <a:buChar char="•"/>
              <a:defRPr sz="2200" kern="1200">
                <a:solidFill>
                  <a:schemeClr val="tx1"/>
                </a:solidFill>
                <a:latin typeface="+mn-lt"/>
                <a:ea typeface="+mn-ea"/>
                <a:cs typeface="+mn-cs"/>
              </a:defRPr>
            </a:lvl8pPr>
            <a:lvl9pPr marL="4273393" indent="-251375" algn="l" defTabSz="1005505" rtl="0" eaLnBrk="1" latinLnBrk="0" hangingPunct="1">
              <a:spcBef>
                <a:spcPct val="20000"/>
              </a:spcBef>
              <a:buFont typeface="Arial" pitchFamily="34" charset="0"/>
              <a:buChar char="•"/>
              <a:defRPr sz="2200" kern="1200">
                <a:solidFill>
                  <a:schemeClr val="tx1"/>
                </a:solidFill>
                <a:latin typeface="+mn-lt"/>
                <a:ea typeface="+mn-ea"/>
                <a:cs typeface="+mn-cs"/>
              </a:defRPr>
            </a:lvl9pPr>
          </a:lstStyle>
          <a:p>
            <a:pPr algn="r"/>
            <a:r>
              <a:rPr lang="en-US" dirty="0">
                <a:latin typeface="Frutiger 55 Roman"/>
              </a:rPr>
              <a:t>Public</a:t>
            </a:r>
          </a:p>
        </p:txBody>
      </p:sp>
      <p:sp>
        <p:nvSpPr>
          <p:cNvPr id="11" name="PRESENTATION INFOLINE"/>
          <p:cNvSpPr>
            <a:spLocks noGrp="1"/>
          </p:cNvSpPr>
          <p:nvPr>
            <p:ph type="body" sz="quarter" idx="12" hasCustomPrompt="1"/>
            <p:custDataLst>
              <p:tags r:id="rId6"/>
            </p:custDataLst>
          </p:nvPr>
        </p:nvSpPr>
        <p:spPr>
          <a:xfrm>
            <a:off x="420624" y="3474720"/>
            <a:ext cx="8202168" cy="342900"/>
          </a:xfrm>
        </p:spPr>
        <p:txBody>
          <a:bodyPr/>
          <a:lstStyle>
            <a:lvl1pPr marL="0" indent="0">
              <a:buNone/>
              <a:defRPr sz="2000">
                <a:latin typeface="UBSHeadline"/>
              </a:defRPr>
            </a:lvl1pPr>
          </a:lstStyle>
          <a:p>
            <a:pPr lvl="0"/>
            <a:r>
              <a:rPr lang="en-US" dirty="0"/>
              <a:t>&lt;&lt;Infoline: presentation description&gt;&gt;</a:t>
            </a:r>
          </a:p>
        </p:txBody>
      </p:sp>
      <p:sp>
        <p:nvSpPr>
          <p:cNvPr id="4" name="DraftStamp" hidden="1"/>
          <p:cNvSpPr txBox="1"/>
          <p:nvPr userDrawn="1">
            <p:custDataLst>
              <p:tags r:id="rId7"/>
            </p:custDataLst>
          </p:nvPr>
        </p:nvSpPr>
        <p:spPr>
          <a:xfrm>
            <a:off x="7772400" y="901700"/>
            <a:ext cx="1079500" cy="330200"/>
          </a:xfrm>
          <a:prstGeom prst="rect">
            <a:avLst/>
          </a:prstGeom>
          <a:noFill/>
        </p:spPr>
        <p:txBody>
          <a:bodyPr vert="horz" wrap="none" lIns="0" tIns="0" rIns="0" bIns="0" rtlCol="0" anchor="b">
            <a:noAutofit/>
          </a:bodyPr>
          <a:lstStyle/>
          <a:p>
            <a:pPr algn="l">
              <a:lnSpc>
                <a:spcPct val="100000"/>
              </a:lnSpc>
              <a:spcBef>
                <a:spcPct val="0"/>
              </a:spcBef>
              <a:spcAft>
                <a:spcPct val="0"/>
              </a:spcAft>
            </a:pPr>
            <a:r>
              <a:rPr kumimoji="0" lang="en-US" sz="2400" b="1" i="0" u="none" baseline="0">
                <a:solidFill>
                  <a:srgbClr val="E60000"/>
                </a:solidFill>
                <a:latin typeface="Frutiger 55 Roman"/>
              </a:rPr>
              <a:t>Draft</a:t>
            </a:r>
            <a:endParaRPr kumimoji="0" lang="en-US" sz="2400" b="1" i="0" u="none" baseline="0" dirty="0">
              <a:solidFill>
                <a:srgbClr val="E60000"/>
              </a:solidFill>
              <a:latin typeface="Frutiger 55 Roman"/>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Page" preserve="1">
  <p:cSld name="Section Page">
    <p:spTree>
      <p:nvGrpSpPr>
        <p:cNvPr id="1" name=""/>
        <p:cNvGrpSpPr/>
        <p:nvPr/>
      </p:nvGrpSpPr>
      <p:grpSpPr>
        <a:xfrm>
          <a:off x="0" y="0"/>
          <a:ext cx="0" cy="0"/>
          <a:chOff x="0" y="0"/>
          <a:chExt cx="0" cy="0"/>
        </a:xfrm>
      </p:grpSpPr>
      <p:sp>
        <p:nvSpPr>
          <p:cNvPr id="4" name="DIVIDER TITLE"/>
          <p:cNvSpPr>
            <a:spLocks noGrp="1"/>
          </p:cNvSpPr>
          <p:nvPr>
            <p:ph type="subTitle" idx="1" hasCustomPrompt="1"/>
            <p:custDataLst>
              <p:tags r:id="rId1"/>
            </p:custDataLst>
          </p:nvPr>
        </p:nvSpPr>
        <p:spPr>
          <a:xfrm>
            <a:off x="419735" y="2432304"/>
            <a:ext cx="9189720" cy="1033272"/>
          </a:xfrm>
        </p:spPr>
        <p:txBody>
          <a:bodyPr lIns="0" tIns="0" rIns="0" bIns="0">
            <a:noAutofit/>
          </a:bodyPr>
          <a:lstStyle>
            <a:lvl1pPr marL="0" indent="0" algn="l">
              <a:buNone/>
              <a:defRPr sz="4000" baseline="0">
                <a:solidFill>
                  <a:schemeClr val="tx1"/>
                </a:solidFill>
                <a:latin typeface="Frutiger 45 Light"/>
                <a:ea typeface="Arial Unicode MS" pitchFamily="34" charset="-128"/>
              </a:defRPr>
            </a:lvl1pPr>
            <a:lvl2pPr marL="502753" indent="0" algn="ctr">
              <a:buNone/>
              <a:defRPr>
                <a:solidFill>
                  <a:schemeClr val="tx1">
                    <a:tint val="75000"/>
                  </a:schemeClr>
                </a:solidFill>
              </a:defRPr>
            </a:lvl2pPr>
            <a:lvl3pPr marL="1005505" indent="0" algn="ctr">
              <a:buNone/>
              <a:defRPr>
                <a:solidFill>
                  <a:schemeClr val="tx1">
                    <a:tint val="75000"/>
                  </a:schemeClr>
                </a:solidFill>
              </a:defRPr>
            </a:lvl3pPr>
            <a:lvl4pPr marL="1508257" indent="0" algn="ctr">
              <a:buNone/>
              <a:defRPr>
                <a:solidFill>
                  <a:schemeClr val="tx1">
                    <a:tint val="75000"/>
                  </a:schemeClr>
                </a:solidFill>
              </a:defRPr>
            </a:lvl4pPr>
            <a:lvl5pPr marL="2011009" indent="0" algn="ctr">
              <a:buNone/>
              <a:defRPr>
                <a:solidFill>
                  <a:schemeClr val="tx1">
                    <a:tint val="75000"/>
                  </a:schemeClr>
                </a:solidFill>
              </a:defRPr>
            </a:lvl5pPr>
            <a:lvl6pPr marL="2513761" indent="0" algn="ctr">
              <a:buNone/>
              <a:defRPr>
                <a:solidFill>
                  <a:schemeClr val="tx1">
                    <a:tint val="75000"/>
                  </a:schemeClr>
                </a:solidFill>
              </a:defRPr>
            </a:lvl6pPr>
            <a:lvl7pPr marL="3016512" indent="0" algn="ctr">
              <a:buNone/>
              <a:defRPr>
                <a:solidFill>
                  <a:schemeClr val="tx1">
                    <a:tint val="75000"/>
                  </a:schemeClr>
                </a:solidFill>
              </a:defRPr>
            </a:lvl7pPr>
            <a:lvl8pPr marL="3519265" indent="0" algn="ctr">
              <a:buNone/>
              <a:defRPr>
                <a:solidFill>
                  <a:schemeClr val="tx1">
                    <a:tint val="75000"/>
                  </a:schemeClr>
                </a:solidFill>
              </a:defRPr>
            </a:lvl8pPr>
            <a:lvl9pPr marL="4022016" indent="0" algn="ctr">
              <a:buNone/>
              <a:defRPr>
                <a:solidFill>
                  <a:schemeClr val="tx1">
                    <a:tint val="75000"/>
                  </a:schemeClr>
                </a:solidFill>
              </a:defRPr>
            </a:lvl9pPr>
          </a:lstStyle>
          <a:p>
            <a:r>
              <a:rPr lang="en-US" dirty="0"/>
              <a:t>&lt;&lt;Divider title&gt;&gt;</a:t>
            </a:r>
          </a:p>
        </p:txBody>
      </p:sp>
      <p:sp>
        <p:nvSpPr>
          <p:cNvPr id="6" name="DIVIDER NUMBER"/>
          <p:cNvSpPr>
            <a:spLocks noGrp="1"/>
          </p:cNvSpPr>
          <p:nvPr>
            <p:ph type="ctrTitle" hasCustomPrompt="1"/>
          </p:nvPr>
        </p:nvSpPr>
        <p:spPr>
          <a:xfrm>
            <a:off x="419735" y="2011680"/>
            <a:ext cx="9189720" cy="384048"/>
          </a:xfrm>
        </p:spPr>
        <p:txBody>
          <a:bodyPr lIns="0" tIns="0" rIns="0" bIns="0" anchor="b" anchorCtr="0">
            <a:noAutofit/>
          </a:bodyPr>
          <a:lstStyle>
            <a:lvl1pPr>
              <a:defRPr sz="1800" baseline="0">
                <a:solidFill>
                  <a:schemeClr val="tx1"/>
                </a:solidFill>
                <a:latin typeface="+mj-lt"/>
                <a:ea typeface="Arial Unicode MS" pitchFamily="34" charset="-128"/>
              </a:defRPr>
            </a:lvl1pPr>
          </a:lstStyle>
          <a:p>
            <a:r>
              <a:rPr lang="en-US" dirty="0"/>
              <a:t>Click to edit Section / Appendix number</a:t>
            </a:r>
          </a:p>
        </p:txBody>
      </p:sp>
    </p:spTree>
    <p:extLst>
      <p:ext uri="{BB962C8B-B14F-4D97-AF65-F5344CB8AC3E}">
        <p14:creationId xmlns:p14="http://schemas.microsoft.com/office/powerpoint/2010/main" val="36924832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able of Contents" preserve="1">
  <p:cSld name="Table of Contents">
    <p:spTree>
      <p:nvGrpSpPr>
        <p:cNvPr id="1" name=""/>
        <p:cNvGrpSpPr/>
        <p:nvPr/>
      </p:nvGrpSpPr>
      <p:grpSpPr>
        <a:xfrm>
          <a:off x="0" y="0"/>
          <a:ext cx="0" cy="0"/>
          <a:chOff x="0" y="0"/>
          <a:chExt cx="0" cy="0"/>
        </a:xfrm>
      </p:grpSpPr>
      <p:sp>
        <p:nvSpPr>
          <p:cNvPr id="14" name="TOC BODY"/>
          <p:cNvSpPr>
            <a:spLocks noGrp="1"/>
          </p:cNvSpPr>
          <p:nvPr>
            <p:ph type="body" sz="quarter" idx="12"/>
            <p:custDataLst>
              <p:tags r:id="rId1"/>
            </p:custDataLst>
          </p:nvPr>
        </p:nvSpPr>
        <p:spPr>
          <a:xfrm>
            <a:off x="419735" y="1362456"/>
            <a:ext cx="9189720" cy="5198689"/>
          </a:xfrm>
        </p:spPr>
        <p:txBody>
          <a:bodyPr lIns="0" rIns="0">
            <a:noAutofit/>
          </a:bodyPr>
          <a:lstStyle>
            <a:lvl1pPr marL="0" indent="0">
              <a:buNone/>
              <a:defRPr sz="1600">
                <a:latin typeface="Frutiger 55 Roman"/>
              </a:defRPr>
            </a:lvl1pPr>
            <a:lvl2pPr>
              <a:buNone/>
              <a:defRPr/>
            </a:lvl2pPr>
            <a:lvl3pPr>
              <a:buNone/>
              <a:defRPr/>
            </a:lvl3pPr>
            <a:lvl4pPr>
              <a:buNone/>
              <a:defRPr/>
            </a:lvl4pPr>
            <a:lvl5pPr>
              <a:buNone/>
              <a:defRPr/>
            </a:lvl5pPr>
          </a:lstStyle>
          <a:p>
            <a:pPr lvl="0"/>
            <a:r>
              <a:rPr lang="en-US" dirty="0"/>
              <a:t>Click to edit Master text styles</a:t>
            </a:r>
          </a:p>
        </p:txBody>
      </p:sp>
      <p:cxnSp>
        <p:nvCxnSpPr>
          <p:cNvPr id="7" name="THIN BLUE LINE"/>
          <p:cNvCxnSpPr/>
          <p:nvPr/>
        </p:nvCxnSpPr>
        <p:spPr>
          <a:xfrm>
            <a:off x="419735" y="1033272"/>
            <a:ext cx="918972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OC TITLE"/>
          <p:cNvSpPr>
            <a:spLocks noGrp="1"/>
          </p:cNvSpPr>
          <p:nvPr>
            <p:ph type="title" hasCustomPrompt="1"/>
            <p:custDataLst>
              <p:tags r:id="rId2"/>
            </p:custDataLst>
          </p:nvPr>
        </p:nvSpPr>
        <p:spPr>
          <a:xfrm>
            <a:off x="419733" y="3"/>
            <a:ext cx="9189720" cy="941832"/>
          </a:xfrm>
        </p:spPr>
        <p:txBody>
          <a:bodyPr lIns="0" tIns="0" rIns="0" bIns="0" anchor="b" anchorCtr="0">
            <a:normAutofit/>
          </a:bodyPr>
          <a:lstStyle>
            <a:lvl1pPr algn="l">
              <a:lnSpc>
                <a:spcPts val="3200"/>
              </a:lnSpc>
              <a:defRPr sz="3200">
                <a:solidFill>
                  <a:schemeClr val="tx1"/>
                </a:solidFill>
                <a:latin typeface="Frutiger 45 Light"/>
              </a:defRPr>
            </a:lvl1pPr>
          </a:lstStyle>
          <a:p>
            <a:r>
              <a:rPr lang="en-US" dirty="0"/>
              <a:t>Table of contents</a:t>
            </a:r>
          </a:p>
        </p:txBody>
      </p:sp>
      <p:sp>
        <p:nvSpPr>
          <p:cNvPr id="22" name="Slide Number Textbox"/>
          <p:cNvSpPr txBox="1"/>
          <p:nvPr userDrawn="1"/>
        </p:nvSpPr>
        <p:spPr>
          <a:xfrm>
            <a:off x="9208008" y="6858000"/>
            <a:ext cx="411480" cy="384048"/>
          </a:xfrm>
          <a:prstGeom prst="rect">
            <a:avLst/>
          </a:prstGeom>
          <a:noFill/>
        </p:spPr>
        <p:txBody>
          <a:bodyPr vert="horz" wrap="square" lIns="0" tIns="0" rIns="0" bIns="0" rtlCol="0" anchor="b">
            <a:noAutofit/>
          </a:bodyPr>
          <a:lstStyle/>
          <a:p>
            <a:pPr algn="r"/>
            <a:fld id="{259A56D2-6EE4-40D3-BDE6-F5CD68556C61}" type="slidenum">
              <a:rPr lang="en-US" sz="700" smtClean="0"/>
              <a:pPr algn="r"/>
              <a:t>‹#›</a:t>
            </a:fld>
            <a:endParaRPr lang="en-US" sz="700" dirty="0"/>
          </a:p>
        </p:txBody>
      </p:sp>
      <p:sp>
        <p:nvSpPr>
          <p:cNvPr id="23" name="DOCUMENT ID" hidden="1"/>
          <p:cNvSpPr txBox="1"/>
          <p:nvPr userDrawn="1">
            <p:custDataLst>
              <p:tags r:id="rId3"/>
            </p:custDataLst>
          </p:nvPr>
        </p:nvSpPr>
        <p:spPr>
          <a:xfrm>
            <a:off x="2297875" y="420624"/>
            <a:ext cx="7312468" cy="92333"/>
          </a:xfrm>
          <a:prstGeom prst="rect">
            <a:avLst/>
          </a:prstGeom>
        </p:spPr>
        <p:txBody>
          <a:bodyPr vert="horz" wrap="square" lIns="0" tIns="0" rIns="0" bIns="0" rtlCol="0">
            <a:spAutoFit/>
          </a:bodyPr>
          <a:lstStyle>
            <a:lvl1pPr marL="0" lvl="0" indent="0" algn="r" defTabSz="1005505" eaLnBrk="1" latinLnBrk="0" hangingPunct="1">
              <a:spcBef>
                <a:spcPct val="20000"/>
              </a:spcBef>
              <a:buSzPct val="120000"/>
              <a:buFont typeface="Symbol" pitchFamily="18" charset="2"/>
              <a:buNone/>
              <a:defRPr sz="600" b="0" baseline="0">
                <a:solidFill>
                  <a:srgbClr val="616161"/>
                </a:solidFill>
                <a:latin typeface="+mn-lt"/>
                <a:cs typeface="Arial" pitchFamily="34" charset="0"/>
              </a:defRPr>
            </a:lvl1pPr>
            <a:lvl2pPr marL="502755" indent="0" defTabSz="1005505" eaLnBrk="1" latinLnBrk="0" hangingPunct="1">
              <a:spcBef>
                <a:spcPct val="20000"/>
              </a:spcBef>
              <a:buFont typeface="Arial" pitchFamily="34" charset="0"/>
              <a:buNone/>
              <a:defRPr sz="1300">
                <a:latin typeface="+mn-lt"/>
              </a:defRPr>
            </a:lvl2pPr>
            <a:lvl3pPr marL="1005506" indent="0" defTabSz="1005505" eaLnBrk="1" latinLnBrk="0" hangingPunct="1">
              <a:spcBef>
                <a:spcPct val="20000"/>
              </a:spcBef>
              <a:buFont typeface="Arial" pitchFamily="34" charset="0"/>
              <a:buNone/>
              <a:defRPr sz="1300">
                <a:latin typeface="+mn-lt"/>
              </a:defRPr>
            </a:lvl3pPr>
            <a:lvl4pPr marL="1508258" indent="0" defTabSz="1005505" eaLnBrk="1" latinLnBrk="0" hangingPunct="1">
              <a:spcBef>
                <a:spcPct val="20000"/>
              </a:spcBef>
              <a:buFont typeface="Arial" pitchFamily="34" charset="0"/>
              <a:buNone/>
              <a:defRPr sz="1300">
                <a:latin typeface="+mn-lt"/>
              </a:defRPr>
            </a:lvl4pPr>
            <a:lvl5pPr marL="2011009" indent="0" defTabSz="1005505" eaLnBrk="1" latinLnBrk="0" hangingPunct="1">
              <a:spcBef>
                <a:spcPct val="20000"/>
              </a:spcBef>
              <a:buFont typeface="Arial" pitchFamily="34" charset="0"/>
              <a:buNone/>
              <a:defRPr sz="1300">
                <a:latin typeface="+mn-lt"/>
              </a:defRPr>
            </a:lvl5pPr>
            <a:lvl6pPr marL="2765137" indent="-251375" defTabSz="1005505">
              <a:spcBef>
                <a:spcPct val="20000"/>
              </a:spcBef>
              <a:buFont typeface="Arial" pitchFamily="34" charset="0"/>
              <a:buChar char="•"/>
              <a:defRPr sz="2200">
                <a:latin typeface="+mn-lt"/>
              </a:defRPr>
            </a:lvl6pPr>
            <a:lvl7pPr marL="3267890" indent="-251375" defTabSz="1005505">
              <a:spcBef>
                <a:spcPct val="20000"/>
              </a:spcBef>
              <a:buFont typeface="Arial" pitchFamily="34" charset="0"/>
              <a:buChar char="•"/>
              <a:defRPr sz="2200">
                <a:latin typeface="+mn-lt"/>
              </a:defRPr>
            </a:lvl7pPr>
            <a:lvl8pPr marL="3770641" indent="-251375" defTabSz="1005505">
              <a:spcBef>
                <a:spcPct val="20000"/>
              </a:spcBef>
              <a:buFont typeface="Arial" pitchFamily="34" charset="0"/>
              <a:buChar char="•"/>
              <a:defRPr sz="2200">
                <a:latin typeface="+mn-lt"/>
              </a:defRPr>
            </a:lvl8pPr>
            <a:lvl9pPr marL="4273393" indent="-251375" defTabSz="1005505">
              <a:spcBef>
                <a:spcPct val="20000"/>
              </a:spcBef>
              <a:buFont typeface="Arial" pitchFamily="34" charset="0"/>
              <a:buChar char="•"/>
              <a:defRPr sz="2200">
                <a:latin typeface="+mn-lt"/>
              </a:defRPr>
            </a:lvl9pPr>
          </a:lstStyle>
          <a:p>
            <a:pPr lvl="0"/>
            <a:r>
              <a:rPr lang="en-GB" dirty="0"/>
              <a:t>UBSPROD\</a:t>
            </a:r>
            <a:r>
              <a:rPr lang="en-GB" dirty="0" err="1"/>
              <a:t>barrosr</a:t>
            </a:r>
            <a:r>
              <a:rPr lang="en-GB" dirty="0"/>
              <a:t> [printed: ____] [saved: March 12, 2018 12:29 PM] Q:\Renato\INTQuant\Introduction to Monte Carlo Simulation in Finance.pptx </a:t>
            </a:r>
          </a:p>
        </p:txBody>
      </p:sp>
      <p:grpSp>
        <p:nvGrpSpPr>
          <p:cNvPr id="24" name="PXP_GRIDLINES" hidden="1"/>
          <p:cNvGrpSpPr/>
          <p:nvPr userDrawn="1"/>
        </p:nvGrpSpPr>
        <p:grpSpPr>
          <a:xfrm>
            <a:off x="-30640" y="0"/>
            <a:ext cx="10093083" cy="7543800"/>
            <a:chOff x="-30640" y="0"/>
            <a:chExt cx="10093083" cy="7543800"/>
          </a:xfrm>
        </p:grpSpPr>
        <p:cxnSp>
          <p:nvCxnSpPr>
            <p:cNvPr id="25" name="Straight Connector 24" hidden="1"/>
            <p:cNvCxnSpPr/>
            <p:nvPr userDrawn="1"/>
          </p:nvCxnSpPr>
          <p:spPr>
            <a:xfrm>
              <a:off x="402594" y="0"/>
              <a:ext cx="0" cy="754380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26" name="Straight Connector 25" hidden="1"/>
            <p:cNvCxnSpPr/>
            <p:nvPr userDrawn="1"/>
          </p:nvCxnSpPr>
          <p:spPr>
            <a:xfrm>
              <a:off x="5029200" y="0"/>
              <a:ext cx="0" cy="7543800"/>
            </a:xfrm>
            <a:prstGeom prst="line">
              <a:avLst/>
            </a:prstGeom>
            <a:ln w="3175">
              <a:solidFill>
                <a:srgbClr val="464749"/>
              </a:solidFill>
            </a:ln>
          </p:spPr>
          <p:style>
            <a:lnRef idx="1">
              <a:schemeClr val="accent1"/>
            </a:lnRef>
            <a:fillRef idx="0">
              <a:schemeClr val="accent1"/>
            </a:fillRef>
            <a:effectRef idx="0">
              <a:schemeClr val="accent1"/>
            </a:effectRef>
            <a:fontRef idx="minor">
              <a:schemeClr val="tx1"/>
            </a:fontRef>
          </p:style>
        </p:cxnSp>
        <p:cxnSp>
          <p:nvCxnSpPr>
            <p:cNvPr id="27" name="Straight Connector 26" hidden="1"/>
            <p:cNvCxnSpPr/>
            <p:nvPr userDrawn="1"/>
          </p:nvCxnSpPr>
          <p:spPr>
            <a:xfrm>
              <a:off x="9610343" y="0"/>
              <a:ext cx="0" cy="754380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28" name="Straight Connector 27" hidden="1"/>
            <p:cNvCxnSpPr/>
            <p:nvPr userDrawn="1"/>
          </p:nvCxnSpPr>
          <p:spPr>
            <a:xfrm>
              <a:off x="0" y="551751"/>
              <a:ext cx="10058400" cy="0"/>
            </a:xfrm>
            <a:prstGeom prst="line">
              <a:avLst/>
            </a:prstGeom>
            <a:ln w="31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9" name="Straight Connector 28" hidden="1"/>
            <p:cNvCxnSpPr/>
            <p:nvPr userDrawn="1"/>
          </p:nvCxnSpPr>
          <p:spPr>
            <a:xfrm>
              <a:off x="-1600" y="1079526"/>
              <a:ext cx="100584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hidden="1"/>
            <p:cNvCxnSpPr/>
            <p:nvPr userDrawn="1"/>
          </p:nvCxnSpPr>
          <p:spPr>
            <a:xfrm>
              <a:off x="-3200" y="1636176"/>
              <a:ext cx="10058400" cy="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31" name="Straight Connector 30" hidden="1"/>
            <p:cNvCxnSpPr/>
            <p:nvPr userDrawn="1"/>
          </p:nvCxnSpPr>
          <p:spPr>
            <a:xfrm>
              <a:off x="-13716" y="6587211"/>
              <a:ext cx="10058400" cy="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32" name="Straight Connector 31" hidden="1"/>
            <p:cNvCxnSpPr/>
            <p:nvPr userDrawn="1"/>
          </p:nvCxnSpPr>
          <p:spPr>
            <a:xfrm>
              <a:off x="-30640" y="4003499"/>
              <a:ext cx="10058400" cy="0"/>
            </a:xfrm>
            <a:prstGeom prst="line">
              <a:avLst/>
            </a:prstGeom>
            <a:ln w="3175">
              <a:solidFill>
                <a:srgbClr val="464749"/>
              </a:solidFill>
            </a:ln>
          </p:spPr>
          <p:style>
            <a:lnRef idx="1">
              <a:schemeClr val="accent1"/>
            </a:lnRef>
            <a:fillRef idx="0">
              <a:schemeClr val="accent1"/>
            </a:fillRef>
            <a:effectRef idx="0">
              <a:schemeClr val="accent1"/>
            </a:effectRef>
            <a:fontRef idx="minor">
              <a:schemeClr val="tx1"/>
            </a:fontRef>
          </p:style>
        </p:cxnSp>
        <p:cxnSp>
          <p:nvCxnSpPr>
            <p:cNvPr id="33" name="Straight Connector 32" hidden="1"/>
            <p:cNvCxnSpPr/>
            <p:nvPr userDrawn="1"/>
          </p:nvCxnSpPr>
          <p:spPr>
            <a:xfrm>
              <a:off x="0" y="4359099"/>
              <a:ext cx="10058400" cy="0"/>
            </a:xfrm>
            <a:prstGeom prst="line">
              <a:avLst/>
            </a:prstGeom>
            <a:ln w="3175">
              <a:solidFill>
                <a:srgbClr val="464749"/>
              </a:solidFill>
            </a:ln>
          </p:spPr>
          <p:style>
            <a:lnRef idx="1">
              <a:schemeClr val="accent1"/>
            </a:lnRef>
            <a:fillRef idx="0">
              <a:schemeClr val="accent1"/>
            </a:fillRef>
            <a:effectRef idx="0">
              <a:schemeClr val="accent1"/>
            </a:effectRef>
            <a:fontRef idx="minor">
              <a:schemeClr val="tx1"/>
            </a:fontRef>
          </p:style>
        </p:cxnSp>
        <p:cxnSp>
          <p:nvCxnSpPr>
            <p:cNvPr id="34" name="Straight Connector 33" hidden="1"/>
            <p:cNvCxnSpPr/>
            <p:nvPr userDrawn="1"/>
          </p:nvCxnSpPr>
          <p:spPr>
            <a:xfrm>
              <a:off x="-5646" y="850908"/>
              <a:ext cx="10058400" cy="0"/>
            </a:xfrm>
            <a:prstGeom prst="line">
              <a:avLst/>
            </a:prstGeom>
            <a:ln w="31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5" name="Straight Connector 34" hidden="1"/>
            <p:cNvCxnSpPr/>
            <p:nvPr userDrawn="1"/>
          </p:nvCxnSpPr>
          <p:spPr>
            <a:xfrm>
              <a:off x="4043" y="1491573"/>
              <a:ext cx="100584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3" name="DraftStamp" hidden="1"/>
          <p:cNvSpPr txBox="1"/>
          <p:nvPr userDrawn="1">
            <p:custDataLst>
              <p:tags r:id="rId4"/>
            </p:custDataLst>
          </p:nvPr>
        </p:nvSpPr>
        <p:spPr>
          <a:xfrm>
            <a:off x="420624" y="254000"/>
            <a:ext cx="1079500" cy="330200"/>
          </a:xfrm>
          <a:prstGeom prst="rect">
            <a:avLst/>
          </a:prstGeom>
          <a:noFill/>
        </p:spPr>
        <p:txBody>
          <a:bodyPr vert="horz" wrap="none" lIns="0" tIns="0" rIns="0" bIns="0" rtlCol="0" anchor="b">
            <a:noAutofit/>
          </a:bodyPr>
          <a:lstStyle/>
          <a:p>
            <a:pPr algn="l">
              <a:lnSpc>
                <a:spcPct val="100000"/>
              </a:lnSpc>
              <a:spcBef>
                <a:spcPct val="0"/>
              </a:spcBef>
              <a:spcAft>
                <a:spcPct val="0"/>
              </a:spcAft>
            </a:pPr>
            <a:r>
              <a:rPr kumimoji="0" lang="en-US" sz="2400" b="1" i="0" u="none" baseline="0">
                <a:solidFill>
                  <a:srgbClr val="E60000"/>
                </a:solidFill>
                <a:latin typeface="Frutiger 55 Roman"/>
              </a:rPr>
              <a:t>Draft</a:t>
            </a:r>
            <a:endParaRPr kumimoji="0" lang="en-US" sz="2400" b="1" i="0" u="none" baseline="0" dirty="0">
              <a:solidFill>
                <a:srgbClr val="E60000"/>
              </a:solidFill>
              <a:latin typeface="Frutiger 55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efault Body Slide">
    <p:spTree>
      <p:nvGrpSpPr>
        <p:cNvPr id="1" name=""/>
        <p:cNvGrpSpPr/>
        <p:nvPr/>
      </p:nvGrpSpPr>
      <p:grpSpPr>
        <a:xfrm>
          <a:off x="0" y="0"/>
          <a:ext cx="0" cy="0"/>
          <a:chOff x="0" y="0"/>
          <a:chExt cx="0" cy="0"/>
        </a:xfrm>
      </p:grpSpPr>
      <p:sp>
        <p:nvSpPr>
          <p:cNvPr id="3" name="LAYOUT BODY"/>
          <p:cNvSpPr>
            <a:spLocks noGrp="1"/>
          </p:cNvSpPr>
          <p:nvPr>
            <p:ph idx="1"/>
            <p:custDataLst>
              <p:tags r:id="rId1"/>
            </p:custDataLst>
          </p:nvPr>
        </p:nvSpPr>
        <p:spPr>
          <a:xfrm>
            <a:off x="420624" y="1852246"/>
            <a:ext cx="9189720" cy="4759691"/>
          </a:xfrm>
        </p:spPr>
        <p:txBody>
          <a:bodyPr lIns="0" tIns="0" rIns="0" bIns="0">
            <a:noAutofit/>
          </a:bodyPr>
          <a:lstStyle>
            <a:lvl1pPr marL="234950" indent="-234950">
              <a:buClr>
                <a:schemeClr val="tx2"/>
              </a:buClr>
              <a:buSzPct val="100000"/>
              <a:buFont typeface="Symbol" pitchFamily="18" charset="2"/>
              <a:buChar char="·"/>
              <a:defRPr sz="1800">
                <a:latin typeface="Frutiger 55 Roman"/>
              </a:defRPr>
            </a:lvl1pPr>
            <a:lvl2pPr marL="461963" indent="-236538">
              <a:defRPr sz="1600">
                <a:latin typeface="Frutiger 55 Roman"/>
              </a:defRPr>
            </a:lvl2pPr>
            <a:lvl3pPr marL="688975" indent="-227013">
              <a:buClr>
                <a:schemeClr val="tx1"/>
              </a:buClr>
              <a:buFont typeface="Arial" pitchFamily="34" charset="0"/>
              <a:buChar char="–"/>
              <a:defRPr sz="1600">
                <a:latin typeface="Frutiger 55 Roman"/>
              </a:defRPr>
            </a:lvl3pPr>
            <a:lvl4pPr marL="914400" indent="-225425">
              <a:buSzPct val="84000"/>
              <a:defRPr sz="1600">
                <a:latin typeface="Frutiger 55 Roman"/>
              </a:defRPr>
            </a:lvl4pPr>
            <a:lvl5pPr marL="1152144" indent="-237744">
              <a:buSzPct val="84000"/>
              <a:buFont typeface="Arial" pitchFamily="34" charset="0"/>
              <a:buChar char="–"/>
              <a:defRPr sz="1600">
                <a:latin typeface="Frutiger 55 Roman"/>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63" name="THIN BLUE LINE"/>
          <p:cNvCxnSpPr/>
          <p:nvPr/>
        </p:nvCxnSpPr>
        <p:spPr>
          <a:xfrm>
            <a:off x="420624" y="1033272"/>
            <a:ext cx="918972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2" name="PAGE HEADING"/>
          <p:cNvSpPr>
            <a:spLocks noGrp="1"/>
          </p:cNvSpPr>
          <p:nvPr>
            <p:ph type="title" hasCustomPrompt="1"/>
            <p:custDataLst>
              <p:tags r:id="rId2"/>
            </p:custDataLst>
          </p:nvPr>
        </p:nvSpPr>
        <p:spPr/>
        <p:txBody>
          <a:bodyPr/>
          <a:lstStyle>
            <a:lvl1pPr>
              <a:defRPr>
                <a:latin typeface="Frutiger 45 Light"/>
              </a:defRPr>
            </a:lvl1pPr>
          </a:lstStyle>
          <a:p>
            <a:pPr lvl="0"/>
            <a:r>
              <a:rPr lang="en-US" dirty="0"/>
              <a:t>&lt;&lt;Page heading&gt;&gt;</a:t>
            </a:r>
          </a:p>
        </p:txBody>
      </p:sp>
      <p:sp>
        <p:nvSpPr>
          <p:cNvPr id="20" name="Slide Number Textbox"/>
          <p:cNvSpPr txBox="1"/>
          <p:nvPr userDrawn="1"/>
        </p:nvSpPr>
        <p:spPr>
          <a:xfrm>
            <a:off x="9208008" y="6858000"/>
            <a:ext cx="411480" cy="384048"/>
          </a:xfrm>
          <a:prstGeom prst="rect">
            <a:avLst/>
          </a:prstGeom>
          <a:noFill/>
        </p:spPr>
        <p:txBody>
          <a:bodyPr vert="horz" wrap="square" lIns="0" tIns="0" rIns="0" bIns="0" rtlCol="0" anchor="b">
            <a:noAutofit/>
          </a:bodyPr>
          <a:lstStyle/>
          <a:p>
            <a:pPr algn="r"/>
            <a:fld id="{C9C5D969-4CAD-4F29-8B51-07B8CBAF6BF4}" type="slidenum">
              <a:rPr lang="en-US" sz="700" smtClean="0"/>
              <a:pPr algn="r"/>
              <a:t>‹#›</a:t>
            </a:fld>
            <a:endParaRPr lang="en-US" sz="700" dirty="0"/>
          </a:p>
        </p:txBody>
      </p:sp>
      <p:sp>
        <p:nvSpPr>
          <p:cNvPr id="21" name="DOCUMENT ID" hidden="1"/>
          <p:cNvSpPr txBox="1"/>
          <p:nvPr userDrawn="1">
            <p:custDataLst>
              <p:tags r:id="rId3"/>
            </p:custDataLst>
          </p:nvPr>
        </p:nvSpPr>
        <p:spPr>
          <a:xfrm>
            <a:off x="2297875" y="420624"/>
            <a:ext cx="7312468" cy="92333"/>
          </a:xfrm>
          <a:prstGeom prst="rect">
            <a:avLst/>
          </a:prstGeom>
        </p:spPr>
        <p:txBody>
          <a:bodyPr vert="horz" wrap="square" lIns="0" tIns="0" rIns="0" bIns="0" rtlCol="0">
            <a:spAutoFit/>
          </a:bodyPr>
          <a:lstStyle>
            <a:lvl1pPr marL="0" lvl="0" indent="0" algn="r" defTabSz="1005505" eaLnBrk="1" latinLnBrk="0" hangingPunct="1">
              <a:spcBef>
                <a:spcPct val="20000"/>
              </a:spcBef>
              <a:buSzPct val="120000"/>
              <a:buFont typeface="Symbol" pitchFamily="18" charset="2"/>
              <a:buNone/>
              <a:defRPr sz="600" b="0" baseline="0">
                <a:solidFill>
                  <a:srgbClr val="616161"/>
                </a:solidFill>
                <a:latin typeface="+mn-lt"/>
                <a:cs typeface="Arial" pitchFamily="34" charset="0"/>
              </a:defRPr>
            </a:lvl1pPr>
            <a:lvl2pPr marL="502755" indent="0" defTabSz="1005505" eaLnBrk="1" latinLnBrk="0" hangingPunct="1">
              <a:spcBef>
                <a:spcPct val="20000"/>
              </a:spcBef>
              <a:buFont typeface="Arial" pitchFamily="34" charset="0"/>
              <a:buNone/>
              <a:defRPr sz="1300">
                <a:latin typeface="+mn-lt"/>
              </a:defRPr>
            </a:lvl2pPr>
            <a:lvl3pPr marL="1005506" indent="0" defTabSz="1005505" eaLnBrk="1" latinLnBrk="0" hangingPunct="1">
              <a:spcBef>
                <a:spcPct val="20000"/>
              </a:spcBef>
              <a:buFont typeface="Arial" pitchFamily="34" charset="0"/>
              <a:buNone/>
              <a:defRPr sz="1300">
                <a:latin typeface="+mn-lt"/>
              </a:defRPr>
            </a:lvl3pPr>
            <a:lvl4pPr marL="1508258" indent="0" defTabSz="1005505" eaLnBrk="1" latinLnBrk="0" hangingPunct="1">
              <a:spcBef>
                <a:spcPct val="20000"/>
              </a:spcBef>
              <a:buFont typeface="Arial" pitchFamily="34" charset="0"/>
              <a:buNone/>
              <a:defRPr sz="1300">
                <a:latin typeface="+mn-lt"/>
              </a:defRPr>
            </a:lvl4pPr>
            <a:lvl5pPr marL="2011009" indent="0" defTabSz="1005505" eaLnBrk="1" latinLnBrk="0" hangingPunct="1">
              <a:spcBef>
                <a:spcPct val="20000"/>
              </a:spcBef>
              <a:buFont typeface="Arial" pitchFamily="34" charset="0"/>
              <a:buNone/>
              <a:defRPr sz="1300">
                <a:latin typeface="+mn-lt"/>
              </a:defRPr>
            </a:lvl5pPr>
            <a:lvl6pPr marL="2765137" indent="-251375" defTabSz="1005505">
              <a:spcBef>
                <a:spcPct val="20000"/>
              </a:spcBef>
              <a:buFont typeface="Arial" pitchFamily="34" charset="0"/>
              <a:buChar char="•"/>
              <a:defRPr sz="2200">
                <a:latin typeface="+mn-lt"/>
              </a:defRPr>
            </a:lvl6pPr>
            <a:lvl7pPr marL="3267890" indent="-251375" defTabSz="1005505">
              <a:spcBef>
                <a:spcPct val="20000"/>
              </a:spcBef>
              <a:buFont typeface="Arial" pitchFamily="34" charset="0"/>
              <a:buChar char="•"/>
              <a:defRPr sz="2200">
                <a:latin typeface="+mn-lt"/>
              </a:defRPr>
            </a:lvl7pPr>
            <a:lvl8pPr marL="3770641" indent="-251375" defTabSz="1005505">
              <a:spcBef>
                <a:spcPct val="20000"/>
              </a:spcBef>
              <a:buFont typeface="Arial" pitchFamily="34" charset="0"/>
              <a:buChar char="•"/>
              <a:defRPr sz="2200">
                <a:latin typeface="+mn-lt"/>
              </a:defRPr>
            </a:lvl8pPr>
            <a:lvl9pPr marL="4273393" indent="-251375" defTabSz="1005505">
              <a:spcBef>
                <a:spcPct val="20000"/>
              </a:spcBef>
              <a:buFont typeface="Arial" pitchFamily="34" charset="0"/>
              <a:buChar char="•"/>
              <a:defRPr sz="2200">
                <a:latin typeface="+mn-lt"/>
              </a:defRPr>
            </a:lvl9pPr>
          </a:lstStyle>
          <a:p>
            <a:pPr lvl="0"/>
            <a:r>
              <a:rPr lang="en-GB" dirty="0"/>
              <a:t>UBSPROD\</a:t>
            </a:r>
            <a:r>
              <a:rPr lang="en-GB" dirty="0" err="1"/>
              <a:t>barrosr</a:t>
            </a:r>
            <a:r>
              <a:rPr lang="en-GB" dirty="0"/>
              <a:t> [printed: ____] [saved: March 12, 2018 12:29 PM] Q:\Renato\INTQuant\Introduction to Monte Carlo Simulation in Finance.pptx </a:t>
            </a:r>
          </a:p>
        </p:txBody>
      </p:sp>
      <p:grpSp>
        <p:nvGrpSpPr>
          <p:cNvPr id="22" name="PXP_GRIDLINES" hidden="1"/>
          <p:cNvGrpSpPr/>
          <p:nvPr userDrawn="1"/>
        </p:nvGrpSpPr>
        <p:grpSpPr>
          <a:xfrm>
            <a:off x="-30640" y="0"/>
            <a:ext cx="10093083" cy="7543800"/>
            <a:chOff x="-30640" y="0"/>
            <a:chExt cx="10093083" cy="7543800"/>
          </a:xfrm>
        </p:grpSpPr>
        <p:cxnSp>
          <p:nvCxnSpPr>
            <p:cNvPr id="23" name="Straight Connector 22" hidden="1"/>
            <p:cNvCxnSpPr/>
            <p:nvPr userDrawn="1"/>
          </p:nvCxnSpPr>
          <p:spPr>
            <a:xfrm>
              <a:off x="402594" y="0"/>
              <a:ext cx="0" cy="754380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24" name="Straight Connector 23" hidden="1"/>
            <p:cNvCxnSpPr/>
            <p:nvPr userDrawn="1"/>
          </p:nvCxnSpPr>
          <p:spPr>
            <a:xfrm>
              <a:off x="5029200" y="0"/>
              <a:ext cx="0" cy="7543800"/>
            </a:xfrm>
            <a:prstGeom prst="line">
              <a:avLst/>
            </a:prstGeom>
            <a:ln w="3175">
              <a:solidFill>
                <a:srgbClr val="464749"/>
              </a:solidFill>
            </a:ln>
          </p:spPr>
          <p:style>
            <a:lnRef idx="1">
              <a:schemeClr val="accent1"/>
            </a:lnRef>
            <a:fillRef idx="0">
              <a:schemeClr val="accent1"/>
            </a:fillRef>
            <a:effectRef idx="0">
              <a:schemeClr val="accent1"/>
            </a:effectRef>
            <a:fontRef idx="minor">
              <a:schemeClr val="tx1"/>
            </a:fontRef>
          </p:style>
        </p:cxnSp>
        <p:cxnSp>
          <p:nvCxnSpPr>
            <p:cNvPr id="25" name="Straight Connector 24" hidden="1"/>
            <p:cNvCxnSpPr/>
            <p:nvPr userDrawn="1"/>
          </p:nvCxnSpPr>
          <p:spPr>
            <a:xfrm>
              <a:off x="9610343" y="0"/>
              <a:ext cx="0" cy="754380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26" name="Straight Connector 25" hidden="1"/>
            <p:cNvCxnSpPr/>
            <p:nvPr userDrawn="1"/>
          </p:nvCxnSpPr>
          <p:spPr>
            <a:xfrm>
              <a:off x="0" y="551751"/>
              <a:ext cx="10058400" cy="0"/>
            </a:xfrm>
            <a:prstGeom prst="line">
              <a:avLst/>
            </a:prstGeom>
            <a:ln w="31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7" name="Straight Connector 26" hidden="1"/>
            <p:cNvCxnSpPr/>
            <p:nvPr userDrawn="1"/>
          </p:nvCxnSpPr>
          <p:spPr>
            <a:xfrm>
              <a:off x="-1600" y="1079526"/>
              <a:ext cx="100584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hidden="1"/>
            <p:cNvCxnSpPr/>
            <p:nvPr userDrawn="1"/>
          </p:nvCxnSpPr>
          <p:spPr>
            <a:xfrm>
              <a:off x="-3200" y="1636176"/>
              <a:ext cx="10058400" cy="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29" name="Straight Connector 28" hidden="1"/>
            <p:cNvCxnSpPr/>
            <p:nvPr userDrawn="1"/>
          </p:nvCxnSpPr>
          <p:spPr>
            <a:xfrm>
              <a:off x="-13716" y="6587211"/>
              <a:ext cx="10058400" cy="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30" name="Straight Connector 29" hidden="1"/>
            <p:cNvCxnSpPr/>
            <p:nvPr userDrawn="1"/>
          </p:nvCxnSpPr>
          <p:spPr>
            <a:xfrm>
              <a:off x="-30640" y="4003499"/>
              <a:ext cx="10058400" cy="0"/>
            </a:xfrm>
            <a:prstGeom prst="line">
              <a:avLst/>
            </a:prstGeom>
            <a:ln w="3175">
              <a:solidFill>
                <a:srgbClr val="464749"/>
              </a:solidFill>
            </a:ln>
          </p:spPr>
          <p:style>
            <a:lnRef idx="1">
              <a:schemeClr val="accent1"/>
            </a:lnRef>
            <a:fillRef idx="0">
              <a:schemeClr val="accent1"/>
            </a:fillRef>
            <a:effectRef idx="0">
              <a:schemeClr val="accent1"/>
            </a:effectRef>
            <a:fontRef idx="minor">
              <a:schemeClr val="tx1"/>
            </a:fontRef>
          </p:style>
        </p:cxnSp>
        <p:cxnSp>
          <p:nvCxnSpPr>
            <p:cNvPr id="31" name="Straight Connector 30" hidden="1"/>
            <p:cNvCxnSpPr/>
            <p:nvPr userDrawn="1"/>
          </p:nvCxnSpPr>
          <p:spPr>
            <a:xfrm>
              <a:off x="0" y="4359099"/>
              <a:ext cx="10058400" cy="0"/>
            </a:xfrm>
            <a:prstGeom prst="line">
              <a:avLst/>
            </a:prstGeom>
            <a:ln w="3175">
              <a:solidFill>
                <a:srgbClr val="464749"/>
              </a:solidFill>
            </a:ln>
          </p:spPr>
          <p:style>
            <a:lnRef idx="1">
              <a:schemeClr val="accent1"/>
            </a:lnRef>
            <a:fillRef idx="0">
              <a:schemeClr val="accent1"/>
            </a:fillRef>
            <a:effectRef idx="0">
              <a:schemeClr val="accent1"/>
            </a:effectRef>
            <a:fontRef idx="minor">
              <a:schemeClr val="tx1"/>
            </a:fontRef>
          </p:style>
        </p:cxnSp>
        <p:cxnSp>
          <p:nvCxnSpPr>
            <p:cNvPr id="32" name="Straight Connector 31" hidden="1"/>
            <p:cNvCxnSpPr/>
            <p:nvPr userDrawn="1"/>
          </p:nvCxnSpPr>
          <p:spPr>
            <a:xfrm>
              <a:off x="-5646" y="850908"/>
              <a:ext cx="10058400" cy="0"/>
            </a:xfrm>
            <a:prstGeom prst="line">
              <a:avLst/>
            </a:prstGeom>
            <a:ln w="31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3" name="Straight Connector 32" hidden="1"/>
            <p:cNvCxnSpPr/>
            <p:nvPr userDrawn="1"/>
          </p:nvCxnSpPr>
          <p:spPr>
            <a:xfrm>
              <a:off x="4043" y="1491573"/>
              <a:ext cx="100584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4" name="DraftStamp" hidden="1"/>
          <p:cNvSpPr txBox="1"/>
          <p:nvPr userDrawn="1">
            <p:custDataLst>
              <p:tags r:id="rId4"/>
            </p:custDataLst>
          </p:nvPr>
        </p:nvSpPr>
        <p:spPr>
          <a:xfrm>
            <a:off x="420624" y="254000"/>
            <a:ext cx="1079500" cy="330200"/>
          </a:xfrm>
          <a:prstGeom prst="rect">
            <a:avLst/>
          </a:prstGeom>
          <a:noFill/>
        </p:spPr>
        <p:txBody>
          <a:bodyPr vert="horz" wrap="none" lIns="0" tIns="0" rIns="0" bIns="0" rtlCol="0" anchor="b">
            <a:noAutofit/>
          </a:bodyPr>
          <a:lstStyle/>
          <a:p>
            <a:pPr algn="l">
              <a:lnSpc>
                <a:spcPct val="100000"/>
              </a:lnSpc>
              <a:spcBef>
                <a:spcPct val="0"/>
              </a:spcBef>
              <a:spcAft>
                <a:spcPct val="0"/>
              </a:spcAft>
            </a:pPr>
            <a:r>
              <a:rPr kumimoji="0" lang="en-US" sz="2400" b="1" i="0" u="none" baseline="0">
                <a:solidFill>
                  <a:srgbClr val="E60000"/>
                </a:solidFill>
                <a:latin typeface="Frutiger 55 Roman"/>
              </a:rPr>
              <a:t>Draft</a:t>
            </a:r>
            <a:endParaRPr kumimoji="0" lang="en-US" sz="2400" b="1" i="0" u="none" baseline="0" dirty="0">
              <a:solidFill>
                <a:srgbClr val="E60000"/>
              </a:solidFill>
              <a:latin typeface="Frutiger 55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cxnSp>
        <p:nvCxnSpPr>
          <p:cNvPr id="64" name="THIN BLUE LINE"/>
          <p:cNvCxnSpPr/>
          <p:nvPr/>
        </p:nvCxnSpPr>
        <p:spPr>
          <a:xfrm>
            <a:off x="420624" y="1033272"/>
            <a:ext cx="918972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PAGE HEADING"/>
          <p:cNvSpPr>
            <a:spLocks noGrp="1"/>
          </p:cNvSpPr>
          <p:nvPr>
            <p:ph type="title" hasCustomPrompt="1"/>
            <p:custDataLst>
              <p:tags r:id="rId1"/>
            </p:custDataLst>
          </p:nvPr>
        </p:nvSpPr>
        <p:spPr>
          <a:xfrm>
            <a:off x="420624" y="0"/>
            <a:ext cx="9189720" cy="941832"/>
          </a:xfrm>
        </p:spPr>
        <p:txBody>
          <a:bodyPr/>
          <a:lstStyle>
            <a:lvl1pPr>
              <a:defRPr>
                <a:latin typeface="Frutiger 45 Light"/>
              </a:defRPr>
            </a:lvl1pPr>
          </a:lstStyle>
          <a:p>
            <a:pPr lvl="0"/>
            <a:r>
              <a:rPr lang="en-US" dirty="0"/>
              <a:t>&lt;&lt;Page heading&gt;&gt;</a:t>
            </a:r>
          </a:p>
        </p:txBody>
      </p:sp>
      <p:sp>
        <p:nvSpPr>
          <p:cNvPr id="20" name="Slide Number Textbox"/>
          <p:cNvSpPr txBox="1"/>
          <p:nvPr userDrawn="1"/>
        </p:nvSpPr>
        <p:spPr>
          <a:xfrm>
            <a:off x="9208008" y="6858000"/>
            <a:ext cx="411480" cy="384048"/>
          </a:xfrm>
          <a:prstGeom prst="rect">
            <a:avLst/>
          </a:prstGeom>
          <a:noFill/>
        </p:spPr>
        <p:txBody>
          <a:bodyPr vert="horz" wrap="square" lIns="0" tIns="0" rIns="0" bIns="0" rtlCol="0" anchor="b">
            <a:noAutofit/>
          </a:bodyPr>
          <a:lstStyle/>
          <a:p>
            <a:pPr algn="r"/>
            <a:fld id="{94976F55-9089-48EE-AE68-8E9544398D42}" type="slidenum">
              <a:rPr lang="en-US" sz="700" smtClean="0"/>
              <a:pPr algn="r"/>
              <a:t>‹#›</a:t>
            </a:fld>
            <a:endParaRPr lang="en-US" sz="700" dirty="0"/>
          </a:p>
        </p:txBody>
      </p:sp>
      <p:sp>
        <p:nvSpPr>
          <p:cNvPr id="22" name="DOCUMENT ID" hidden="1"/>
          <p:cNvSpPr txBox="1"/>
          <p:nvPr userDrawn="1">
            <p:custDataLst>
              <p:tags r:id="rId2"/>
            </p:custDataLst>
          </p:nvPr>
        </p:nvSpPr>
        <p:spPr>
          <a:xfrm>
            <a:off x="2296670" y="420624"/>
            <a:ext cx="7312468" cy="92333"/>
          </a:xfrm>
          <a:prstGeom prst="rect">
            <a:avLst/>
          </a:prstGeom>
        </p:spPr>
        <p:txBody>
          <a:bodyPr vert="horz" wrap="square" lIns="0" tIns="0" rIns="0" bIns="0" rtlCol="0">
            <a:spAutoFit/>
          </a:bodyPr>
          <a:lstStyle>
            <a:lvl1pPr marL="0" lvl="0" indent="0" algn="r" defTabSz="1005505" eaLnBrk="1" latinLnBrk="0" hangingPunct="1">
              <a:spcBef>
                <a:spcPct val="20000"/>
              </a:spcBef>
              <a:buSzPct val="120000"/>
              <a:buFont typeface="Symbol" pitchFamily="18" charset="2"/>
              <a:buNone/>
              <a:defRPr sz="600" b="0" baseline="0">
                <a:solidFill>
                  <a:srgbClr val="616161"/>
                </a:solidFill>
                <a:latin typeface="+mn-lt"/>
                <a:cs typeface="Arial" pitchFamily="34" charset="0"/>
              </a:defRPr>
            </a:lvl1pPr>
            <a:lvl2pPr marL="502755" indent="0" defTabSz="1005505" eaLnBrk="1" latinLnBrk="0" hangingPunct="1">
              <a:spcBef>
                <a:spcPct val="20000"/>
              </a:spcBef>
              <a:buFont typeface="Arial" pitchFamily="34" charset="0"/>
              <a:buNone/>
              <a:defRPr sz="1300">
                <a:latin typeface="+mn-lt"/>
              </a:defRPr>
            </a:lvl2pPr>
            <a:lvl3pPr marL="1005506" indent="0" defTabSz="1005505" eaLnBrk="1" latinLnBrk="0" hangingPunct="1">
              <a:spcBef>
                <a:spcPct val="20000"/>
              </a:spcBef>
              <a:buFont typeface="Arial" pitchFamily="34" charset="0"/>
              <a:buNone/>
              <a:defRPr sz="1300">
                <a:latin typeface="+mn-lt"/>
              </a:defRPr>
            </a:lvl3pPr>
            <a:lvl4pPr marL="1508258" indent="0" defTabSz="1005505" eaLnBrk="1" latinLnBrk="0" hangingPunct="1">
              <a:spcBef>
                <a:spcPct val="20000"/>
              </a:spcBef>
              <a:buFont typeface="Arial" pitchFamily="34" charset="0"/>
              <a:buNone/>
              <a:defRPr sz="1300">
                <a:latin typeface="+mn-lt"/>
              </a:defRPr>
            </a:lvl4pPr>
            <a:lvl5pPr marL="2011009" indent="0" defTabSz="1005505" eaLnBrk="1" latinLnBrk="0" hangingPunct="1">
              <a:spcBef>
                <a:spcPct val="20000"/>
              </a:spcBef>
              <a:buFont typeface="Arial" pitchFamily="34" charset="0"/>
              <a:buNone/>
              <a:defRPr sz="1300">
                <a:latin typeface="+mn-lt"/>
              </a:defRPr>
            </a:lvl5pPr>
            <a:lvl6pPr marL="2765137" indent="-251375" defTabSz="1005505">
              <a:spcBef>
                <a:spcPct val="20000"/>
              </a:spcBef>
              <a:buFont typeface="Arial" pitchFamily="34" charset="0"/>
              <a:buChar char="•"/>
              <a:defRPr sz="2200">
                <a:latin typeface="+mn-lt"/>
              </a:defRPr>
            </a:lvl6pPr>
            <a:lvl7pPr marL="3267890" indent="-251375" defTabSz="1005505">
              <a:spcBef>
                <a:spcPct val="20000"/>
              </a:spcBef>
              <a:buFont typeface="Arial" pitchFamily="34" charset="0"/>
              <a:buChar char="•"/>
              <a:defRPr sz="2200">
                <a:latin typeface="+mn-lt"/>
              </a:defRPr>
            </a:lvl7pPr>
            <a:lvl8pPr marL="3770641" indent="-251375" defTabSz="1005505">
              <a:spcBef>
                <a:spcPct val="20000"/>
              </a:spcBef>
              <a:buFont typeface="Arial" pitchFamily="34" charset="0"/>
              <a:buChar char="•"/>
              <a:defRPr sz="2200">
                <a:latin typeface="+mn-lt"/>
              </a:defRPr>
            </a:lvl8pPr>
            <a:lvl9pPr marL="4273393" indent="-251375" defTabSz="1005505">
              <a:spcBef>
                <a:spcPct val="20000"/>
              </a:spcBef>
              <a:buFont typeface="Arial" pitchFamily="34" charset="0"/>
              <a:buChar char="•"/>
              <a:defRPr sz="2200">
                <a:latin typeface="+mn-lt"/>
              </a:defRPr>
            </a:lvl9pPr>
          </a:lstStyle>
          <a:p>
            <a:pPr lvl="0"/>
            <a:r>
              <a:rPr lang="en-GB" dirty="0"/>
              <a:t>UBSPROD\</a:t>
            </a:r>
            <a:r>
              <a:rPr lang="en-GB" dirty="0" err="1"/>
              <a:t>barrosr</a:t>
            </a:r>
            <a:r>
              <a:rPr lang="en-GB" dirty="0"/>
              <a:t> [printed: ____] [saved: March 12, 2018 12:29 PM] Q:\Renato\INTQuant\Introduction to Monte Carlo Simulation in Finance.pptx </a:t>
            </a:r>
          </a:p>
        </p:txBody>
      </p:sp>
      <p:grpSp>
        <p:nvGrpSpPr>
          <p:cNvPr id="23" name="PXP_GRIDLINES" hidden="1"/>
          <p:cNvGrpSpPr/>
          <p:nvPr userDrawn="1"/>
        </p:nvGrpSpPr>
        <p:grpSpPr>
          <a:xfrm>
            <a:off x="-30640" y="0"/>
            <a:ext cx="10093083" cy="7543800"/>
            <a:chOff x="-30640" y="0"/>
            <a:chExt cx="10093083" cy="7543800"/>
          </a:xfrm>
        </p:grpSpPr>
        <p:cxnSp>
          <p:nvCxnSpPr>
            <p:cNvPr id="24" name="Straight Connector 23" hidden="1"/>
            <p:cNvCxnSpPr/>
            <p:nvPr userDrawn="1"/>
          </p:nvCxnSpPr>
          <p:spPr>
            <a:xfrm>
              <a:off x="402594" y="0"/>
              <a:ext cx="0" cy="754380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25" name="Straight Connector 24" hidden="1"/>
            <p:cNvCxnSpPr/>
            <p:nvPr userDrawn="1"/>
          </p:nvCxnSpPr>
          <p:spPr>
            <a:xfrm>
              <a:off x="5029200" y="0"/>
              <a:ext cx="0" cy="7543800"/>
            </a:xfrm>
            <a:prstGeom prst="line">
              <a:avLst/>
            </a:prstGeom>
            <a:ln w="3175">
              <a:solidFill>
                <a:srgbClr val="464749"/>
              </a:solidFill>
            </a:ln>
          </p:spPr>
          <p:style>
            <a:lnRef idx="1">
              <a:schemeClr val="accent1"/>
            </a:lnRef>
            <a:fillRef idx="0">
              <a:schemeClr val="accent1"/>
            </a:fillRef>
            <a:effectRef idx="0">
              <a:schemeClr val="accent1"/>
            </a:effectRef>
            <a:fontRef idx="minor">
              <a:schemeClr val="tx1"/>
            </a:fontRef>
          </p:style>
        </p:cxnSp>
        <p:cxnSp>
          <p:nvCxnSpPr>
            <p:cNvPr id="26" name="Straight Connector 25" hidden="1"/>
            <p:cNvCxnSpPr/>
            <p:nvPr userDrawn="1"/>
          </p:nvCxnSpPr>
          <p:spPr>
            <a:xfrm>
              <a:off x="9610343" y="0"/>
              <a:ext cx="0" cy="754380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27" name="Straight Connector 26" hidden="1"/>
            <p:cNvCxnSpPr/>
            <p:nvPr userDrawn="1"/>
          </p:nvCxnSpPr>
          <p:spPr>
            <a:xfrm>
              <a:off x="0" y="551751"/>
              <a:ext cx="10058400" cy="0"/>
            </a:xfrm>
            <a:prstGeom prst="line">
              <a:avLst/>
            </a:prstGeom>
            <a:ln w="31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8" name="Straight Connector 27" hidden="1"/>
            <p:cNvCxnSpPr/>
            <p:nvPr userDrawn="1"/>
          </p:nvCxnSpPr>
          <p:spPr>
            <a:xfrm>
              <a:off x="-1600" y="1079526"/>
              <a:ext cx="100584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hidden="1"/>
            <p:cNvCxnSpPr/>
            <p:nvPr userDrawn="1"/>
          </p:nvCxnSpPr>
          <p:spPr>
            <a:xfrm>
              <a:off x="-3200" y="1636176"/>
              <a:ext cx="10058400" cy="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30" name="Straight Connector 29" hidden="1"/>
            <p:cNvCxnSpPr/>
            <p:nvPr userDrawn="1"/>
          </p:nvCxnSpPr>
          <p:spPr>
            <a:xfrm>
              <a:off x="-13716" y="6587211"/>
              <a:ext cx="10058400" cy="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31" name="Straight Connector 30" hidden="1"/>
            <p:cNvCxnSpPr/>
            <p:nvPr userDrawn="1"/>
          </p:nvCxnSpPr>
          <p:spPr>
            <a:xfrm>
              <a:off x="-30640" y="4003499"/>
              <a:ext cx="10058400" cy="0"/>
            </a:xfrm>
            <a:prstGeom prst="line">
              <a:avLst/>
            </a:prstGeom>
            <a:ln w="3175">
              <a:solidFill>
                <a:srgbClr val="464749"/>
              </a:solidFill>
            </a:ln>
          </p:spPr>
          <p:style>
            <a:lnRef idx="1">
              <a:schemeClr val="accent1"/>
            </a:lnRef>
            <a:fillRef idx="0">
              <a:schemeClr val="accent1"/>
            </a:fillRef>
            <a:effectRef idx="0">
              <a:schemeClr val="accent1"/>
            </a:effectRef>
            <a:fontRef idx="minor">
              <a:schemeClr val="tx1"/>
            </a:fontRef>
          </p:style>
        </p:cxnSp>
        <p:cxnSp>
          <p:nvCxnSpPr>
            <p:cNvPr id="32" name="Straight Connector 31" hidden="1"/>
            <p:cNvCxnSpPr/>
            <p:nvPr userDrawn="1"/>
          </p:nvCxnSpPr>
          <p:spPr>
            <a:xfrm>
              <a:off x="0" y="4359099"/>
              <a:ext cx="10058400" cy="0"/>
            </a:xfrm>
            <a:prstGeom prst="line">
              <a:avLst/>
            </a:prstGeom>
            <a:ln w="3175">
              <a:solidFill>
                <a:srgbClr val="464749"/>
              </a:solidFill>
            </a:ln>
          </p:spPr>
          <p:style>
            <a:lnRef idx="1">
              <a:schemeClr val="accent1"/>
            </a:lnRef>
            <a:fillRef idx="0">
              <a:schemeClr val="accent1"/>
            </a:fillRef>
            <a:effectRef idx="0">
              <a:schemeClr val="accent1"/>
            </a:effectRef>
            <a:fontRef idx="minor">
              <a:schemeClr val="tx1"/>
            </a:fontRef>
          </p:style>
        </p:cxnSp>
        <p:cxnSp>
          <p:nvCxnSpPr>
            <p:cNvPr id="33" name="Straight Connector 32" hidden="1"/>
            <p:cNvCxnSpPr/>
            <p:nvPr userDrawn="1"/>
          </p:nvCxnSpPr>
          <p:spPr>
            <a:xfrm>
              <a:off x="-5646" y="850908"/>
              <a:ext cx="10058400" cy="0"/>
            </a:xfrm>
            <a:prstGeom prst="line">
              <a:avLst/>
            </a:prstGeom>
            <a:ln w="31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4" name="Straight Connector 33" hidden="1"/>
            <p:cNvCxnSpPr/>
            <p:nvPr userDrawn="1"/>
          </p:nvCxnSpPr>
          <p:spPr>
            <a:xfrm>
              <a:off x="4043" y="1491573"/>
              <a:ext cx="100584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2" name="DraftStamp" hidden="1"/>
          <p:cNvSpPr txBox="1"/>
          <p:nvPr userDrawn="1">
            <p:custDataLst>
              <p:tags r:id="rId3"/>
            </p:custDataLst>
          </p:nvPr>
        </p:nvSpPr>
        <p:spPr>
          <a:xfrm>
            <a:off x="420624" y="254000"/>
            <a:ext cx="1079500" cy="330200"/>
          </a:xfrm>
          <a:prstGeom prst="rect">
            <a:avLst/>
          </a:prstGeom>
          <a:noFill/>
        </p:spPr>
        <p:txBody>
          <a:bodyPr vert="horz" wrap="none" lIns="0" tIns="0" rIns="0" bIns="0" rtlCol="0" anchor="b">
            <a:noAutofit/>
          </a:bodyPr>
          <a:lstStyle/>
          <a:p>
            <a:pPr algn="l">
              <a:lnSpc>
                <a:spcPct val="100000"/>
              </a:lnSpc>
              <a:spcBef>
                <a:spcPct val="0"/>
              </a:spcBef>
              <a:spcAft>
                <a:spcPct val="0"/>
              </a:spcAft>
            </a:pPr>
            <a:r>
              <a:rPr kumimoji="0" lang="en-US" sz="2400" b="1" i="0" u="none" baseline="0">
                <a:solidFill>
                  <a:srgbClr val="E60000"/>
                </a:solidFill>
                <a:latin typeface="Frutiger 55 Roman"/>
              </a:rPr>
              <a:t>Draft</a:t>
            </a:r>
            <a:endParaRPr kumimoji="0" lang="en-US" sz="2400" b="1" i="0" u="none" baseline="0" dirty="0">
              <a:solidFill>
                <a:srgbClr val="E60000"/>
              </a:solidFill>
              <a:latin typeface="Frutiger 55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Large 1x1 Full Height">
    <p:spTree>
      <p:nvGrpSpPr>
        <p:cNvPr id="1" name=""/>
        <p:cNvGrpSpPr/>
        <p:nvPr/>
      </p:nvGrpSpPr>
      <p:grpSpPr>
        <a:xfrm>
          <a:off x="0" y="0"/>
          <a:ext cx="0" cy="0"/>
          <a:chOff x="0" y="0"/>
          <a:chExt cx="0" cy="0"/>
        </a:xfrm>
      </p:grpSpPr>
      <p:sp>
        <p:nvSpPr>
          <p:cNvPr id="14" name="LAYOUT SOURCE"/>
          <p:cNvSpPr>
            <a:spLocks noGrp="1"/>
          </p:cNvSpPr>
          <p:nvPr>
            <p:ph type="body" idx="15" hasCustomPrompt="1"/>
            <p:custDataLst>
              <p:tags r:id="rId1"/>
            </p:custDataLst>
          </p:nvPr>
        </p:nvSpPr>
        <p:spPr>
          <a:xfrm>
            <a:off x="420624" y="6263642"/>
            <a:ext cx="9189720" cy="192024"/>
          </a:xfrm>
          <a:noFill/>
        </p:spPr>
        <p:txBody>
          <a:bodyPr lIns="0" tIns="54846" rIns="0" bIns="0" anchor="b">
            <a:noAutofit/>
          </a:bodyPr>
          <a:lstStyle>
            <a:lvl1pPr marL="0" indent="0">
              <a:buNone/>
              <a:defRPr sz="1200" b="0"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Source:</a:t>
            </a:r>
          </a:p>
        </p:txBody>
      </p:sp>
      <p:sp>
        <p:nvSpPr>
          <p:cNvPr id="3" name="LAYOUT BODY"/>
          <p:cNvSpPr>
            <a:spLocks noGrp="1"/>
          </p:cNvSpPr>
          <p:nvPr>
            <p:ph idx="1"/>
            <p:custDataLst>
              <p:tags r:id="rId2"/>
            </p:custDataLst>
          </p:nvPr>
        </p:nvSpPr>
        <p:spPr>
          <a:xfrm>
            <a:off x="420624" y="1856233"/>
            <a:ext cx="9189720" cy="4407409"/>
          </a:xfrm>
        </p:spPr>
        <p:txBody>
          <a:bodyPr lIns="0" tIns="0" rIns="0" bIns="0">
            <a:noAutofit/>
          </a:bodyPr>
          <a:lstStyle>
            <a:lvl1pPr marL="239632" indent="-239632">
              <a:buClr>
                <a:schemeClr val="tx2"/>
              </a:buClr>
              <a:buSzPct val="100000"/>
              <a:buFont typeface="Symbol" pitchFamily="18" charset="2"/>
              <a:buChar char="·"/>
              <a:defRPr sz="1800">
                <a:latin typeface="Frutiger 55 Roman"/>
              </a:defRPr>
            </a:lvl1pPr>
            <a:lvl2pPr marL="455613" indent="-230188">
              <a:tabLst/>
              <a:defRPr sz="1600">
                <a:latin typeface="Frutiger 55 Roman"/>
              </a:defRPr>
            </a:lvl2pPr>
            <a:lvl3pPr marL="688975" indent="-227013">
              <a:buFont typeface="Arial" pitchFamily="34" charset="0"/>
              <a:buChar char="–"/>
              <a:defRPr sz="1600">
                <a:latin typeface="Frutiger 55 Roman"/>
              </a:defRPr>
            </a:lvl3pPr>
            <a:lvl4pPr marL="914400" indent="-225425" defTabSz="914400">
              <a:buSzPct val="84000"/>
              <a:defRPr sz="1600">
                <a:latin typeface="Frutiger 55 Roman"/>
              </a:defRPr>
            </a:lvl4pPr>
            <a:lvl5pPr marL="1152140" indent="-237744">
              <a:buSzPct val="84000"/>
              <a:buFont typeface="Arial" pitchFamily="34" charset="0"/>
              <a:buChar char="–"/>
              <a:defRPr sz="1600">
                <a:latin typeface="Frutiger 55 Roman"/>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LAYOUT HEADER"/>
          <p:cNvSpPr>
            <a:spLocks noGrp="1"/>
          </p:cNvSpPr>
          <p:nvPr>
            <p:ph type="body" idx="14" hasCustomPrompt="1"/>
            <p:custDataLst>
              <p:tags r:id="rId3"/>
            </p:custDataLst>
          </p:nvPr>
        </p:nvSpPr>
        <p:spPr>
          <a:xfrm>
            <a:off x="420624" y="1498600"/>
            <a:ext cx="9189720" cy="355600"/>
          </a:xfrm>
          <a:noFill/>
        </p:spPr>
        <p:txBody>
          <a:bodyPr lIns="0" tIns="0" rIns="0" bIns="36564" anchor="t" anchorCtr="0">
            <a:noAutofit/>
          </a:bodyPr>
          <a:lstStyle>
            <a:lvl1pPr marL="0" indent="0">
              <a:buNone/>
              <a:defRPr sz="1800" b="1"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&lt;&lt;Layout heading&gt;&gt;</a:t>
            </a:r>
          </a:p>
        </p:txBody>
      </p:sp>
      <p:cxnSp>
        <p:nvCxnSpPr>
          <p:cNvPr id="54" name="THIN BLUE LINE"/>
          <p:cNvCxnSpPr/>
          <p:nvPr/>
        </p:nvCxnSpPr>
        <p:spPr>
          <a:xfrm>
            <a:off x="420624" y="1033272"/>
            <a:ext cx="918972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PAGE HEADING"/>
          <p:cNvSpPr>
            <a:spLocks noGrp="1"/>
          </p:cNvSpPr>
          <p:nvPr>
            <p:ph type="title" hasCustomPrompt="1"/>
            <p:custDataLst>
              <p:tags r:id="rId4"/>
            </p:custDataLst>
          </p:nvPr>
        </p:nvSpPr>
        <p:spPr>
          <a:xfrm>
            <a:off x="420624" y="0"/>
            <a:ext cx="9189720" cy="941832"/>
          </a:xfrm>
        </p:spPr>
        <p:txBody>
          <a:bodyPr/>
          <a:lstStyle>
            <a:lvl1pPr>
              <a:defRPr>
                <a:latin typeface="Frutiger 45 Light"/>
              </a:defRPr>
            </a:lvl1pPr>
          </a:lstStyle>
          <a:p>
            <a:pPr lvl="0"/>
            <a:r>
              <a:rPr lang="en-US" dirty="0"/>
              <a:t>&lt;&lt;Page heading&gt;&gt;</a:t>
            </a:r>
          </a:p>
        </p:txBody>
      </p:sp>
      <p:sp>
        <p:nvSpPr>
          <p:cNvPr id="25" name="Slide Number Textbox"/>
          <p:cNvSpPr txBox="1"/>
          <p:nvPr userDrawn="1"/>
        </p:nvSpPr>
        <p:spPr>
          <a:xfrm>
            <a:off x="9208008" y="6858000"/>
            <a:ext cx="411480" cy="384048"/>
          </a:xfrm>
          <a:prstGeom prst="rect">
            <a:avLst/>
          </a:prstGeom>
          <a:noFill/>
        </p:spPr>
        <p:txBody>
          <a:bodyPr vert="horz" wrap="square" lIns="0" tIns="0" rIns="0" bIns="0" rtlCol="0" anchor="b">
            <a:noAutofit/>
          </a:bodyPr>
          <a:lstStyle/>
          <a:p>
            <a:pPr algn="r"/>
            <a:fld id="{855E24D6-7D0A-470C-80AD-CB9E4DCBF649}" type="slidenum">
              <a:rPr lang="en-US" sz="700" smtClean="0"/>
              <a:pPr algn="r"/>
              <a:t>‹#›</a:t>
            </a:fld>
            <a:endParaRPr lang="en-US" sz="700" dirty="0"/>
          </a:p>
        </p:txBody>
      </p:sp>
      <p:sp>
        <p:nvSpPr>
          <p:cNvPr id="27" name="DOCUMENT ID" hidden="1"/>
          <p:cNvSpPr txBox="1"/>
          <p:nvPr userDrawn="1">
            <p:custDataLst>
              <p:tags r:id="rId5"/>
            </p:custDataLst>
          </p:nvPr>
        </p:nvSpPr>
        <p:spPr>
          <a:xfrm>
            <a:off x="2297875" y="420624"/>
            <a:ext cx="7312468" cy="92333"/>
          </a:xfrm>
          <a:prstGeom prst="rect">
            <a:avLst/>
          </a:prstGeom>
        </p:spPr>
        <p:txBody>
          <a:bodyPr vert="horz" wrap="square" lIns="0" tIns="0" rIns="0" bIns="0" rtlCol="0">
            <a:spAutoFit/>
          </a:bodyPr>
          <a:lstStyle>
            <a:lvl1pPr marL="0" lvl="0" indent="0" algn="r" defTabSz="1005505" eaLnBrk="1" latinLnBrk="0" hangingPunct="1">
              <a:spcBef>
                <a:spcPct val="20000"/>
              </a:spcBef>
              <a:buSzPct val="120000"/>
              <a:buFont typeface="Symbol" pitchFamily="18" charset="2"/>
              <a:buNone/>
              <a:defRPr sz="600" b="0" baseline="0">
                <a:solidFill>
                  <a:srgbClr val="616161"/>
                </a:solidFill>
                <a:latin typeface="+mn-lt"/>
                <a:cs typeface="Arial" pitchFamily="34" charset="0"/>
              </a:defRPr>
            </a:lvl1pPr>
            <a:lvl2pPr marL="502755" indent="0" defTabSz="1005505" eaLnBrk="1" latinLnBrk="0" hangingPunct="1">
              <a:spcBef>
                <a:spcPct val="20000"/>
              </a:spcBef>
              <a:buFont typeface="Arial" pitchFamily="34" charset="0"/>
              <a:buNone/>
              <a:defRPr sz="1300">
                <a:latin typeface="+mn-lt"/>
              </a:defRPr>
            </a:lvl2pPr>
            <a:lvl3pPr marL="1005506" indent="0" defTabSz="1005505" eaLnBrk="1" latinLnBrk="0" hangingPunct="1">
              <a:spcBef>
                <a:spcPct val="20000"/>
              </a:spcBef>
              <a:buFont typeface="Arial" pitchFamily="34" charset="0"/>
              <a:buNone/>
              <a:defRPr sz="1300">
                <a:latin typeface="+mn-lt"/>
              </a:defRPr>
            </a:lvl3pPr>
            <a:lvl4pPr marL="1508258" indent="0" defTabSz="1005505" eaLnBrk="1" latinLnBrk="0" hangingPunct="1">
              <a:spcBef>
                <a:spcPct val="20000"/>
              </a:spcBef>
              <a:buFont typeface="Arial" pitchFamily="34" charset="0"/>
              <a:buNone/>
              <a:defRPr sz="1300">
                <a:latin typeface="+mn-lt"/>
              </a:defRPr>
            </a:lvl4pPr>
            <a:lvl5pPr marL="2011009" indent="0" defTabSz="1005505" eaLnBrk="1" latinLnBrk="0" hangingPunct="1">
              <a:spcBef>
                <a:spcPct val="20000"/>
              </a:spcBef>
              <a:buFont typeface="Arial" pitchFamily="34" charset="0"/>
              <a:buNone/>
              <a:defRPr sz="1300">
                <a:latin typeface="+mn-lt"/>
              </a:defRPr>
            </a:lvl5pPr>
            <a:lvl6pPr marL="2765137" indent="-251375" defTabSz="1005505">
              <a:spcBef>
                <a:spcPct val="20000"/>
              </a:spcBef>
              <a:buFont typeface="Arial" pitchFamily="34" charset="0"/>
              <a:buChar char="•"/>
              <a:defRPr sz="2200">
                <a:latin typeface="+mn-lt"/>
              </a:defRPr>
            </a:lvl6pPr>
            <a:lvl7pPr marL="3267890" indent="-251375" defTabSz="1005505">
              <a:spcBef>
                <a:spcPct val="20000"/>
              </a:spcBef>
              <a:buFont typeface="Arial" pitchFamily="34" charset="0"/>
              <a:buChar char="•"/>
              <a:defRPr sz="2200">
                <a:latin typeface="+mn-lt"/>
              </a:defRPr>
            </a:lvl7pPr>
            <a:lvl8pPr marL="3770641" indent="-251375" defTabSz="1005505">
              <a:spcBef>
                <a:spcPct val="20000"/>
              </a:spcBef>
              <a:buFont typeface="Arial" pitchFamily="34" charset="0"/>
              <a:buChar char="•"/>
              <a:defRPr sz="2200">
                <a:latin typeface="+mn-lt"/>
              </a:defRPr>
            </a:lvl8pPr>
            <a:lvl9pPr marL="4273393" indent="-251375" defTabSz="1005505">
              <a:spcBef>
                <a:spcPct val="20000"/>
              </a:spcBef>
              <a:buFont typeface="Arial" pitchFamily="34" charset="0"/>
              <a:buChar char="•"/>
              <a:defRPr sz="2200">
                <a:latin typeface="+mn-lt"/>
              </a:defRPr>
            </a:lvl9pPr>
          </a:lstStyle>
          <a:p>
            <a:pPr lvl="0"/>
            <a:r>
              <a:rPr lang="en-GB" dirty="0"/>
              <a:t>UBSPROD\</a:t>
            </a:r>
            <a:r>
              <a:rPr lang="en-GB" dirty="0" err="1"/>
              <a:t>barrosr</a:t>
            </a:r>
            <a:r>
              <a:rPr lang="en-GB" dirty="0"/>
              <a:t> [printed: ____] [saved: March 12, 2018 12:29 PM] Q:\Renato\INTQuant\Introduction to Monte Carlo Simulation in Finance.pptx </a:t>
            </a:r>
          </a:p>
        </p:txBody>
      </p:sp>
      <p:grpSp>
        <p:nvGrpSpPr>
          <p:cNvPr id="28" name="PXP_GRIDLINES" hidden="1"/>
          <p:cNvGrpSpPr/>
          <p:nvPr userDrawn="1"/>
        </p:nvGrpSpPr>
        <p:grpSpPr>
          <a:xfrm>
            <a:off x="-30640" y="0"/>
            <a:ext cx="10093083" cy="7543800"/>
            <a:chOff x="-30640" y="0"/>
            <a:chExt cx="10093083" cy="7543800"/>
          </a:xfrm>
        </p:grpSpPr>
        <p:cxnSp>
          <p:nvCxnSpPr>
            <p:cNvPr id="29" name="Straight Connector 28" hidden="1"/>
            <p:cNvCxnSpPr/>
            <p:nvPr userDrawn="1"/>
          </p:nvCxnSpPr>
          <p:spPr>
            <a:xfrm>
              <a:off x="402594" y="0"/>
              <a:ext cx="0" cy="754380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30" name="Straight Connector 29" hidden="1"/>
            <p:cNvCxnSpPr/>
            <p:nvPr userDrawn="1"/>
          </p:nvCxnSpPr>
          <p:spPr>
            <a:xfrm>
              <a:off x="5029200" y="0"/>
              <a:ext cx="0" cy="7543800"/>
            </a:xfrm>
            <a:prstGeom prst="line">
              <a:avLst/>
            </a:prstGeom>
            <a:ln w="3175">
              <a:solidFill>
                <a:srgbClr val="464749"/>
              </a:solidFill>
            </a:ln>
          </p:spPr>
          <p:style>
            <a:lnRef idx="1">
              <a:schemeClr val="accent1"/>
            </a:lnRef>
            <a:fillRef idx="0">
              <a:schemeClr val="accent1"/>
            </a:fillRef>
            <a:effectRef idx="0">
              <a:schemeClr val="accent1"/>
            </a:effectRef>
            <a:fontRef idx="minor">
              <a:schemeClr val="tx1"/>
            </a:fontRef>
          </p:style>
        </p:cxnSp>
        <p:cxnSp>
          <p:nvCxnSpPr>
            <p:cNvPr id="31" name="Straight Connector 30" hidden="1"/>
            <p:cNvCxnSpPr/>
            <p:nvPr userDrawn="1"/>
          </p:nvCxnSpPr>
          <p:spPr>
            <a:xfrm>
              <a:off x="9610343" y="0"/>
              <a:ext cx="0" cy="754380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32" name="Straight Connector 31" hidden="1"/>
            <p:cNvCxnSpPr/>
            <p:nvPr userDrawn="1"/>
          </p:nvCxnSpPr>
          <p:spPr>
            <a:xfrm>
              <a:off x="0" y="551751"/>
              <a:ext cx="10058400" cy="0"/>
            </a:xfrm>
            <a:prstGeom prst="line">
              <a:avLst/>
            </a:prstGeom>
            <a:ln w="31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3" name="Straight Connector 32" hidden="1"/>
            <p:cNvCxnSpPr/>
            <p:nvPr userDrawn="1"/>
          </p:nvCxnSpPr>
          <p:spPr>
            <a:xfrm>
              <a:off x="-1600" y="1079526"/>
              <a:ext cx="100584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hidden="1"/>
            <p:cNvCxnSpPr/>
            <p:nvPr userDrawn="1"/>
          </p:nvCxnSpPr>
          <p:spPr>
            <a:xfrm>
              <a:off x="-3200" y="1636176"/>
              <a:ext cx="10058400" cy="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35" name="Straight Connector 34" hidden="1"/>
            <p:cNvCxnSpPr/>
            <p:nvPr userDrawn="1"/>
          </p:nvCxnSpPr>
          <p:spPr>
            <a:xfrm>
              <a:off x="-13716" y="6587211"/>
              <a:ext cx="10058400" cy="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36" name="Straight Connector 35" hidden="1"/>
            <p:cNvCxnSpPr/>
            <p:nvPr userDrawn="1"/>
          </p:nvCxnSpPr>
          <p:spPr>
            <a:xfrm>
              <a:off x="-30640" y="4003499"/>
              <a:ext cx="10058400" cy="0"/>
            </a:xfrm>
            <a:prstGeom prst="line">
              <a:avLst/>
            </a:prstGeom>
            <a:ln w="3175">
              <a:solidFill>
                <a:srgbClr val="464749"/>
              </a:solidFill>
            </a:ln>
          </p:spPr>
          <p:style>
            <a:lnRef idx="1">
              <a:schemeClr val="accent1"/>
            </a:lnRef>
            <a:fillRef idx="0">
              <a:schemeClr val="accent1"/>
            </a:fillRef>
            <a:effectRef idx="0">
              <a:schemeClr val="accent1"/>
            </a:effectRef>
            <a:fontRef idx="minor">
              <a:schemeClr val="tx1"/>
            </a:fontRef>
          </p:style>
        </p:cxnSp>
        <p:cxnSp>
          <p:nvCxnSpPr>
            <p:cNvPr id="37" name="Straight Connector 36" hidden="1"/>
            <p:cNvCxnSpPr/>
            <p:nvPr userDrawn="1"/>
          </p:nvCxnSpPr>
          <p:spPr>
            <a:xfrm>
              <a:off x="0" y="4359099"/>
              <a:ext cx="10058400" cy="0"/>
            </a:xfrm>
            <a:prstGeom prst="line">
              <a:avLst/>
            </a:prstGeom>
            <a:ln w="3175">
              <a:solidFill>
                <a:srgbClr val="464749"/>
              </a:solidFill>
            </a:ln>
          </p:spPr>
          <p:style>
            <a:lnRef idx="1">
              <a:schemeClr val="accent1"/>
            </a:lnRef>
            <a:fillRef idx="0">
              <a:schemeClr val="accent1"/>
            </a:fillRef>
            <a:effectRef idx="0">
              <a:schemeClr val="accent1"/>
            </a:effectRef>
            <a:fontRef idx="minor">
              <a:schemeClr val="tx1"/>
            </a:fontRef>
          </p:style>
        </p:cxnSp>
        <p:cxnSp>
          <p:nvCxnSpPr>
            <p:cNvPr id="38" name="Straight Connector 37" hidden="1"/>
            <p:cNvCxnSpPr/>
            <p:nvPr userDrawn="1"/>
          </p:nvCxnSpPr>
          <p:spPr>
            <a:xfrm>
              <a:off x="-5646" y="850908"/>
              <a:ext cx="10058400" cy="0"/>
            </a:xfrm>
            <a:prstGeom prst="line">
              <a:avLst/>
            </a:prstGeom>
            <a:ln w="31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9" name="Straight Connector 38" hidden="1"/>
            <p:cNvCxnSpPr/>
            <p:nvPr userDrawn="1"/>
          </p:nvCxnSpPr>
          <p:spPr>
            <a:xfrm>
              <a:off x="4043" y="1491573"/>
              <a:ext cx="100584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2" name="DraftStamp" hidden="1"/>
          <p:cNvSpPr txBox="1"/>
          <p:nvPr userDrawn="1">
            <p:custDataLst>
              <p:tags r:id="rId6"/>
            </p:custDataLst>
          </p:nvPr>
        </p:nvSpPr>
        <p:spPr>
          <a:xfrm>
            <a:off x="420624" y="254000"/>
            <a:ext cx="1079500" cy="330200"/>
          </a:xfrm>
          <a:prstGeom prst="rect">
            <a:avLst/>
          </a:prstGeom>
          <a:noFill/>
        </p:spPr>
        <p:txBody>
          <a:bodyPr vert="horz" wrap="none" lIns="0" tIns="0" rIns="0" bIns="0" rtlCol="0" anchor="b">
            <a:noAutofit/>
          </a:bodyPr>
          <a:lstStyle/>
          <a:p>
            <a:pPr algn="l">
              <a:lnSpc>
                <a:spcPct val="100000"/>
              </a:lnSpc>
              <a:spcBef>
                <a:spcPct val="0"/>
              </a:spcBef>
              <a:spcAft>
                <a:spcPct val="0"/>
              </a:spcAft>
            </a:pPr>
            <a:r>
              <a:rPr kumimoji="0" lang="en-US" sz="2400" b="1" i="0" u="none" baseline="0">
                <a:solidFill>
                  <a:srgbClr val="E60000"/>
                </a:solidFill>
                <a:latin typeface="Frutiger 55 Roman"/>
              </a:rPr>
              <a:t>Draft</a:t>
            </a:r>
            <a:endParaRPr kumimoji="0" lang="en-US" sz="2400" b="1" i="0" u="none" baseline="0" dirty="0">
              <a:solidFill>
                <a:srgbClr val="E60000"/>
              </a:solidFill>
              <a:latin typeface="Frutiger 55 Roman"/>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Large 1x1">
    <p:spTree>
      <p:nvGrpSpPr>
        <p:cNvPr id="1" name=""/>
        <p:cNvGrpSpPr/>
        <p:nvPr/>
      </p:nvGrpSpPr>
      <p:grpSpPr>
        <a:xfrm>
          <a:off x="0" y="0"/>
          <a:ext cx="0" cy="0"/>
          <a:chOff x="0" y="0"/>
          <a:chExt cx="0" cy="0"/>
        </a:xfrm>
      </p:grpSpPr>
      <p:sp>
        <p:nvSpPr>
          <p:cNvPr id="12" name="LAYOUT SOURCE"/>
          <p:cNvSpPr>
            <a:spLocks noGrp="1"/>
          </p:cNvSpPr>
          <p:nvPr>
            <p:ph type="body" idx="17" hasCustomPrompt="1"/>
            <p:custDataLst>
              <p:tags r:id="rId1"/>
            </p:custDataLst>
          </p:nvPr>
        </p:nvSpPr>
        <p:spPr>
          <a:xfrm>
            <a:off x="420624" y="6249809"/>
            <a:ext cx="9189720" cy="192024"/>
          </a:xfrm>
          <a:noFill/>
        </p:spPr>
        <p:txBody>
          <a:bodyPr lIns="0" tIns="54846" rIns="0" bIns="0" anchor="b">
            <a:noAutofit/>
          </a:bodyPr>
          <a:lstStyle>
            <a:lvl1pPr marL="0" indent="0">
              <a:buNone/>
              <a:defRPr sz="1200" b="0"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Source:</a:t>
            </a:r>
          </a:p>
        </p:txBody>
      </p:sp>
      <p:sp>
        <p:nvSpPr>
          <p:cNvPr id="11" name="LAYOUT BODY"/>
          <p:cNvSpPr>
            <a:spLocks noGrp="1"/>
          </p:cNvSpPr>
          <p:nvPr>
            <p:ph idx="16"/>
            <p:custDataLst>
              <p:tags r:id="rId2"/>
            </p:custDataLst>
          </p:nvPr>
        </p:nvSpPr>
        <p:spPr>
          <a:xfrm>
            <a:off x="420624" y="4411863"/>
            <a:ext cx="9189720" cy="1837944"/>
          </a:xfrm>
          <a:noFill/>
        </p:spPr>
        <p:txBody>
          <a:bodyPr lIns="0" tIns="0" rIns="0" bIns="0">
            <a:noAutofit/>
          </a:bodyPr>
          <a:lstStyle>
            <a:lvl1pPr marL="239632" indent="-239632">
              <a:buClr>
                <a:schemeClr val="tx2"/>
              </a:buClr>
              <a:buSzPct val="100000"/>
              <a:buFont typeface="Symbol" pitchFamily="18" charset="2"/>
              <a:buChar char="·"/>
              <a:defRPr sz="1800">
                <a:latin typeface="Frutiger 55 Roman"/>
              </a:defRPr>
            </a:lvl1pPr>
            <a:lvl2pPr marL="455613" indent="-230188">
              <a:tabLst/>
              <a:defRPr sz="1600">
                <a:latin typeface="Frutiger 55 Roman"/>
              </a:defRPr>
            </a:lvl2pPr>
            <a:lvl3pPr marL="688975" indent="-227013">
              <a:buFont typeface="Arial" pitchFamily="34" charset="0"/>
              <a:buChar char="–"/>
              <a:defRPr sz="1600">
                <a:latin typeface="Frutiger 55 Roman"/>
              </a:defRPr>
            </a:lvl3pPr>
            <a:lvl4pPr marL="914400" indent="-225425">
              <a:buSzPct val="84000"/>
              <a:defRPr sz="1600">
                <a:latin typeface="Frutiger 55 Roman"/>
              </a:defRPr>
            </a:lvl4pPr>
            <a:lvl5pPr marL="1152140" indent="-237744">
              <a:buSzPct val="84000"/>
              <a:buFont typeface="Arial" pitchFamily="34" charset="0"/>
              <a:buChar char="–"/>
              <a:defRPr sz="1600">
                <a:latin typeface="Frutiger 55 Roman"/>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LAYOUT HEADER"/>
          <p:cNvSpPr>
            <a:spLocks noGrp="1"/>
          </p:cNvSpPr>
          <p:nvPr>
            <p:ph type="body" idx="18" hasCustomPrompt="1"/>
            <p:custDataLst>
              <p:tags r:id="rId3"/>
            </p:custDataLst>
          </p:nvPr>
        </p:nvSpPr>
        <p:spPr>
          <a:xfrm>
            <a:off x="420624" y="4054229"/>
            <a:ext cx="9189720" cy="355600"/>
          </a:xfrm>
          <a:noFill/>
        </p:spPr>
        <p:txBody>
          <a:bodyPr lIns="0" tIns="0" rIns="0" bIns="36564" anchor="t" anchorCtr="0">
            <a:noAutofit/>
          </a:bodyPr>
          <a:lstStyle>
            <a:lvl1pPr marL="0" indent="0">
              <a:buNone/>
              <a:defRPr sz="1800" b="1"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&lt;&lt;Layout heading&gt;&gt;</a:t>
            </a:r>
          </a:p>
        </p:txBody>
      </p:sp>
      <p:sp>
        <p:nvSpPr>
          <p:cNvPr id="14" name="LAYOUT SOURCE"/>
          <p:cNvSpPr>
            <a:spLocks noGrp="1"/>
          </p:cNvSpPr>
          <p:nvPr>
            <p:ph type="body" idx="15" hasCustomPrompt="1"/>
            <p:custDataLst>
              <p:tags r:id="rId4"/>
            </p:custDataLst>
          </p:nvPr>
        </p:nvSpPr>
        <p:spPr>
          <a:xfrm>
            <a:off x="420624" y="3694180"/>
            <a:ext cx="9189720" cy="192024"/>
          </a:xfrm>
          <a:noFill/>
        </p:spPr>
        <p:txBody>
          <a:bodyPr lIns="0" tIns="54846" rIns="0" bIns="0" anchor="b">
            <a:noAutofit/>
          </a:bodyPr>
          <a:lstStyle>
            <a:lvl1pPr marL="0" indent="0">
              <a:buNone/>
              <a:defRPr sz="1200" b="0"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Source:</a:t>
            </a:r>
          </a:p>
        </p:txBody>
      </p:sp>
      <p:sp>
        <p:nvSpPr>
          <p:cNvPr id="3" name="LAYOUT BODY"/>
          <p:cNvSpPr>
            <a:spLocks noGrp="1"/>
          </p:cNvSpPr>
          <p:nvPr>
            <p:ph idx="1"/>
            <p:custDataLst>
              <p:tags r:id="rId5"/>
            </p:custDataLst>
          </p:nvPr>
        </p:nvSpPr>
        <p:spPr>
          <a:xfrm>
            <a:off x="420624" y="1856234"/>
            <a:ext cx="9189720" cy="1837944"/>
          </a:xfrm>
          <a:noFill/>
        </p:spPr>
        <p:txBody>
          <a:bodyPr lIns="0" tIns="0" rIns="0" bIns="0">
            <a:noAutofit/>
          </a:bodyPr>
          <a:lstStyle>
            <a:lvl1pPr marL="239632" indent="-239632">
              <a:buClr>
                <a:schemeClr val="tx2"/>
              </a:buClr>
              <a:buSzPct val="100000"/>
              <a:buFont typeface="Symbol" pitchFamily="18" charset="2"/>
              <a:buChar char="·"/>
              <a:defRPr sz="1800">
                <a:latin typeface="Frutiger 55 Roman"/>
              </a:defRPr>
            </a:lvl1pPr>
            <a:lvl2pPr marL="455613" indent="-230188">
              <a:tabLst/>
              <a:defRPr sz="1600">
                <a:latin typeface="Frutiger 55 Roman"/>
              </a:defRPr>
            </a:lvl2pPr>
            <a:lvl3pPr marL="688975" indent="-227013">
              <a:buFont typeface="Arial" pitchFamily="34" charset="0"/>
              <a:buChar char="–"/>
              <a:defRPr sz="1600">
                <a:latin typeface="Frutiger 55 Roman"/>
              </a:defRPr>
            </a:lvl3pPr>
            <a:lvl4pPr marL="914400" indent="-225425">
              <a:buSzPct val="84000"/>
              <a:defRPr sz="1600">
                <a:latin typeface="Frutiger 55 Roman"/>
              </a:defRPr>
            </a:lvl4pPr>
            <a:lvl5pPr marL="1152140" indent="-237744">
              <a:buSzPct val="84000"/>
              <a:buFont typeface="Arial" pitchFamily="34" charset="0"/>
              <a:buChar char="–"/>
              <a:defRPr sz="1600">
                <a:latin typeface="Frutiger 55 Roman"/>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LAYOUT HEADER"/>
          <p:cNvSpPr>
            <a:spLocks noGrp="1"/>
          </p:cNvSpPr>
          <p:nvPr>
            <p:ph type="body" idx="14" hasCustomPrompt="1"/>
            <p:custDataLst>
              <p:tags r:id="rId6"/>
            </p:custDataLst>
          </p:nvPr>
        </p:nvSpPr>
        <p:spPr>
          <a:xfrm>
            <a:off x="420624" y="1498600"/>
            <a:ext cx="9189720" cy="355600"/>
          </a:xfrm>
          <a:noFill/>
        </p:spPr>
        <p:txBody>
          <a:bodyPr lIns="0" tIns="0" rIns="0" bIns="36564" anchor="t" anchorCtr="0">
            <a:noAutofit/>
          </a:bodyPr>
          <a:lstStyle>
            <a:lvl1pPr marL="0" indent="0">
              <a:buNone/>
              <a:defRPr sz="1800" b="1"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&lt;&lt;Layout heading&gt;&gt;</a:t>
            </a:r>
          </a:p>
        </p:txBody>
      </p:sp>
      <p:cxnSp>
        <p:nvCxnSpPr>
          <p:cNvPr id="54" name="THIN BLUE LINE"/>
          <p:cNvCxnSpPr/>
          <p:nvPr/>
        </p:nvCxnSpPr>
        <p:spPr>
          <a:xfrm>
            <a:off x="420624" y="1033272"/>
            <a:ext cx="918972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PAGE HEADING"/>
          <p:cNvSpPr>
            <a:spLocks noGrp="1"/>
          </p:cNvSpPr>
          <p:nvPr>
            <p:ph type="title" hasCustomPrompt="1"/>
            <p:custDataLst>
              <p:tags r:id="rId7"/>
            </p:custDataLst>
          </p:nvPr>
        </p:nvSpPr>
        <p:spPr>
          <a:xfrm>
            <a:off x="420624" y="0"/>
            <a:ext cx="9189720" cy="941832"/>
          </a:xfrm>
        </p:spPr>
        <p:txBody>
          <a:bodyPr/>
          <a:lstStyle>
            <a:lvl1pPr>
              <a:defRPr>
                <a:latin typeface="Frutiger 45 Light"/>
              </a:defRPr>
            </a:lvl1pPr>
          </a:lstStyle>
          <a:p>
            <a:pPr lvl="0"/>
            <a:r>
              <a:rPr lang="en-US" dirty="0"/>
              <a:t>&lt;&lt;Page heading&gt;&gt;</a:t>
            </a:r>
          </a:p>
        </p:txBody>
      </p:sp>
      <p:sp>
        <p:nvSpPr>
          <p:cNvPr id="29" name="Slide Number Textbox"/>
          <p:cNvSpPr txBox="1"/>
          <p:nvPr userDrawn="1"/>
        </p:nvSpPr>
        <p:spPr>
          <a:xfrm>
            <a:off x="9208008" y="6858000"/>
            <a:ext cx="411480" cy="384048"/>
          </a:xfrm>
          <a:prstGeom prst="rect">
            <a:avLst/>
          </a:prstGeom>
          <a:noFill/>
        </p:spPr>
        <p:txBody>
          <a:bodyPr vert="horz" wrap="square" lIns="0" tIns="0" rIns="0" bIns="0" rtlCol="0" anchor="b">
            <a:noAutofit/>
          </a:bodyPr>
          <a:lstStyle/>
          <a:p>
            <a:pPr algn="r"/>
            <a:fld id="{2451735E-85A4-4643-8094-642905B783F2}" type="slidenum">
              <a:rPr lang="en-US" sz="700" smtClean="0"/>
              <a:pPr algn="r"/>
              <a:t>‹#›</a:t>
            </a:fld>
            <a:endParaRPr lang="en-US" sz="700" dirty="0"/>
          </a:p>
        </p:txBody>
      </p:sp>
      <p:sp>
        <p:nvSpPr>
          <p:cNvPr id="30" name="DOCUMENT ID" hidden="1"/>
          <p:cNvSpPr txBox="1"/>
          <p:nvPr userDrawn="1">
            <p:custDataLst>
              <p:tags r:id="rId8"/>
            </p:custDataLst>
          </p:nvPr>
        </p:nvSpPr>
        <p:spPr>
          <a:xfrm>
            <a:off x="2297875" y="420624"/>
            <a:ext cx="7312468" cy="92333"/>
          </a:xfrm>
          <a:prstGeom prst="rect">
            <a:avLst/>
          </a:prstGeom>
        </p:spPr>
        <p:txBody>
          <a:bodyPr vert="horz" wrap="square" lIns="0" tIns="0" rIns="0" bIns="0" rtlCol="0">
            <a:spAutoFit/>
          </a:bodyPr>
          <a:lstStyle>
            <a:lvl1pPr marL="0" lvl="0" indent="0" algn="r" defTabSz="1005505" eaLnBrk="1" latinLnBrk="0" hangingPunct="1">
              <a:spcBef>
                <a:spcPct val="20000"/>
              </a:spcBef>
              <a:buSzPct val="120000"/>
              <a:buFont typeface="Symbol" pitchFamily="18" charset="2"/>
              <a:buNone/>
              <a:defRPr sz="600" b="0" baseline="0">
                <a:solidFill>
                  <a:srgbClr val="616161"/>
                </a:solidFill>
                <a:latin typeface="+mn-lt"/>
                <a:cs typeface="Arial" pitchFamily="34" charset="0"/>
              </a:defRPr>
            </a:lvl1pPr>
            <a:lvl2pPr marL="502755" indent="0" defTabSz="1005505" eaLnBrk="1" latinLnBrk="0" hangingPunct="1">
              <a:spcBef>
                <a:spcPct val="20000"/>
              </a:spcBef>
              <a:buFont typeface="Arial" pitchFamily="34" charset="0"/>
              <a:buNone/>
              <a:defRPr sz="1300">
                <a:latin typeface="+mn-lt"/>
              </a:defRPr>
            </a:lvl2pPr>
            <a:lvl3pPr marL="1005506" indent="0" defTabSz="1005505" eaLnBrk="1" latinLnBrk="0" hangingPunct="1">
              <a:spcBef>
                <a:spcPct val="20000"/>
              </a:spcBef>
              <a:buFont typeface="Arial" pitchFamily="34" charset="0"/>
              <a:buNone/>
              <a:defRPr sz="1300">
                <a:latin typeface="+mn-lt"/>
              </a:defRPr>
            </a:lvl3pPr>
            <a:lvl4pPr marL="1508258" indent="0" defTabSz="1005505" eaLnBrk="1" latinLnBrk="0" hangingPunct="1">
              <a:spcBef>
                <a:spcPct val="20000"/>
              </a:spcBef>
              <a:buFont typeface="Arial" pitchFamily="34" charset="0"/>
              <a:buNone/>
              <a:defRPr sz="1300">
                <a:latin typeface="+mn-lt"/>
              </a:defRPr>
            </a:lvl4pPr>
            <a:lvl5pPr marL="2011009" indent="0" defTabSz="1005505" eaLnBrk="1" latinLnBrk="0" hangingPunct="1">
              <a:spcBef>
                <a:spcPct val="20000"/>
              </a:spcBef>
              <a:buFont typeface="Arial" pitchFamily="34" charset="0"/>
              <a:buNone/>
              <a:defRPr sz="1300">
                <a:latin typeface="+mn-lt"/>
              </a:defRPr>
            </a:lvl5pPr>
            <a:lvl6pPr marL="2765137" indent="-251375" defTabSz="1005505">
              <a:spcBef>
                <a:spcPct val="20000"/>
              </a:spcBef>
              <a:buFont typeface="Arial" pitchFamily="34" charset="0"/>
              <a:buChar char="•"/>
              <a:defRPr sz="2200">
                <a:latin typeface="+mn-lt"/>
              </a:defRPr>
            </a:lvl6pPr>
            <a:lvl7pPr marL="3267890" indent="-251375" defTabSz="1005505">
              <a:spcBef>
                <a:spcPct val="20000"/>
              </a:spcBef>
              <a:buFont typeface="Arial" pitchFamily="34" charset="0"/>
              <a:buChar char="•"/>
              <a:defRPr sz="2200">
                <a:latin typeface="+mn-lt"/>
              </a:defRPr>
            </a:lvl7pPr>
            <a:lvl8pPr marL="3770641" indent="-251375" defTabSz="1005505">
              <a:spcBef>
                <a:spcPct val="20000"/>
              </a:spcBef>
              <a:buFont typeface="Arial" pitchFamily="34" charset="0"/>
              <a:buChar char="•"/>
              <a:defRPr sz="2200">
                <a:latin typeface="+mn-lt"/>
              </a:defRPr>
            </a:lvl8pPr>
            <a:lvl9pPr marL="4273393" indent="-251375" defTabSz="1005505">
              <a:spcBef>
                <a:spcPct val="20000"/>
              </a:spcBef>
              <a:buFont typeface="Arial" pitchFamily="34" charset="0"/>
              <a:buChar char="•"/>
              <a:defRPr sz="2200">
                <a:latin typeface="+mn-lt"/>
              </a:defRPr>
            </a:lvl9pPr>
          </a:lstStyle>
          <a:p>
            <a:pPr lvl="0"/>
            <a:r>
              <a:rPr lang="en-GB" dirty="0"/>
              <a:t>UBSPROD\</a:t>
            </a:r>
            <a:r>
              <a:rPr lang="en-GB" dirty="0" err="1"/>
              <a:t>barrosr</a:t>
            </a:r>
            <a:r>
              <a:rPr lang="en-GB" dirty="0"/>
              <a:t> [printed: ____] [saved: March 12, 2018 12:29 PM] Q:\Renato\INTQuant\Introduction to Monte Carlo Simulation in Finance.pptx </a:t>
            </a:r>
          </a:p>
        </p:txBody>
      </p:sp>
      <p:grpSp>
        <p:nvGrpSpPr>
          <p:cNvPr id="32" name="PXP_GRIDLINES" hidden="1"/>
          <p:cNvGrpSpPr/>
          <p:nvPr userDrawn="1"/>
        </p:nvGrpSpPr>
        <p:grpSpPr>
          <a:xfrm>
            <a:off x="-30640" y="0"/>
            <a:ext cx="10093083" cy="7543800"/>
            <a:chOff x="-30640" y="0"/>
            <a:chExt cx="10093083" cy="7543800"/>
          </a:xfrm>
        </p:grpSpPr>
        <p:cxnSp>
          <p:nvCxnSpPr>
            <p:cNvPr id="33" name="Straight Connector 32" hidden="1"/>
            <p:cNvCxnSpPr/>
            <p:nvPr userDrawn="1"/>
          </p:nvCxnSpPr>
          <p:spPr>
            <a:xfrm>
              <a:off x="402594" y="0"/>
              <a:ext cx="0" cy="754380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34" name="Straight Connector 33" hidden="1"/>
            <p:cNvCxnSpPr/>
            <p:nvPr userDrawn="1"/>
          </p:nvCxnSpPr>
          <p:spPr>
            <a:xfrm>
              <a:off x="5029200" y="0"/>
              <a:ext cx="0" cy="7543800"/>
            </a:xfrm>
            <a:prstGeom prst="line">
              <a:avLst/>
            </a:prstGeom>
            <a:ln w="3175">
              <a:solidFill>
                <a:srgbClr val="464749"/>
              </a:solidFill>
            </a:ln>
          </p:spPr>
          <p:style>
            <a:lnRef idx="1">
              <a:schemeClr val="accent1"/>
            </a:lnRef>
            <a:fillRef idx="0">
              <a:schemeClr val="accent1"/>
            </a:fillRef>
            <a:effectRef idx="0">
              <a:schemeClr val="accent1"/>
            </a:effectRef>
            <a:fontRef idx="minor">
              <a:schemeClr val="tx1"/>
            </a:fontRef>
          </p:style>
        </p:cxnSp>
        <p:cxnSp>
          <p:nvCxnSpPr>
            <p:cNvPr id="35" name="Straight Connector 34" hidden="1"/>
            <p:cNvCxnSpPr/>
            <p:nvPr userDrawn="1"/>
          </p:nvCxnSpPr>
          <p:spPr>
            <a:xfrm>
              <a:off x="9610343" y="0"/>
              <a:ext cx="0" cy="754380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36" name="Straight Connector 35" hidden="1"/>
            <p:cNvCxnSpPr/>
            <p:nvPr userDrawn="1"/>
          </p:nvCxnSpPr>
          <p:spPr>
            <a:xfrm>
              <a:off x="0" y="551751"/>
              <a:ext cx="10058400" cy="0"/>
            </a:xfrm>
            <a:prstGeom prst="line">
              <a:avLst/>
            </a:prstGeom>
            <a:ln w="31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7" name="Straight Connector 36" hidden="1"/>
            <p:cNvCxnSpPr/>
            <p:nvPr userDrawn="1"/>
          </p:nvCxnSpPr>
          <p:spPr>
            <a:xfrm>
              <a:off x="-1600" y="1079526"/>
              <a:ext cx="100584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hidden="1"/>
            <p:cNvCxnSpPr/>
            <p:nvPr userDrawn="1"/>
          </p:nvCxnSpPr>
          <p:spPr>
            <a:xfrm>
              <a:off x="-3200" y="1636176"/>
              <a:ext cx="10058400" cy="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39" name="Straight Connector 38" hidden="1"/>
            <p:cNvCxnSpPr/>
            <p:nvPr userDrawn="1"/>
          </p:nvCxnSpPr>
          <p:spPr>
            <a:xfrm>
              <a:off x="-13716" y="6587211"/>
              <a:ext cx="10058400" cy="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40" name="Straight Connector 39" hidden="1"/>
            <p:cNvCxnSpPr/>
            <p:nvPr userDrawn="1"/>
          </p:nvCxnSpPr>
          <p:spPr>
            <a:xfrm>
              <a:off x="-30640" y="4003499"/>
              <a:ext cx="10058400" cy="0"/>
            </a:xfrm>
            <a:prstGeom prst="line">
              <a:avLst/>
            </a:prstGeom>
            <a:ln w="3175">
              <a:solidFill>
                <a:srgbClr val="464749"/>
              </a:solidFill>
            </a:ln>
          </p:spPr>
          <p:style>
            <a:lnRef idx="1">
              <a:schemeClr val="accent1"/>
            </a:lnRef>
            <a:fillRef idx="0">
              <a:schemeClr val="accent1"/>
            </a:fillRef>
            <a:effectRef idx="0">
              <a:schemeClr val="accent1"/>
            </a:effectRef>
            <a:fontRef idx="minor">
              <a:schemeClr val="tx1"/>
            </a:fontRef>
          </p:style>
        </p:cxnSp>
        <p:cxnSp>
          <p:nvCxnSpPr>
            <p:cNvPr id="41" name="Straight Connector 40" hidden="1"/>
            <p:cNvCxnSpPr/>
            <p:nvPr userDrawn="1"/>
          </p:nvCxnSpPr>
          <p:spPr>
            <a:xfrm>
              <a:off x="0" y="4359099"/>
              <a:ext cx="10058400" cy="0"/>
            </a:xfrm>
            <a:prstGeom prst="line">
              <a:avLst/>
            </a:prstGeom>
            <a:ln w="3175">
              <a:solidFill>
                <a:srgbClr val="464749"/>
              </a:solidFill>
            </a:ln>
          </p:spPr>
          <p:style>
            <a:lnRef idx="1">
              <a:schemeClr val="accent1"/>
            </a:lnRef>
            <a:fillRef idx="0">
              <a:schemeClr val="accent1"/>
            </a:fillRef>
            <a:effectRef idx="0">
              <a:schemeClr val="accent1"/>
            </a:effectRef>
            <a:fontRef idx="minor">
              <a:schemeClr val="tx1"/>
            </a:fontRef>
          </p:style>
        </p:cxnSp>
        <p:cxnSp>
          <p:nvCxnSpPr>
            <p:cNvPr id="42" name="Straight Connector 41" hidden="1"/>
            <p:cNvCxnSpPr/>
            <p:nvPr userDrawn="1"/>
          </p:nvCxnSpPr>
          <p:spPr>
            <a:xfrm>
              <a:off x="-5646" y="850908"/>
              <a:ext cx="10058400" cy="0"/>
            </a:xfrm>
            <a:prstGeom prst="line">
              <a:avLst/>
            </a:prstGeom>
            <a:ln w="31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3" name="Straight Connector 42" hidden="1"/>
            <p:cNvCxnSpPr/>
            <p:nvPr userDrawn="1"/>
          </p:nvCxnSpPr>
          <p:spPr>
            <a:xfrm>
              <a:off x="4043" y="1491573"/>
              <a:ext cx="100584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2" name="DraftStamp" hidden="1"/>
          <p:cNvSpPr txBox="1"/>
          <p:nvPr userDrawn="1">
            <p:custDataLst>
              <p:tags r:id="rId9"/>
            </p:custDataLst>
          </p:nvPr>
        </p:nvSpPr>
        <p:spPr>
          <a:xfrm>
            <a:off x="420624" y="254000"/>
            <a:ext cx="1079500" cy="330200"/>
          </a:xfrm>
          <a:prstGeom prst="rect">
            <a:avLst/>
          </a:prstGeom>
          <a:noFill/>
        </p:spPr>
        <p:txBody>
          <a:bodyPr vert="horz" wrap="none" lIns="0" tIns="0" rIns="0" bIns="0" rtlCol="0" anchor="b">
            <a:noAutofit/>
          </a:bodyPr>
          <a:lstStyle/>
          <a:p>
            <a:pPr algn="l">
              <a:lnSpc>
                <a:spcPct val="100000"/>
              </a:lnSpc>
              <a:spcBef>
                <a:spcPct val="0"/>
              </a:spcBef>
              <a:spcAft>
                <a:spcPct val="0"/>
              </a:spcAft>
            </a:pPr>
            <a:r>
              <a:rPr kumimoji="0" lang="en-US" sz="2400" b="1" i="0" u="none" baseline="0">
                <a:solidFill>
                  <a:srgbClr val="E60000"/>
                </a:solidFill>
                <a:latin typeface="Frutiger 55 Roman"/>
              </a:rPr>
              <a:t>Draft</a:t>
            </a:r>
            <a:endParaRPr kumimoji="0" lang="en-US" sz="2400" b="1" i="0" u="none" baseline="0" dirty="0">
              <a:solidFill>
                <a:srgbClr val="E60000"/>
              </a:solidFill>
              <a:latin typeface="Frutiger 55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Large 2x1 Full Height">
    <p:spTree>
      <p:nvGrpSpPr>
        <p:cNvPr id="1" name=""/>
        <p:cNvGrpSpPr/>
        <p:nvPr/>
      </p:nvGrpSpPr>
      <p:grpSpPr>
        <a:xfrm>
          <a:off x="0" y="0"/>
          <a:ext cx="0" cy="0"/>
          <a:chOff x="0" y="0"/>
          <a:chExt cx="0" cy="0"/>
        </a:xfrm>
      </p:grpSpPr>
      <p:sp>
        <p:nvSpPr>
          <p:cNvPr id="12" name="LAYOUT SOURCE"/>
          <p:cNvSpPr>
            <a:spLocks noGrp="1"/>
          </p:cNvSpPr>
          <p:nvPr>
            <p:ph type="body" idx="18" hasCustomPrompt="1"/>
            <p:custDataLst>
              <p:tags r:id="rId1"/>
            </p:custDataLst>
          </p:nvPr>
        </p:nvSpPr>
        <p:spPr>
          <a:xfrm>
            <a:off x="5157216" y="6263642"/>
            <a:ext cx="4434840" cy="192024"/>
          </a:xfrm>
          <a:noFill/>
        </p:spPr>
        <p:txBody>
          <a:bodyPr lIns="0" tIns="54846" rIns="0" bIns="0" anchor="b">
            <a:noAutofit/>
          </a:bodyPr>
          <a:lstStyle>
            <a:lvl1pPr marL="0" indent="0">
              <a:buNone/>
              <a:defRPr sz="1200" b="0"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Source:</a:t>
            </a:r>
          </a:p>
        </p:txBody>
      </p:sp>
      <p:sp>
        <p:nvSpPr>
          <p:cNvPr id="8" name="LAYOUT BODY"/>
          <p:cNvSpPr>
            <a:spLocks noGrp="1"/>
          </p:cNvSpPr>
          <p:nvPr>
            <p:ph idx="16"/>
            <p:custDataLst>
              <p:tags r:id="rId2"/>
            </p:custDataLst>
          </p:nvPr>
        </p:nvSpPr>
        <p:spPr>
          <a:xfrm>
            <a:off x="5157216" y="1856233"/>
            <a:ext cx="4434840" cy="4407409"/>
          </a:xfrm>
          <a:noFill/>
        </p:spPr>
        <p:txBody>
          <a:bodyPr lIns="0" tIns="0" rIns="0" bIns="0">
            <a:noAutofit/>
          </a:bodyPr>
          <a:lstStyle>
            <a:lvl1pPr marL="239632" indent="-239632">
              <a:buClr>
                <a:schemeClr val="tx2"/>
              </a:buClr>
              <a:buSzPct val="100000"/>
              <a:buFont typeface="Symbol" pitchFamily="18" charset="2"/>
              <a:buChar char="·"/>
              <a:defRPr sz="1800">
                <a:latin typeface="Frutiger 55 Roman"/>
              </a:defRPr>
            </a:lvl1pPr>
            <a:lvl2pPr marL="455613" indent="-230188">
              <a:tabLst/>
              <a:defRPr sz="1600">
                <a:latin typeface="Frutiger 55 Roman"/>
              </a:defRPr>
            </a:lvl2pPr>
            <a:lvl3pPr marL="688975" indent="-227013">
              <a:buFont typeface="Arial" pitchFamily="34" charset="0"/>
              <a:buChar char="–"/>
              <a:defRPr sz="1600">
                <a:latin typeface="Frutiger 55 Roman"/>
              </a:defRPr>
            </a:lvl3pPr>
            <a:lvl4pPr marL="914400" indent="-225425">
              <a:buSzPct val="84000"/>
              <a:defRPr sz="1600">
                <a:latin typeface="Frutiger 55 Roman"/>
              </a:defRPr>
            </a:lvl4pPr>
            <a:lvl5pPr marL="1152140" indent="-250743">
              <a:buSzPct val="84000"/>
              <a:buFont typeface="Arial" pitchFamily="34" charset="0"/>
              <a:buChar char="–"/>
              <a:defRPr sz="1600">
                <a:latin typeface="Frutiger 55 Roman"/>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2" name="LAYOUT HEADER"/>
          <p:cNvSpPr>
            <a:spLocks noGrp="1"/>
          </p:cNvSpPr>
          <p:nvPr>
            <p:ph type="body" idx="19" hasCustomPrompt="1"/>
            <p:custDataLst>
              <p:tags r:id="rId3"/>
            </p:custDataLst>
          </p:nvPr>
        </p:nvSpPr>
        <p:spPr>
          <a:xfrm>
            <a:off x="5157216" y="1498600"/>
            <a:ext cx="4434840" cy="355600"/>
          </a:xfrm>
          <a:noFill/>
        </p:spPr>
        <p:txBody>
          <a:bodyPr lIns="0" tIns="0" rIns="0" bIns="36564" anchor="t" anchorCtr="0">
            <a:noAutofit/>
          </a:bodyPr>
          <a:lstStyle>
            <a:lvl1pPr marL="0" indent="0">
              <a:buNone/>
              <a:defRPr sz="1800" b="1"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&lt;&lt;Layout heading&gt;&gt;</a:t>
            </a:r>
          </a:p>
        </p:txBody>
      </p:sp>
      <p:sp>
        <p:nvSpPr>
          <p:cNvPr id="14" name="LAYOUT SOURCE"/>
          <p:cNvSpPr>
            <a:spLocks noGrp="1"/>
          </p:cNvSpPr>
          <p:nvPr>
            <p:ph type="body" idx="15" hasCustomPrompt="1"/>
            <p:custDataLst>
              <p:tags r:id="rId4"/>
            </p:custDataLst>
          </p:nvPr>
        </p:nvSpPr>
        <p:spPr>
          <a:xfrm>
            <a:off x="420624" y="6263642"/>
            <a:ext cx="4434840" cy="192024"/>
          </a:xfrm>
          <a:noFill/>
        </p:spPr>
        <p:txBody>
          <a:bodyPr lIns="0" tIns="54846" rIns="0" bIns="0" anchor="b">
            <a:noAutofit/>
          </a:bodyPr>
          <a:lstStyle>
            <a:lvl1pPr marL="0" indent="0">
              <a:buNone/>
              <a:defRPr sz="1200" b="0"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Source:</a:t>
            </a:r>
          </a:p>
        </p:txBody>
      </p:sp>
      <p:sp>
        <p:nvSpPr>
          <p:cNvPr id="3" name="LAYOUT BODY"/>
          <p:cNvSpPr>
            <a:spLocks noGrp="1"/>
          </p:cNvSpPr>
          <p:nvPr>
            <p:ph idx="1"/>
            <p:custDataLst>
              <p:tags r:id="rId5"/>
            </p:custDataLst>
          </p:nvPr>
        </p:nvSpPr>
        <p:spPr>
          <a:xfrm>
            <a:off x="420624" y="1856233"/>
            <a:ext cx="4434840" cy="4407409"/>
          </a:xfrm>
          <a:noFill/>
        </p:spPr>
        <p:txBody>
          <a:bodyPr lIns="0" tIns="0" rIns="0" bIns="0">
            <a:noAutofit/>
          </a:bodyPr>
          <a:lstStyle>
            <a:lvl1pPr marL="239632" indent="-239632">
              <a:buClr>
                <a:schemeClr val="tx2"/>
              </a:buClr>
              <a:buSzPct val="100000"/>
              <a:buFont typeface="Symbol" pitchFamily="18" charset="2"/>
              <a:buChar char="·"/>
              <a:defRPr sz="1800">
                <a:latin typeface="Frutiger 55 Roman"/>
              </a:defRPr>
            </a:lvl1pPr>
            <a:lvl2pPr marL="455613" indent="-230188">
              <a:tabLst/>
              <a:defRPr sz="1600">
                <a:latin typeface="Frutiger 55 Roman"/>
              </a:defRPr>
            </a:lvl2pPr>
            <a:lvl3pPr marL="688975" indent="-227013">
              <a:buFont typeface="Arial" pitchFamily="34" charset="0"/>
              <a:buChar char="–"/>
              <a:defRPr sz="1600">
                <a:latin typeface="Frutiger 55 Roman"/>
              </a:defRPr>
            </a:lvl3pPr>
            <a:lvl4pPr marL="914400" indent="-225425">
              <a:buSzPct val="84000"/>
              <a:defRPr sz="1600">
                <a:latin typeface="Frutiger 55 Roman"/>
              </a:defRPr>
            </a:lvl4pPr>
            <a:lvl5pPr marL="1152140" indent="-250743">
              <a:buSzPct val="84000"/>
              <a:buFont typeface="Arial" pitchFamily="34" charset="0"/>
              <a:buChar char="–"/>
              <a:defRPr sz="1600">
                <a:latin typeface="Frutiger 55 Roman"/>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LAYOUT HEADER"/>
          <p:cNvSpPr>
            <a:spLocks noGrp="1"/>
          </p:cNvSpPr>
          <p:nvPr>
            <p:ph type="body" idx="14" hasCustomPrompt="1"/>
            <p:custDataLst>
              <p:tags r:id="rId6"/>
            </p:custDataLst>
          </p:nvPr>
        </p:nvSpPr>
        <p:spPr>
          <a:xfrm>
            <a:off x="420624" y="1498600"/>
            <a:ext cx="4434840" cy="355600"/>
          </a:xfrm>
          <a:noFill/>
        </p:spPr>
        <p:txBody>
          <a:bodyPr lIns="0" tIns="0" rIns="0" bIns="36564" anchor="t" anchorCtr="0">
            <a:noAutofit/>
          </a:bodyPr>
          <a:lstStyle>
            <a:lvl1pPr marL="0" indent="0">
              <a:buNone/>
              <a:defRPr sz="1800" b="1"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&lt;&lt;Layout heading&gt;&gt;</a:t>
            </a:r>
          </a:p>
        </p:txBody>
      </p:sp>
      <p:cxnSp>
        <p:nvCxnSpPr>
          <p:cNvPr id="59" name="THIN BLUE LINE"/>
          <p:cNvCxnSpPr/>
          <p:nvPr/>
        </p:nvCxnSpPr>
        <p:spPr>
          <a:xfrm>
            <a:off x="420624" y="1033272"/>
            <a:ext cx="918972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2" name="PAGE HEADING"/>
          <p:cNvSpPr>
            <a:spLocks noGrp="1"/>
          </p:cNvSpPr>
          <p:nvPr>
            <p:ph type="title" hasCustomPrompt="1"/>
            <p:custDataLst>
              <p:tags r:id="rId7"/>
            </p:custDataLst>
          </p:nvPr>
        </p:nvSpPr>
        <p:spPr>
          <a:xfrm>
            <a:off x="420624" y="0"/>
            <a:ext cx="9189720" cy="941832"/>
          </a:xfrm>
        </p:spPr>
        <p:txBody>
          <a:bodyPr/>
          <a:lstStyle>
            <a:lvl1pPr>
              <a:defRPr>
                <a:latin typeface="Frutiger 45 Light"/>
              </a:defRPr>
            </a:lvl1pPr>
          </a:lstStyle>
          <a:p>
            <a:pPr lvl="0"/>
            <a:r>
              <a:rPr lang="en-US" dirty="0"/>
              <a:t>&lt;&lt;Page heading&gt;&gt;</a:t>
            </a:r>
          </a:p>
        </p:txBody>
      </p:sp>
      <p:sp>
        <p:nvSpPr>
          <p:cNvPr id="30" name="Slide Number Textbox"/>
          <p:cNvSpPr txBox="1"/>
          <p:nvPr userDrawn="1"/>
        </p:nvSpPr>
        <p:spPr>
          <a:xfrm>
            <a:off x="9208008" y="6858000"/>
            <a:ext cx="411480" cy="384048"/>
          </a:xfrm>
          <a:prstGeom prst="rect">
            <a:avLst/>
          </a:prstGeom>
          <a:noFill/>
        </p:spPr>
        <p:txBody>
          <a:bodyPr vert="horz" wrap="square" lIns="0" tIns="0" rIns="0" bIns="0" rtlCol="0" anchor="b">
            <a:noAutofit/>
          </a:bodyPr>
          <a:lstStyle/>
          <a:p>
            <a:pPr algn="r"/>
            <a:fld id="{D70D6585-CB7C-4CFA-BD76-44C70BE2929C}" type="slidenum">
              <a:rPr lang="en-US" sz="700" smtClean="0"/>
              <a:pPr algn="r"/>
              <a:t>‹#›</a:t>
            </a:fld>
            <a:endParaRPr lang="en-US" sz="700" dirty="0"/>
          </a:p>
        </p:txBody>
      </p:sp>
      <p:sp>
        <p:nvSpPr>
          <p:cNvPr id="31" name="DOCUMENT ID" hidden="1"/>
          <p:cNvSpPr txBox="1"/>
          <p:nvPr userDrawn="1">
            <p:custDataLst>
              <p:tags r:id="rId8"/>
            </p:custDataLst>
          </p:nvPr>
        </p:nvSpPr>
        <p:spPr>
          <a:xfrm>
            <a:off x="2297875" y="420624"/>
            <a:ext cx="7312468" cy="92333"/>
          </a:xfrm>
          <a:prstGeom prst="rect">
            <a:avLst/>
          </a:prstGeom>
        </p:spPr>
        <p:txBody>
          <a:bodyPr vert="horz" wrap="square" lIns="0" tIns="0" rIns="0" bIns="0" rtlCol="0">
            <a:spAutoFit/>
          </a:bodyPr>
          <a:lstStyle>
            <a:lvl1pPr marL="0" lvl="0" indent="0" algn="r" defTabSz="1005505" eaLnBrk="1" latinLnBrk="0" hangingPunct="1">
              <a:spcBef>
                <a:spcPct val="20000"/>
              </a:spcBef>
              <a:buSzPct val="120000"/>
              <a:buFont typeface="Symbol" pitchFamily="18" charset="2"/>
              <a:buNone/>
              <a:defRPr sz="600" b="0" baseline="0">
                <a:solidFill>
                  <a:srgbClr val="616161"/>
                </a:solidFill>
                <a:latin typeface="+mn-lt"/>
                <a:cs typeface="Arial" pitchFamily="34" charset="0"/>
              </a:defRPr>
            </a:lvl1pPr>
            <a:lvl2pPr marL="502755" indent="0" defTabSz="1005505" eaLnBrk="1" latinLnBrk="0" hangingPunct="1">
              <a:spcBef>
                <a:spcPct val="20000"/>
              </a:spcBef>
              <a:buFont typeface="Arial" pitchFamily="34" charset="0"/>
              <a:buNone/>
              <a:defRPr sz="1300">
                <a:latin typeface="+mn-lt"/>
              </a:defRPr>
            </a:lvl2pPr>
            <a:lvl3pPr marL="1005506" indent="0" defTabSz="1005505" eaLnBrk="1" latinLnBrk="0" hangingPunct="1">
              <a:spcBef>
                <a:spcPct val="20000"/>
              </a:spcBef>
              <a:buFont typeface="Arial" pitchFamily="34" charset="0"/>
              <a:buNone/>
              <a:defRPr sz="1300">
                <a:latin typeface="+mn-lt"/>
              </a:defRPr>
            </a:lvl3pPr>
            <a:lvl4pPr marL="1508258" indent="0" defTabSz="1005505" eaLnBrk="1" latinLnBrk="0" hangingPunct="1">
              <a:spcBef>
                <a:spcPct val="20000"/>
              </a:spcBef>
              <a:buFont typeface="Arial" pitchFamily="34" charset="0"/>
              <a:buNone/>
              <a:defRPr sz="1300">
                <a:latin typeface="+mn-lt"/>
              </a:defRPr>
            </a:lvl4pPr>
            <a:lvl5pPr marL="2011009" indent="0" defTabSz="1005505" eaLnBrk="1" latinLnBrk="0" hangingPunct="1">
              <a:spcBef>
                <a:spcPct val="20000"/>
              </a:spcBef>
              <a:buFont typeface="Arial" pitchFamily="34" charset="0"/>
              <a:buNone/>
              <a:defRPr sz="1300">
                <a:latin typeface="+mn-lt"/>
              </a:defRPr>
            </a:lvl5pPr>
            <a:lvl6pPr marL="2765137" indent="-251375" defTabSz="1005505">
              <a:spcBef>
                <a:spcPct val="20000"/>
              </a:spcBef>
              <a:buFont typeface="Arial" pitchFamily="34" charset="0"/>
              <a:buChar char="•"/>
              <a:defRPr sz="2200">
                <a:latin typeface="+mn-lt"/>
              </a:defRPr>
            </a:lvl6pPr>
            <a:lvl7pPr marL="3267890" indent="-251375" defTabSz="1005505">
              <a:spcBef>
                <a:spcPct val="20000"/>
              </a:spcBef>
              <a:buFont typeface="Arial" pitchFamily="34" charset="0"/>
              <a:buChar char="•"/>
              <a:defRPr sz="2200">
                <a:latin typeface="+mn-lt"/>
              </a:defRPr>
            </a:lvl7pPr>
            <a:lvl8pPr marL="3770641" indent="-251375" defTabSz="1005505">
              <a:spcBef>
                <a:spcPct val="20000"/>
              </a:spcBef>
              <a:buFont typeface="Arial" pitchFamily="34" charset="0"/>
              <a:buChar char="•"/>
              <a:defRPr sz="2200">
                <a:latin typeface="+mn-lt"/>
              </a:defRPr>
            </a:lvl8pPr>
            <a:lvl9pPr marL="4273393" indent="-251375" defTabSz="1005505">
              <a:spcBef>
                <a:spcPct val="20000"/>
              </a:spcBef>
              <a:buFont typeface="Arial" pitchFamily="34" charset="0"/>
              <a:buChar char="•"/>
              <a:defRPr sz="2200">
                <a:latin typeface="+mn-lt"/>
              </a:defRPr>
            </a:lvl9pPr>
          </a:lstStyle>
          <a:p>
            <a:pPr lvl="0"/>
            <a:r>
              <a:rPr lang="en-GB" dirty="0"/>
              <a:t>UBSPROD\</a:t>
            </a:r>
            <a:r>
              <a:rPr lang="en-GB" dirty="0" err="1"/>
              <a:t>barrosr</a:t>
            </a:r>
            <a:r>
              <a:rPr lang="en-GB" dirty="0"/>
              <a:t> [printed: ____] [saved: March 12, 2018 12:29 PM] Q:\Renato\INTQuant\Introduction to Monte Carlo Simulation in Finance.pptx </a:t>
            </a:r>
          </a:p>
        </p:txBody>
      </p:sp>
      <p:grpSp>
        <p:nvGrpSpPr>
          <p:cNvPr id="33" name="PXP_GRIDLINES" hidden="1"/>
          <p:cNvGrpSpPr/>
          <p:nvPr userDrawn="1"/>
        </p:nvGrpSpPr>
        <p:grpSpPr>
          <a:xfrm>
            <a:off x="-30640" y="0"/>
            <a:ext cx="10093083" cy="7543800"/>
            <a:chOff x="-30640" y="0"/>
            <a:chExt cx="10093083" cy="7543800"/>
          </a:xfrm>
        </p:grpSpPr>
        <p:cxnSp>
          <p:nvCxnSpPr>
            <p:cNvPr id="34" name="Straight Connector 33" hidden="1"/>
            <p:cNvCxnSpPr/>
            <p:nvPr userDrawn="1"/>
          </p:nvCxnSpPr>
          <p:spPr>
            <a:xfrm>
              <a:off x="402594" y="0"/>
              <a:ext cx="0" cy="754380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35" name="Straight Connector 34" hidden="1"/>
            <p:cNvCxnSpPr/>
            <p:nvPr userDrawn="1"/>
          </p:nvCxnSpPr>
          <p:spPr>
            <a:xfrm>
              <a:off x="5029200" y="0"/>
              <a:ext cx="0" cy="7543800"/>
            </a:xfrm>
            <a:prstGeom prst="line">
              <a:avLst/>
            </a:prstGeom>
            <a:ln w="3175">
              <a:solidFill>
                <a:srgbClr val="464749"/>
              </a:solidFill>
            </a:ln>
          </p:spPr>
          <p:style>
            <a:lnRef idx="1">
              <a:schemeClr val="accent1"/>
            </a:lnRef>
            <a:fillRef idx="0">
              <a:schemeClr val="accent1"/>
            </a:fillRef>
            <a:effectRef idx="0">
              <a:schemeClr val="accent1"/>
            </a:effectRef>
            <a:fontRef idx="minor">
              <a:schemeClr val="tx1"/>
            </a:fontRef>
          </p:style>
        </p:cxnSp>
        <p:cxnSp>
          <p:nvCxnSpPr>
            <p:cNvPr id="36" name="Straight Connector 35" hidden="1"/>
            <p:cNvCxnSpPr/>
            <p:nvPr userDrawn="1"/>
          </p:nvCxnSpPr>
          <p:spPr>
            <a:xfrm>
              <a:off x="9610343" y="0"/>
              <a:ext cx="0" cy="754380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37" name="Straight Connector 36" hidden="1"/>
            <p:cNvCxnSpPr/>
            <p:nvPr userDrawn="1"/>
          </p:nvCxnSpPr>
          <p:spPr>
            <a:xfrm>
              <a:off x="0" y="551751"/>
              <a:ext cx="10058400" cy="0"/>
            </a:xfrm>
            <a:prstGeom prst="line">
              <a:avLst/>
            </a:prstGeom>
            <a:ln w="31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8" name="Straight Connector 37" hidden="1"/>
            <p:cNvCxnSpPr/>
            <p:nvPr userDrawn="1"/>
          </p:nvCxnSpPr>
          <p:spPr>
            <a:xfrm>
              <a:off x="-1600" y="1079526"/>
              <a:ext cx="100584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hidden="1"/>
            <p:cNvCxnSpPr/>
            <p:nvPr userDrawn="1"/>
          </p:nvCxnSpPr>
          <p:spPr>
            <a:xfrm>
              <a:off x="-3200" y="1636176"/>
              <a:ext cx="10058400" cy="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40" name="Straight Connector 39" hidden="1"/>
            <p:cNvCxnSpPr/>
            <p:nvPr userDrawn="1"/>
          </p:nvCxnSpPr>
          <p:spPr>
            <a:xfrm>
              <a:off x="-13716" y="6587211"/>
              <a:ext cx="10058400" cy="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41" name="Straight Connector 40" hidden="1"/>
            <p:cNvCxnSpPr/>
            <p:nvPr userDrawn="1"/>
          </p:nvCxnSpPr>
          <p:spPr>
            <a:xfrm>
              <a:off x="-30640" y="4003499"/>
              <a:ext cx="10058400" cy="0"/>
            </a:xfrm>
            <a:prstGeom prst="line">
              <a:avLst/>
            </a:prstGeom>
            <a:ln w="3175">
              <a:solidFill>
                <a:srgbClr val="464749"/>
              </a:solidFill>
            </a:ln>
          </p:spPr>
          <p:style>
            <a:lnRef idx="1">
              <a:schemeClr val="accent1"/>
            </a:lnRef>
            <a:fillRef idx="0">
              <a:schemeClr val="accent1"/>
            </a:fillRef>
            <a:effectRef idx="0">
              <a:schemeClr val="accent1"/>
            </a:effectRef>
            <a:fontRef idx="minor">
              <a:schemeClr val="tx1"/>
            </a:fontRef>
          </p:style>
        </p:cxnSp>
        <p:cxnSp>
          <p:nvCxnSpPr>
            <p:cNvPr id="42" name="Straight Connector 41" hidden="1"/>
            <p:cNvCxnSpPr/>
            <p:nvPr userDrawn="1"/>
          </p:nvCxnSpPr>
          <p:spPr>
            <a:xfrm>
              <a:off x="0" y="4359099"/>
              <a:ext cx="10058400" cy="0"/>
            </a:xfrm>
            <a:prstGeom prst="line">
              <a:avLst/>
            </a:prstGeom>
            <a:ln w="3175">
              <a:solidFill>
                <a:srgbClr val="464749"/>
              </a:solidFill>
            </a:ln>
          </p:spPr>
          <p:style>
            <a:lnRef idx="1">
              <a:schemeClr val="accent1"/>
            </a:lnRef>
            <a:fillRef idx="0">
              <a:schemeClr val="accent1"/>
            </a:fillRef>
            <a:effectRef idx="0">
              <a:schemeClr val="accent1"/>
            </a:effectRef>
            <a:fontRef idx="minor">
              <a:schemeClr val="tx1"/>
            </a:fontRef>
          </p:style>
        </p:cxnSp>
        <p:cxnSp>
          <p:nvCxnSpPr>
            <p:cNvPr id="43" name="Straight Connector 42" hidden="1"/>
            <p:cNvCxnSpPr/>
            <p:nvPr userDrawn="1"/>
          </p:nvCxnSpPr>
          <p:spPr>
            <a:xfrm>
              <a:off x="-5646" y="850908"/>
              <a:ext cx="10058400" cy="0"/>
            </a:xfrm>
            <a:prstGeom prst="line">
              <a:avLst/>
            </a:prstGeom>
            <a:ln w="31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4" name="Straight Connector 43" hidden="1"/>
            <p:cNvCxnSpPr/>
            <p:nvPr userDrawn="1"/>
          </p:nvCxnSpPr>
          <p:spPr>
            <a:xfrm>
              <a:off x="4043" y="1491573"/>
              <a:ext cx="100584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2" name="DraftStamp" hidden="1"/>
          <p:cNvSpPr txBox="1"/>
          <p:nvPr userDrawn="1">
            <p:custDataLst>
              <p:tags r:id="rId9"/>
            </p:custDataLst>
          </p:nvPr>
        </p:nvSpPr>
        <p:spPr>
          <a:xfrm>
            <a:off x="420624" y="254000"/>
            <a:ext cx="1079500" cy="330200"/>
          </a:xfrm>
          <a:prstGeom prst="rect">
            <a:avLst/>
          </a:prstGeom>
          <a:noFill/>
        </p:spPr>
        <p:txBody>
          <a:bodyPr vert="horz" wrap="none" lIns="0" tIns="0" rIns="0" bIns="0" rtlCol="0" anchor="b">
            <a:noAutofit/>
          </a:bodyPr>
          <a:lstStyle/>
          <a:p>
            <a:pPr algn="l">
              <a:lnSpc>
                <a:spcPct val="100000"/>
              </a:lnSpc>
              <a:spcBef>
                <a:spcPct val="0"/>
              </a:spcBef>
              <a:spcAft>
                <a:spcPct val="0"/>
              </a:spcAft>
            </a:pPr>
            <a:r>
              <a:rPr kumimoji="0" lang="en-US" sz="2400" b="1" i="0" u="none" baseline="0">
                <a:solidFill>
                  <a:srgbClr val="E60000"/>
                </a:solidFill>
                <a:latin typeface="Frutiger 55 Roman"/>
              </a:rPr>
              <a:t>Draft</a:t>
            </a:r>
            <a:endParaRPr kumimoji="0" lang="en-US" sz="2400" b="1" i="0" u="none" baseline="0" dirty="0">
              <a:solidFill>
                <a:srgbClr val="E60000"/>
              </a:solidFill>
              <a:latin typeface="Frutiger 55 Roman"/>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Large 3x1 Full Height">
    <p:spTree>
      <p:nvGrpSpPr>
        <p:cNvPr id="1" name=""/>
        <p:cNvGrpSpPr/>
        <p:nvPr/>
      </p:nvGrpSpPr>
      <p:grpSpPr>
        <a:xfrm>
          <a:off x="0" y="0"/>
          <a:ext cx="0" cy="0"/>
          <a:chOff x="0" y="0"/>
          <a:chExt cx="0" cy="0"/>
        </a:xfrm>
      </p:grpSpPr>
      <p:sp>
        <p:nvSpPr>
          <p:cNvPr id="16" name="LAYOUT SOURCE"/>
          <p:cNvSpPr>
            <a:spLocks noGrp="1"/>
          </p:cNvSpPr>
          <p:nvPr>
            <p:ph type="body" idx="21" hasCustomPrompt="1"/>
            <p:custDataLst>
              <p:tags r:id="rId1"/>
            </p:custDataLst>
          </p:nvPr>
        </p:nvSpPr>
        <p:spPr>
          <a:xfrm>
            <a:off x="6729984" y="6263642"/>
            <a:ext cx="2871216" cy="192024"/>
          </a:xfrm>
          <a:noFill/>
        </p:spPr>
        <p:txBody>
          <a:bodyPr lIns="0" tIns="54846" rIns="0" bIns="0" anchor="b">
            <a:noAutofit/>
          </a:bodyPr>
          <a:lstStyle>
            <a:lvl1pPr marL="0" indent="0">
              <a:buNone/>
              <a:defRPr sz="1200" b="0"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Source:</a:t>
            </a:r>
          </a:p>
        </p:txBody>
      </p:sp>
      <p:sp>
        <p:nvSpPr>
          <p:cNvPr id="13" name="LAYOUT BODY"/>
          <p:cNvSpPr>
            <a:spLocks noGrp="1"/>
          </p:cNvSpPr>
          <p:nvPr>
            <p:ph idx="19"/>
            <p:custDataLst>
              <p:tags r:id="rId2"/>
            </p:custDataLst>
          </p:nvPr>
        </p:nvSpPr>
        <p:spPr>
          <a:xfrm>
            <a:off x="6729984" y="1856233"/>
            <a:ext cx="2871216" cy="4407409"/>
          </a:xfrm>
          <a:noFill/>
        </p:spPr>
        <p:txBody>
          <a:bodyPr lIns="0" tIns="0" rIns="0" bIns="0">
            <a:noAutofit/>
          </a:bodyPr>
          <a:lstStyle>
            <a:lvl1pPr marL="239632" indent="-239632">
              <a:buClr>
                <a:schemeClr val="tx2"/>
              </a:buClr>
              <a:buSzPct val="100000"/>
              <a:buFont typeface="Symbol" pitchFamily="18" charset="2"/>
              <a:buChar char="·"/>
              <a:defRPr sz="1800">
                <a:latin typeface="Frutiger 55 Roman"/>
              </a:defRPr>
            </a:lvl1pPr>
            <a:lvl2pPr marL="455613" indent="-230188">
              <a:tabLst/>
              <a:defRPr sz="1600">
                <a:latin typeface="Frutiger 55 Roman"/>
              </a:defRPr>
            </a:lvl2pPr>
            <a:lvl3pPr marL="688975" indent="-227013">
              <a:buFont typeface="Arial" pitchFamily="34" charset="0"/>
              <a:buChar char="–"/>
              <a:defRPr sz="1600">
                <a:latin typeface="Frutiger 55 Roman"/>
              </a:defRPr>
            </a:lvl3pPr>
            <a:lvl4pPr marL="914400" indent="-225425">
              <a:buSzPct val="84000"/>
              <a:defRPr sz="1600">
                <a:latin typeface="Frutiger 55 Roman"/>
              </a:defRPr>
            </a:lvl4pPr>
            <a:lvl5pPr marL="1152140" indent="-250743">
              <a:buSzPct val="84000"/>
              <a:buFont typeface="Arial" pitchFamily="34" charset="0"/>
              <a:buChar char="–"/>
              <a:defRPr sz="1600">
                <a:latin typeface="Frutiger 55 Roman"/>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6" name="LAYOUT HEADER"/>
          <p:cNvSpPr>
            <a:spLocks noGrp="1"/>
          </p:cNvSpPr>
          <p:nvPr>
            <p:ph type="body" idx="23" hasCustomPrompt="1"/>
            <p:custDataLst>
              <p:tags r:id="rId3"/>
            </p:custDataLst>
          </p:nvPr>
        </p:nvSpPr>
        <p:spPr>
          <a:xfrm>
            <a:off x="6729984" y="1498600"/>
            <a:ext cx="2871216" cy="355600"/>
          </a:xfrm>
          <a:noFill/>
        </p:spPr>
        <p:txBody>
          <a:bodyPr lIns="0" tIns="0" rIns="0" bIns="36564" anchor="t" anchorCtr="0">
            <a:noAutofit/>
          </a:bodyPr>
          <a:lstStyle>
            <a:lvl1pPr marL="0" indent="0">
              <a:buNone/>
              <a:defRPr sz="1800" b="1"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&lt;&lt;Layout heading&gt;&gt;</a:t>
            </a:r>
          </a:p>
        </p:txBody>
      </p:sp>
      <p:sp>
        <p:nvSpPr>
          <p:cNvPr id="65" name="LAYOUT SOURCE"/>
          <p:cNvSpPr>
            <a:spLocks noGrp="1"/>
          </p:cNvSpPr>
          <p:nvPr>
            <p:ph type="body" idx="25" hasCustomPrompt="1"/>
            <p:custDataLst>
              <p:tags r:id="rId4"/>
            </p:custDataLst>
          </p:nvPr>
        </p:nvSpPr>
        <p:spPr>
          <a:xfrm>
            <a:off x="3575304" y="6263642"/>
            <a:ext cx="2871216" cy="192024"/>
          </a:xfrm>
          <a:noFill/>
        </p:spPr>
        <p:txBody>
          <a:bodyPr lIns="0" tIns="54846" rIns="0" bIns="0" anchor="b">
            <a:noAutofit/>
          </a:bodyPr>
          <a:lstStyle>
            <a:lvl1pPr marL="0" indent="0">
              <a:buNone/>
              <a:defRPr sz="1200" b="0"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Source:</a:t>
            </a:r>
          </a:p>
        </p:txBody>
      </p:sp>
      <p:sp>
        <p:nvSpPr>
          <p:cNvPr id="8" name="LAYOUT BODY"/>
          <p:cNvSpPr>
            <a:spLocks noGrp="1"/>
          </p:cNvSpPr>
          <p:nvPr>
            <p:ph idx="16"/>
            <p:custDataLst>
              <p:tags r:id="rId5"/>
            </p:custDataLst>
          </p:nvPr>
        </p:nvSpPr>
        <p:spPr>
          <a:xfrm>
            <a:off x="3575304" y="1856233"/>
            <a:ext cx="2871216" cy="4407409"/>
          </a:xfrm>
          <a:noFill/>
        </p:spPr>
        <p:txBody>
          <a:bodyPr lIns="0" tIns="0" rIns="0" bIns="0">
            <a:noAutofit/>
          </a:bodyPr>
          <a:lstStyle>
            <a:lvl1pPr marL="239632" indent="-239632">
              <a:buClr>
                <a:schemeClr val="tx2"/>
              </a:buClr>
              <a:buSzPct val="100000"/>
              <a:buFont typeface="Symbol" pitchFamily="18" charset="2"/>
              <a:buChar char="·"/>
              <a:defRPr sz="1800">
                <a:latin typeface="Frutiger 55 Roman"/>
              </a:defRPr>
            </a:lvl1pPr>
            <a:lvl2pPr marL="455613" indent="-230188">
              <a:tabLst/>
              <a:defRPr sz="1600">
                <a:latin typeface="Frutiger 55 Roman"/>
              </a:defRPr>
            </a:lvl2pPr>
            <a:lvl3pPr marL="688975" indent="-204788">
              <a:buFont typeface="Arial" pitchFamily="34" charset="0"/>
              <a:buChar char="–"/>
              <a:defRPr sz="1600">
                <a:latin typeface="Frutiger 55 Roman"/>
              </a:defRPr>
            </a:lvl3pPr>
            <a:lvl4pPr marL="914400" indent="-225425">
              <a:buSzPct val="84000"/>
              <a:defRPr sz="1600">
                <a:latin typeface="Frutiger 55 Roman"/>
              </a:defRPr>
            </a:lvl4pPr>
            <a:lvl5pPr marL="1152140" indent="-250743">
              <a:buSzPct val="84000"/>
              <a:buFont typeface="Arial" pitchFamily="34" charset="0"/>
              <a:buChar char="–"/>
              <a:defRPr sz="1600">
                <a:latin typeface="Frutiger 55 Roman"/>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LAYOUT HEADER"/>
          <p:cNvSpPr>
            <a:spLocks noGrp="1"/>
          </p:cNvSpPr>
          <p:nvPr>
            <p:ph type="body" idx="22" hasCustomPrompt="1"/>
            <p:custDataLst>
              <p:tags r:id="rId6"/>
            </p:custDataLst>
          </p:nvPr>
        </p:nvSpPr>
        <p:spPr>
          <a:xfrm>
            <a:off x="3575304" y="1498600"/>
            <a:ext cx="2871216" cy="355600"/>
          </a:xfrm>
          <a:noFill/>
        </p:spPr>
        <p:txBody>
          <a:bodyPr lIns="0" tIns="0" rIns="0" bIns="36564" anchor="t" anchorCtr="0">
            <a:noAutofit/>
          </a:bodyPr>
          <a:lstStyle>
            <a:lvl1pPr marL="0" indent="0">
              <a:buNone/>
              <a:defRPr sz="1800" b="1"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&lt;&lt;Layout heading&gt;&gt;</a:t>
            </a:r>
          </a:p>
        </p:txBody>
      </p:sp>
      <p:sp>
        <p:nvSpPr>
          <p:cNvPr id="64" name="LAYOUT SOURCE"/>
          <p:cNvSpPr>
            <a:spLocks noGrp="1"/>
          </p:cNvSpPr>
          <p:nvPr>
            <p:ph type="body" idx="24" hasCustomPrompt="1"/>
            <p:custDataLst>
              <p:tags r:id="rId7"/>
            </p:custDataLst>
          </p:nvPr>
        </p:nvSpPr>
        <p:spPr>
          <a:xfrm>
            <a:off x="420624" y="6263642"/>
            <a:ext cx="2871216" cy="192024"/>
          </a:xfrm>
          <a:noFill/>
        </p:spPr>
        <p:txBody>
          <a:bodyPr lIns="0" tIns="54846" rIns="0" bIns="0" anchor="b">
            <a:noAutofit/>
          </a:bodyPr>
          <a:lstStyle>
            <a:lvl1pPr marL="0" indent="0">
              <a:buNone/>
              <a:defRPr sz="1200" b="0"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Source:</a:t>
            </a:r>
          </a:p>
        </p:txBody>
      </p:sp>
      <p:sp>
        <p:nvSpPr>
          <p:cNvPr id="3" name="LAYOUT BODY"/>
          <p:cNvSpPr>
            <a:spLocks noGrp="1"/>
          </p:cNvSpPr>
          <p:nvPr>
            <p:ph idx="1"/>
            <p:custDataLst>
              <p:tags r:id="rId8"/>
            </p:custDataLst>
          </p:nvPr>
        </p:nvSpPr>
        <p:spPr>
          <a:xfrm>
            <a:off x="420624" y="1856233"/>
            <a:ext cx="2871216" cy="4407409"/>
          </a:xfrm>
          <a:noFill/>
        </p:spPr>
        <p:txBody>
          <a:bodyPr lIns="0" tIns="0" rIns="0" bIns="0">
            <a:noAutofit/>
          </a:bodyPr>
          <a:lstStyle>
            <a:lvl1pPr marL="239632" indent="-239632">
              <a:buClr>
                <a:schemeClr val="tx2"/>
              </a:buClr>
              <a:buSzPct val="100000"/>
              <a:buFont typeface="Symbol" pitchFamily="18" charset="2"/>
              <a:buChar char="·"/>
              <a:defRPr sz="1800">
                <a:latin typeface="Frutiger 55 Roman"/>
              </a:defRPr>
            </a:lvl1pPr>
            <a:lvl2pPr marL="455613" indent="-230188">
              <a:tabLst/>
              <a:defRPr sz="1600">
                <a:latin typeface="Frutiger 55 Roman"/>
              </a:defRPr>
            </a:lvl2pPr>
            <a:lvl3pPr marL="688975" indent="-227013">
              <a:buFont typeface="Arial" pitchFamily="34" charset="0"/>
              <a:buChar char="–"/>
              <a:defRPr sz="1600">
                <a:latin typeface="Frutiger 55 Roman"/>
              </a:defRPr>
            </a:lvl3pPr>
            <a:lvl4pPr marL="914400" indent="-225425">
              <a:buSzPct val="84000"/>
              <a:defRPr sz="1600">
                <a:latin typeface="Frutiger 55 Roman"/>
              </a:defRPr>
            </a:lvl4pPr>
            <a:lvl5pPr marL="1152140" indent="-250743">
              <a:buSzPct val="84000"/>
              <a:buFont typeface="Arial" pitchFamily="34" charset="0"/>
              <a:buChar char="–"/>
              <a:defRPr sz="1600">
                <a:latin typeface="Frutiger 55 Roman"/>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LAYOUT HEADER"/>
          <p:cNvSpPr>
            <a:spLocks noGrp="1"/>
          </p:cNvSpPr>
          <p:nvPr>
            <p:ph type="body" idx="14" hasCustomPrompt="1"/>
            <p:custDataLst>
              <p:tags r:id="rId9"/>
            </p:custDataLst>
          </p:nvPr>
        </p:nvSpPr>
        <p:spPr>
          <a:xfrm>
            <a:off x="420624" y="1498600"/>
            <a:ext cx="2871216" cy="355600"/>
          </a:xfrm>
          <a:noFill/>
        </p:spPr>
        <p:txBody>
          <a:bodyPr lIns="0" tIns="0" rIns="0" bIns="36564" anchor="t" anchorCtr="0">
            <a:noAutofit/>
          </a:bodyPr>
          <a:lstStyle>
            <a:lvl1pPr marL="0" indent="0">
              <a:buNone/>
              <a:defRPr sz="1800" b="1"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&lt;&lt;Layout heading&gt;&gt;</a:t>
            </a:r>
          </a:p>
        </p:txBody>
      </p:sp>
      <p:cxnSp>
        <p:nvCxnSpPr>
          <p:cNvPr id="62" name="THIN BLUE LINE"/>
          <p:cNvCxnSpPr/>
          <p:nvPr/>
        </p:nvCxnSpPr>
        <p:spPr>
          <a:xfrm>
            <a:off x="420624" y="1033272"/>
            <a:ext cx="918972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6" name="PAGE HEADING"/>
          <p:cNvSpPr>
            <a:spLocks noGrp="1"/>
          </p:cNvSpPr>
          <p:nvPr>
            <p:ph type="title" hasCustomPrompt="1"/>
            <p:custDataLst>
              <p:tags r:id="rId10"/>
            </p:custDataLst>
          </p:nvPr>
        </p:nvSpPr>
        <p:spPr>
          <a:xfrm>
            <a:off x="420624" y="0"/>
            <a:ext cx="9189720" cy="941832"/>
          </a:xfrm>
        </p:spPr>
        <p:txBody>
          <a:bodyPr/>
          <a:lstStyle>
            <a:lvl1pPr>
              <a:defRPr>
                <a:latin typeface="Frutiger 45 Light"/>
              </a:defRPr>
            </a:lvl1pPr>
          </a:lstStyle>
          <a:p>
            <a:pPr lvl="0"/>
            <a:r>
              <a:rPr lang="en-US" dirty="0"/>
              <a:t>&lt;&lt;Page heading&gt;&gt;</a:t>
            </a:r>
          </a:p>
        </p:txBody>
      </p:sp>
      <p:sp>
        <p:nvSpPr>
          <p:cNvPr id="33" name="Slide Number Textbox"/>
          <p:cNvSpPr txBox="1"/>
          <p:nvPr userDrawn="1"/>
        </p:nvSpPr>
        <p:spPr>
          <a:xfrm>
            <a:off x="9208008" y="6858000"/>
            <a:ext cx="411480" cy="384048"/>
          </a:xfrm>
          <a:prstGeom prst="rect">
            <a:avLst/>
          </a:prstGeom>
          <a:noFill/>
        </p:spPr>
        <p:txBody>
          <a:bodyPr vert="horz" wrap="square" lIns="0" tIns="0" rIns="0" bIns="0" rtlCol="0" anchor="b">
            <a:noAutofit/>
          </a:bodyPr>
          <a:lstStyle/>
          <a:p>
            <a:pPr algn="r"/>
            <a:fld id="{9489627C-F79B-4DF9-998A-207B47061EFD}" type="slidenum">
              <a:rPr lang="en-US" sz="700" smtClean="0"/>
              <a:pPr algn="r"/>
              <a:t>‹#›</a:t>
            </a:fld>
            <a:endParaRPr lang="en-US" sz="700" dirty="0"/>
          </a:p>
        </p:txBody>
      </p:sp>
      <p:sp>
        <p:nvSpPr>
          <p:cNvPr id="34" name="DOCUMENT ID" hidden="1"/>
          <p:cNvSpPr txBox="1"/>
          <p:nvPr userDrawn="1">
            <p:custDataLst>
              <p:tags r:id="rId11"/>
            </p:custDataLst>
          </p:nvPr>
        </p:nvSpPr>
        <p:spPr>
          <a:xfrm>
            <a:off x="2297875" y="420624"/>
            <a:ext cx="7312468" cy="92333"/>
          </a:xfrm>
          <a:prstGeom prst="rect">
            <a:avLst/>
          </a:prstGeom>
        </p:spPr>
        <p:txBody>
          <a:bodyPr vert="horz" wrap="square" lIns="0" tIns="0" rIns="0" bIns="0" rtlCol="0">
            <a:spAutoFit/>
          </a:bodyPr>
          <a:lstStyle>
            <a:lvl1pPr marL="0" lvl="0" indent="0" algn="r" defTabSz="1005505" eaLnBrk="1" latinLnBrk="0" hangingPunct="1">
              <a:spcBef>
                <a:spcPct val="20000"/>
              </a:spcBef>
              <a:buSzPct val="120000"/>
              <a:buFont typeface="Symbol" pitchFamily="18" charset="2"/>
              <a:buNone/>
              <a:defRPr sz="600" b="0" baseline="0">
                <a:solidFill>
                  <a:srgbClr val="616161"/>
                </a:solidFill>
                <a:latin typeface="+mn-lt"/>
                <a:cs typeface="Arial" pitchFamily="34" charset="0"/>
              </a:defRPr>
            </a:lvl1pPr>
            <a:lvl2pPr marL="502755" indent="0" defTabSz="1005505" eaLnBrk="1" latinLnBrk="0" hangingPunct="1">
              <a:spcBef>
                <a:spcPct val="20000"/>
              </a:spcBef>
              <a:buFont typeface="Arial" pitchFamily="34" charset="0"/>
              <a:buNone/>
              <a:defRPr sz="1300">
                <a:latin typeface="+mn-lt"/>
              </a:defRPr>
            </a:lvl2pPr>
            <a:lvl3pPr marL="1005506" indent="0" defTabSz="1005505" eaLnBrk="1" latinLnBrk="0" hangingPunct="1">
              <a:spcBef>
                <a:spcPct val="20000"/>
              </a:spcBef>
              <a:buFont typeface="Arial" pitchFamily="34" charset="0"/>
              <a:buNone/>
              <a:defRPr sz="1300">
                <a:latin typeface="+mn-lt"/>
              </a:defRPr>
            </a:lvl3pPr>
            <a:lvl4pPr marL="1508258" indent="0" defTabSz="1005505" eaLnBrk="1" latinLnBrk="0" hangingPunct="1">
              <a:spcBef>
                <a:spcPct val="20000"/>
              </a:spcBef>
              <a:buFont typeface="Arial" pitchFamily="34" charset="0"/>
              <a:buNone/>
              <a:defRPr sz="1300">
                <a:latin typeface="+mn-lt"/>
              </a:defRPr>
            </a:lvl4pPr>
            <a:lvl5pPr marL="2011009" indent="0" defTabSz="1005505" eaLnBrk="1" latinLnBrk="0" hangingPunct="1">
              <a:spcBef>
                <a:spcPct val="20000"/>
              </a:spcBef>
              <a:buFont typeface="Arial" pitchFamily="34" charset="0"/>
              <a:buNone/>
              <a:defRPr sz="1300">
                <a:latin typeface="+mn-lt"/>
              </a:defRPr>
            </a:lvl5pPr>
            <a:lvl6pPr marL="2765137" indent="-251375" defTabSz="1005505">
              <a:spcBef>
                <a:spcPct val="20000"/>
              </a:spcBef>
              <a:buFont typeface="Arial" pitchFamily="34" charset="0"/>
              <a:buChar char="•"/>
              <a:defRPr sz="2200">
                <a:latin typeface="+mn-lt"/>
              </a:defRPr>
            </a:lvl6pPr>
            <a:lvl7pPr marL="3267890" indent="-251375" defTabSz="1005505">
              <a:spcBef>
                <a:spcPct val="20000"/>
              </a:spcBef>
              <a:buFont typeface="Arial" pitchFamily="34" charset="0"/>
              <a:buChar char="•"/>
              <a:defRPr sz="2200">
                <a:latin typeface="+mn-lt"/>
              </a:defRPr>
            </a:lvl7pPr>
            <a:lvl8pPr marL="3770641" indent="-251375" defTabSz="1005505">
              <a:spcBef>
                <a:spcPct val="20000"/>
              </a:spcBef>
              <a:buFont typeface="Arial" pitchFamily="34" charset="0"/>
              <a:buChar char="•"/>
              <a:defRPr sz="2200">
                <a:latin typeface="+mn-lt"/>
              </a:defRPr>
            </a:lvl8pPr>
            <a:lvl9pPr marL="4273393" indent="-251375" defTabSz="1005505">
              <a:spcBef>
                <a:spcPct val="20000"/>
              </a:spcBef>
              <a:buFont typeface="Arial" pitchFamily="34" charset="0"/>
              <a:buChar char="•"/>
              <a:defRPr sz="2200">
                <a:latin typeface="+mn-lt"/>
              </a:defRPr>
            </a:lvl9pPr>
          </a:lstStyle>
          <a:p>
            <a:pPr lvl="0"/>
            <a:r>
              <a:rPr lang="en-GB" dirty="0"/>
              <a:t>UBSPROD\</a:t>
            </a:r>
            <a:r>
              <a:rPr lang="en-GB" dirty="0" err="1"/>
              <a:t>barrosr</a:t>
            </a:r>
            <a:r>
              <a:rPr lang="en-GB" dirty="0"/>
              <a:t> [printed: ____] [saved: March 12, 2018 12:29 PM] Q:\Renato\INTQuant\Introduction to Monte Carlo Simulation in Finance.pptx </a:t>
            </a:r>
          </a:p>
        </p:txBody>
      </p:sp>
      <p:grpSp>
        <p:nvGrpSpPr>
          <p:cNvPr id="35" name="PXP_GRIDLINES" hidden="1"/>
          <p:cNvGrpSpPr/>
          <p:nvPr userDrawn="1"/>
        </p:nvGrpSpPr>
        <p:grpSpPr>
          <a:xfrm>
            <a:off x="-30640" y="0"/>
            <a:ext cx="10093083" cy="7543800"/>
            <a:chOff x="-30640" y="0"/>
            <a:chExt cx="10093083" cy="7543800"/>
          </a:xfrm>
        </p:grpSpPr>
        <p:cxnSp>
          <p:nvCxnSpPr>
            <p:cNvPr id="37" name="Straight Connector 36" hidden="1"/>
            <p:cNvCxnSpPr/>
            <p:nvPr userDrawn="1"/>
          </p:nvCxnSpPr>
          <p:spPr>
            <a:xfrm>
              <a:off x="402594" y="0"/>
              <a:ext cx="0" cy="754380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38" name="Straight Connector 37" hidden="1"/>
            <p:cNvCxnSpPr/>
            <p:nvPr userDrawn="1"/>
          </p:nvCxnSpPr>
          <p:spPr>
            <a:xfrm>
              <a:off x="5029200" y="0"/>
              <a:ext cx="0" cy="7543800"/>
            </a:xfrm>
            <a:prstGeom prst="line">
              <a:avLst/>
            </a:prstGeom>
            <a:ln w="3175">
              <a:solidFill>
                <a:srgbClr val="464749"/>
              </a:solidFill>
            </a:ln>
          </p:spPr>
          <p:style>
            <a:lnRef idx="1">
              <a:schemeClr val="accent1"/>
            </a:lnRef>
            <a:fillRef idx="0">
              <a:schemeClr val="accent1"/>
            </a:fillRef>
            <a:effectRef idx="0">
              <a:schemeClr val="accent1"/>
            </a:effectRef>
            <a:fontRef idx="minor">
              <a:schemeClr val="tx1"/>
            </a:fontRef>
          </p:style>
        </p:cxnSp>
        <p:cxnSp>
          <p:nvCxnSpPr>
            <p:cNvPr id="39" name="Straight Connector 38" hidden="1"/>
            <p:cNvCxnSpPr/>
            <p:nvPr userDrawn="1"/>
          </p:nvCxnSpPr>
          <p:spPr>
            <a:xfrm>
              <a:off x="9610343" y="0"/>
              <a:ext cx="0" cy="754380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40" name="Straight Connector 39" hidden="1"/>
            <p:cNvCxnSpPr/>
            <p:nvPr userDrawn="1"/>
          </p:nvCxnSpPr>
          <p:spPr>
            <a:xfrm>
              <a:off x="0" y="551751"/>
              <a:ext cx="10058400" cy="0"/>
            </a:xfrm>
            <a:prstGeom prst="line">
              <a:avLst/>
            </a:prstGeom>
            <a:ln w="31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1" name="Straight Connector 40" hidden="1"/>
            <p:cNvCxnSpPr/>
            <p:nvPr userDrawn="1"/>
          </p:nvCxnSpPr>
          <p:spPr>
            <a:xfrm>
              <a:off x="-1600" y="1079526"/>
              <a:ext cx="100584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hidden="1"/>
            <p:cNvCxnSpPr/>
            <p:nvPr userDrawn="1"/>
          </p:nvCxnSpPr>
          <p:spPr>
            <a:xfrm>
              <a:off x="-3200" y="1636176"/>
              <a:ext cx="10058400" cy="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43" name="Straight Connector 42" hidden="1"/>
            <p:cNvCxnSpPr/>
            <p:nvPr userDrawn="1"/>
          </p:nvCxnSpPr>
          <p:spPr>
            <a:xfrm>
              <a:off x="-13716" y="6587211"/>
              <a:ext cx="10058400" cy="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44" name="Straight Connector 43" hidden="1"/>
            <p:cNvCxnSpPr/>
            <p:nvPr userDrawn="1"/>
          </p:nvCxnSpPr>
          <p:spPr>
            <a:xfrm>
              <a:off x="-30640" y="4003499"/>
              <a:ext cx="10058400" cy="0"/>
            </a:xfrm>
            <a:prstGeom prst="line">
              <a:avLst/>
            </a:prstGeom>
            <a:ln w="3175">
              <a:solidFill>
                <a:srgbClr val="464749"/>
              </a:solidFill>
            </a:ln>
          </p:spPr>
          <p:style>
            <a:lnRef idx="1">
              <a:schemeClr val="accent1"/>
            </a:lnRef>
            <a:fillRef idx="0">
              <a:schemeClr val="accent1"/>
            </a:fillRef>
            <a:effectRef idx="0">
              <a:schemeClr val="accent1"/>
            </a:effectRef>
            <a:fontRef idx="minor">
              <a:schemeClr val="tx1"/>
            </a:fontRef>
          </p:style>
        </p:cxnSp>
        <p:cxnSp>
          <p:nvCxnSpPr>
            <p:cNvPr id="45" name="Straight Connector 44" hidden="1"/>
            <p:cNvCxnSpPr/>
            <p:nvPr userDrawn="1"/>
          </p:nvCxnSpPr>
          <p:spPr>
            <a:xfrm>
              <a:off x="0" y="4359099"/>
              <a:ext cx="10058400" cy="0"/>
            </a:xfrm>
            <a:prstGeom prst="line">
              <a:avLst/>
            </a:prstGeom>
            <a:ln w="3175">
              <a:solidFill>
                <a:srgbClr val="464749"/>
              </a:solidFill>
            </a:ln>
          </p:spPr>
          <p:style>
            <a:lnRef idx="1">
              <a:schemeClr val="accent1"/>
            </a:lnRef>
            <a:fillRef idx="0">
              <a:schemeClr val="accent1"/>
            </a:fillRef>
            <a:effectRef idx="0">
              <a:schemeClr val="accent1"/>
            </a:effectRef>
            <a:fontRef idx="minor">
              <a:schemeClr val="tx1"/>
            </a:fontRef>
          </p:style>
        </p:cxnSp>
        <p:cxnSp>
          <p:nvCxnSpPr>
            <p:cNvPr id="46" name="Straight Connector 45" hidden="1"/>
            <p:cNvCxnSpPr/>
            <p:nvPr userDrawn="1"/>
          </p:nvCxnSpPr>
          <p:spPr>
            <a:xfrm>
              <a:off x="-5646" y="850908"/>
              <a:ext cx="10058400" cy="0"/>
            </a:xfrm>
            <a:prstGeom prst="line">
              <a:avLst/>
            </a:prstGeom>
            <a:ln w="31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7" name="Straight Connector 46" hidden="1"/>
            <p:cNvCxnSpPr/>
            <p:nvPr userDrawn="1"/>
          </p:nvCxnSpPr>
          <p:spPr>
            <a:xfrm>
              <a:off x="4043" y="1491573"/>
              <a:ext cx="100584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2" name="DraftStamp" hidden="1"/>
          <p:cNvSpPr txBox="1"/>
          <p:nvPr userDrawn="1">
            <p:custDataLst>
              <p:tags r:id="rId12"/>
            </p:custDataLst>
          </p:nvPr>
        </p:nvSpPr>
        <p:spPr>
          <a:xfrm>
            <a:off x="420624" y="254000"/>
            <a:ext cx="1079500" cy="330200"/>
          </a:xfrm>
          <a:prstGeom prst="rect">
            <a:avLst/>
          </a:prstGeom>
          <a:noFill/>
        </p:spPr>
        <p:txBody>
          <a:bodyPr vert="horz" wrap="none" lIns="0" tIns="0" rIns="0" bIns="0" rtlCol="0" anchor="b">
            <a:noAutofit/>
          </a:bodyPr>
          <a:lstStyle/>
          <a:p>
            <a:pPr algn="l">
              <a:lnSpc>
                <a:spcPct val="100000"/>
              </a:lnSpc>
              <a:spcBef>
                <a:spcPct val="0"/>
              </a:spcBef>
              <a:spcAft>
                <a:spcPct val="0"/>
              </a:spcAft>
            </a:pPr>
            <a:r>
              <a:rPr kumimoji="0" lang="en-US" sz="2400" b="1" i="0" u="none" baseline="0">
                <a:solidFill>
                  <a:srgbClr val="E60000"/>
                </a:solidFill>
                <a:latin typeface="Frutiger 55 Roman"/>
              </a:rPr>
              <a:t>Draft</a:t>
            </a:r>
            <a:endParaRPr kumimoji="0" lang="en-US" sz="2400" b="1" i="0" u="none" baseline="0" dirty="0">
              <a:solidFill>
                <a:srgbClr val="E60000"/>
              </a:solidFill>
              <a:latin typeface="Frutiger 55 Roman"/>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Large 2x2">
    <p:spTree>
      <p:nvGrpSpPr>
        <p:cNvPr id="1" name=""/>
        <p:cNvGrpSpPr/>
        <p:nvPr/>
      </p:nvGrpSpPr>
      <p:grpSpPr>
        <a:xfrm>
          <a:off x="0" y="0"/>
          <a:ext cx="0" cy="0"/>
          <a:chOff x="0" y="0"/>
          <a:chExt cx="0" cy="0"/>
        </a:xfrm>
      </p:grpSpPr>
      <p:sp>
        <p:nvSpPr>
          <p:cNvPr id="19" name="LAYOUT SOURCE"/>
          <p:cNvSpPr>
            <a:spLocks noGrp="1"/>
          </p:cNvSpPr>
          <p:nvPr>
            <p:ph type="body" idx="24" hasCustomPrompt="1"/>
            <p:custDataLst>
              <p:tags r:id="rId1"/>
            </p:custDataLst>
          </p:nvPr>
        </p:nvSpPr>
        <p:spPr>
          <a:xfrm>
            <a:off x="5157216" y="6254499"/>
            <a:ext cx="4434840" cy="192024"/>
          </a:xfrm>
          <a:noFill/>
        </p:spPr>
        <p:txBody>
          <a:bodyPr lIns="0" tIns="54846" rIns="0" bIns="0" anchor="b">
            <a:noAutofit/>
          </a:bodyPr>
          <a:lstStyle>
            <a:lvl1pPr marL="0" indent="0">
              <a:buNone/>
              <a:defRPr sz="1200" b="0"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Source:</a:t>
            </a:r>
          </a:p>
        </p:txBody>
      </p:sp>
      <p:sp>
        <p:nvSpPr>
          <p:cNvPr id="17" name="LAYOUT BODY"/>
          <p:cNvSpPr>
            <a:spLocks noGrp="1"/>
          </p:cNvSpPr>
          <p:nvPr>
            <p:ph idx="22"/>
            <p:custDataLst>
              <p:tags r:id="rId2"/>
            </p:custDataLst>
          </p:nvPr>
        </p:nvSpPr>
        <p:spPr>
          <a:xfrm>
            <a:off x="5157216" y="4416554"/>
            <a:ext cx="4434840" cy="1837944"/>
          </a:xfrm>
          <a:noFill/>
        </p:spPr>
        <p:txBody>
          <a:bodyPr lIns="0" tIns="0" rIns="0" bIns="0">
            <a:noAutofit/>
          </a:bodyPr>
          <a:lstStyle>
            <a:lvl1pPr marL="239632" indent="-239632">
              <a:buClr>
                <a:schemeClr val="tx2"/>
              </a:buClr>
              <a:buSzPct val="100000"/>
              <a:buFont typeface="Symbol" pitchFamily="18" charset="2"/>
              <a:buChar char="·"/>
              <a:defRPr sz="1800">
                <a:latin typeface="Frutiger 55 Roman"/>
              </a:defRPr>
            </a:lvl1pPr>
            <a:lvl2pPr marL="455613" indent="-230188">
              <a:tabLst/>
              <a:defRPr sz="1600">
                <a:latin typeface="Frutiger 55 Roman"/>
              </a:defRPr>
            </a:lvl2pPr>
            <a:lvl3pPr marL="688975" indent="-227013">
              <a:buFont typeface="Arial" pitchFamily="34" charset="0"/>
              <a:buChar char="–"/>
              <a:defRPr sz="1600">
                <a:latin typeface="Frutiger 55 Roman"/>
              </a:defRPr>
            </a:lvl3pPr>
            <a:lvl4pPr marL="914400" indent="-225425">
              <a:buSzPct val="84000"/>
              <a:defRPr sz="1600">
                <a:latin typeface="Frutiger 55 Roman"/>
              </a:defRPr>
            </a:lvl4pPr>
            <a:lvl5pPr marL="1152140" indent="-250743">
              <a:buSzPct val="84000"/>
              <a:buFont typeface="Arial" pitchFamily="34" charset="0"/>
              <a:buChar char="–"/>
              <a:defRPr sz="1600">
                <a:latin typeface="Frutiger 55 Roman"/>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LAYOUT HEADER"/>
          <p:cNvSpPr>
            <a:spLocks noGrp="1"/>
          </p:cNvSpPr>
          <p:nvPr>
            <p:ph type="body" idx="23" hasCustomPrompt="1"/>
            <p:custDataLst>
              <p:tags r:id="rId3"/>
            </p:custDataLst>
          </p:nvPr>
        </p:nvSpPr>
        <p:spPr>
          <a:xfrm>
            <a:off x="5157216" y="4059936"/>
            <a:ext cx="4434840" cy="356616"/>
          </a:xfrm>
          <a:noFill/>
        </p:spPr>
        <p:txBody>
          <a:bodyPr lIns="0" tIns="0" rIns="0" bIns="36564" anchor="t" anchorCtr="0">
            <a:noAutofit/>
          </a:bodyPr>
          <a:lstStyle>
            <a:lvl1pPr marL="0" indent="0">
              <a:buNone/>
              <a:defRPr sz="1800" b="1"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&lt;&lt;Layout heading&gt;&gt;</a:t>
            </a:r>
          </a:p>
        </p:txBody>
      </p:sp>
      <p:sp>
        <p:nvSpPr>
          <p:cNvPr id="12" name="LAYOUT SOURCE"/>
          <p:cNvSpPr>
            <a:spLocks noGrp="1"/>
          </p:cNvSpPr>
          <p:nvPr>
            <p:ph type="body" idx="18" hasCustomPrompt="1"/>
            <p:custDataLst>
              <p:tags r:id="rId4"/>
            </p:custDataLst>
          </p:nvPr>
        </p:nvSpPr>
        <p:spPr>
          <a:xfrm>
            <a:off x="5157216" y="3694180"/>
            <a:ext cx="4434840" cy="192024"/>
          </a:xfrm>
          <a:noFill/>
        </p:spPr>
        <p:txBody>
          <a:bodyPr lIns="0" tIns="54846" rIns="0" bIns="0" anchor="b">
            <a:noAutofit/>
          </a:bodyPr>
          <a:lstStyle>
            <a:lvl1pPr marL="0" indent="0">
              <a:buNone/>
              <a:defRPr sz="1200" b="0"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Source:</a:t>
            </a:r>
          </a:p>
        </p:txBody>
      </p:sp>
      <p:sp>
        <p:nvSpPr>
          <p:cNvPr id="8" name="LAYOUT BODY"/>
          <p:cNvSpPr>
            <a:spLocks noGrp="1"/>
          </p:cNvSpPr>
          <p:nvPr>
            <p:ph idx="16"/>
            <p:custDataLst>
              <p:tags r:id="rId5"/>
            </p:custDataLst>
          </p:nvPr>
        </p:nvSpPr>
        <p:spPr>
          <a:xfrm>
            <a:off x="5157216" y="1856234"/>
            <a:ext cx="4434840" cy="1837944"/>
          </a:xfrm>
          <a:noFill/>
        </p:spPr>
        <p:txBody>
          <a:bodyPr lIns="0" tIns="0" rIns="0" bIns="0">
            <a:noAutofit/>
          </a:bodyPr>
          <a:lstStyle>
            <a:lvl1pPr marL="239632" indent="-239632">
              <a:buClr>
                <a:schemeClr val="tx2"/>
              </a:buClr>
              <a:buSzPct val="100000"/>
              <a:buFont typeface="Symbol" pitchFamily="18" charset="2"/>
              <a:buChar char="·"/>
              <a:defRPr sz="1800">
                <a:latin typeface="Frutiger 55 Roman"/>
              </a:defRPr>
            </a:lvl1pPr>
            <a:lvl2pPr marL="455613" indent="-230188">
              <a:tabLst/>
              <a:defRPr sz="1600">
                <a:latin typeface="Frutiger 55 Roman"/>
              </a:defRPr>
            </a:lvl2pPr>
            <a:lvl3pPr marL="688975" indent="-227013">
              <a:buFont typeface="Arial" pitchFamily="34" charset="0"/>
              <a:buChar char="–"/>
              <a:defRPr sz="1600">
                <a:latin typeface="Frutiger 55 Roman"/>
              </a:defRPr>
            </a:lvl3pPr>
            <a:lvl4pPr marL="914400" indent="-225425">
              <a:buSzPct val="84000"/>
              <a:defRPr sz="1600">
                <a:latin typeface="Frutiger 55 Roman"/>
              </a:defRPr>
            </a:lvl4pPr>
            <a:lvl5pPr marL="1152140" indent="-250743">
              <a:buSzPct val="84000"/>
              <a:buFont typeface="Arial" pitchFamily="34" charset="0"/>
              <a:buChar char="–"/>
              <a:defRPr sz="1600">
                <a:latin typeface="Frutiger 55 Roman"/>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LAYOUT HEADER"/>
          <p:cNvSpPr>
            <a:spLocks noGrp="1"/>
          </p:cNvSpPr>
          <p:nvPr>
            <p:ph type="body" idx="25" hasCustomPrompt="1"/>
            <p:custDataLst>
              <p:tags r:id="rId6"/>
            </p:custDataLst>
          </p:nvPr>
        </p:nvSpPr>
        <p:spPr>
          <a:xfrm>
            <a:off x="5157216" y="1498600"/>
            <a:ext cx="4434840" cy="355600"/>
          </a:xfrm>
          <a:noFill/>
        </p:spPr>
        <p:txBody>
          <a:bodyPr lIns="0" tIns="0" rIns="0" bIns="36564" anchor="t" anchorCtr="0">
            <a:noAutofit/>
          </a:bodyPr>
          <a:lstStyle>
            <a:lvl1pPr marL="0" indent="0">
              <a:buNone/>
              <a:defRPr sz="1800" b="1"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&lt;&lt;Layout heading&gt;&gt;</a:t>
            </a:r>
          </a:p>
        </p:txBody>
      </p:sp>
      <p:sp>
        <p:nvSpPr>
          <p:cNvPr id="16" name="LAYOUT SOURCE"/>
          <p:cNvSpPr>
            <a:spLocks noGrp="1"/>
          </p:cNvSpPr>
          <p:nvPr>
            <p:ph type="body" idx="21" hasCustomPrompt="1"/>
            <p:custDataLst>
              <p:tags r:id="rId7"/>
            </p:custDataLst>
          </p:nvPr>
        </p:nvSpPr>
        <p:spPr>
          <a:xfrm>
            <a:off x="420624" y="6254499"/>
            <a:ext cx="4434840" cy="192024"/>
          </a:xfrm>
          <a:noFill/>
        </p:spPr>
        <p:txBody>
          <a:bodyPr lIns="0" tIns="54846" rIns="0" bIns="0" anchor="b">
            <a:noAutofit/>
          </a:bodyPr>
          <a:lstStyle>
            <a:lvl1pPr marL="0" indent="0">
              <a:buNone/>
              <a:defRPr sz="1200" b="0"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Source:</a:t>
            </a:r>
          </a:p>
        </p:txBody>
      </p:sp>
      <p:sp>
        <p:nvSpPr>
          <p:cNvPr id="13" name="LAYOUT BODY"/>
          <p:cNvSpPr>
            <a:spLocks noGrp="1"/>
          </p:cNvSpPr>
          <p:nvPr>
            <p:ph idx="19"/>
            <p:custDataLst>
              <p:tags r:id="rId8"/>
            </p:custDataLst>
          </p:nvPr>
        </p:nvSpPr>
        <p:spPr>
          <a:xfrm>
            <a:off x="420624" y="4416554"/>
            <a:ext cx="4434840" cy="1837944"/>
          </a:xfrm>
          <a:noFill/>
        </p:spPr>
        <p:txBody>
          <a:bodyPr lIns="0" tIns="0" rIns="0" bIns="0">
            <a:noAutofit/>
          </a:bodyPr>
          <a:lstStyle>
            <a:lvl1pPr marL="239632" indent="-239632">
              <a:buClr>
                <a:schemeClr val="tx2"/>
              </a:buClr>
              <a:buSzPct val="100000"/>
              <a:buFont typeface="Symbol" pitchFamily="18" charset="2"/>
              <a:buChar char="·"/>
              <a:defRPr sz="1800">
                <a:latin typeface="Frutiger 55 Roman"/>
              </a:defRPr>
            </a:lvl1pPr>
            <a:lvl2pPr marL="455613" indent="-230188">
              <a:tabLst/>
              <a:defRPr sz="1600">
                <a:latin typeface="Frutiger 55 Roman"/>
              </a:defRPr>
            </a:lvl2pPr>
            <a:lvl3pPr marL="688975" indent="-227013">
              <a:buFont typeface="Arial" pitchFamily="34" charset="0"/>
              <a:buChar char="–"/>
              <a:defRPr sz="1600">
                <a:latin typeface="Frutiger 55 Roman"/>
              </a:defRPr>
            </a:lvl3pPr>
            <a:lvl4pPr marL="914400" indent="-225425">
              <a:buSzPct val="84000"/>
              <a:defRPr sz="1600">
                <a:latin typeface="Frutiger 55 Roman"/>
              </a:defRPr>
            </a:lvl4pPr>
            <a:lvl5pPr marL="1152140" indent="-250743">
              <a:buSzPct val="84000"/>
              <a:buFont typeface="Arial" pitchFamily="34" charset="0"/>
              <a:buChar char="–"/>
              <a:defRPr sz="1600">
                <a:latin typeface="Frutiger 55 Roman"/>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9" name="LAYOUT HEADER"/>
          <p:cNvSpPr>
            <a:spLocks noGrp="1"/>
          </p:cNvSpPr>
          <p:nvPr>
            <p:ph type="body" idx="26" hasCustomPrompt="1"/>
            <p:custDataLst>
              <p:tags r:id="rId9"/>
            </p:custDataLst>
          </p:nvPr>
        </p:nvSpPr>
        <p:spPr>
          <a:xfrm>
            <a:off x="420624" y="4059935"/>
            <a:ext cx="4434840" cy="355600"/>
          </a:xfrm>
          <a:noFill/>
        </p:spPr>
        <p:txBody>
          <a:bodyPr lIns="0" tIns="0" rIns="0" bIns="36564" anchor="t" anchorCtr="0">
            <a:noAutofit/>
          </a:bodyPr>
          <a:lstStyle>
            <a:lvl1pPr marL="0" indent="0">
              <a:buNone/>
              <a:defRPr sz="1800" b="1"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&lt;&lt;Layout heading&gt;&gt;</a:t>
            </a:r>
          </a:p>
        </p:txBody>
      </p:sp>
      <p:sp>
        <p:nvSpPr>
          <p:cNvPr id="14" name="LAYOUT SOURCE"/>
          <p:cNvSpPr>
            <a:spLocks noGrp="1"/>
          </p:cNvSpPr>
          <p:nvPr>
            <p:ph type="body" idx="15" hasCustomPrompt="1"/>
            <p:custDataLst>
              <p:tags r:id="rId10"/>
            </p:custDataLst>
          </p:nvPr>
        </p:nvSpPr>
        <p:spPr>
          <a:xfrm>
            <a:off x="420624" y="3694180"/>
            <a:ext cx="4434840" cy="192024"/>
          </a:xfrm>
          <a:noFill/>
        </p:spPr>
        <p:txBody>
          <a:bodyPr lIns="0" tIns="54846" rIns="0" bIns="0" anchor="b">
            <a:noAutofit/>
          </a:bodyPr>
          <a:lstStyle>
            <a:lvl1pPr marL="0" indent="0">
              <a:buNone/>
              <a:defRPr sz="1200" b="0"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Source:</a:t>
            </a:r>
          </a:p>
        </p:txBody>
      </p:sp>
      <p:sp>
        <p:nvSpPr>
          <p:cNvPr id="3" name="LAYOUT BODY"/>
          <p:cNvSpPr>
            <a:spLocks noGrp="1"/>
          </p:cNvSpPr>
          <p:nvPr>
            <p:ph idx="1"/>
            <p:custDataLst>
              <p:tags r:id="rId11"/>
            </p:custDataLst>
          </p:nvPr>
        </p:nvSpPr>
        <p:spPr>
          <a:xfrm>
            <a:off x="420624" y="1856234"/>
            <a:ext cx="4434840" cy="1837944"/>
          </a:xfrm>
          <a:noFill/>
        </p:spPr>
        <p:txBody>
          <a:bodyPr lIns="0" tIns="0" rIns="0" bIns="0">
            <a:noAutofit/>
          </a:bodyPr>
          <a:lstStyle>
            <a:lvl1pPr marL="239632" indent="-239632">
              <a:buClr>
                <a:schemeClr val="tx2"/>
              </a:buClr>
              <a:buSzPct val="100000"/>
              <a:buFont typeface="Symbol" pitchFamily="18" charset="2"/>
              <a:buChar char="·"/>
              <a:defRPr sz="1800">
                <a:latin typeface="Frutiger 55 Roman"/>
              </a:defRPr>
            </a:lvl1pPr>
            <a:lvl2pPr marL="455613" indent="-230188">
              <a:tabLst/>
              <a:defRPr sz="1600">
                <a:latin typeface="Frutiger 55 Roman"/>
              </a:defRPr>
            </a:lvl2pPr>
            <a:lvl3pPr marL="688975" indent="-227013">
              <a:buFont typeface="Arial" pitchFamily="34" charset="0"/>
              <a:buChar char="–"/>
              <a:defRPr sz="1600">
                <a:latin typeface="Frutiger 55 Roman"/>
              </a:defRPr>
            </a:lvl3pPr>
            <a:lvl4pPr marL="914400" indent="-225425">
              <a:buSzPct val="84000"/>
              <a:defRPr sz="1600">
                <a:latin typeface="Frutiger 55 Roman"/>
              </a:defRPr>
            </a:lvl4pPr>
            <a:lvl5pPr marL="1152140" indent="-250743">
              <a:buSzPct val="84000"/>
              <a:buFont typeface="Arial" pitchFamily="34" charset="0"/>
              <a:buChar char="–"/>
              <a:defRPr sz="1600">
                <a:latin typeface="Frutiger 55 Roman"/>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LAYOUT HEADER"/>
          <p:cNvSpPr>
            <a:spLocks noGrp="1"/>
          </p:cNvSpPr>
          <p:nvPr>
            <p:ph type="body" idx="14" hasCustomPrompt="1"/>
            <p:custDataLst>
              <p:tags r:id="rId12"/>
            </p:custDataLst>
          </p:nvPr>
        </p:nvSpPr>
        <p:spPr>
          <a:xfrm>
            <a:off x="420624" y="1498600"/>
            <a:ext cx="4434840" cy="355600"/>
          </a:xfrm>
          <a:noFill/>
        </p:spPr>
        <p:txBody>
          <a:bodyPr lIns="0" tIns="0" rIns="0" bIns="36564" anchor="t" anchorCtr="0">
            <a:noAutofit/>
          </a:bodyPr>
          <a:lstStyle>
            <a:lvl1pPr marL="0" indent="0">
              <a:buNone/>
              <a:defRPr sz="1800" b="1"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&lt;&lt;Layout heading&gt;&gt;</a:t>
            </a:r>
          </a:p>
        </p:txBody>
      </p:sp>
      <p:cxnSp>
        <p:nvCxnSpPr>
          <p:cNvPr id="66" name="THIN BLUE LINE"/>
          <p:cNvCxnSpPr/>
          <p:nvPr/>
        </p:nvCxnSpPr>
        <p:spPr>
          <a:xfrm>
            <a:off x="420623" y="1033272"/>
            <a:ext cx="918972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PAGE HEADING"/>
          <p:cNvSpPr>
            <a:spLocks noGrp="1"/>
          </p:cNvSpPr>
          <p:nvPr>
            <p:ph type="title" hasCustomPrompt="1"/>
            <p:custDataLst>
              <p:tags r:id="rId13"/>
            </p:custDataLst>
          </p:nvPr>
        </p:nvSpPr>
        <p:spPr>
          <a:xfrm>
            <a:off x="420624" y="0"/>
            <a:ext cx="9189720" cy="941832"/>
          </a:xfrm>
        </p:spPr>
        <p:txBody>
          <a:bodyPr/>
          <a:lstStyle>
            <a:lvl1pPr>
              <a:defRPr>
                <a:latin typeface="Frutiger 45 Light"/>
              </a:defRPr>
            </a:lvl1pPr>
          </a:lstStyle>
          <a:p>
            <a:pPr lvl="0"/>
            <a:r>
              <a:rPr lang="en-US" dirty="0"/>
              <a:t>&lt;&lt;Page heading&gt;&gt;</a:t>
            </a:r>
          </a:p>
        </p:txBody>
      </p:sp>
      <p:sp>
        <p:nvSpPr>
          <p:cNvPr id="37" name="Slide Number Textbox"/>
          <p:cNvSpPr txBox="1"/>
          <p:nvPr userDrawn="1"/>
        </p:nvSpPr>
        <p:spPr>
          <a:xfrm>
            <a:off x="9208008" y="6858000"/>
            <a:ext cx="411480" cy="384048"/>
          </a:xfrm>
          <a:prstGeom prst="rect">
            <a:avLst/>
          </a:prstGeom>
          <a:noFill/>
        </p:spPr>
        <p:txBody>
          <a:bodyPr vert="horz" wrap="square" lIns="0" tIns="0" rIns="0" bIns="0" rtlCol="0" anchor="b">
            <a:noAutofit/>
          </a:bodyPr>
          <a:lstStyle/>
          <a:p>
            <a:pPr algn="r"/>
            <a:fld id="{C04BB5FE-21AD-4A47-B7F8-7792A0111F81}" type="slidenum">
              <a:rPr lang="en-US" sz="700" smtClean="0"/>
              <a:pPr algn="r"/>
              <a:t>‹#›</a:t>
            </a:fld>
            <a:endParaRPr lang="en-US" sz="700" dirty="0"/>
          </a:p>
        </p:txBody>
      </p:sp>
      <p:sp>
        <p:nvSpPr>
          <p:cNvPr id="39" name="DOCUMENT ID" hidden="1"/>
          <p:cNvSpPr txBox="1"/>
          <p:nvPr userDrawn="1">
            <p:custDataLst>
              <p:tags r:id="rId14"/>
            </p:custDataLst>
          </p:nvPr>
        </p:nvSpPr>
        <p:spPr>
          <a:xfrm>
            <a:off x="2297875" y="420624"/>
            <a:ext cx="7312468" cy="92333"/>
          </a:xfrm>
          <a:prstGeom prst="rect">
            <a:avLst/>
          </a:prstGeom>
        </p:spPr>
        <p:txBody>
          <a:bodyPr vert="horz" wrap="square" lIns="0" tIns="0" rIns="0" bIns="0" rtlCol="0">
            <a:spAutoFit/>
          </a:bodyPr>
          <a:lstStyle>
            <a:lvl1pPr marL="0" lvl="0" indent="0" algn="r" defTabSz="1005505" eaLnBrk="1" latinLnBrk="0" hangingPunct="1">
              <a:spcBef>
                <a:spcPct val="20000"/>
              </a:spcBef>
              <a:buSzPct val="120000"/>
              <a:buFont typeface="Symbol" pitchFamily="18" charset="2"/>
              <a:buNone/>
              <a:defRPr sz="600" b="0" baseline="0">
                <a:solidFill>
                  <a:srgbClr val="616161"/>
                </a:solidFill>
                <a:latin typeface="+mn-lt"/>
                <a:cs typeface="Arial" pitchFamily="34" charset="0"/>
              </a:defRPr>
            </a:lvl1pPr>
            <a:lvl2pPr marL="502755" indent="0" defTabSz="1005505" eaLnBrk="1" latinLnBrk="0" hangingPunct="1">
              <a:spcBef>
                <a:spcPct val="20000"/>
              </a:spcBef>
              <a:buFont typeface="Arial" pitchFamily="34" charset="0"/>
              <a:buNone/>
              <a:defRPr sz="1300">
                <a:latin typeface="+mn-lt"/>
              </a:defRPr>
            </a:lvl2pPr>
            <a:lvl3pPr marL="1005506" indent="0" defTabSz="1005505" eaLnBrk="1" latinLnBrk="0" hangingPunct="1">
              <a:spcBef>
                <a:spcPct val="20000"/>
              </a:spcBef>
              <a:buFont typeface="Arial" pitchFamily="34" charset="0"/>
              <a:buNone/>
              <a:defRPr sz="1300">
                <a:latin typeface="+mn-lt"/>
              </a:defRPr>
            </a:lvl3pPr>
            <a:lvl4pPr marL="1508258" indent="0" defTabSz="1005505" eaLnBrk="1" latinLnBrk="0" hangingPunct="1">
              <a:spcBef>
                <a:spcPct val="20000"/>
              </a:spcBef>
              <a:buFont typeface="Arial" pitchFamily="34" charset="0"/>
              <a:buNone/>
              <a:defRPr sz="1300">
                <a:latin typeface="+mn-lt"/>
              </a:defRPr>
            </a:lvl4pPr>
            <a:lvl5pPr marL="2011009" indent="0" defTabSz="1005505" eaLnBrk="1" latinLnBrk="0" hangingPunct="1">
              <a:spcBef>
                <a:spcPct val="20000"/>
              </a:spcBef>
              <a:buFont typeface="Arial" pitchFamily="34" charset="0"/>
              <a:buNone/>
              <a:defRPr sz="1300">
                <a:latin typeface="+mn-lt"/>
              </a:defRPr>
            </a:lvl5pPr>
            <a:lvl6pPr marL="2765137" indent="-251375" defTabSz="1005505">
              <a:spcBef>
                <a:spcPct val="20000"/>
              </a:spcBef>
              <a:buFont typeface="Arial" pitchFamily="34" charset="0"/>
              <a:buChar char="•"/>
              <a:defRPr sz="2200">
                <a:latin typeface="+mn-lt"/>
              </a:defRPr>
            </a:lvl6pPr>
            <a:lvl7pPr marL="3267890" indent="-251375" defTabSz="1005505">
              <a:spcBef>
                <a:spcPct val="20000"/>
              </a:spcBef>
              <a:buFont typeface="Arial" pitchFamily="34" charset="0"/>
              <a:buChar char="•"/>
              <a:defRPr sz="2200">
                <a:latin typeface="+mn-lt"/>
              </a:defRPr>
            </a:lvl7pPr>
            <a:lvl8pPr marL="3770641" indent="-251375" defTabSz="1005505">
              <a:spcBef>
                <a:spcPct val="20000"/>
              </a:spcBef>
              <a:buFont typeface="Arial" pitchFamily="34" charset="0"/>
              <a:buChar char="•"/>
              <a:defRPr sz="2200">
                <a:latin typeface="+mn-lt"/>
              </a:defRPr>
            </a:lvl8pPr>
            <a:lvl9pPr marL="4273393" indent="-251375" defTabSz="1005505">
              <a:spcBef>
                <a:spcPct val="20000"/>
              </a:spcBef>
              <a:buFont typeface="Arial" pitchFamily="34" charset="0"/>
              <a:buChar char="•"/>
              <a:defRPr sz="2200">
                <a:latin typeface="+mn-lt"/>
              </a:defRPr>
            </a:lvl9pPr>
          </a:lstStyle>
          <a:p>
            <a:pPr lvl="0"/>
            <a:r>
              <a:rPr lang="en-GB" dirty="0"/>
              <a:t>UBSPROD\</a:t>
            </a:r>
            <a:r>
              <a:rPr lang="en-GB" dirty="0" err="1"/>
              <a:t>barrosr</a:t>
            </a:r>
            <a:r>
              <a:rPr lang="en-GB" dirty="0"/>
              <a:t> [printed: ____] [saved: March 12, 2018 12:29 PM] Q:\Renato\INTQuant\Introduction to Monte Carlo Simulation in Finance.pptx </a:t>
            </a:r>
          </a:p>
        </p:txBody>
      </p:sp>
      <p:grpSp>
        <p:nvGrpSpPr>
          <p:cNvPr id="40" name="PXP_GRIDLINES" hidden="1"/>
          <p:cNvGrpSpPr/>
          <p:nvPr userDrawn="1"/>
        </p:nvGrpSpPr>
        <p:grpSpPr>
          <a:xfrm>
            <a:off x="-30640" y="0"/>
            <a:ext cx="10093083" cy="7543800"/>
            <a:chOff x="-30640" y="0"/>
            <a:chExt cx="10093083" cy="7543800"/>
          </a:xfrm>
        </p:grpSpPr>
        <p:cxnSp>
          <p:nvCxnSpPr>
            <p:cNvPr id="41" name="Straight Connector 40" hidden="1"/>
            <p:cNvCxnSpPr/>
            <p:nvPr userDrawn="1"/>
          </p:nvCxnSpPr>
          <p:spPr>
            <a:xfrm>
              <a:off x="402594" y="0"/>
              <a:ext cx="0" cy="754380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42" name="Straight Connector 41" hidden="1"/>
            <p:cNvCxnSpPr/>
            <p:nvPr userDrawn="1"/>
          </p:nvCxnSpPr>
          <p:spPr>
            <a:xfrm>
              <a:off x="5029200" y="0"/>
              <a:ext cx="0" cy="7543800"/>
            </a:xfrm>
            <a:prstGeom prst="line">
              <a:avLst/>
            </a:prstGeom>
            <a:ln w="3175">
              <a:solidFill>
                <a:srgbClr val="464749"/>
              </a:solidFill>
            </a:ln>
          </p:spPr>
          <p:style>
            <a:lnRef idx="1">
              <a:schemeClr val="accent1"/>
            </a:lnRef>
            <a:fillRef idx="0">
              <a:schemeClr val="accent1"/>
            </a:fillRef>
            <a:effectRef idx="0">
              <a:schemeClr val="accent1"/>
            </a:effectRef>
            <a:fontRef idx="minor">
              <a:schemeClr val="tx1"/>
            </a:fontRef>
          </p:style>
        </p:cxnSp>
        <p:cxnSp>
          <p:nvCxnSpPr>
            <p:cNvPr id="43" name="Straight Connector 42" hidden="1"/>
            <p:cNvCxnSpPr/>
            <p:nvPr userDrawn="1"/>
          </p:nvCxnSpPr>
          <p:spPr>
            <a:xfrm>
              <a:off x="9610343" y="0"/>
              <a:ext cx="0" cy="754380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44" name="Straight Connector 43" hidden="1"/>
            <p:cNvCxnSpPr/>
            <p:nvPr userDrawn="1"/>
          </p:nvCxnSpPr>
          <p:spPr>
            <a:xfrm>
              <a:off x="0" y="551751"/>
              <a:ext cx="10058400" cy="0"/>
            </a:xfrm>
            <a:prstGeom prst="line">
              <a:avLst/>
            </a:prstGeom>
            <a:ln w="31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5" name="Straight Connector 44" hidden="1"/>
            <p:cNvCxnSpPr/>
            <p:nvPr userDrawn="1"/>
          </p:nvCxnSpPr>
          <p:spPr>
            <a:xfrm>
              <a:off x="-1600" y="1079526"/>
              <a:ext cx="100584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hidden="1"/>
            <p:cNvCxnSpPr/>
            <p:nvPr userDrawn="1"/>
          </p:nvCxnSpPr>
          <p:spPr>
            <a:xfrm>
              <a:off x="-3200" y="1636176"/>
              <a:ext cx="10058400" cy="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47" name="Straight Connector 46" hidden="1"/>
            <p:cNvCxnSpPr/>
            <p:nvPr userDrawn="1"/>
          </p:nvCxnSpPr>
          <p:spPr>
            <a:xfrm>
              <a:off x="-13716" y="6587211"/>
              <a:ext cx="10058400" cy="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48" name="Straight Connector 47" hidden="1"/>
            <p:cNvCxnSpPr/>
            <p:nvPr userDrawn="1"/>
          </p:nvCxnSpPr>
          <p:spPr>
            <a:xfrm>
              <a:off x="-30640" y="4003499"/>
              <a:ext cx="10058400" cy="0"/>
            </a:xfrm>
            <a:prstGeom prst="line">
              <a:avLst/>
            </a:prstGeom>
            <a:ln w="3175">
              <a:solidFill>
                <a:srgbClr val="464749"/>
              </a:solidFill>
            </a:ln>
          </p:spPr>
          <p:style>
            <a:lnRef idx="1">
              <a:schemeClr val="accent1"/>
            </a:lnRef>
            <a:fillRef idx="0">
              <a:schemeClr val="accent1"/>
            </a:fillRef>
            <a:effectRef idx="0">
              <a:schemeClr val="accent1"/>
            </a:effectRef>
            <a:fontRef idx="minor">
              <a:schemeClr val="tx1"/>
            </a:fontRef>
          </p:style>
        </p:cxnSp>
        <p:cxnSp>
          <p:nvCxnSpPr>
            <p:cNvPr id="49" name="Straight Connector 48" hidden="1"/>
            <p:cNvCxnSpPr/>
            <p:nvPr userDrawn="1"/>
          </p:nvCxnSpPr>
          <p:spPr>
            <a:xfrm>
              <a:off x="0" y="4359099"/>
              <a:ext cx="10058400" cy="0"/>
            </a:xfrm>
            <a:prstGeom prst="line">
              <a:avLst/>
            </a:prstGeom>
            <a:ln w="3175">
              <a:solidFill>
                <a:srgbClr val="464749"/>
              </a:solidFill>
            </a:ln>
          </p:spPr>
          <p:style>
            <a:lnRef idx="1">
              <a:schemeClr val="accent1"/>
            </a:lnRef>
            <a:fillRef idx="0">
              <a:schemeClr val="accent1"/>
            </a:fillRef>
            <a:effectRef idx="0">
              <a:schemeClr val="accent1"/>
            </a:effectRef>
            <a:fontRef idx="minor">
              <a:schemeClr val="tx1"/>
            </a:fontRef>
          </p:style>
        </p:cxnSp>
        <p:cxnSp>
          <p:nvCxnSpPr>
            <p:cNvPr id="50" name="Straight Connector 49" hidden="1"/>
            <p:cNvCxnSpPr/>
            <p:nvPr userDrawn="1"/>
          </p:nvCxnSpPr>
          <p:spPr>
            <a:xfrm>
              <a:off x="-5646" y="850908"/>
              <a:ext cx="10058400" cy="0"/>
            </a:xfrm>
            <a:prstGeom prst="line">
              <a:avLst/>
            </a:prstGeom>
            <a:ln w="31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51" name="Straight Connector 50" hidden="1"/>
            <p:cNvCxnSpPr/>
            <p:nvPr userDrawn="1"/>
          </p:nvCxnSpPr>
          <p:spPr>
            <a:xfrm>
              <a:off x="4043" y="1491573"/>
              <a:ext cx="100584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2" name="DraftStamp" hidden="1"/>
          <p:cNvSpPr txBox="1"/>
          <p:nvPr userDrawn="1">
            <p:custDataLst>
              <p:tags r:id="rId15"/>
            </p:custDataLst>
          </p:nvPr>
        </p:nvSpPr>
        <p:spPr>
          <a:xfrm>
            <a:off x="420624" y="254000"/>
            <a:ext cx="1079500" cy="330200"/>
          </a:xfrm>
          <a:prstGeom prst="rect">
            <a:avLst/>
          </a:prstGeom>
          <a:noFill/>
        </p:spPr>
        <p:txBody>
          <a:bodyPr vert="horz" wrap="none" lIns="0" tIns="0" rIns="0" bIns="0" rtlCol="0" anchor="b">
            <a:noAutofit/>
          </a:bodyPr>
          <a:lstStyle/>
          <a:p>
            <a:pPr algn="l">
              <a:lnSpc>
                <a:spcPct val="100000"/>
              </a:lnSpc>
              <a:spcBef>
                <a:spcPct val="0"/>
              </a:spcBef>
              <a:spcAft>
                <a:spcPct val="0"/>
              </a:spcAft>
            </a:pPr>
            <a:r>
              <a:rPr kumimoji="0" lang="en-US" sz="2400" b="1" i="0" u="none" baseline="0">
                <a:solidFill>
                  <a:srgbClr val="E60000"/>
                </a:solidFill>
                <a:latin typeface="Frutiger 55 Roman"/>
              </a:rPr>
              <a:t>Draft</a:t>
            </a:r>
            <a:endParaRPr kumimoji="0" lang="en-US" sz="2400" b="1" i="0" u="none" baseline="0" dirty="0">
              <a:solidFill>
                <a:srgbClr val="E60000"/>
              </a:solidFill>
              <a:latin typeface="Frutiger 55 Roman"/>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Large 2x(1 and 2)">
    <p:spTree>
      <p:nvGrpSpPr>
        <p:cNvPr id="1" name=""/>
        <p:cNvGrpSpPr/>
        <p:nvPr/>
      </p:nvGrpSpPr>
      <p:grpSpPr>
        <a:xfrm>
          <a:off x="0" y="0"/>
          <a:ext cx="0" cy="0"/>
          <a:chOff x="0" y="0"/>
          <a:chExt cx="0" cy="0"/>
        </a:xfrm>
      </p:grpSpPr>
      <p:sp>
        <p:nvSpPr>
          <p:cNvPr id="19" name="LAYOUT SOURCE"/>
          <p:cNvSpPr>
            <a:spLocks noGrp="1"/>
          </p:cNvSpPr>
          <p:nvPr>
            <p:ph type="body" idx="24" hasCustomPrompt="1"/>
            <p:custDataLst>
              <p:tags r:id="rId1"/>
            </p:custDataLst>
          </p:nvPr>
        </p:nvSpPr>
        <p:spPr>
          <a:xfrm>
            <a:off x="5157216" y="6254499"/>
            <a:ext cx="4434840" cy="192024"/>
          </a:xfrm>
          <a:noFill/>
        </p:spPr>
        <p:txBody>
          <a:bodyPr lIns="0" tIns="54846" rIns="0" bIns="0" anchor="b">
            <a:noAutofit/>
          </a:bodyPr>
          <a:lstStyle>
            <a:lvl1pPr marL="0" indent="0">
              <a:buNone/>
              <a:defRPr sz="1200" b="0"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Source:</a:t>
            </a:r>
          </a:p>
        </p:txBody>
      </p:sp>
      <p:sp>
        <p:nvSpPr>
          <p:cNvPr id="17" name="LAYOUT BODY"/>
          <p:cNvSpPr>
            <a:spLocks noGrp="1"/>
          </p:cNvSpPr>
          <p:nvPr>
            <p:ph idx="22"/>
            <p:custDataLst>
              <p:tags r:id="rId2"/>
            </p:custDataLst>
          </p:nvPr>
        </p:nvSpPr>
        <p:spPr>
          <a:xfrm>
            <a:off x="5157216" y="4416554"/>
            <a:ext cx="4434840" cy="1837944"/>
          </a:xfrm>
          <a:noFill/>
        </p:spPr>
        <p:txBody>
          <a:bodyPr lIns="0" tIns="0" rIns="0" bIns="0">
            <a:noAutofit/>
          </a:bodyPr>
          <a:lstStyle>
            <a:lvl1pPr marL="239632" indent="-239632">
              <a:buClr>
                <a:schemeClr val="tx2"/>
              </a:buClr>
              <a:buSzPct val="100000"/>
              <a:buFont typeface="Symbol" pitchFamily="18" charset="2"/>
              <a:buChar char="·"/>
              <a:defRPr sz="1800">
                <a:latin typeface="Frutiger 55 Roman"/>
              </a:defRPr>
            </a:lvl1pPr>
            <a:lvl2pPr marL="455613" indent="-230188">
              <a:tabLst/>
              <a:defRPr sz="1600">
                <a:latin typeface="Frutiger 55 Roman"/>
              </a:defRPr>
            </a:lvl2pPr>
            <a:lvl3pPr marL="688975" indent="-227013">
              <a:buFont typeface="Arial" pitchFamily="34" charset="0"/>
              <a:buChar char="–"/>
              <a:defRPr sz="1600">
                <a:latin typeface="Frutiger 55 Roman"/>
              </a:defRPr>
            </a:lvl3pPr>
            <a:lvl4pPr marL="914400" indent="-225425">
              <a:buSzPct val="84000"/>
              <a:defRPr sz="1600">
                <a:latin typeface="Frutiger 55 Roman"/>
              </a:defRPr>
            </a:lvl4pPr>
            <a:lvl5pPr marL="1152140" indent="-250743">
              <a:buSzPct val="84000"/>
              <a:buFont typeface="Arial" pitchFamily="34" charset="0"/>
              <a:buChar char="–"/>
              <a:defRPr sz="1600">
                <a:latin typeface="Frutiger 55 Roman"/>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0" name="LAYOUT HEADER"/>
          <p:cNvSpPr>
            <a:spLocks noGrp="1"/>
          </p:cNvSpPr>
          <p:nvPr>
            <p:ph type="body" idx="26" hasCustomPrompt="1"/>
            <p:custDataLst>
              <p:tags r:id="rId3"/>
            </p:custDataLst>
          </p:nvPr>
        </p:nvSpPr>
        <p:spPr>
          <a:xfrm>
            <a:off x="5157216" y="4059935"/>
            <a:ext cx="4434840" cy="355600"/>
          </a:xfrm>
          <a:noFill/>
        </p:spPr>
        <p:txBody>
          <a:bodyPr lIns="0" tIns="0" rIns="0" bIns="36564" anchor="t" anchorCtr="0">
            <a:noAutofit/>
          </a:bodyPr>
          <a:lstStyle>
            <a:lvl1pPr marL="0" indent="0">
              <a:buNone/>
              <a:defRPr sz="1800" b="1"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&lt;&lt;Layout heading&gt;&gt;</a:t>
            </a:r>
          </a:p>
        </p:txBody>
      </p:sp>
      <p:sp>
        <p:nvSpPr>
          <p:cNvPr id="12" name="LAYOUT SOURCE"/>
          <p:cNvSpPr>
            <a:spLocks noGrp="1"/>
          </p:cNvSpPr>
          <p:nvPr>
            <p:ph type="body" idx="18" hasCustomPrompt="1"/>
            <p:custDataLst>
              <p:tags r:id="rId4"/>
            </p:custDataLst>
          </p:nvPr>
        </p:nvSpPr>
        <p:spPr>
          <a:xfrm>
            <a:off x="5157216" y="3694180"/>
            <a:ext cx="4434840" cy="192024"/>
          </a:xfrm>
          <a:noFill/>
        </p:spPr>
        <p:txBody>
          <a:bodyPr lIns="0" tIns="54846" rIns="0" bIns="0" anchor="b">
            <a:noAutofit/>
          </a:bodyPr>
          <a:lstStyle>
            <a:lvl1pPr marL="0" indent="0">
              <a:buNone/>
              <a:defRPr sz="1200" b="0"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Source:</a:t>
            </a:r>
          </a:p>
        </p:txBody>
      </p:sp>
      <p:sp>
        <p:nvSpPr>
          <p:cNvPr id="8" name="LAYOUT BODY"/>
          <p:cNvSpPr>
            <a:spLocks noGrp="1"/>
          </p:cNvSpPr>
          <p:nvPr>
            <p:ph idx="16"/>
            <p:custDataLst>
              <p:tags r:id="rId5"/>
            </p:custDataLst>
          </p:nvPr>
        </p:nvSpPr>
        <p:spPr>
          <a:xfrm>
            <a:off x="5157216" y="1856234"/>
            <a:ext cx="4434840" cy="1837944"/>
          </a:xfrm>
          <a:noFill/>
        </p:spPr>
        <p:txBody>
          <a:bodyPr lIns="0" tIns="0" rIns="0" bIns="0">
            <a:noAutofit/>
          </a:bodyPr>
          <a:lstStyle>
            <a:lvl1pPr marL="239632" indent="-239632">
              <a:buClr>
                <a:schemeClr val="tx2"/>
              </a:buClr>
              <a:buSzPct val="100000"/>
              <a:buFont typeface="Symbol" pitchFamily="18" charset="2"/>
              <a:buChar char="·"/>
              <a:defRPr sz="1800">
                <a:latin typeface="Frutiger 55 Roman"/>
              </a:defRPr>
            </a:lvl1pPr>
            <a:lvl2pPr marL="455613" indent="-230188">
              <a:tabLst/>
              <a:defRPr sz="1600">
                <a:latin typeface="Frutiger 55 Roman"/>
              </a:defRPr>
            </a:lvl2pPr>
            <a:lvl3pPr marL="688975" indent="-227013">
              <a:buFont typeface="Arial" pitchFamily="34" charset="0"/>
              <a:buChar char="–"/>
              <a:defRPr sz="1600">
                <a:latin typeface="Frutiger 55 Roman"/>
              </a:defRPr>
            </a:lvl3pPr>
            <a:lvl4pPr marL="914400" indent="-225425">
              <a:buSzPct val="84000"/>
              <a:defRPr sz="1600">
                <a:latin typeface="Frutiger 55 Roman"/>
              </a:defRPr>
            </a:lvl4pPr>
            <a:lvl5pPr marL="1152140" indent="-250743">
              <a:buSzPct val="84000"/>
              <a:buFont typeface="Arial" pitchFamily="34" charset="0"/>
              <a:buChar char="–"/>
              <a:defRPr sz="1600">
                <a:latin typeface="Frutiger 55 Roman"/>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LAYOUT HEADER"/>
          <p:cNvSpPr>
            <a:spLocks noGrp="1"/>
          </p:cNvSpPr>
          <p:nvPr>
            <p:ph type="body" idx="25" hasCustomPrompt="1"/>
            <p:custDataLst>
              <p:tags r:id="rId6"/>
            </p:custDataLst>
          </p:nvPr>
        </p:nvSpPr>
        <p:spPr>
          <a:xfrm>
            <a:off x="5157216" y="1498600"/>
            <a:ext cx="4434840" cy="355600"/>
          </a:xfrm>
          <a:noFill/>
        </p:spPr>
        <p:txBody>
          <a:bodyPr lIns="0" tIns="0" rIns="0" bIns="36564" anchor="t" anchorCtr="0">
            <a:noAutofit/>
          </a:bodyPr>
          <a:lstStyle>
            <a:lvl1pPr marL="0" indent="0">
              <a:buNone/>
              <a:defRPr sz="1800" b="1"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&lt;&lt;Layout heading&gt;&gt;</a:t>
            </a:r>
          </a:p>
        </p:txBody>
      </p:sp>
      <p:sp>
        <p:nvSpPr>
          <p:cNvPr id="16" name="LAYOUT SOURCE"/>
          <p:cNvSpPr>
            <a:spLocks noGrp="1"/>
          </p:cNvSpPr>
          <p:nvPr>
            <p:ph type="body" idx="21" hasCustomPrompt="1"/>
            <p:custDataLst>
              <p:tags r:id="rId7"/>
            </p:custDataLst>
          </p:nvPr>
        </p:nvSpPr>
        <p:spPr>
          <a:xfrm>
            <a:off x="420624" y="6254499"/>
            <a:ext cx="4434840" cy="192024"/>
          </a:xfrm>
          <a:noFill/>
        </p:spPr>
        <p:txBody>
          <a:bodyPr lIns="0" tIns="54846" rIns="0" bIns="0" anchor="b">
            <a:noAutofit/>
          </a:bodyPr>
          <a:lstStyle>
            <a:lvl1pPr marL="0" indent="0">
              <a:buNone/>
              <a:defRPr sz="1200" b="0"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Source:</a:t>
            </a:r>
          </a:p>
        </p:txBody>
      </p:sp>
      <p:sp>
        <p:nvSpPr>
          <p:cNvPr id="3" name="LAYOUT BODY"/>
          <p:cNvSpPr>
            <a:spLocks noGrp="1"/>
          </p:cNvSpPr>
          <p:nvPr>
            <p:ph idx="1"/>
            <p:custDataLst>
              <p:tags r:id="rId8"/>
            </p:custDataLst>
          </p:nvPr>
        </p:nvSpPr>
        <p:spPr>
          <a:xfrm>
            <a:off x="420624" y="1856233"/>
            <a:ext cx="4434840" cy="4407409"/>
          </a:xfrm>
          <a:noFill/>
        </p:spPr>
        <p:txBody>
          <a:bodyPr lIns="0" tIns="0" rIns="0" bIns="0">
            <a:noAutofit/>
          </a:bodyPr>
          <a:lstStyle>
            <a:lvl1pPr marL="239632" indent="-239632">
              <a:buClr>
                <a:schemeClr val="tx2"/>
              </a:buClr>
              <a:buSzPct val="100000"/>
              <a:buFont typeface="Symbol" pitchFamily="18" charset="2"/>
              <a:buChar char="·"/>
              <a:defRPr sz="1800">
                <a:latin typeface="Frutiger 55 Roman"/>
              </a:defRPr>
            </a:lvl1pPr>
            <a:lvl2pPr marL="455613" indent="-230188">
              <a:tabLst/>
              <a:defRPr sz="1600">
                <a:latin typeface="Frutiger 55 Roman"/>
              </a:defRPr>
            </a:lvl2pPr>
            <a:lvl3pPr marL="688975" indent="-227013">
              <a:buFont typeface="Arial" pitchFamily="34" charset="0"/>
              <a:buChar char="–"/>
              <a:defRPr sz="1600">
                <a:latin typeface="Frutiger 55 Roman"/>
              </a:defRPr>
            </a:lvl3pPr>
            <a:lvl4pPr marL="914400" indent="-225425">
              <a:buSzPct val="84000"/>
              <a:defRPr sz="1600">
                <a:latin typeface="Frutiger 55 Roman"/>
              </a:defRPr>
            </a:lvl4pPr>
            <a:lvl5pPr marL="1152140" indent="-250743">
              <a:buSzPct val="84000"/>
              <a:buFont typeface="Arial" pitchFamily="34" charset="0"/>
              <a:buChar char="–"/>
              <a:defRPr sz="1600">
                <a:latin typeface="Frutiger 55 Roman"/>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LAYOUT HEADER"/>
          <p:cNvSpPr>
            <a:spLocks noGrp="1"/>
          </p:cNvSpPr>
          <p:nvPr>
            <p:ph type="body" idx="14" hasCustomPrompt="1"/>
            <p:custDataLst>
              <p:tags r:id="rId9"/>
            </p:custDataLst>
          </p:nvPr>
        </p:nvSpPr>
        <p:spPr>
          <a:xfrm>
            <a:off x="420624" y="1498600"/>
            <a:ext cx="4434840" cy="355600"/>
          </a:xfrm>
          <a:noFill/>
        </p:spPr>
        <p:txBody>
          <a:bodyPr lIns="0" tIns="0" rIns="0" bIns="36564" anchor="t" anchorCtr="0">
            <a:noAutofit/>
          </a:bodyPr>
          <a:lstStyle>
            <a:lvl1pPr marL="0" indent="0">
              <a:buNone/>
              <a:defRPr sz="1800" b="1"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&lt;&lt;Layout heading&gt;&gt;</a:t>
            </a:r>
          </a:p>
        </p:txBody>
      </p:sp>
      <p:cxnSp>
        <p:nvCxnSpPr>
          <p:cNvPr id="63" name="THIN BLUE LINE"/>
          <p:cNvCxnSpPr/>
          <p:nvPr/>
        </p:nvCxnSpPr>
        <p:spPr>
          <a:xfrm>
            <a:off x="420624" y="1033272"/>
            <a:ext cx="918972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6" name="PAGE HEADING"/>
          <p:cNvSpPr>
            <a:spLocks noGrp="1"/>
          </p:cNvSpPr>
          <p:nvPr>
            <p:ph type="title" hasCustomPrompt="1"/>
            <p:custDataLst>
              <p:tags r:id="rId10"/>
            </p:custDataLst>
          </p:nvPr>
        </p:nvSpPr>
        <p:spPr>
          <a:xfrm>
            <a:off x="420624" y="0"/>
            <a:ext cx="9189720" cy="941832"/>
          </a:xfrm>
        </p:spPr>
        <p:txBody>
          <a:bodyPr/>
          <a:lstStyle>
            <a:lvl1pPr>
              <a:defRPr>
                <a:latin typeface="Frutiger 45 Light"/>
              </a:defRPr>
            </a:lvl1pPr>
          </a:lstStyle>
          <a:p>
            <a:pPr lvl="0"/>
            <a:r>
              <a:rPr lang="en-US" dirty="0"/>
              <a:t>&lt;&lt;Page heading&gt;&gt;</a:t>
            </a:r>
          </a:p>
        </p:txBody>
      </p:sp>
      <p:sp>
        <p:nvSpPr>
          <p:cNvPr id="35" name="Slide Number Textbox"/>
          <p:cNvSpPr txBox="1"/>
          <p:nvPr userDrawn="1"/>
        </p:nvSpPr>
        <p:spPr>
          <a:xfrm>
            <a:off x="9208008" y="6858000"/>
            <a:ext cx="411480" cy="384048"/>
          </a:xfrm>
          <a:prstGeom prst="rect">
            <a:avLst/>
          </a:prstGeom>
          <a:noFill/>
        </p:spPr>
        <p:txBody>
          <a:bodyPr vert="horz" wrap="square" lIns="0" tIns="0" rIns="0" bIns="0" rtlCol="0" anchor="b">
            <a:noAutofit/>
          </a:bodyPr>
          <a:lstStyle/>
          <a:p>
            <a:pPr algn="r"/>
            <a:fld id="{7CCF9807-4BDC-4D68-8676-381180632DE6}" type="slidenum">
              <a:rPr lang="en-US" sz="700" smtClean="0"/>
              <a:pPr algn="r"/>
              <a:t>‹#›</a:t>
            </a:fld>
            <a:endParaRPr lang="en-US" sz="700" dirty="0"/>
          </a:p>
        </p:txBody>
      </p:sp>
      <p:sp>
        <p:nvSpPr>
          <p:cNvPr id="37" name="DOCUMENT ID" hidden="1"/>
          <p:cNvSpPr txBox="1"/>
          <p:nvPr userDrawn="1">
            <p:custDataLst>
              <p:tags r:id="rId11"/>
            </p:custDataLst>
          </p:nvPr>
        </p:nvSpPr>
        <p:spPr>
          <a:xfrm>
            <a:off x="2297875" y="420624"/>
            <a:ext cx="7312468" cy="92333"/>
          </a:xfrm>
          <a:prstGeom prst="rect">
            <a:avLst/>
          </a:prstGeom>
        </p:spPr>
        <p:txBody>
          <a:bodyPr vert="horz" wrap="square" lIns="0" tIns="0" rIns="0" bIns="0" rtlCol="0">
            <a:spAutoFit/>
          </a:bodyPr>
          <a:lstStyle>
            <a:lvl1pPr marL="0" lvl="0" indent="0" algn="r" defTabSz="1005505" eaLnBrk="1" latinLnBrk="0" hangingPunct="1">
              <a:spcBef>
                <a:spcPct val="20000"/>
              </a:spcBef>
              <a:buSzPct val="120000"/>
              <a:buFont typeface="Symbol" pitchFamily="18" charset="2"/>
              <a:buNone/>
              <a:defRPr sz="600" b="0" baseline="0">
                <a:solidFill>
                  <a:srgbClr val="616161"/>
                </a:solidFill>
                <a:latin typeface="+mn-lt"/>
                <a:cs typeface="Arial" pitchFamily="34" charset="0"/>
              </a:defRPr>
            </a:lvl1pPr>
            <a:lvl2pPr marL="502755" indent="0" defTabSz="1005505" eaLnBrk="1" latinLnBrk="0" hangingPunct="1">
              <a:spcBef>
                <a:spcPct val="20000"/>
              </a:spcBef>
              <a:buFont typeface="Arial" pitchFamily="34" charset="0"/>
              <a:buNone/>
              <a:defRPr sz="1300">
                <a:latin typeface="+mn-lt"/>
              </a:defRPr>
            </a:lvl2pPr>
            <a:lvl3pPr marL="1005506" indent="0" defTabSz="1005505" eaLnBrk="1" latinLnBrk="0" hangingPunct="1">
              <a:spcBef>
                <a:spcPct val="20000"/>
              </a:spcBef>
              <a:buFont typeface="Arial" pitchFamily="34" charset="0"/>
              <a:buNone/>
              <a:defRPr sz="1300">
                <a:latin typeface="+mn-lt"/>
              </a:defRPr>
            </a:lvl3pPr>
            <a:lvl4pPr marL="1508258" indent="0" defTabSz="1005505" eaLnBrk="1" latinLnBrk="0" hangingPunct="1">
              <a:spcBef>
                <a:spcPct val="20000"/>
              </a:spcBef>
              <a:buFont typeface="Arial" pitchFamily="34" charset="0"/>
              <a:buNone/>
              <a:defRPr sz="1300">
                <a:latin typeface="+mn-lt"/>
              </a:defRPr>
            </a:lvl4pPr>
            <a:lvl5pPr marL="2011009" indent="0" defTabSz="1005505" eaLnBrk="1" latinLnBrk="0" hangingPunct="1">
              <a:spcBef>
                <a:spcPct val="20000"/>
              </a:spcBef>
              <a:buFont typeface="Arial" pitchFamily="34" charset="0"/>
              <a:buNone/>
              <a:defRPr sz="1300">
                <a:latin typeface="+mn-lt"/>
              </a:defRPr>
            </a:lvl5pPr>
            <a:lvl6pPr marL="2765137" indent="-251375" defTabSz="1005505">
              <a:spcBef>
                <a:spcPct val="20000"/>
              </a:spcBef>
              <a:buFont typeface="Arial" pitchFamily="34" charset="0"/>
              <a:buChar char="•"/>
              <a:defRPr sz="2200">
                <a:latin typeface="+mn-lt"/>
              </a:defRPr>
            </a:lvl6pPr>
            <a:lvl7pPr marL="3267890" indent="-251375" defTabSz="1005505">
              <a:spcBef>
                <a:spcPct val="20000"/>
              </a:spcBef>
              <a:buFont typeface="Arial" pitchFamily="34" charset="0"/>
              <a:buChar char="•"/>
              <a:defRPr sz="2200">
                <a:latin typeface="+mn-lt"/>
              </a:defRPr>
            </a:lvl7pPr>
            <a:lvl8pPr marL="3770641" indent="-251375" defTabSz="1005505">
              <a:spcBef>
                <a:spcPct val="20000"/>
              </a:spcBef>
              <a:buFont typeface="Arial" pitchFamily="34" charset="0"/>
              <a:buChar char="•"/>
              <a:defRPr sz="2200">
                <a:latin typeface="+mn-lt"/>
              </a:defRPr>
            </a:lvl8pPr>
            <a:lvl9pPr marL="4273393" indent="-251375" defTabSz="1005505">
              <a:spcBef>
                <a:spcPct val="20000"/>
              </a:spcBef>
              <a:buFont typeface="Arial" pitchFamily="34" charset="0"/>
              <a:buChar char="•"/>
              <a:defRPr sz="2200">
                <a:latin typeface="+mn-lt"/>
              </a:defRPr>
            </a:lvl9pPr>
          </a:lstStyle>
          <a:p>
            <a:pPr lvl="0"/>
            <a:r>
              <a:rPr lang="en-GB" dirty="0"/>
              <a:t>UBSPROD\</a:t>
            </a:r>
            <a:r>
              <a:rPr lang="en-GB" dirty="0" err="1"/>
              <a:t>barrosr</a:t>
            </a:r>
            <a:r>
              <a:rPr lang="en-GB" dirty="0"/>
              <a:t> [printed: ____] [saved: March 12, 2018 12:29 PM] Q:\Renato\INTQuant\Introduction to Monte Carlo Simulation in Finance.pptx </a:t>
            </a:r>
          </a:p>
        </p:txBody>
      </p:sp>
      <p:grpSp>
        <p:nvGrpSpPr>
          <p:cNvPr id="38" name="PXP_GRIDLINES" hidden="1"/>
          <p:cNvGrpSpPr/>
          <p:nvPr userDrawn="1"/>
        </p:nvGrpSpPr>
        <p:grpSpPr>
          <a:xfrm>
            <a:off x="-30640" y="0"/>
            <a:ext cx="10093083" cy="7543800"/>
            <a:chOff x="-30640" y="0"/>
            <a:chExt cx="10093083" cy="7543800"/>
          </a:xfrm>
        </p:grpSpPr>
        <p:cxnSp>
          <p:nvCxnSpPr>
            <p:cNvPr id="39" name="Straight Connector 38" hidden="1"/>
            <p:cNvCxnSpPr/>
            <p:nvPr userDrawn="1"/>
          </p:nvCxnSpPr>
          <p:spPr>
            <a:xfrm>
              <a:off x="402594" y="0"/>
              <a:ext cx="0" cy="754380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40" name="Straight Connector 39" hidden="1"/>
            <p:cNvCxnSpPr/>
            <p:nvPr userDrawn="1"/>
          </p:nvCxnSpPr>
          <p:spPr>
            <a:xfrm>
              <a:off x="5029200" y="0"/>
              <a:ext cx="0" cy="7543800"/>
            </a:xfrm>
            <a:prstGeom prst="line">
              <a:avLst/>
            </a:prstGeom>
            <a:ln w="3175">
              <a:solidFill>
                <a:srgbClr val="464749"/>
              </a:solidFill>
            </a:ln>
          </p:spPr>
          <p:style>
            <a:lnRef idx="1">
              <a:schemeClr val="accent1"/>
            </a:lnRef>
            <a:fillRef idx="0">
              <a:schemeClr val="accent1"/>
            </a:fillRef>
            <a:effectRef idx="0">
              <a:schemeClr val="accent1"/>
            </a:effectRef>
            <a:fontRef idx="minor">
              <a:schemeClr val="tx1"/>
            </a:fontRef>
          </p:style>
        </p:cxnSp>
        <p:cxnSp>
          <p:nvCxnSpPr>
            <p:cNvPr id="41" name="Straight Connector 40" hidden="1"/>
            <p:cNvCxnSpPr/>
            <p:nvPr userDrawn="1"/>
          </p:nvCxnSpPr>
          <p:spPr>
            <a:xfrm>
              <a:off x="9610343" y="0"/>
              <a:ext cx="0" cy="754380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42" name="Straight Connector 41" hidden="1"/>
            <p:cNvCxnSpPr/>
            <p:nvPr userDrawn="1"/>
          </p:nvCxnSpPr>
          <p:spPr>
            <a:xfrm>
              <a:off x="0" y="551751"/>
              <a:ext cx="10058400" cy="0"/>
            </a:xfrm>
            <a:prstGeom prst="line">
              <a:avLst/>
            </a:prstGeom>
            <a:ln w="31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3" name="Straight Connector 42" hidden="1"/>
            <p:cNvCxnSpPr/>
            <p:nvPr userDrawn="1"/>
          </p:nvCxnSpPr>
          <p:spPr>
            <a:xfrm>
              <a:off x="-1600" y="1079526"/>
              <a:ext cx="100584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hidden="1"/>
            <p:cNvCxnSpPr/>
            <p:nvPr userDrawn="1"/>
          </p:nvCxnSpPr>
          <p:spPr>
            <a:xfrm>
              <a:off x="-3200" y="1636176"/>
              <a:ext cx="10058400" cy="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45" name="Straight Connector 44" hidden="1"/>
            <p:cNvCxnSpPr/>
            <p:nvPr userDrawn="1"/>
          </p:nvCxnSpPr>
          <p:spPr>
            <a:xfrm>
              <a:off x="-13716" y="6587211"/>
              <a:ext cx="10058400" cy="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46" name="Straight Connector 45" hidden="1"/>
            <p:cNvCxnSpPr/>
            <p:nvPr userDrawn="1"/>
          </p:nvCxnSpPr>
          <p:spPr>
            <a:xfrm>
              <a:off x="-30640" y="4003499"/>
              <a:ext cx="10058400" cy="0"/>
            </a:xfrm>
            <a:prstGeom prst="line">
              <a:avLst/>
            </a:prstGeom>
            <a:ln w="3175">
              <a:solidFill>
                <a:srgbClr val="464749"/>
              </a:solidFill>
            </a:ln>
          </p:spPr>
          <p:style>
            <a:lnRef idx="1">
              <a:schemeClr val="accent1"/>
            </a:lnRef>
            <a:fillRef idx="0">
              <a:schemeClr val="accent1"/>
            </a:fillRef>
            <a:effectRef idx="0">
              <a:schemeClr val="accent1"/>
            </a:effectRef>
            <a:fontRef idx="minor">
              <a:schemeClr val="tx1"/>
            </a:fontRef>
          </p:style>
        </p:cxnSp>
        <p:cxnSp>
          <p:nvCxnSpPr>
            <p:cNvPr id="47" name="Straight Connector 46" hidden="1"/>
            <p:cNvCxnSpPr/>
            <p:nvPr userDrawn="1"/>
          </p:nvCxnSpPr>
          <p:spPr>
            <a:xfrm>
              <a:off x="0" y="4359099"/>
              <a:ext cx="10058400" cy="0"/>
            </a:xfrm>
            <a:prstGeom prst="line">
              <a:avLst/>
            </a:prstGeom>
            <a:ln w="3175">
              <a:solidFill>
                <a:srgbClr val="464749"/>
              </a:solidFill>
            </a:ln>
          </p:spPr>
          <p:style>
            <a:lnRef idx="1">
              <a:schemeClr val="accent1"/>
            </a:lnRef>
            <a:fillRef idx="0">
              <a:schemeClr val="accent1"/>
            </a:fillRef>
            <a:effectRef idx="0">
              <a:schemeClr val="accent1"/>
            </a:effectRef>
            <a:fontRef idx="minor">
              <a:schemeClr val="tx1"/>
            </a:fontRef>
          </p:style>
        </p:cxnSp>
        <p:cxnSp>
          <p:nvCxnSpPr>
            <p:cNvPr id="48" name="Straight Connector 47" hidden="1"/>
            <p:cNvCxnSpPr/>
            <p:nvPr userDrawn="1"/>
          </p:nvCxnSpPr>
          <p:spPr>
            <a:xfrm>
              <a:off x="-5646" y="850908"/>
              <a:ext cx="10058400" cy="0"/>
            </a:xfrm>
            <a:prstGeom prst="line">
              <a:avLst/>
            </a:prstGeom>
            <a:ln w="31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9" name="Straight Connector 48" hidden="1"/>
            <p:cNvCxnSpPr/>
            <p:nvPr userDrawn="1"/>
          </p:nvCxnSpPr>
          <p:spPr>
            <a:xfrm>
              <a:off x="4043" y="1491573"/>
              <a:ext cx="100584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2" name="DraftStamp" hidden="1"/>
          <p:cNvSpPr txBox="1"/>
          <p:nvPr userDrawn="1">
            <p:custDataLst>
              <p:tags r:id="rId12"/>
            </p:custDataLst>
          </p:nvPr>
        </p:nvSpPr>
        <p:spPr>
          <a:xfrm>
            <a:off x="420624" y="254000"/>
            <a:ext cx="1079500" cy="330200"/>
          </a:xfrm>
          <a:prstGeom prst="rect">
            <a:avLst/>
          </a:prstGeom>
          <a:noFill/>
        </p:spPr>
        <p:txBody>
          <a:bodyPr vert="horz" wrap="none" lIns="0" tIns="0" rIns="0" bIns="0" rtlCol="0" anchor="b">
            <a:noAutofit/>
          </a:bodyPr>
          <a:lstStyle/>
          <a:p>
            <a:pPr algn="l">
              <a:lnSpc>
                <a:spcPct val="100000"/>
              </a:lnSpc>
              <a:spcBef>
                <a:spcPct val="0"/>
              </a:spcBef>
              <a:spcAft>
                <a:spcPct val="0"/>
              </a:spcAft>
            </a:pPr>
            <a:r>
              <a:rPr kumimoji="0" lang="en-US" sz="2400" b="1" i="0" u="none" baseline="0">
                <a:solidFill>
                  <a:srgbClr val="E60000"/>
                </a:solidFill>
                <a:latin typeface="Frutiger 55 Roman"/>
              </a:rPr>
              <a:t>Draft</a:t>
            </a:r>
            <a:endParaRPr kumimoji="0" lang="en-US" sz="2400" b="1" i="0" u="none" baseline="0" dirty="0">
              <a:solidFill>
                <a:srgbClr val="E60000"/>
              </a:solidFill>
              <a:latin typeface="Frutiger 55 Roman"/>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Large 2x(2 and 1)">
    <p:spTree>
      <p:nvGrpSpPr>
        <p:cNvPr id="1" name=""/>
        <p:cNvGrpSpPr/>
        <p:nvPr/>
      </p:nvGrpSpPr>
      <p:grpSpPr>
        <a:xfrm>
          <a:off x="0" y="0"/>
          <a:ext cx="0" cy="0"/>
          <a:chOff x="0" y="0"/>
          <a:chExt cx="0" cy="0"/>
        </a:xfrm>
      </p:grpSpPr>
      <p:sp>
        <p:nvSpPr>
          <p:cNvPr id="16" name="LAYOUT SOURCE"/>
          <p:cNvSpPr>
            <a:spLocks noGrp="1"/>
          </p:cNvSpPr>
          <p:nvPr>
            <p:ph type="body" idx="21" hasCustomPrompt="1"/>
            <p:custDataLst>
              <p:tags r:id="rId1"/>
            </p:custDataLst>
          </p:nvPr>
        </p:nvSpPr>
        <p:spPr>
          <a:xfrm>
            <a:off x="420624" y="6254499"/>
            <a:ext cx="4434840" cy="192024"/>
          </a:xfrm>
          <a:noFill/>
        </p:spPr>
        <p:txBody>
          <a:bodyPr lIns="0" tIns="54846" rIns="0" bIns="0" anchor="b">
            <a:noAutofit/>
          </a:bodyPr>
          <a:lstStyle>
            <a:lvl1pPr marL="0" indent="0">
              <a:buNone/>
              <a:defRPr sz="1200" b="0"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Source:</a:t>
            </a:r>
          </a:p>
        </p:txBody>
      </p:sp>
      <p:sp>
        <p:nvSpPr>
          <p:cNvPr id="13" name="LAYOUT BODY"/>
          <p:cNvSpPr>
            <a:spLocks noGrp="1"/>
          </p:cNvSpPr>
          <p:nvPr>
            <p:ph idx="19"/>
            <p:custDataLst>
              <p:tags r:id="rId2"/>
            </p:custDataLst>
          </p:nvPr>
        </p:nvSpPr>
        <p:spPr>
          <a:xfrm>
            <a:off x="420624" y="4416554"/>
            <a:ext cx="4434840" cy="1837944"/>
          </a:xfrm>
          <a:noFill/>
        </p:spPr>
        <p:txBody>
          <a:bodyPr lIns="0" tIns="0" rIns="0" bIns="0">
            <a:noAutofit/>
          </a:bodyPr>
          <a:lstStyle>
            <a:lvl1pPr marL="239632" indent="-239632">
              <a:buClr>
                <a:schemeClr val="tx2"/>
              </a:buClr>
              <a:buSzPct val="100000"/>
              <a:buFont typeface="Symbol" pitchFamily="18" charset="2"/>
              <a:buChar char="·"/>
              <a:defRPr sz="1800">
                <a:latin typeface="Frutiger 55 Roman"/>
              </a:defRPr>
            </a:lvl1pPr>
            <a:lvl2pPr marL="455613" indent="-230188">
              <a:tabLst/>
              <a:defRPr sz="1600">
                <a:latin typeface="Frutiger 55 Roman"/>
              </a:defRPr>
            </a:lvl2pPr>
            <a:lvl3pPr marL="688975" indent="-227013">
              <a:buFont typeface="Arial" pitchFamily="34" charset="0"/>
              <a:buChar char="–"/>
              <a:defRPr sz="1600">
                <a:latin typeface="Frutiger 55 Roman"/>
              </a:defRPr>
            </a:lvl3pPr>
            <a:lvl4pPr marL="914400" indent="-225425">
              <a:buSzPct val="84000"/>
              <a:defRPr sz="1600">
                <a:latin typeface="Frutiger 55 Roman"/>
              </a:defRPr>
            </a:lvl4pPr>
            <a:lvl5pPr marL="1152140" indent="-250743">
              <a:buSzPct val="84000"/>
              <a:buFont typeface="Arial" pitchFamily="34" charset="0"/>
              <a:buChar char="–"/>
              <a:defRPr sz="1600">
                <a:latin typeface="Frutiger 55 Roman"/>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LAYOUT HEADER"/>
          <p:cNvSpPr>
            <a:spLocks noGrp="1"/>
          </p:cNvSpPr>
          <p:nvPr>
            <p:ph type="body" idx="26" hasCustomPrompt="1"/>
            <p:custDataLst>
              <p:tags r:id="rId3"/>
            </p:custDataLst>
          </p:nvPr>
        </p:nvSpPr>
        <p:spPr>
          <a:xfrm>
            <a:off x="420624" y="4059935"/>
            <a:ext cx="4434840" cy="355600"/>
          </a:xfrm>
          <a:noFill/>
        </p:spPr>
        <p:txBody>
          <a:bodyPr lIns="0" tIns="0" rIns="0" bIns="36564" anchor="t" anchorCtr="0">
            <a:noAutofit/>
          </a:bodyPr>
          <a:lstStyle>
            <a:lvl1pPr marL="0" indent="0">
              <a:buNone/>
              <a:defRPr sz="1800" b="1"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&lt;&lt;Layout heading&gt;&gt;</a:t>
            </a:r>
          </a:p>
        </p:txBody>
      </p:sp>
      <p:sp>
        <p:nvSpPr>
          <p:cNvPr id="19" name="LAYOUT SOURCE"/>
          <p:cNvSpPr>
            <a:spLocks noGrp="1"/>
          </p:cNvSpPr>
          <p:nvPr>
            <p:ph type="body" idx="24" hasCustomPrompt="1"/>
            <p:custDataLst>
              <p:tags r:id="rId4"/>
            </p:custDataLst>
          </p:nvPr>
        </p:nvSpPr>
        <p:spPr>
          <a:xfrm>
            <a:off x="5157216" y="6254499"/>
            <a:ext cx="4434840" cy="192024"/>
          </a:xfrm>
          <a:noFill/>
        </p:spPr>
        <p:txBody>
          <a:bodyPr lIns="0" tIns="54846" rIns="0" bIns="0" anchor="b">
            <a:noAutofit/>
          </a:bodyPr>
          <a:lstStyle>
            <a:lvl1pPr marL="0" indent="0">
              <a:buNone/>
              <a:defRPr sz="1200" b="0"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Source:</a:t>
            </a:r>
          </a:p>
        </p:txBody>
      </p:sp>
      <p:sp>
        <p:nvSpPr>
          <p:cNvPr id="8" name="LAYOUT BODY"/>
          <p:cNvSpPr>
            <a:spLocks noGrp="1"/>
          </p:cNvSpPr>
          <p:nvPr>
            <p:ph idx="16"/>
            <p:custDataLst>
              <p:tags r:id="rId5"/>
            </p:custDataLst>
          </p:nvPr>
        </p:nvSpPr>
        <p:spPr>
          <a:xfrm>
            <a:off x="5157216" y="1856233"/>
            <a:ext cx="4434840" cy="4407409"/>
          </a:xfrm>
          <a:noFill/>
        </p:spPr>
        <p:txBody>
          <a:bodyPr lIns="0" tIns="0" rIns="0" bIns="0">
            <a:noAutofit/>
          </a:bodyPr>
          <a:lstStyle>
            <a:lvl1pPr marL="239632" indent="-239632">
              <a:buClr>
                <a:schemeClr val="tx2"/>
              </a:buClr>
              <a:buSzPct val="100000"/>
              <a:buFont typeface="Symbol" pitchFamily="18" charset="2"/>
              <a:buChar char="·"/>
              <a:defRPr sz="1800">
                <a:latin typeface="Frutiger 55 Roman"/>
              </a:defRPr>
            </a:lvl1pPr>
            <a:lvl2pPr marL="455613" indent="-230188">
              <a:tabLst/>
              <a:defRPr sz="1600">
                <a:latin typeface="Frutiger 55 Roman"/>
              </a:defRPr>
            </a:lvl2pPr>
            <a:lvl3pPr marL="688975" indent="-227013">
              <a:buFont typeface="Arial" pitchFamily="34" charset="0"/>
              <a:buChar char="–"/>
              <a:defRPr sz="1600">
                <a:latin typeface="Frutiger 55 Roman"/>
              </a:defRPr>
            </a:lvl3pPr>
            <a:lvl4pPr marL="914400" indent="-225425">
              <a:buSzPct val="84000"/>
              <a:defRPr sz="1600">
                <a:latin typeface="Frutiger 55 Roman"/>
              </a:defRPr>
            </a:lvl4pPr>
            <a:lvl5pPr marL="1152140" indent="-250743">
              <a:buSzPct val="84000"/>
              <a:buFont typeface="Arial" pitchFamily="34" charset="0"/>
              <a:buChar char="–"/>
              <a:defRPr sz="1600">
                <a:latin typeface="Frutiger 55 Roman"/>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6" name="LAYOUT HEADER"/>
          <p:cNvSpPr>
            <a:spLocks noGrp="1"/>
          </p:cNvSpPr>
          <p:nvPr>
            <p:ph type="body" idx="25" hasCustomPrompt="1"/>
            <p:custDataLst>
              <p:tags r:id="rId6"/>
            </p:custDataLst>
          </p:nvPr>
        </p:nvSpPr>
        <p:spPr>
          <a:xfrm>
            <a:off x="5157216" y="1498600"/>
            <a:ext cx="4434840" cy="355600"/>
          </a:xfrm>
          <a:noFill/>
        </p:spPr>
        <p:txBody>
          <a:bodyPr lIns="0" tIns="0" rIns="0" bIns="36564" anchor="t" anchorCtr="0">
            <a:noAutofit/>
          </a:bodyPr>
          <a:lstStyle>
            <a:lvl1pPr marL="0" indent="0">
              <a:buNone/>
              <a:defRPr sz="1800" b="1"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&lt;&lt;Layout heading&gt;&gt;</a:t>
            </a:r>
          </a:p>
        </p:txBody>
      </p:sp>
      <p:sp>
        <p:nvSpPr>
          <p:cNvPr id="14" name="LAYOUT SOURCE"/>
          <p:cNvSpPr>
            <a:spLocks noGrp="1"/>
          </p:cNvSpPr>
          <p:nvPr>
            <p:ph type="body" idx="15" hasCustomPrompt="1"/>
            <p:custDataLst>
              <p:tags r:id="rId7"/>
            </p:custDataLst>
          </p:nvPr>
        </p:nvSpPr>
        <p:spPr>
          <a:xfrm>
            <a:off x="420624" y="3694180"/>
            <a:ext cx="4434840" cy="192024"/>
          </a:xfrm>
          <a:noFill/>
        </p:spPr>
        <p:txBody>
          <a:bodyPr lIns="0" tIns="54846" rIns="0" bIns="0" anchor="b">
            <a:noAutofit/>
          </a:bodyPr>
          <a:lstStyle>
            <a:lvl1pPr marL="0" indent="0">
              <a:buNone/>
              <a:defRPr sz="1200" b="0"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Source:</a:t>
            </a:r>
          </a:p>
        </p:txBody>
      </p:sp>
      <p:sp>
        <p:nvSpPr>
          <p:cNvPr id="3" name="LAYOUT BODY"/>
          <p:cNvSpPr>
            <a:spLocks noGrp="1"/>
          </p:cNvSpPr>
          <p:nvPr>
            <p:ph idx="1"/>
            <p:custDataLst>
              <p:tags r:id="rId8"/>
            </p:custDataLst>
          </p:nvPr>
        </p:nvSpPr>
        <p:spPr>
          <a:xfrm>
            <a:off x="420624" y="1856234"/>
            <a:ext cx="4434840" cy="1837944"/>
          </a:xfrm>
          <a:noFill/>
        </p:spPr>
        <p:txBody>
          <a:bodyPr lIns="0" tIns="0" rIns="0" bIns="0">
            <a:noAutofit/>
          </a:bodyPr>
          <a:lstStyle>
            <a:lvl1pPr marL="239632" indent="-239632">
              <a:buClr>
                <a:schemeClr val="tx2"/>
              </a:buClr>
              <a:buSzPct val="100000"/>
              <a:buFont typeface="Symbol" pitchFamily="18" charset="2"/>
              <a:buChar char="·"/>
              <a:defRPr sz="1800">
                <a:latin typeface="Frutiger 55 Roman"/>
              </a:defRPr>
            </a:lvl1pPr>
            <a:lvl2pPr marL="455613" indent="-230188">
              <a:tabLst/>
              <a:defRPr sz="1600">
                <a:latin typeface="Frutiger 55 Roman"/>
              </a:defRPr>
            </a:lvl2pPr>
            <a:lvl3pPr marL="688975" indent="-227013">
              <a:buFont typeface="Arial" pitchFamily="34" charset="0"/>
              <a:buChar char="–"/>
              <a:defRPr sz="1600">
                <a:latin typeface="Frutiger 55 Roman"/>
              </a:defRPr>
            </a:lvl3pPr>
            <a:lvl4pPr marL="914400" indent="-225425">
              <a:buSzPct val="84000"/>
              <a:defRPr sz="1600">
                <a:latin typeface="Frutiger 55 Roman"/>
              </a:defRPr>
            </a:lvl4pPr>
            <a:lvl5pPr marL="1152140" indent="-250743">
              <a:buSzPct val="84000"/>
              <a:buFont typeface="Arial" pitchFamily="34" charset="0"/>
              <a:buChar char="–"/>
              <a:defRPr sz="1600">
                <a:latin typeface="Frutiger 55 Roman"/>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LAYOUT HEADER"/>
          <p:cNvSpPr>
            <a:spLocks noGrp="1"/>
          </p:cNvSpPr>
          <p:nvPr>
            <p:ph type="body" idx="14" hasCustomPrompt="1"/>
            <p:custDataLst>
              <p:tags r:id="rId9"/>
            </p:custDataLst>
          </p:nvPr>
        </p:nvSpPr>
        <p:spPr>
          <a:xfrm>
            <a:off x="420624" y="1498600"/>
            <a:ext cx="4434840" cy="355600"/>
          </a:xfrm>
          <a:noFill/>
        </p:spPr>
        <p:txBody>
          <a:bodyPr lIns="0" tIns="0" rIns="0" bIns="36564" anchor="t" anchorCtr="0">
            <a:noAutofit/>
          </a:bodyPr>
          <a:lstStyle>
            <a:lvl1pPr marL="0" indent="0">
              <a:buNone/>
              <a:defRPr sz="1800" b="1"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&lt;&lt;Layout heading&gt;&gt;</a:t>
            </a:r>
          </a:p>
        </p:txBody>
      </p:sp>
      <p:cxnSp>
        <p:nvCxnSpPr>
          <p:cNvPr id="63" name="THIN BLUE LINE"/>
          <p:cNvCxnSpPr/>
          <p:nvPr/>
        </p:nvCxnSpPr>
        <p:spPr>
          <a:xfrm>
            <a:off x="420624" y="1033272"/>
            <a:ext cx="918972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PAGE HEADING"/>
          <p:cNvSpPr>
            <a:spLocks noGrp="1"/>
          </p:cNvSpPr>
          <p:nvPr>
            <p:ph type="title" hasCustomPrompt="1"/>
            <p:custDataLst>
              <p:tags r:id="rId10"/>
            </p:custDataLst>
          </p:nvPr>
        </p:nvSpPr>
        <p:spPr>
          <a:xfrm>
            <a:off x="420624" y="0"/>
            <a:ext cx="9189720" cy="941832"/>
          </a:xfrm>
        </p:spPr>
        <p:txBody>
          <a:bodyPr/>
          <a:lstStyle>
            <a:lvl1pPr>
              <a:defRPr>
                <a:latin typeface="Frutiger 45 Light"/>
              </a:defRPr>
            </a:lvl1pPr>
          </a:lstStyle>
          <a:p>
            <a:pPr lvl="0"/>
            <a:r>
              <a:rPr lang="en-US" dirty="0"/>
              <a:t>&lt;&lt;Page heading&gt;&gt;</a:t>
            </a:r>
          </a:p>
        </p:txBody>
      </p:sp>
      <p:sp>
        <p:nvSpPr>
          <p:cNvPr id="34" name="Slide Number Textbox"/>
          <p:cNvSpPr txBox="1"/>
          <p:nvPr userDrawn="1"/>
        </p:nvSpPr>
        <p:spPr>
          <a:xfrm>
            <a:off x="9208008" y="6858000"/>
            <a:ext cx="411480" cy="384048"/>
          </a:xfrm>
          <a:prstGeom prst="rect">
            <a:avLst/>
          </a:prstGeom>
          <a:noFill/>
        </p:spPr>
        <p:txBody>
          <a:bodyPr vert="horz" wrap="square" lIns="0" tIns="0" rIns="0" bIns="0" rtlCol="0" anchor="b">
            <a:noAutofit/>
          </a:bodyPr>
          <a:lstStyle/>
          <a:p>
            <a:pPr algn="r"/>
            <a:fld id="{EB71FFF7-9F05-4969-ABC0-23146D694E35}" type="slidenum">
              <a:rPr lang="en-US" sz="700" smtClean="0"/>
              <a:pPr algn="r"/>
              <a:t>‹#›</a:t>
            </a:fld>
            <a:endParaRPr lang="en-US" sz="700" dirty="0"/>
          </a:p>
        </p:txBody>
      </p:sp>
      <p:sp>
        <p:nvSpPr>
          <p:cNvPr id="36" name="DOCUMENT ID" hidden="1"/>
          <p:cNvSpPr txBox="1"/>
          <p:nvPr userDrawn="1">
            <p:custDataLst>
              <p:tags r:id="rId11"/>
            </p:custDataLst>
          </p:nvPr>
        </p:nvSpPr>
        <p:spPr>
          <a:xfrm>
            <a:off x="2297875" y="420624"/>
            <a:ext cx="7312468" cy="92333"/>
          </a:xfrm>
          <a:prstGeom prst="rect">
            <a:avLst/>
          </a:prstGeom>
        </p:spPr>
        <p:txBody>
          <a:bodyPr vert="horz" wrap="square" lIns="0" tIns="0" rIns="0" bIns="0" rtlCol="0">
            <a:spAutoFit/>
          </a:bodyPr>
          <a:lstStyle>
            <a:lvl1pPr marL="0" lvl="0" indent="0" algn="r" defTabSz="1005505" eaLnBrk="1" latinLnBrk="0" hangingPunct="1">
              <a:spcBef>
                <a:spcPct val="20000"/>
              </a:spcBef>
              <a:buSzPct val="120000"/>
              <a:buFont typeface="Symbol" pitchFamily="18" charset="2"/>
              <a:buNone/>
              <a:defRPr sz="600" b="0" baseline="0">
                <a:solidFill>
                  <a:srgbClr val="616161"/>
                </a:solidFill>
                <a:latin typeface="+mn-lt"/>
                <a:cs typeface="Arial" pitchFamily="34" charset="0"/>
              </a:defRPr>
            </a:lvl1pPr>
            <a:lvl2pPr marL="502755" indent="0" defTabSz="1005505" eaLnBrk="1" latinLnBrk="0" hangingPunct="1">
              <a:spcBef>
                <a:spcPct val="20000"/>
              </a:spcBef>
              <a:buFont typeface="Arial" pitchFamily="34" charset="0"/>
              <a:buNone/>
              <a:defRPr sz="1300">
                <a:latin typeface="+mn-lt"/>
              </a:defRPr>
            </a:lvl2pPr>
            <a:lvl3pPr marL="1005506" indent="0" defTabSz="1005505" eaLnBrk="1" latinLnBrk="0" hangingPunct="1">
              <a:spcBef>
                <a:spcPct val="20000"/>
              </a:spcBef>
              <a:buFont typeface="Arial" pitchFamily="34" charset="0"/>
              <a:buNone/>
              <a:defRPr sz="1300">
                <a:latin typeface="+mn-lt"/>
              </a:defRPr>
            </a:lvl3pPr>
            <a:lvl4pPr marL="1508258" indent="0" defTabSz="1005505" eaLnBrk="1" latinLnBrk="0" hangingPunct="1">
              <a:spcBef>
                <a:spcPct val="20000"/>
              </a:spcBef>
              <a:buFont typeface="Arial" pitchFamily="34" charset="0"/>
              <a:buNone/>
              <a:defRPr sz="1300">
                <a:latin typeface="+mn-lt"/>
              </a:defRPr>
            </a:lvl4pPr>
            <a:lvl5pPr marL="2011009" indent="0" defTabSz="1005505" eaLnBrk="1" latinLnBrk="0" hangingPunct="1">
              <a:spcBef>
                <a:spcPct val="20000"/>
              </a:spcBef>
              <a:buFont typeface="Arial" pitchFamily="34" charset="0"/>
              <a:buNone/>
              <a:defRPr sz="1300">
                <a:latin typeface="+mn-lt"/>
              </a:defRPr>
            </a:lvl5pPr>
            <a:lvl6pPr marL="2765137" indent="-251375" defTabSz="1005505">
              <a:spcBef>
                <a:spcPct val="20000"/>
              </a:spcBef>
              <a:buFont typeface="Arial" pitchFamily="34" charset="0"/>
              <a:buChar char="•"/>
              <a:defRPr sz="2200">
                <a:latin typeface="+mn-lt"/>
              </a:defRPr>
            </a:lvl6pPr>
            <a:lvl7pPr marL="3267890" indent="-251375" defTabSz="1005505">
              <a:spcBef>
                <a:spcPct val="20000"/>
              </a:spcBef>
              <a:buFont typeface="Arial" pitchFamily="34" charset="0"/>
              <a:buChar char="•"/>
              <a:defRPr sz="2200">
                <a:latin typeface="+mn-lt"/>
              </a:defRPr>
            </a:lvl7pPr>
            <a:lvl8pPr marL="3770641" indent="-251375" defTabSz="1005505">
              <a:spcBef>
                <a:spcPct val="20000"/>
              </a:spcBef>
              <a:buFont typeface="Arial" pitchFamily="34" charset="0"/>
              <a:buChar char="•"/>
              <a:defRPr sz="2200">
                <a:latin typeface="+mn-lt"/>
              </a:defRPr>
            </a:lvl8pPr>
            <a:lvl9pPr marL="4273393" indent="-251375" defTabSz="1005505">
              <a:spcBef>
                <a:spcPct val="20000"/>
              </a:spcBef>
              <a:buFont typeface="Arial" pitchFamily="34" charset="0"/>
              <a:buChar char="•"/>
              <a:defRPr sz="2200">
                <a:latin typeface="+mn-lt"/>
              </a:defRPr>
            </a:lvl9pPr>
          </a:lstStyle>
          <a:p>
            <a:pPr lvl="0"/>
            <a:r>
              <a:rPr lang="en-GB" dirty="0"/>
              <a:t>UBSPROD\</a:t>
            </a:r>
            <a:r>
              <a:rPr lang="en-GB" dirty="0" err="1"/>
              <a:t>barrosr</a:t>
            </a:r>
            <a:r>
              <a:rPr lang="en-GB" dirty="0"/>
              <a:t> [printed: ____] [saved: March 12, 2018 12:29 PM] Q:\Renato\INTQuant\Introduction to Monte Carlo Simulation in Finance.pptx </a:t>
            </a:r>
          </a:p>
        </p:txBody>
      </p:sp>
      <p:grpSp>
        <p:nvGrpSpPr>
          <p:cNvPr id="37" name="PXP_GRIDLINES" hidden="1"/>
          <p:cNvGrpSpPr/>
          <p:nvPr userDrawn="1"/>
        </p:nvGrpSpPr>
        <p:grpSpPr>
          <a:xfrm>
            <a:off x="-30640" y="0"/>
            <a:ext cx="10093083" cy="7543800"/>
            <a:chOff x="-30640" y="0"/>
            <a:chExt cx="10093083" cy="7543800"/>
          </a:xfrm>
        </p:grpSpPr>
        <p:cxnSp>
          <p:nvCxnSpPr>
            <p:cNvPr id="38" name="Straight Connector 37" hidden="1"/>
            <p:cNvCxnSpPr/>
            <p:nvPr userDrawn="1"/>
          </p:nvCxnSpPr>
          <p:spPr>
            <a:xfrm>
              <a:off x="402594" y="0"/>
              <a:ext cx="0" cy="754380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39" name="Straight Connector 38" hidden="1"/>
            <p:cNvCxnSpPr/>
            <p:nvPr userDrawn="1"/>
          </p:nvCxnSpPr>
          <p:spPr>
            <a:xfrm>
              <a:off x="5029200" y="0"/>
              <a:ext cx="0" cy="7543800"/>
            </a:xfrm>
            <a:prstGeom prst="line">
              <a:avLst/>
            </a:prstGeom>
            <a:ln w="3175">
              <a:solidFill>
                <a:srgbClr val="464749"/>
              </a:solidFill>
            </a:ln>
          </p:spPr>
          <p:style>
            <a:lnRef idx="1">
              <a:schemeClr val="accent1"/>
            </a:lnRef>
            <a:fillRef idx="0">
              <a:schemeClr val="accent1"/>
            </a:fillRef>
            <a:effectRef idx="0">
              <a:schemeClr val="accent1"/>
            </a:effectRef>
            <a:fontRef idx="minor">
              <a:schemeClr val="tx1"/>
            </a:fontRef>
          </p:style>
        </p:cxnSp>
        <p:cxnSp>
          <p:nvCxnSpPr>
            <p:cNvPr id="40" name="Straight Connector 39" hidden="1"/>
            <p:cNvCxnSpPr/>
            <p:nvPr userDrawn="1"/>
          </p:nvCxnSpPr>
          <p:spPr>
            <a:xfrm>
              <a:off x="9610343" y="0"/>
              <a:ext cx="0" cy="754380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41" name="Straight Connector 40" hidden="1"/>
            <p:cNvCxnSpPr/>
            <p:nvPr userDrawn="1"/>
          </p:nvCxnSpPr>
          <p:spPr>
            <a:xfrm>
              <a:off x="0" y="551751"/>
              <a:ext cx="10058400" cy="0"/>
            </a:xfrm>
            <a:prstGeom prst="line">
              <a:avLst/>
            </a:prstGeom>
            <a:ln w="31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2" name="Straight Connector 41" hidden="1"/>
            <p:cNvCxnSpPr/>
            <p:nvPr userDrawn="1"/>
          </p:nvCxnSpPr>
          <p:spPr>
            <a:xfrm>
              <a:off x="-1600" y="1079526"/>
              <a:ext cx="100584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hidden="1"/>
            <p:cNvCxnSpPr/>
            <p:nvPr userDrawn="1"/>
          </p:nvCxnSpPr>
          <p:spPr>
            <a:xfrm>
              <a:off x="-3200" y="1636176"/>
              <a:ext cx="10058400" cy="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44" name="Straight Connector 43" hidden="1"/>
            <p:cNvCxnSpPr/>
            <p:nvPr userDrawn="1"/>
          </p:nvCxnSpPr>
          <p:spPr>
            <a:xfrm>
              <a:off x="-13716" y="6587211"/>
              <a:ext cx="10058400" cy="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45" name="Straight Connector 44" hidden="1"/>
            <p:cNvCxnSpPr/>
            <p:nvPr userDrawn="1"/>
          </p:nvCxnSpPr>
          <p:spPr>
            <a:xfrm>
              <a:off x="-30640" y="4003499"/>
              <a:ext cx="10058400" cy="0"/>
            </a:xfrm>
            <a:prstGeom prst="line">
              <a:avLst/>
            </a:prstGeom>
            <a:ln w="3175">
              <a:solidFill>
                <a:srgbClr val="464749"/>
              </a:solidFill>
            </a:ln>
          </p:spPr>
          <p:style>
            <a:lnRef idx="1">
              <a:schemeClr val="accent1"/>
            </a:lnRef>
            <a:fillRef idx="0">
              <a:schemeClr val="accent1"/>
            </a:fillRef>
            <a:effectRef idx="0">
              <a:schemeClr val="accent1"/>
            </a:effectRef>
            <a:fontRef idx="minor">
              <a:schemeClr val="tx1"/>
            </a:fontRef>
          </p:style>
        </p:cxnSp>
        <p:cxnSp>
          <p:nvCxnSpPr>
            <p:cNvPr id="46" name="Straight Connector 45" hidden="1"/>
            <p:cNvCxnSpPr/>
            <p:nvPr userDrawn="1"/>
          </p:nvCxnSpPr>
          <p:spPr>
            <a:xfrm>
              <a:off x="0" y="4359099"/>
              <a:ext cx="10058400" cy="0"/>
            </a:xfrm>
            <a:prstGeom prst="line">
              <a:avLst/>
            </a:prstGeom>
            <a:ln w="3175">
              <a:solidFill>
                <a:srgbClr val="464749"/>
              </a:solidFill>
            </a:ln>
          </p:spPr>
          <p:style>
            <a:lnRef idx="1">
              <a:schemeClr val="accent1"/>
            </a:lnRef>
            <a:fillRef idx="0">
              <a:schemeClr val="accent1"/>
            </a:fillRef>
            <a:effectRef idx="0">
              <a:schemeClr val="accent1"/>
            </a:effectRef>
            <a:fontRef idx="minor">
              <a:schemeClr val="tx1"/>
            </a:fontRef>
          </p:style>
        </p:cxnSp>
        <p:cxnSp>
          <p:nvCxnSpPr>
            <p:cNvPr id="47" name="Straight Connector 46" hidden="1"/>
            <p:cNvCxnSpPr/>
            <p:nvPr userDrawn="1"/>
          </p:nvCxnSpPr>
          <p:spPr>
            <a:xfrm>
              <a:off x="-5646" y="850908"/>
              <a:ext cx="10058400" cy="0"/>
            </a:xfrm>
            <a:prstGeom prst="line">
              <a:avLst/>
            </a:prstGeom>
            <a:ln w="31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8" name="Straight Connector 47" hidden="1"/>
            <p:cNvCxnSpPr/>
            <p:nvPr userDrawn="1"/>
          </p:nvCxnSpPr>
          <p:spPr>
            <a:xfrm>
              <a:off x="4043" y="1491573"/>
              <a:ext cx="100584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2" name="DraftStamp" hidden="1"/>
          <p:cNvSpPr txBox="1"/>
          <p:nvPr userDrawn="1">
            <p:custDataLst>
              <p:tags r:id="rId12"/>
            </p:custDataLst>
          </p:nvPr>
        </p:nvSpPr>
        <p:spPr>
          <a:xfrm>
            <a:off x="420624" y="254000"/>
            <a:ext cx="1079500" cy="330200"/>
          </a:xfrm>
          <a:prstGeom prst="rect">
            <a:avLst/>
          </a:prstGeom>
          <a:noFill/>
        </p:spPr>
        <p:txBody>
          <a:bodyPr vert="horz" wrap="none" lIns="0" tIns="0" rIns="0" bIns="0" rtlCol="0" anchor="b">
            <a:noAutofit/>
          </a:bodyPr>
          <a:lstStyle/>
          <a:p>
            <a:pPr algn="l">
              <a:lnSpc>
                <a:spcPct val="100000"/>
              </a:lnSpc>
              <a:spcBef>
                <a:spcPct val="0"/>
              </a:spcBef>
              <a:spcAft>
                <a:spcPct val="0"/>
              </a:spcAft>
            </a:pPr>
            <a:r>
              <a:rPr kumimoji="0" lang="en-US" sz="2400" b="1" i="0" u="none" baseline="0">
                <a:solidFill>
                  <a:srgbClr val="E60000"/>
                </a:solidFill>
                <a:latin typeface="Frutiger 55 Roman"/>
              </a:rPr>
              <a:t>Draft</a:t>
            </a:r>
            <a:endParaRPr kumimoji="0" lang="en-US" sz="2400" b="1" i="0" u="none" baseline="0" dirty="0">
              <a:solidFill>
                <a:srgbClr val="E60000"/>
              </a:solidFill>
              <a:latin typeface="Frutiger 55 Roman"/>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Large 3x2">
    <p:spTree>
      <p:nvGrpSpPr>
        <p:cNvPr id="1" name=""/>
        <p:cNvGrpSpPr/>
        <p:nvPr/>
      </p:nvGrpSpPr>
      <p:grpSpPr>
        <a:xfrm>
          <a:off x="0" y="0"/>
          <a:ext cx="0" cy="0"/>
          <a:chOff x="0" y="0"/>
          <a:chExt cx="0" cy="0"/>
        </a:xfrm>
      </p:grpSpPr>
      <p:sp>
        <p:nvSpPr>
          <p:cNvPr id="25" name="LAYOUT SOURCE"/>
          <p:cNvSpPr>
            <a:spLocks noGrp="1"/>
          </p:cNvSpPr>
          <p:nvPr>
            <p:ph type="body" idx="30" hasCustomPrompt="1"/>
            <p:custDataLst>
              <p:tags r:id="rId1"/>
            </p:custDataLst>
          </p:nvPr>
        </p:nvSpPr>
        <p:spPr>
          <a:xfrm>
            <a:off x="6729984" y="6254499"/>
            <a:ext cx="2871216" cy="192024"/>
          </a:xfrm>
          <a:noFill/>
        </p:spPr>
        <p:txBody>
          <a:bodyPr lIns="0" tIns="54846" rIns="0" bIns="0" anchor="b">
            <a:noAutofit/>
          </a:bodyPr>
          <a:lstStyle>
            <a:lvl1pPr marL="0" indent="0">
              <a:buNone/>
              <a:defRPr sz="1200" b="0"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Source:</a:t>
            </a:r>
          </a:p>
        </p:txBody>
      </p:sp>
      <p:sp>
        <p:nvSpPr>
          <p:cNvPr id="23" name="LAYOUT BODY"/>
          <p:cNvSpPr>
            <a:spLocks noGrp="1"/>
          </p:cNvSpPr>
          <p:nvPr>
            <p:ph idx="28"/>
            <p:custDataLst>
              <p:tags r:id="rId2"/>
            </p:custDataLst>
          </p:nvPr>
        </p:nvSpPr>
        <p:spPr>
          <a:xfrm>
            <a:off x="6729984" y="4416554"/>
            <a:ext cx="2871216" cy="1837944"/>
          </a:xfrm>
          <a:noFill/>
        </p:spPr>
        <p:txBody>
          <a:bodyPr lIns="0" tIns="0" rIns="0" bIns="0">
            <a:noAutofit/>
          </a:bodyPr>
          <a:lstStyle>
            <a:lvl1pPr marL="239632" indent="-239632">
              <a:buClr>
                <a:schemeClr val="tx2"/>
              </a:buClr>
              <a:buSzPct val="100000"/>
              <a:buFont typeface="Symbol" pitchFamily="18" charset="2"/>
              <a:buChar char="·"/>
              <a:defRPr sz="1800">
                <a:latin typeface="Frutiger 55 Roman"/>
              </a:defRPr>
            </a:lvl1pPr>
            <a:lvl2pPr marL="455613" indent="-230188">
              <a:tabLst/>
              <a:defRPr sz="1600">
                <a:latin typeface="Frutiger 55 Roman"/>
              </a:defRPr>
            </a:lvl2pPr>
            <a:lvl3pPr marL="688975" indent="-227013">
              <a:buFont typeface="Arial" pitchFamily="34" charset="0"/>
              <a:buChar char="–"/>
              <a:defRPr sz="1600">
                <a:latin typeface="Frutiger 55 Roman"/>
              </a:defRPr>
            </a:lvl3pPr>
            <a:lvl4pPr marL="914400" indent="-225425">
              <a:buSzPct val="84000"/>
              <a:defRPr sz="1600">
                <a:latin typeface="Frutiger 55 Roman"/>
              </a:defRPr>
            </a:lvl4pPr>
            <a:lvl5pPr marL="1152140" indent="-250743">
              <a:buSzPct val="84000"/>
              <a:buFont typeface="Arial" pitchFamily="34" charset="0"/>
              <a:buChar char="–"/>
              <a:defRPr sz="1600">
                <a:latin typeface="Frutiger 55 Roman"/>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8" name="LAYOUT HEADER"/>
          <p:cNvSpPr>
            <a:spLocks noGrp="1"/>
          </p:cNvSpPr>
          <p:nvPr>
            <p:ph type="body" idx="35" hasCustomPrompt="1"/>
            <p:custDataLst>
              <p:tags r:id="rId3"/>
            </p:custDataLst>
          </p:nvPr>
        </p:nvSpPr>
        <p:spPr>
          <a:xfrm>
            <a:off x="6729984" y="4059935"/>
            <a:ext cx="2871216" cy="355600"/>
          </a:xfrm>
          <a:noFill/>
        </p:spPr>
        <p:txBody>
          <a:bodyPr lIns="0" tIns="0" rIns="0" bIns="36564" anchor="t" anchorCtr="0">
            <a:noAutofit/>
          </a:bodyPr>
          <a:lstStyle>
            <a:lvl1pPr marL="0" indent="0">
              <a:buNone/>
              <a:defRPr sz="1800" b="1"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&lt;&lt;Layout heading&gt;&gt;</a:t>
            </a:r>
          </a:p>
        </p:txBody>
      </p:sp>
      <p:sp>
        <p:nvSpPr>
          <p:cNvPr id="22" name="LAYOUT SOURCE"/>
          <p:cNvSpPr>
            <a:spLocks noGrp="1"/>
          </p:cNvSpPr>
          <p:nvPr>
            <p:ph type="body" idx="27" hasCustomPrompt="1"/>
            <p:custDataLst>
              <p:tags r:id="rId4"/>
            </p:custDataLst>
          </p:nvPr>
        </p:nvSpPr>
        <p:spPr>
          <a:xfrm>
            <a:off x="3575304" y="6254499"/>
            <a:ext cx="2871216" cy="192024"/>
          </a:xfrm>
          <a:noFill/>
        </p:spPr>
        <p:txBody>
          <a:bodyPr lIns="0" tIns="54846" rIns="0" bIns="0" anchor="b">
            <a:noAutofit/>
          </a:bodyPr>
          <a:lstStyle>
            <a:lvl1pPr marL="0" indent="0">
              <a:buNone/>
              <a:defRPr sz="1200" b="0"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Source:</a:t>
            </a:r>
          </a:p>
        </p:txBody>
      </p:sp>
      <p:sp>
        <p:nvSpPr>
          <p:cNvPr id="20" name="LAYOUT BODY"/>
          <p:cNvSpPr>
            <a:spLocks noGrp="1"/>
          </p:cNvSpPr>
          <p:nvPr>
            <p:ph idx="25"/>
            <p:custDataLst>
              <p:tags r:id="rId5"/>
            </p:custDataLst>
          </p:nvPr>
        </p:nvSpPr>
        <p:spPr>
          <a:xfrm>
            <a:off x="3575304" y="4416554"/>
            <a:ext cx="2871216" cy="1837944"/>
          </a:xfrm>
          <a:noFill/>
        </p:spPr>
        <p:txBody>
          <a:bodyPr lIns="0" tIns="0" rIns="0" bIns="0">
            <a:noAutofit/>
          </a:bodyPr>
          <a:lstStyle>
            <a:lvl1pPr marL="239632" indent="-239632">
              <a:buClr>
                <a:schemeClr val="tx2"/>
              </a:buClr>
              <a:buSzPct val="100000"/>
              <a:buFont typeface="Symbol" pitchFamily="18" charset="2"/>
              <a:buChar char="·"/>
              <a:defRPr sz="1800">
                <a:latin typeface="Frutiger 55 Roman"/>
              </a:defRPr>
            </a:lvl1pPr>
            <a:lvl2pPr marL="455613" indent="-230188">
              <a:tabLst/>
              <a:defRPr sz="1600">
                <a:latin typeface="Frutiger 55 Roman"/>
              </a:defRPr>
            </a:lvl2pPr>
            <a:lvl3pPr marL="688975" indent="-227013">
              <a:buFont typeface="Arial" pitchFamily="34" charset="0"/>
              <a:buChar char="–"/>
              <a:defRPr sz="1600">
                <a:latin typeface="Frutiger 55 Roman"/>
              </a:defRPr>
            </a:lvl3pPr>
            <a:lvl4pPr marL="914400" indent="-225425">
              <a:buSzPct val="84000"/>
              <a:defRPr sz="1600">
                <a:latin typeface="Frutiger 55 Roman"/>
              </a:defRPr>
            </a:lvl4pPr>
            <a:lvl5pPr marL="1152140" indent="-250743">
              <a:buSzPct val="84000"/>
              <a:buFont typeface="Arial" pitchFamily="34" charset="0"/>
              <a:buChar char="–"/>
              <a:defRPr sz="1600">
                <a:latin typeface="Frutiger 55 Roman"/>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7" name="LAYOUT HEADER"/>
          <p:cNvSpPr>
            <a:spLocks noGrp="1"/>
          </p:cNvSpPr>
          <p:nvPr>
            <p:ph type="body" idx="34" hasCustomPrompt="1"/>
            <p:custDataLst>
              <p:tags r:id="rId6"/>
            </p:custDataLst>
          </p:nvPr>
        </p:nvSpPr>
        <p:spPr>
          <a:xfrm>
            <a:off x="3575304" y="4059935"/>
            <a:ext cx="2871216" cy="355600"/>
          </a:xfrm>
          <a:noFill/>
        </p:spPr>
        <p:txBody>
          <a:bodyPr lIns="0" tIns="0" rIns="0" bIns="36564" anchor="t" anchorCtr="0">
            <a:noAutofit/>
          </a:bodyPr>
          <a:lstStyle>
            <a:lvl1pPr marL="0" indent="0">
              <a:buNone/>
              <a:defRPr sz="1800" b="1"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&lt;&lt;Layout heading&gt;&gt;</a:t>
            </a:r>
          </a:p>
        </p:txBody>
      </p:sp>
      <p:sp>
        <p:nvSpPr>
          <p:cNvPr id="19" name="LAYOUT SOURCE"/>
          <p:cNvSpPr>
            <a:spLocks noGrp="1"/>
          </p:cNvSpPr>
          <p:nvPr>
            <p:ph type="body" idx="24" hasCustomPrompt="1"/>
            <p:custDataLst>
              <p:tags r:id="rId7"/>
            </p:custDataLst>
          </p:nvPr>
        </p:nvSpPr>
        <p:spPr>
          <a:xfrm>
            <a:off x="420624" y="6254499"/>
            <a:ext cx="2871216" cy="192024"/>
          </a:xfrm>
          <a:noFill/>
        </p:spPr>
        <p:txBody>
          <a:bodyPr lIns="0" tIns="54846" rIns="0" bIns="0" anchor="b">
            <a:noAutofit/>
          </a:bodyPr>
          <a:lstStyle>
            <a:lvl1pPr marL="0" indent="0">
              <a:buNone/>
              <a:defRPr sz="1200" b="0"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Source:</a:t>
            </a:r>
          </a:p>
        </p:txBody>
      </p:sp>
      <p:sp>
        <p:nvSpPr>
          <p:cNvPr id="17" name="LAYOUT BODY"/>
          <p:cNvSpPr>
            <a:spLocks noGrp="1"/>
          </p:cNvSpPr>
          <p:nvPr>
            <p:ph idx="22"/>
            <p:custDataLst>
              <p:tags r:id="rId8"/>
            </p:custDataLst>
          </p:nvPr>
        </p:nvSpPr>
        <p:spPr>
          <a:xfrm>
            <a:off x="420624" y="4416554"/>
            <a:ext cx="2871216" cy="1837944"/>
          </a:xfrm>
          <a:noFill/>
        </p:spPr>
        <p:txBody>
          <a:bodyPr lIns="0" tIns="0" rIns="0" bIns="0">
            <a:noAutofit/>
          </a:bodyPr>
          <a:lstStyle>
            <a:lvl1pPr marL="239632" indent="-239632">
              <a:buClr>
                <a:schemeClr val="tx2"/>
              </a:buClr>
              <a:buSzPct val="100000"/>
              <a:buFont typeface="Symbol" pitchFamily="18" charset="2"/>
              <a:buChar char="·"/>
              <a:defRPr sz="1800">
                <a:latin typeface="Frutiger 55 Roman"/>
              </a:defRPr>
            </a:lvl1pPr>
            <a:lvl2pPr marL="455613" indent="-230188">
              <a:tabLst/>
              <a:defRPr sz="1600">
                <a:latin typeface="Frutiger 55 Roman"/>
              </a:defRPr>
            </a:lvl2pPr>
            <a:lvl3pPr marL="688975" indent="-227013">
              <a:buFont typeface="Arial" pitchFamily="34" charset="0"/>
              <a:buChar char="–"/>
              <a:defRPr sz="1600">
                <a:latin typeface="Frutiger 55 Roman"/>
              </a:defRPr>
            </a:lvl3pPr>
            <a:lvl4pPr marL="914400" indent="-225425">
              <a:buSzPct val="84000"/>
              <a:defRPr sz="1600">
                <a:latin typeface="Frutiger 55 Roman"/>
              </a:defRPr>
            </a:lvl4pPr>
            <a:lvl5pPr marL="1152140" indent="-250743">
              <a:buSzPct val="84000"/>
              <a:buFont typeface="Arial" pitchFamily="34" charset="0"/>
              <a:buChar char="–"/>
              <a:defRPr sz="1600">
                <a:latin typeface="Frutiger 55 Roman"/>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6" name="LAYOUT HEADER"/>
          <p:cNvSpPr>
            <a:spLocks noGrp="1"/>
          </p:cNvSpPr>
          <p:nvPr>
            <p:ph type="body" idx="33" hasCustomPrompt="1"/>
            <p:custDataLst>
              <p:tags r:id="rId9"/>
            </p:custDataLst>
          </p:nvPr>
        </p:nvSpPr>
        <p:spPr>
          <a:xfrm>
            <a:off x="420624" y="4059935"/>
            <a:ext cx="2871216" cy="355600"/>
          </a:xfrm>
          <a:noFill/>
        </p:spPr>
        <p:txBody>
          <a:bodyPr lIns="0" tIns="0" rIns="0" bIns="36564" anchor="t" anchorCtr="0">
            <a:noAutofit/>
          </a:bodyPr>
          <a:lstStyle>
            <a:lvl1pPr marL="0" indent="0">
              <a:buNone/>
              <a:defRPr sz="1800" b="1"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&lt;&lt;Layout heading&gt;&gt;</a:t>
            </a:r>
          </a:p>
        </p:txBody>
      </p:sp>
      <p:sp>
        <p:nvSpPr>
          <p:cNvPr id="16" name="LAYOUT SOURCE"/>
          <p:cNvSpPr>
            <a:spLocks noGrp="1"/>
          </p:cNvSpPr>
          <p:nvPr>
            <p:ph type="body" idx="21" hasCustomPrompt="1"/>
            <p:custDataLst>
              <p:tags r:id="rId10"/>
            </p:custDataLst>
          </p:nvPr>
        </p:nvSpPr>
        <p:spPr>
          <a:xfrm>
            <a:off x="6729984" y="3694180"/>
            <a:ext cx="2871216" cy="192024"/>
          </a:xfrm>
          <a:noFill/>
        </p:spPr>
        <p:txBody>
          <a:bodyPr lIns="0" tIns="54846" rIns="0" bIns="0" anchor="b">
            <a:noAutofit/>
          </a:bodyPr>
          <a:lstStyle>
            <a:lvl1pPr marL="0" indent="0">
              <a:buNone/>
              <a:defRPr sz="1200" b="0"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Source:</a:t>
            </a:r>
          </a:p>
        </p:txBody>
      </p:sp>
      <p:sp>
        <p:nvSpPr>
          <p:cNvPr id="13" name="LAYOUT BODY"/>
          <p:cNvSpPr>
            <a:spLocks noGrp="1"/>
          </p:cNvSpPr>
          <p:nvPr>
            <p:ph idx="19"/>
            <p:custDataLst>
              <p:tags r:id="rId11"/>
            </p:custDataLst>
          </p:nvPr>
        </p:nvSpPr>
        <p:spPr>
          <a:xfrm>
            <a:off x="6729984" y="1856234"/>
            <a:ext cx="2871216" cy="1837944"/>
          </a:xfrm>
          <a:noFill/>
        </p:spPr>
        <p:txBody>
          <a:bodyPr lIns="0" tIns="0" rIns="0" bIns="0">
            <a:noAutofit/>
          </a:bodyPr>
          <a:lstStyle>
            <a:lvl1pPr marL="239632" indent="-239632">
              <a:buClr>
                <a:schemeClr val="tx2"/>
              </a:buClr>
              <a:buSzPct val="100000"/>
              <a:buFont typeface="Symbol" pitchFamily="18" charset="2"/>
              <a:buChar char="·"/>
              <a:defRPr sz="1800">
                <a:latin typeface="Frutiger 55 Roman"/>
              </a:defRPr>
            </a:lvl1pPr>
            <a:lvl2pPr marL="455613" indent="-230188">
              <a:tabLst/>
              <a:defRPr sz="1600">
                <a:latin typeface="Frutiger 55 Roman"/>
              </a:defRPr>
            </a:lvl2pPr>
            <a:lvl3pPr marL="688975" indent="-227013">
              <a:buFont typeface="Arial" pitchFamily="34" charset="0"/>
              <a:buChar char="–"/>
              <a:defRPr sz="1600">
                <a:latin typeface="Frutiger 55 Roman"/>
              </a:defRPr>
            </a:lvl3pPr>
            <a:lvl4pPr marL="914400" indent="-225425">
              <a:buSzPct val="84000"/>
              <a:defRPr sz="1600">
                <a:latin typeface="Frutiger 55 Roman"/>
              </a:defRPr>
            </a:lvl4pPr>
            <a:lvl5pPr marL="1152140" indent="-250743">
              <a:buSzPct val="84000"/>
              <a:buFont typeface="Arial" pitchFamily="34" charset="0"/>
              <a:buChar char="–"/>
              <a:defRPr sz="1600">
                <a:latin typeface="Frutiger 55 Roman"/>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LAYOUT HEADER"/>
          <p:cNvSpPr>
            <a:spLocks noGrp="1"/>
          </p:cNvSpPr>
          <p:nvPr>
            <p:ph type="body" idx="32" hasCustomPrompt="1"/>
            <p:custDataLst>
              <p:tags r:id="rId12"/>
            </p:custDataLst>
          </p:nvPr>
        </p:nvSpPr>
        <p:spPr>
          <a:xfrm>
            <a:off x="6729984" y="1498600"/>
            <a:ext cx="2871216" cy="355600"/>
          </a:xfrm>
          <a:noFill/>
        </p:spPr>
        <p:txBody>
          <a:bodyPr lIns="0" tIns="0" rIns="0" bIns="36564" anchor="t" anchorCtr="0">
            <a:noAutofit/>
          </a:bodyPr>
          <a:lstStyle>
            <a:lvl1pPr marL="0" indent="0">
              <a:buNone/>
              <a:defRPr sz="1800" b="1"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&lt;&lt;Layout heading&gt;&gt;</a:t>
            </a:r>
          </a:p>
        </p:txBody>
      </p:sp>
      <p:sp>
        <p:nvSpPr>
          <p:cNvPr id="12" name="LAYOUT SOURCE"/>
          <p:cNvSpPr>
            <a:spLocks noGrp="1"/>
          </p:cNvSpPr>
          <p:nvPr>
            <p:ph type="body" idx="18" hasCustomPrompt="1"/>
            <p:custDataLst>
              <p:tags r:id="rId13"/>
            </p:custDataLst>
          </p:nvPr>
        </p:nvSpPr>
        <p:spPr>
          <a:xfrm>
            <a:off x="3575304" y="3694180"/>
            <a:ext cx="2871216" cy="192024"/>
          </a:xfrm>
          <a:noFill/>
        </p:spPr>
        <p:txBody>
          <a:bodyPr lIns="0" tIns="54846" rIns="0" bIns="0" anchor="b">
            <a:noAutofit/>
          </a:bodyPr>
          <a:lstStyle>
            <a:lvl1pPr marL="0" indent="0">
              <a:buNone/>
              <a:defRPr sz="1200" b="0"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Source:</a:t>
            </a:r>
          </a:p>
        </p:txBody>
      </p:sp>
      <p:sp>
        <p:nvSpPr>
          <p:cNvPr id="8" name="LAYOUT BODY"/>
          <p:cNvSpPr>
            <a:spLocks noGrp="1"/>
          </p:cNvSpPr>
          <p:nvPr>
            <p:ph idx="16"/>
            <p:custDataLst>
              <p:tags r:id="rId14"/>
            </p:custDataLst>
          </p:nvPr>
        </p:nvSpPr>
        <p:spPr>
          <a:xfrm>
            <a:off x="3575304" y="1856234"/>
            <a:ext cx="2871216" cy="1837944"/>
          </a:xfrm>
          <a:noFill/>
        </p:spPr>
        <p:txBody>
          <a:bodyPr lIns="0" tIns="0" rIns="0" bIns="0">
            <a:noAutofit/>
          </a:bodyPr>
          <a:lstStyle>
            <a:lvl1pPr marL="239632" indent="-239632">
              <a:buClr>
                <a:schemeClr val="tx2"/>
              </a:buClr>
              <a:buSzPct val="100000"/>
              <a:buFont typeface="Symbol" pitchFamily="18" charset="2"/>
              <a:buChar char="·"/>
              <a:defRPr sz="1800">
                <a:latin typeface="Frutiger 55 Roman"/>
              </a:defRPr>
            </a:lvl1pPr>
            <a:lvl2pPr marL="455613" indent="-230188">
              <a:tabLst/>
              <a:defRPr sz="1600">
                <a:latin typeface="Frutiger 55 Roman"/>
              </a:defRPr>
            </a:lvl2pPr>
            <a:lvl3pPr marL="688975" indent="-227013">
              <a:buFont typeface="Arial" pitchFamily="34" charset="0"/>
              <a:buChar char="–"/>
              <a:defRPr sz="1600">
                <a:latin typeface="Frutiger 55 Roman"/>
              </a:defRPr>
            </a:lvl3pPr>
            <a:lvl4pPr marL="914400" indent="-225425">
              <a:buSzPct val="84000"/>
              <a:defRPr sz="1600">
                <a:latin typeface="Frutiger 55 Roman"/>
              </a:defRPr>
            </a:lvl4pPr>
            <a:lvl5pPr marL="1152140" indent="-250743">
              <a:buSzPct val="84000"/>
              <a:buFont typeface="Arial" pitchFamily="34" charset="0"/>
              <a:buChar char="–"/>
              <a:defRPr sz="1600">
                <a:latin typeface="Frutiger 55 Roman"/>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4" name="LAYOUT HEADER"/>
          <p:cNvSpPr>
            <a:spLocks noGrp="1"/>
          </p:cNvSpPr>
          <p:nvPr>
            <p:ph type="body" idx="31" hasCustomPrompt="1"/>
            <p:custDataLst>
              <p:tags r:id="rId15"/>
            </p:custDataLst>
          </p:nvPr>
        </p:nvSpPr>
        <p:spPr>
          <a:xfrm>
            <a:off x="3575304" y="1498600"/>
            <a:ext cx="2871216" cy="355600"/>
          </a:xfrm>
          <a:noFill/>
        </p:spPr>
        <p:txBody>
          <a:bodyPr lIns="0" tIns="0" rIns="0" bIns="36564" anchor="t" anchorCtr="0">
            <a:noAutofit/>
          </a:bodyPr>
          <a:lstStyle>
            <a:lvl1pPr marL="0" indent="0">
              <a:buNone/>
              <a:defRPr sz="1800" b="1"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&lt;&lt;Layout heading&gt;&gt;</a:t>
            </a:r>
          </a:p>
        </p:txBody>
      </p:sp>
      <p:sp>
        <p:nvSpPr>
          <p:cNvPr id="14" name="LAYOUT SOURCE"/>
          <p:cNvSpPr>
            <a:spLocks noGrp="1"/>
          </p:cNvSpPr>
          <p:nvPr>
            <p:ph type="body" idx="15" hasCustomPrompt="1"/>
            <p:custDataLst>
              <p:tags r:id="rId16"/>
            </p:custDataLst>
          </p:nvPr>
        </p:nvSpPr>
        <p:spPr>
          <a:xfrm>
            <a:off x="420624" y="3694180"/>
            <a:ext cx="2871216" cy="192024"/>
          </a:xfrm>
          <a:noFill/>
        </p:spPr>
        <p:txBody>
          <a:bodyPr lIns="0" tIns="54846" rIns="0" bIns="0" anchor="b">
            <a:noAutofit/>
          </a:bodyPr>
          <a:lstStyle>
            <a:lvl1pPr marL="0" indent="0">
              <a:buNone/>
              <a:defRPr sz="1200" b="0"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Source:</a:t>
            </a:r>
          </a:p>
        </p:txBody>
      </p:sp>
      <p:sp>
        <p:nvSpPr>
          <p:cNvPr id="3" name="LAYOUT BODY"/>
          <p:cNvSpPr>
            <a:spLocks noGrp="1"/>
          </p:cNvSpPr>
          <p:nvPr>
            <p:ph idx="1"/>
            <p:custDataLst>
              <p:tags r:id="rId17"/>
            </p:custDataLst>
          </p:nvPr>
        </p:nvSpPr>
        <p:spPr>
          <a:xfrm>
            <a:off x="420624" y="1856234"/>
            <a:ext cx="2871216" cy="1837944"/>
          </a:xfrm>
          <a:noFill/>
        </p:spPr>
        <p:txBody>
          <a:bodyPr lIns="0" tIns="0" rIns="0" bIns="0">
            <a:noAutofit/>
          </a:bodyPr>
          <a:lstStyle>
            <a:lvl1pPr marL="239632" indent="-239632">
              <a:buClr>
                <a:schemeClr val="tx2"/>
              </a:buClr>
              <a:buSzPct val="100000"/>
              <a:buFont typeface="Symbol" pitchFamily="18" charset="2"/>
              <a:buChar char="·"/>
              <a:defRPr sz="1800">
                <a:latin typeface="Frutiger 55 Roman"/>
              </a:defRPr>
            </a:lvl1pPr>
            <a:lvl2pPr marL="455613" indent="-230188">
              <a:tabLst/>
              <a:defRPr sz="1600">
                <a:latin typeface="Frutiger 55 Roman"/>
              </a:defRPr>
            </a:lvl2pPr>
            <a:lvl3pPr marL="688975" indent="-227013">
              <a:buFont typeface="Arial" pitchFamily="34" charset="0"/>
              <a:buChar char="–"/>
              <a:defRPr sz="1600">
                <a:latin typeface="Frutiger 55 Roman"/>
              </a:defRPr>
            </a:lvl3pPr>
            <a:lvl4pPr marL="914400" indent="-225425">
              <a:buSzPct val="84000"/>
              <a:defRPr sz="1600">
                <a:latin typeface="Frutiger 55 Roman"/>
              </a:defRPr>
            </a:lvl4pPr>
            <a:lvl5pPr marL="1152140" indent="-250743">
              <a:buSzPct val="84000"/>
              <a:buFont typeface="Arial" pitchFamily="34" charset="0"/>
              <a:buChar char="–"/>
              <a:defRPr sz="1600">
                <a:latin typeface="Frutiger 55 Roman"/>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3" name="LAYOUT HEADER"/>
          <p:cNvSpPr>
            <a:spLocks noGrp="1"/>
          </p:cNvSpPr>
          <p:nvPr>
            <p:ph type="body" idx="14" hasCustomPrompt="1"/>
            <p:custDataLst>
              <p:tags r:id="rId18"/>
            </p:custDataLst>
          </p:nvPr>
        </p:nvSpPr>
        <p:spPr>
          <a:xfrm>
            <a:off x="420624" y="1498600"/>
            <a:ext cx="2871216" cy="355600"/>
          </a:xfrm>
          <a:noFill/>
        </p:spPr>
        <p:txBody>
          <a:bodyPr lIns="0" tIns="0" rIns="0" bIns="36564" anchor="t" anchorCtr="0">
            <a:noAutofit/>
          </a:bodyPr>
          <a:lstStyle>
            <a:lvl1pPr marL="0" indent="0">
              <a:buNone/>
              <a:defRPr sz="1800" b="1"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&lt;&lt;Layout heading&gt;&gt;</a:t>
            </a:r>
          </a:p>
        </p:txBody>
      </p:sp>
      <p:cxnSp>
        <p:nvCxnSpPr>
          <p:cNvPr id="74" name="THIN BLUE LINE"/>
          <p:cNvCxnSpPr/>
          <p:nvPr/>
        </p:nvCxnSpPr>
        <p:spPr>
          <a:xfrm>
            <a:off x="420624" y="1033272"/>
            <a:ext cx="918972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46" name="PAGE HEADING"/>
          <p:cNvSpPr>
            <a:spLocks noGrp="1"/>
          </p:cNvSpPr>
          <p:nvPr>
            <p:ph type="title" hasCustomPrompt="1"/>
            <p:custDataLst>
              <p:tags r:id="rId19"/>
            </p:custDataLst>
          </p:nvPr>
        </p:nvSpPr>
        <p:spPr>
          <a:xfrm>
            <a:off x="420624" y="0"/>
            <a:ext cx="9189720" cy="941832"/>
          </a:xfrm>
        </p:spPr>
        <p:txBody>
          <a:bodyPr/>
          <a:lstStyle>
            <a:lvl1pPr>
              <a:defRPr>
                <a:latin typeface="Frutiger 45 Light"/>
              </a:defRPr>
            </a:lvl1pPr>
          </a:lstStyle>
          <a:p>
            <a:pPr lvl="0"/>
            <a:r>
              <a:rPr lang="en-US" dirty="0"/>
              <a:t>&lt;&lt;Page heading&gt;&gt;</a:t>
            </a:r>
          </a:p>
        </p:txBody>
      </p:sp>
      <p:sp>
        <p:nvSpPr>
          <p:cNvPr id="45" name="Slide Number Textbox"/>
          <p:cNvSpPr txBox="1"/>
          <p:nvPr userDrawn="1"/>
        </p:nvSpPr>
        <p:spPr>
          <a:xfrm>
            <a:off x="9208008" y="6858000"/>
            <a:ext cx="411480" cy="384048"/>
          </a:xfrm>
          <a:prstGeom prst="rect">
            <a:avLst/>
          </a:prstGeom>
          <a:noFill/>
        </p:spPr>
        <p:txBody>
          <a:bodyPr vert="horz" wrap="square" lIns="0" tIns="0" rIns="0" bIns="0" rtlCol="0" anchor="b">
            <a:noAutofit/>
          </a:bodyPr>
          <a:lstStyle/>
          <a:p>
            <a:pPr algn="r"/>
            <a:fld id="{86A79529-9704-412A-9627-88623531B893}" type="slidenum">
              <a:rPr lang="en-US" sz="700" smtClean="0"/>
              <a:pPr algn="r"/>
              <a:t>‹#›</a:t>
            </a:fld>
            <a:endParaRPr lang="en-US" sz="700" dirty="0"/>
          </a:p>
        </p:txBody>
      </p:sp>
      <p:sp>
        <p:nvSpPr>
          <p:cNvPr id="47" name="DOCUMENT ID" hidden="1"/>
          <p:cNvSpPr txBox="1"/>
          <p:nvPr userDrawn="1">
            <p:custDataLst>
              <p:tags r:id="rId20"/>
            </p:custDataLst>
          </p:nvPr>
        </p:nvSpPr>
        <p:spPr>
          <a:xfrm>
            <a:off x="2297875" y="420624"/>
            <a:ext cx="7312468" cy="92333"/>
          </a:xfrm>
          <a:prstGeom prst="rect">
            <a:avLst/>
          </a:prstGeom>
        </p:spPr>
        <p:txBody>
          <a:bodyPr vert="horz" wrap="square" lIns="0" tIns="0" rIns="0" bIns="0" rtlCol="0">
            <a:spAutoFit/>
          </a:bodyPr>
          <a:lstStyle>
            <a:lvl1pPr marL="0" lvl="0" indent="0" algn="r" defTabSz="1005505" eaLnBrk="1" latinLnBrk="0" hangingPunct="1">
              <a:spcBef>
                <a:spcPct val="20000"/>
              </a:spcBef>
              <a:buSzPct val="120000"/>
              <a:buFont typeface="Symbol" pitchFamily="18" charset="2"/>
              <a:buNone/>
              <a:defRPr sz="600" b="0" baseline="0">
                <a:solidFill>
                  <a:srgbClr val="616161"/>
                </a:solidFill>
                <a:latin typeface="+mn-lt"/>
                <a:cs typeface="Arial" pitchFamily="34" charset="0"/>
              </a:defRPr>
            </a:lvl1pPr>
            <a:lvl2pPr marL="502755" indent="0" defTabSz="1005505" eaLnBrk="1" latinLnBrk="0" hangingPunct="1">
              <a:spcBef>
                <a:spcPct val="20000"/>
              </a:spcBef>
              <a:buFont typeface="Arial" pitchFamily="34" charset="0"/>
              <a:buNone/>
              <a:defRPr sz="1300">
                <a:latin typeface="+mn-lt"/>
              </a:defRPr>
            </a:lvl2pPr>
            <a:lvl3pPr marL="1005506" indent="0" defTabSz="1005505" eaLnBrk="1" latinLnBrk="0" hangingPunct="1">
              <a:spcBef>
                <a:spcPct val="20000"/>
              </a:spcBef>
              <a:buFont typeface="Arial" pitchFamily="34" charset="0"/>
              <a:buNone/>
              <a:defRPr sz="1300">
                <a:latin typeface="+mn-lt"/>
              </a:defRPr>
            </a:lvl3pPr>
            <a:lvl4pPr marL="1508258" indent="0" defTabSz="1005505" eaLnBrk="1" latinLnBrk="0" hangingPunct="1">
              <a:spcBef>
                <a:spcPct val="20000"/>
              </a:spcBef>
              <a:buFont typeface="Arial" pitchFamily="34" charset="0"/>
              <a:buNone/>
              <a:defRPr sz="1300">
                <a:latin typeface="+mn-lt"/>
              </a:defRPr>
            </a:lvl4pPr>
            <a:lvl5pPr marL="2011009" indent="0" defTabSz="1005505" eaLnBrk="1" latinLnBrk="0" hangingPunct="1">
              <a:spcBef>
                <a:spcPct val="20000"/>
              </a:spcBef>
              <a:buFont typeface="Arial" pitchFamily="34" charset="0"/>
              <a:buNone/>
              <a:defRPr sz="1300">
                <a:latin typeface="+mn-lt"/>
              </a:defRPr>
            </a:lvl5pPr>
            <a:lvl6pPr marL="2765137" indent="-251375" defTabSz="1005505">
              <a:spcBef>
                <a:spcPct val="20000"/>
              </a:spcBef>
              <a:buFont typeface="Arial" pitchFamily="34" charset="0"/>
              <a:buChar char="•"/>
              <a:defRPr sz="2200">
                <a:latin typeface="+mn-lt"/>
              </a:defRPr>
            </a:lvl6pPr>
            <a:lvl7pPr marL="3267890" indent="-251375" defTabSz="1005505">
              <a:spcBef>
                <a:spcPct val="20000"/>
              </a:spcBef>
              <a:buFont typeface="Arial" pitchFamily="34" charset="0"/>
              <a:buChar char="•"/>
              <a:defRPr sz="2200">
                <a:latin typeface="+mn-lt"/>
              </a:defRPr>
            </a:lvl7pPr>
            <a:lvl8pPr marL="3770641" indent="-251375" defTabSz="1005505">
              <a:spcBef>
                <a:spcPct val="20000"/>
              </a:spcBef>
              <a:buFont typeface="Arial" pitchFamily="34" charset="0"/>
              <a:buChar char="•"/>
              <a:defRPr sz="2200">
                <a:latin typeface="+mn-lt"/>
              </a:defRPr>
            </a:lvl8pPr>
            <a:lvl9pPr marL="4273393" indent="-251375" defTabSz="1005505">
              <a:spcBef>
                <a:spcPct val="20000"/>
              </a:spcBef>
              <a:buFont typeface="Arial" pitchFamily="34" charset="0"/>
              <a:buChar char="•"/>
              <a:defRPr sz="2200">
                <a:latin typeface="+mn-lt"/>
              </a:defRPr>
            </a:lvl9pPr>
          </a:lstStyle>
          <a:p>
            <a:pPr lvl="0"/>
            <a:r>
              <a:rPr lang="en-GB" dirty="0"/>
              <a:t>UBSPROD\</a:t>
            </a:r>
            <a:r>
              <a:rPr lang="en-GB" dirty="0" err="1"/>
              <a:t>barrosr</a:t>
            </a:r>
            <a:r>
              <a:rPr lang="en-GB" dirty="0"/>
              <a:t> [printed: ____] [saved: March 12, 2018 12:29 PM] Q:\Renato\INTQuant\Introduction to Monte Carlo Simulation in Finance.pptx </a:t>
            </a:r>
          </a:p>
        </p:txBody>
      </p:sp>
      <p:grpSp>
        <p:nvGrpSpPr>
          <p:cNvPr id="48" name="PXP_GRIDLINES" hidden="1"/>
          <p:cNvGrpSpPr/>
          <p:nvPr userDrawn="1"/>
        </p:nvGrpSpPr>
        <p:grpSpPr>
          <a:xfrm>
            <a:off x="-30640" y="0"/>
            <a:ext cx="10093083" cy="7543800"/>
            <a:chOff x="-30640" y="0"/>
            <a:chExt cx="10093083" cy="7543800"/>
          </a:xfrm>
        </p:grpSpPr>
        <p:cxnSp>
          <p:nvCxnSpPr>
            <p:cNvPr id="49" name="Straight Connector 48" hidden="1"/>
            <p:cNvCxnSpPr/>
            <p:nvPr userDrawn="1"/>
          </p:nvCxnSpPr>
          <p:spPr>
            <a:xfrm>
              <a:off x="402594" y="0"/>
              <a:ext cx="0" cy="754380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50" name="Straight Connector 49" hidden="1"/>
            <p:cNvCxnSpPr/>
            <p:nvPr userDrawn="1"/>
          </p:nvCxnSpPr>
          <p:spPr>
            <a:xfrm>
              <a:off x="5029200" y="0"/>
              <a:ext cx="0" cy="7543800"/>
            </a:xfrm>
            <a:prstGeom prst="line">
              <a:avLst/>
            </a:prstGeom>
            <a:ln w="3175">
              <a:solidFill>
                <a:srgbClr val="464749"/>
              </a:solidFill>
            </a:ln>
          </p:spPr>
          <p:style>
            <a:lnRef idx="1">
              <a:schemeClr val="accent1"/>
            </a:lnRef>
            <a:fillRef idx="0">
              <a:schemeClr val="accent1"/>
            </a:fillRef>
            <a:effectRef idx="0">
              <a:schemeClr val="accent1"/>
            </a:effectRef>
            <a:fontRef idx="minor">
              <a:schemeClr val="tx1"/>
            </a:fontRef>
          </p:style>
        </p:cxnSp>
        <p:cxnSp>
          <p:nvCxnSpPr>
            <p:cNvPr id="51" name="Straight Connector 50" hidden="1"/>
            <p:cNvCxnSpPr/>
            <p:nvPr userDrawn="1"/>
          </p:nvCxnSpPr>
          <p:spPr>
            <a:xfrm>
              <a:off x="9610343" y="0"/>
              <a:ext cx="0" cy="754380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52" name="Straight Connector 51" hidden="1"/>
            <p:cNvCxnSpPr/>
            <p:nvPr userDrawn="1"/>
          </p:nvCxnSpPr>
          <p:spPr>
            <a:xfrm>
              <a:off x="0" y="551751"/>
              <a:ext cx="10058400" cy="0"/>
            </a:xfrm>
            <a:prstGeom prst="line">
              <a:avLst/>
            </a:prstGeom>
            <a:ln w="31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53" name="Straight Connector 52" hidden="1"/>
            <p:cNvCxnSpPr/>
            <p:nvPr userDrawn="1"/>
          </p:nvCxnSpPr>
          <p:spPr>
            <a:xfrm>
              <a:off x="-1600" y="1079526"/>
              <a:ext cx="100584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hidden="1"/>
            <p:cNvCxnSpPr/>
            <p:nvPr userDrawn="1"/>
          </p:nvCxnSpPr>
          <p:spPr>
            <a:xfrm>
              <a:off x="-3200" y="1636176"/>
              <a:ext cx="10058400" cy="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55" name="Straight Connector 54" hidden="1"/>
            <p:cNvCxnSpPr/>
            <p:nvPr userDrawn="1"/>
          </p:nvCxnSpPr>
          <p:spPr>
            <a:xfrm>
              <a:off x="-13716" y="6587211"/>
              <a:ext cx="10058400" cy="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56" name="Straight Connector 55" hidden="1"/>
            <p:cNvCxnSpPr/>
            <p:nvPr userDrawn="1"/>
          </p:nvCxnSpPr>
          <p:spPr>
            <a:xfrm>
              <a:off x="-30640" y="4003499"/>
              <a:ext cx="10058400" cy="0"/>
            </a:xfrm>
            <a:prstGeom prst="line">
              <a:avLst/>
            </a:prstGeom>
            <a:ln w="3175">
              <a:solidFill>
                <a:srgbClr val="464749"/>
              </a:solidFill>
            </a:ln>
          </p:spPr>
          <p:style>
            <a:lnRef idx="1">
              <a:schemeClr val="accent1"/>
            </a:lnRef>
            <a:fillRef idx="0">
              <a:schemeClr val="accent1"/>
            </a:fillRef>
            <a:effectRef idx="0">
              <a:schemeClr val="accent1"/>
            </a:effectRef>
            <a:fontRef idx="minor">
              <a:schemeClr val="tx1"/>
            </a:fontRef>
          </p:style>
        </p:cxnSp>
        <p:cxnSp>
          <p:nvCxnSpPr>
            <p:cNvPr id="57" name="Straight Connector 56" hidden="1"/>
            <p:cNvCxnSpPr/>
            <p:nvPr userDrawn="1"/>
          </p:nvCxnSpPr>
          <p:spPr>
            <a:xfrm>
              <a:off x="0" y="4359099"/>
              <a:ext cx="10058400" cy="0"/>
            </a:xfrm>
            <a:prstGeom prst="line">
              <a:avLst/>
            </a:prstGeom>
            <a:ln w="3175">
              <a:solidFill>
                <a:srgbClr val="464749"/>
              </a:solidFill>
            </a:ln>
          </p:spPr>
          <p:style>
            <a:lnRef idx="1">
              <a:schemeClr val="accent1"/>
            </a:lnRef>
            <a:fillRef idx="0">
              <a:schemeClr val="accent1"/>
            </a:fillRef>
            <a:effectRef idx="0">
              <a:schemeClr val="accent1"/>
            </a:effectRef>
            <a:fontRef idx="minor">
              <a:schemeClr val="tx1"/>
            </a:fontRef>
          </p:style>
        </p:cxnSp>
        <p:cxnSp>
          <p:nvCxnSpPr>
            <p:cNvPr id="58" name="Straight Connector 57" hidden="1"/>
            <p:cNvCxnSpPr/>
            <p:nvPr userDrawn="1"/>
          </p:nvCxnSpPr>
          <p:spPr>
            <a:xfrm>
              <a:off x="-5646" y="850908"/>
              <a:ext cx="10058400" cy="0"/>
            </a:xfrm>
            <a:prstGeom prst="line">
              <a:avLst/>
            </a:prstGeom>
            <a:ln w="31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59" name="Straight Connector 58" hidden="1"/>
            <p:cNvCxnSpPr/>
            <p:nvPr userDrawn="1"/>
          </p:nvCxnSpPr>
          <p:spPr>
            <a:xfrm>
              <a:off x="4043" y="1491573"/>
              <a:ext cx="100584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2" name="DraftStamp" hidden="1"/>
          <p:cNvSpPr txBox="1"/>
          <p:nvPr userDrawn="1">
            <p:custDataLst>
              <p:tags r:id="rId21"/>
            </p:custDataLst>
          </p:nvPr>
        </p:nvSpPr>
        <p:spPr>
          <a:xfrm>
            <a:off x="420624" y="254000"/>
            <a:ext cx="1079500" cy="330200"/>
          </a:xfrm>
          <a:prstGeom prst="rect">
            <a:avLst/>
          </a:prstGeom>
          <a:noFill/>
        </p:spPr>
        <p:txBody>
          <a:bodyPr vert="horz" wrap="none" lIns="0" tIns="0" rIns="0" bIns="0" rtlCol="0" anchor="b">
            <a:noAutofit/>
          </a:bodyPr>
          <a:lstStyle/>
          <a:p>
            <a:pPr algn="l">
              <a:lnSpc>
                <a:spcPct val="100000"/>
              </a:lnSpc>
              <a:spcBef>
                <a:spcPct val="0"/>
              </a:spcBef>
              <a:spcAft>
                <a:spcPct val="0"/>
              </a:spcAft>
            </a:pPr>
            <a:r>
              <a:rPr kumimoji="0" lang="en-US" sz="2400" b="1" i="0" u="none" baseline="0">
                <a:solidFill>
                  <a:srgbClr val="E60000"/>
                </a:solidFill>
                <a:latin typeface="Frutiger 55 Roman"/>
              </a:rPr>
              <a:t>Draft</a:t>
            </a:r>
            <a:endParaRPr kumimoji="0" lang="en-US" sz="2400" b="1" i="0" u="none" baseline="0" dirty="0">
              <a:solidFill>
                <a:srgbClr val="E60000"/>
              </a:solidFill>
              <a:latin typeface="Frutiger 55 Roman"/>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Disclaimer Page">
    <p:spTree>
      <p:nvGrpSpPr>
        <p:cNvPr id="1" name=""/>
        <p:cNvGrpSpPr/>
        <p:nvPr/>
      </p:nvGrpSpPr>
      <p:grpSpPr>
        <a:xfrm>
          <a:off x="0" y="0"/>
          <a:ext cx="0" cy="0"/>
          <a:chOff x="0" y="0"/>
          <a:chExt cx="0" cy="0"/>
        </a:xfrm>
      </p:grpSpPr>
      <p:cxnSp>
        <p:nvCxnSpPr>
          <p:cNvPr id="63" name="THIN BLUE LINE"/>
          <p:cNvCxnSpPr/>
          <p:nvPr/>
        </p:nvCxnSpPr>
        <p:spPr>
          <a:xfrm>
            <a:off x="420624" y="1033272"/>
            <a:ext cx="918972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Slide Number Textbox"/>
          <p:cNvSpPr txBox="1"/>
          <p:nvPr userDrawn="1"/>
        </p:nvSpPr>
        <p:spPr>
          <a:xfrm>
            <a:off x="9208008" y="6858000"/>
            <a:ext cx="411480" cy="384048"/>
          </a:xfrm>
          <a:prstGeom prst="rect">
            <a:avLst/>
          </a:prstGeom>
          <a:noFill/>
        </p:spPr>
        <p:txBody>
          <a:bodyPr vert="horz" wrap="square" lIns="0" tIns="0" rIns="0" bIns="0" rtlCol="0" anchor="b">
            <a:noAutofit/>
          </a:bodyPr>
          <a:lstStyle/>
          <a:p>
            <a:pPr algn="r"/>
            <a:fld id="{FD2363B6-C2A5-4798-A9CC-51C31EECAC2F}" type="slidenum">
              <a:rPr lang="en-US" sz="700" smtClean="0"/>
              <a:pPr algn="r"/>
              <a:t>‹#›</a:t>
            </a:fld>
            <a:endParaRPr lang="en-US" sz="700" dirty="0"/>
          </a:p>
        </p:txBody>
      </p:sp>
      <p:sp>
        <p:nvSpPr>
          <p:cNvPr id="19" name="DOCUMENT ID" hidden="1"/>
          <p:cNvSpPr txBox="1"/>
          <p:nvPr userDrawn="1">
            <p:custDataLst>
              <p:tags r:id="rId1"/>
            </p:custDataLst>
          </p:nvPr>
        </p:nvSpPr>
        <p:spPr>
          <a:xfrm>
            <a:off x="2297875" y="420624"/>
            <a:ext cx="7312468" cy="92333"/>
          </a:xfrm>
          <a:prstGeom prst="rect">
            <a:avLst/>
          </a:prstGeom>
        </p:spPr>
        <p:txBody>
          <a:bodyPr vert="horz" wrap="square" lIns="0" tIns="0" rIns="0" bIns="0" rtlCol="0">
            <a:spAutoFit/>
          </a:bodyPr>
          <a:lstStyle>
            <a:lvl1pPr marL="0" lvl="0" indent="0" algn="r" defTabSz="1005505" eaLnBrk="1" latinLnBrk="0" hangingPunct="1">
              <a:spcBef>
                <a:spcPct val="20000"/>
              </a:spcBef>
              <a:buSzPct val="120000"/>
              <a:buFont typeface="Symbol" pitchFamily="18" charset="2"/>
              <a:buNone/>
              <a:defRPr sz="600" b="0" baseline="0">
                <a:solidFill>
                  <a:srgbClr val="616161"/>
                </a:solidFill>
                <a:latin typeface="+mn-lt"/>
                <a:cs typeface="Arial" pitchFamily="34" charset="0"/>
              </a:defRPr>
            </a:lvl1pPr>
            <a:lvl2pPr marL="502755" indent="0" defTabSz="1005505" eaLnBrk="1" latinLnBrk="0" hangingPunct="1">
              <a:spcBef>
                <a:spcPct val="20000"/>
              </a:spcBef>
              <a:buFont typeface="Arial" pitchFamily="34" charset="0"/>
              <a:buNone/>
              <a:defRPr sz="1300">
                <a:latin typeface="+mn-lt"/>
              </a:defRPr>
            </a:lvl2pPr>
            <a:lvl3pPr marL="1005506" indent="0" defTabSz="1005505" eaLnBrk="1" latinLnBrk="0" hangingPunct="1">
              <a:spcBef>
                <a:spcPct val="20000"/>
              </a:spcBef>
              <a:buFont typeface="Arial" pitchFamily="34" charset="0"/>
              <a:buNone/>
              <a:defRPr sz="1300">
                <a:latin typeface="+mn-lt"/>
              </a:defRPr>
            </a:lvl3pPr>
            <a:lvl4pPr marL="1508258" indent="0" defTabSz="1005505" eaLnBrk="1" latinLnBrk="0" hangingPunct="1">
              <a:spcBef>
                <a:spcPct val="20000"/>
              </a:spcBef>
              <a:buFont typeface="Arial" pitchFamily="34" charset="0"/>
              <a:buNone/>
              <a:defRPr sz="1300">
                <a:latin typeface="+mn-lt"/>
              </a:defRPr>
            </a:lvl4pPr>
            <a:lvl5pPr marL="2011009" indent="0" defTabSz="1005505" eaLnBrk="1" latinLnBrk="0" hangingPunct="1">
              <a:spcBef>
                <a:spcPct val="20000"/>
              </a:spcBef>
              <a:buFont typeface="Arial" pitchFamily="34" charset="0"/>
              <a:buNone/>
              <a:defRPr sz="1300">
                <a:latin typeface="+mn-lt"/>
              </a:defRPr>
            </a:lvl5pPr>
            <a:lvl6pPr marL="2765137" indent="-251375" defTabSz="1005505">
              <a:spcBef>
                <a:spcPct val="20000"/>
              </a:spcBef>
              <a:buFont typeface="Arial" pitchFamily="34" charset="0"/>
              <a:buChar char="•"/>
              <a:defRPr sz="2200">
                <a:latin typeface="+mn-lt"/>
              </a:defRPr>
            </a:lvl6pPr>
            <a:lvl7pPr marL="3267890" indent="-251375" defTabSz="1005505">
              <a:spcBef>
                <a:spcPct val="20000"/>
              </a:spcBef>
              <a:buFont typeface="Arial" pitchFamily="34" charset="0"/>
              <a:buChar char="•"/>
              <a:defRPr sz="2200">
                <a:latin typeface="+mn-lt"/>
              </a:defRPr>
            </a:lvl7pPr>
            <a:lvl8pPr marL="3770641" indent="-251375" defTabSz="1005505">
              <a:spcBef>
                <a:spcPct val="20000"/>
              </a:spcBef>
              <a:buFont typeface="Arial" pitchFamily="34" charset="0"/>
              <a:buChar char="•"/>
              <a:defRPr sz="2200">
                <a:latin typeface="+mn-lt"/>
              </a:defRPr>
            </a:lvl8pPr>
            <a:lvl9pPr marL="4273393" indent="-251375" defTabSz="1005505">
              <a:spcBef>
                <a:spcPct val="20000"/>
              </a:spcBef>
              <a:buFont typeface="Arial" pitchFamily="34" charset="0"/>
              <a:buChar char="•"/>
              <a:defRPr sz="2200">
                <a:latin typeface="+mn-lt"/>
              </a:defRPr>
            </a:lvl9pPr>
          </a:lstStyle>
          <a:p>
            <a:pPr lvl="0"/>
            <a:r>
              <a:rPr lang="en-GB" dirty="0"/>
              <a:t>UBSPROD\</a:t>
            </a:r>
            <a:r>
              <a:rPr lang="en-GB" dirty="0" err="1"/>
              <a:t>barrosr</a:t>
            </a:r>
            <a:r>
              <a:rPr lang="en-GB" dirty="0"/>
              <a:t> [printed: ____] [saved: March 12, 2018 12:29 PM] Q:\Renato\INTQuant\Introduction to Monte Carlo Simulation in Finance.pptx </a:t>
            </a:r>
          </a:p>
        </p:txBody>
      </p:sp>
      <p:grpSp>
        <p:nvGrpSpPr>
          <p:cNvPr id="20" name="PXP_GRIDLINES" hidden="1"/>
          <p:cNvGrpSpPr/>
          <p:nvPr userDrawn="1"/>
        </p:nvGrpSpPr>
        <p:grpSpPr>
          <a:xfrm>
            <a:off x="-30640" y="0"/>
            <a:ext cx="10093083" cy="7543800"/>
            <a:chOff x="-30640" y="0"/>
            <a:chExt cx="10093083" cy="7543800"/>
          </a:xfrm>
        </p:grpSpPr>
        <p:cxnSp>
          <p:nvCxnSpPr>
            <p:cNvPr id="21" name="Straight Connector 20" hidden="1"/>
            <p:cNvCxnSpPr/>
            <p:nvPr userDrawn="1"/>
          </p:nvCxnSpPr>
          <p:spPr>
            <a:xfrm>
              <a:off x="402594" y="0"/>
              <a:ext cx="0" cy="754380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22" name="Straight Connector 21" hidden="1"/>
            <p:cNvCxnSpPr/>
            <p:nvPr userDrawn="1"/>
          </p:nvCxnSpPr>
          <p:spPr>
            <a:xfrm>
              <a:off x="5029200" y="0"/>
              <a:ext cx="0" cy="7543800"/>
            </a:xfrm>
            <a:prstGeom prst="line">
              <a:avLst/>
            </a:prstGeom>
            <a:ln w="3175">
              <a:solidFill>
                <a:srgbClr val="464749"/>
              </a:solidFill>
            </a:ln>
          </p:spPr>
          <p:style>
            <a:lnRef idx="1">
              <a:schemeClr val="accent1"/>
            </a:lnRef>
            <a:fillRef idx="0">
              <a:schemeClr val="accent1"/>
            </a:fillRef>
            <a:effectRef idx="0">
              <a:schemeClr val="accent1"/>
            </a:effectRef>
            <a:fontRef idx="minor">
              <a:schemeClr val="tx1"/>
            </a:fontRef>
          </p:style>
        </p:cxnSp>
        <p:cxnSp>
          <p:nvCxnSpPr>
            <p:cNvPr id="23" name="Straight Connector 22" hidden="1"/>
            <p:cNvCxnSpPr/>
            <p:nvPr userDrawn="1"/>
          </p:nvCxnSpPr>
          <p:spPr>
            <a:xfrm>
              <a:off x="9610343" y="0"/>
              <a:ext cx="0" cy="754380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24" name="Straight Connector 23" hidden="1"/>
            <p:cNvCxnSpPr/>
            <p:nvPr userDrawn="1"/>
          </p:nvCxnSpPr>
          <p:spPr>
            <a:xfrm>
              <a:off x="0" y="551751"/>
              <a:ext cx="10058400" cy="0"/>
            </a:xfrm>
            <a:prstGeom prst="line">
              <a:avLst/>
            </a:prstGeom>
            <a:ln w="31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5" name="Straight Connector 24" hidden="1"/>
            <p:cNvCxnSpPr/>
            <p:nvPr userDrawn="1"/>
          </p:nvCxnSpPr>
          <p:spPr>
            <a:xfrm>
              <a:off x="-1600" y="1079526"/>
              <a:ext cx="100584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hidden="1"/>
            <p:cNvCxnSpPr/>
            <p:nvPr userDrawn="1"/>
          </p:nvCxnSpPr>
          <p:spPr>
            <a:xfrm>
              <a:off x="-3200" y="1636176"/>
              <a:ext cx="10058400" cy="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27" name="Straight Connector 26" hidden="1"/>
            <p:cNvCxnSpPr/>
            <p:nvPr userDrawn="1"/>
          </p:nvCxnSpPr>
          <p:spPr>
            <a:xfrm>
              <a:off x="-13716" y="6587211"/>
              <a:ext cx="10058400" cy="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28" name="Straight Connector 27" hidden="1"/>
            <p:cNvCxnSpPr/>
            <p:nvPr userDrawn="1"/>
          </p:nvCxnSpPr>
          <p:spPr>
            <a:xfrm>
              <a:off x="-30640" y="4003499"/>
              <a:ext cx="10058400" cy="0"/>
            </a:xfrm>
            <a:prstGeom prst="line">
              <a:avLst/>
            </a:prstGeom>
            <a:ln w="3175">
              <a:solidFill>
                <a:srgbClr val="464749"/>
              </a:solidFill>
            </a:ln>
          </p:spPr>
          <p:style>
            <a:lnRef idx="1">
              <a:schemeClr val="accent1"/>
            </a:lnRef>
            <a:fillRef idx="0">
              <a:schemeClr val="accent1"/>
            </a:fillRef>
            <a:effectRef idx="0">
              <a:schemeClr val="accent1"/>
            </a:effectRef>
            <a:fontRef idx="minor">
              <a:schemeClr val="tx1"/>
            </a:fontRef>
          </p:style>
        </p:cxnSp>
        <p:cxnSp>
          <p:nvCxnSpPr>
            <p:cNvPr id="29" name="Straight Connector 28" hidden="1"/>
            <p:cNvCxnSpPr/>
            <p:nvPr userDrawn="1"/>
          </p:nvCxnSpPr>
          <p:spPr>
            <a:xfrm>
              <a:off x="0" y="4359099"/>
              <a:ext cx="10058400" cy="0"/>
            </a:xfrm>
            <a:prstGeom prst="line">
              <a:avLst/>
            </a:prstGeom>
            <a:ln w="3175">
              <a:solidFill>
                <a:srgbClr val="464749"/>
              </a:solidFill>
            </a:ln>
          </p:spPr>
          <p:style>
            <a:lnRef idx="1">
              <a:schemeClr val="accent1"/>
            </a:lnRef>
            <a:fillRef idx="0">
              <a:schemeClr val="accent1"/>
            </a:fillRef>
            <a:effectRef idx="0">
              <a:schemeClr val="accent1"/>
            </a:effectRef>
            <a:fontRef idx="minor">
              <a:schemeClr val="tx1"/>
            </a:fontRef>
          </p:style>
        </p:cxnSp>
        <p:cxnSp>
          <p:nvCxnSpPr>
            <p:cNvPr id="30" name="Straight Connector 29" hidden="1"/>
            <p:cNvCxnSpPr/>
            <p:nvPr userDrawn="1"/>
          </p:nvCxnSpPr>
          <p:spPr>
            <a:xfrm>
              <a:off x="-5646" y="850908"/>
              <a:ext cx="10058400" cy="0"/>
            </a:xfrm>
            <a:prstGeom prst="line">
              <a:avLst/>
            </a:prstGeom>
            <a:ln w="31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1" name="Straight Connector 30" hidden="1"/>
            <p:cNvCxnSpPr/>
            <p:nvPr userDrawn="1"/>
          </p:nvCxnSpPr>
          <p:spPr>
            <a:xfrm>
              <a:off x="4043" y="1491573"/>
              <a:ext cx="100584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2" name="DraftStamp" hidden="1"/>
          <p:cNvSpPr txBox="1"/>
          <p:nvPr userDrawn="1">
            <p:custDataLst>
              <p:tags r:id="rId2"/>
            </p:custDataLst>
          </p:nvPr>
        </p:nvSpPr>
        <p:spPr>
          <a:xfrm>
            <a:off x="420624" y="254000"/>
            <a:ext cx="1079500" cy="330200"/>
          </a:xfrm>
          <a:prstGeom prst="rect">
            <a:avLst/>
          </a:prstGeom>
          <a:noFill/>
        </p:spPr>
        <p:txBody>
          <a:bodyPr vert="horz" wrap="none" lIns="0" tIns="0" rIns="0" bIns="0" rtlCol="0" anchor="b">
            <a:noAutofit/>
          </a:bodyPr>
          <a:lstStyle/>
          <a:p>
            <a:pPr algn="l">
              <a:lnSpc>
                <a:spcPct val="100000"/>
              </a:lnSpc>
              <a:spcBef>
                <a:spcPct val="0"/>
              </a:spcBef>
              <a:spcAft>
                <a:spcPct val="0"/>
              </a:spcAft>
            </a:pPr>
            <a:r>
              <a:rPr kumimoji="0" lang="en-US" sz="2400" b="1" i="0" u="none" baseline="0">
                <a:solidFill>
                  <a:srgbClr val="E60000"/>
                </a:solidFill>
                <a:latin typeface="Frutiger 55 Roman"/>
              </a:rPr>
              <a:t>Draft</a:t>
            </a:r>
            <a:endParaRPr kumimoji="0" lang="en-US" sz="2400" b="1" i="0" u="none" baseline="0" dirty="0">
              <a:solidFill>
                <a:srgbClr val="E60000"/>
              </a:solidFill>
              <a:latin typeface="Frutiger 55 Roman"/>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act Page">
    <p:spTree>
      <p:nvGrpSpPr>
        <p:cNvPr id="1" name=""/>
        <p:cNvGrpSpPr/>
        <p:nvPr/>
      </p:nvGrpSpPr>
      <p:grpSpPr>
        <a:xfrm>
          <a:off x="0" y="0"/>
          <a:ext cx="0" cy="0"/>
          <a:chOff x="0" y="0"/>
          <a:chExt cx="0" cy="0"/>
        </a:xfrm>
      </p:grpSpPr>
      <p:cxnSp>
        <p:nvCxnSpPr>
          <p:cNvPr id="65" name="THIN BLUE LINE"/>
          <p:cNvCxnSpPr/>
          <p:nvPr/>
        </p:nvCxnSpPr>
        <p:spPr>
          <a:xfrm>
            <a:off x="420624" y="1033272"/>
            <a:ext cx="918972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2" name="PAGE HEADING"/>
          <p:cNvSpPr>
            <a:spLocks noGrp="1"/>
          </p:cNvSpPr>
          <p:nvPr>
            <p:ph type="title" hasCustomPrompt="1"/>
            <p:custDataLst>
              <p:tags r:id="rId1"/>
            </p:custDataLst>
          </p:nvPr>
        </p:nvSpPr>
        <p:spPr/>
        <p:txBody>
          <a:bodyPr/>
          <a:lstStyle>
            <a:lvl1pPr>
              <a:defRPr>
                <a:latin typeface="Frutiger 45 Light"/>
              </a:defRPr>
            </a:lvl1pPr>
          </a:lstStyle>
          <a:p>
            <a:pPr lvl="0"/>
            <a:r>
              <a:rPr lang="en-US" dirty="0"/>
              <a:t>Contact information</a:t>
            </a:r>
          </a:p>
        </p:txBody>
      </p:sp>
      <p:sp>
        <p:nvSpPr>
          <p:cNvPr id="20" name="Slide Number Textbox"/>
          <p:cNvSpPr txBox="1"/>
          <p:nvPr userDrawn="1"/>
        </p:nvSpPr>
        <p:spPr>
          <a:xfrm>
            <a:off x="9208008" y="6858000"/>
            <a:ext cx="411480" cy="384048"/>
          </a:xfrm>
          <a:prstGeom prst="rect">
            <a:avLst/>
          </a:prstGeom>
          <a:noFill/>
        </p:spPr>
        <p:txBody>
          <a:bodyPr vert="horz" wrap="square" lIns="0" tIns="0" rIns="0" bIns="0" rtlCol="0" anchor="b">
            <a:noAutofit/>
          </a:bodyPr>
          <a:lstStyle/>
          <a:p>
            <a:pPr algn="r"/>
            <a:fld id="{F844A95E-171B-43E0-919B-08407017EAD1}" type="slidenum">
              <a:rPr lang="en-US" sz="700" smtClean="0"/>
              <a:pPr algn="r"/>
              <a:t>‹#›</a:t>
            </a:fld>
            <a:endParaRPr lang="en-US" sz="700" dirty="0"/>
          </a:p>
        </p:txBody>
      </p:sp>
      <p:sp>
        <p:nvSpPr>
          <p:cNvPr id="21" name="DOCUMENT ID" hidden="1"/>
          <p:cNvSpPr txBox="1"/>
          <p:nvPr userDrawn="1">
            <p:custDataLst>
              <p:tags r:id="rId2"/>
            </p:custDataLst>
          </p:nvPr>
        </p:nvSpPr>
        <p:spPr>
          <a:xfrm>
            <a:off x="2297875" y="420624"/>
            <a:ext cx="7312468" cy="92333"/>
          </a:xfrm>
          <a:prstGeom prst="rect">
            <a:avLst/>
          </a:prstGeom>
        </p:spPr>
        <p:txBody>
          <a:bodyPr vert="horz" wrap="square" lIns="0" tIns="0" rIns="0" bIns="0" rtlCol="0">
            <a:spAutoFit/>
          </a:bodyPr>
          <a:lstStyle>
            <a:lvl1pPr marL="0" lvl="0" indent="0" algn="r" defTabSz="1005505" eaLnBrk="1" latinLnBrk="0" hangingPunct="1">
              <a:spcBef>
                <a:spcPct val="20000"/>
              </a:spcBef>
              <a:buSzPct val="120000"/>
              <a:buFont typeface="Symbol" pitchFamily="18" charset="2"/>
              <a:buNone/>
              <a:defRPr sz="600" b="0" baseline="0">
                <a:solidFill>
                  <a:srgbClr val="616161"/>
                </a:solidFill>
                <a:latin typeface="+mn-lt"/>
                <a:cs typeface="Arial" pitchFamily="34" charset="0"/>
              </a:defRPr>
            </a:lvl1pPr>
            <a:lvl2pPr marL="502755" indent="0" defTabSz="1005505" eaLnBrk="1" latinLnBrk="0" hangingPunct="1">
              <a:spcBef>
                <a:spcPct val="20000"/>
              </a:spcBef>
              <a:buFont typeface="Arial" pitchFamily="34" charset="0"/>
              <a:buNone/>
              <a:defRPr sz="1300">
                <a:latin typeface="+mn-lt"/>
              </a:defRPr>
            </a:lvl2pPr>
            <a:lvl3pPr marL="1005506" indent="0" defTabSz="1005505" eaLnBrk="1" latinLnBrk="0" hangingPunct="1">
              <a:spcBef>
                <a:spcPct val="20000"/>
              </a:spcBef>
              <a:buFont typeface="Arial" pitchFamily="34" charset="0"/>
              <a:buNone/>
              <a:defRPr sz="1300">
                <a:latin typeface="+mn-lt"/>
              </a:defRPr>
            </a:lvl3pPr>
            <a:lvl4pPr marL="1508258" indent="0" defTabSz="1005505" eaLnBrk="1" latinLnBrk="0" hangingPunct="1">
              <a:spcBef>
                <a:spcPct val="20000"/>
              </a:spcBef>
              <a:buFont typeface="Arial" pitchFamily="34" charset="0"/>
              <a:buNone/>
              <a:defRPr sz="1300">
                <a:latin typeface="+mn-lt"/>
              </a:defRPr>
            </a:lvl4pPr>
            <a:lvl5pPr marL="2011009" indent="0" defTabSz="1005505" eaLnBrk="1" latinLnBrk="0" hangingPunct="1">
              <a:spcBef>
                <a:spcPct val="20000"/>
              </a:spcBef>
              <a:buFont typeface="Arial" pitchFamily="34" charset="0"/>
              <a:buNone/>
              <a:defRPr sz="1300">
                <a:latin typeface="+mn-lt"/>
              </a:defRPr>
            </a:lvl5pPr>
            <a:lvl6pPr marL="2765137" indent="-251375" defTabSz="1005505">
              <a:spcBef>
                <a:spcPct val="20000"/>
              </a:spcBef>
              <a:buFont typeface="Arial" pitchFamily="34" charset="0"/>
              <a:buChar char="•"/>
              <a:defRPr sz="2200">
                <a:latin typeface="+mn-lt"/>
              </a:defRPr>
            </a:lvl6pPr>
            <a:lvl7pPr marL="3267890" indent="-251375" defTabSz="1005505">
              <a:spcBef>
                <a:spcPct val="20000"/>
              </a:spcBef>
              <a:buFont typeface="Arial" pitchFamily="34" charset="0"/>
              <a:buChar char="•"/>
              <a:defRPr sz="2200">
                <a:latin typeface="+mn-lt"/>
              </a:defRPr>
            </a:lvl7pPr>
            <a:lvl8pPr marL="3770641" indent="-251375" defTabSz="1005505">
              <a:spcBef>
                <a:spcPct val="20000"/>
              </a:spcBef>
              <a:buFont typeface="Arial" pitchFamily="34" charset="0"/>
              <a:buChar char="•"/>
              <a:defRPr sz="2200">
                <a:latin typeface="+mn-lt"/>
              </a:defRPr>
            </a:lvl8pPr>
            <a:lvl9pPr marL="4273393" indent="-251375" defTabSz="1005505">
              <a:spcBef>
                <a:spcPct val="20000"/>
              </a:spcBef>
              <a:buFont typeface="Arial" pitchFamily="34" charset="0"/>
              <a:buChar char="•"/>
              <a:defRPr sz="2200">
                <a:latin typeface="+mn-lt"/>
              </a:defRPr>
            </a:lvl9pPr>
          </a:lstStyle>
          <a:p>
            <a:pPr lvl="0"/>
            <a:r>
              <a:rPr lang="en-GB" dirty="0"/>
              <a:t>UBSPROD\</a:t>
            </a:r>
            <a:r>
              <a:rPr lang="en-GB" dirty="0" err="1"/>
              <a:t>barrosr</a:t>
            </a:r>
            <a:r>
              <a:rPr lang="en-GB" dirty="0"/>
              <a:t> [printed: ____] [saved: March 12, 2018 12:29 PM] Q:\Renato\INTQuant\Introduction to Monte Carlo Simulation in Finance.pptx </a:t>
            </a:r>
          </a:p>
        </p:txBody>
      </p:sp>
      <p:grpSp>
        <p:nvGrpSpPr>
          <p:cNvPr id="22" name="PXP_GRIDLINES" hidden="1"/>
          <p:cNvGrpSpPr/>
          <p:nvPr userDrawn="1"/>
        </p:nvGrpSpPr>
        <p:grpSpPr>
          <a:xfrm>
            <a:off x="-30640" y="0"/>
            <a:ext cx="10093083" cy="7543800"/>
            <a:chOff x="-30640" y="0"/>
            <a:chExt cx="10093083" cy="7543800"/>
          </a:xfrm>
        </p:grpSpPr>
        <p:cxnSp>
          <p:nvCxnSpPr>
            <p:cNvPr id="23" name="Straight Connector 22" hidden="1"/>
            <p:cNvCxnSpPr/>
            <p:nvPr userDrawn="1"/>
          </p:nvCxnSpPr>
          <p:spPr>
            <a:xfrm>
              <a:off x="402594" y="0"/>
              <a:ext cx="0" cy="754380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24" name="Straight Connector 23" hidden="1"/>
            <p:cNvCxnSpPr/>
            <p:nvPr userDrawn="1"/>
          </p:nvCxnSpPr>
          <p:spPr>
            <a:xfrm>
              <a:off x="5029200" y="0"/>
              <a:ext cx="0" cy="7543800"/>
            </a:xfrm>
            <a:prstGeom prst="line">
              <a:avLst/>
            </a:prstGeom>
            <a:ln w="3175">
              <a:solidFill>
                <a:srgbClr val="464749"/>
              </a:solidFill>
            </a:ln>
          </p:spPr>
          <p:style>
            <a:lnRef idx="1">
              <a:schemeClr val="accent1"/>
            </a:lnRef>
            <a:fillRef idx="0">
              <a:schemeClr val="accent1"/>
            </a:fillRef>
            <a:effectRef idx="0">
              <a:schemeClr val="accent1"/>
            </a:effectRef>
            <a:fontRef idx="minor">
              <a:schemeClr val="tx1"/>
            </a:fontRef>
          </p:style>
        </p:cxnSp>
        <p:cxnSp>
          <p:nvCxnSpPr>
            <p:cNvPr id="25" name="Straight Connector 24" hidden="1"/>
            <p:cNvCxnSpPr/>
            <p:nvPr userDrawn="1"/>
          </p:nvCxnSpPr>
          <p:spPr>
            <a:xfrm>
              <a:off x="9610343" y="0"/>
              <a:ext cx="0" cy="754380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26" name="Straight Connector 25" hidden="1"/>
            <p:cNvCxnSpPr/>
            <p:nvPr userDrawn="1"/>
          </p:nvCxnSpPr>
          <p:spPr>
            <a:xfrm>
              <a:off x="0" y="551751"/>
              <a:ext cx="10058400" cy="0"/>
            </a:xfrm>
            <a:prstGeom prst="line">
              <a:avLst/>
            </a:prstGeom>
            <a:ln w="31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7" name="Straight Connector 26" hidden="1"/>
            <p:cNvCxnSpPr/>
            <p:nvPr userDrawn="1"/>
          </p:nvCxnSpPr>
          <p:spPr>
            <a:xfrm>
              <a:off x="-1600" y="1079526"/>
              <a:ext cx="100584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hidden="1"/>
            <p:cNvCxnSpPr/>
            <p:nvPr userDrawn="1"/>
          </p:nvCxnSpPr>
          <p:spPr>
            <a:xfrm>
              <a:off x="-3200" y="1636176"/>
              <a:ext cx="10058400" cy="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29" name="Straight Connector 28" hidden="1"/>
            <p:cNvCxnSpPr/>
            <p:nvPr userDrawn="1"/>
          </p:nvCxnSpPr>
          <p:spPr>
            <a:xfrm>
              <a:off x="-13716" y="6587211"/>
              <a:ext cx="10058400" cy="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30" name="Straight Connector 29" hidden="1"/>
            <p:cNvCxnSpPr/>
            <p:nvPr userDrawn="1"/>
          </p:nvCxnSpPr>
          <p:spPr>
            <a:xfrm>
              <a:off x="-30640" y="4003499"/>
              <a:ext cx="10058400" cy="0"/>
            </a:xfrm>
            <a:prstGeom prst="line">
              <a:avLst/>
            </a:prstGeom>
            <a:ln w="3175">
              <a:solidFill>
                <a:srgbClr val="464749"/>
              </a:solidFill>
            </a:ln>
          </p:spPr>
          <p:style>
            <a:lnRef idx="1">
              <a:schemeClr val="accent1"/>
            </a:lnRef>
            <a:fillRef idx="0">
              <a:schemeClr val="accent1"/>
            </a:fillRef>
            <a:effectRef idx="0">
              <a:schemeClr val="accent1"/>
            </a:effectRef>
            <a:fontRef idx="minor">
              <a:schemeClr val="tx1"/>
            </a:fontRef>
          </p:style>
        </p:cxnSp>
        <p:cxnSp>
          <p:nvCxnSpPr>
            <p:cNvPr id="31" name="Straight Connector 30" hidden="1"/>
            <p:cNvCxnSpPr/>
            <p:nvPr userDrawn="1"/>
          </p:nvCxnSpPr>
          <p:spPr>
            <a:xfrm>
              <a:off x="0" y="4359099"/>
              <a:ext cx="10058400" cy="0"/>
            </a:xfrm>
            <a:prstGeom prst="line">
              <a:avLst/>
            </a:prstGeom>
            <a:ln w="3175">
              <a:solidFill>
                <a:srgbClr val="464749"/>
              </a:solidFill>
            </a:ln>
          </p:spPr>
          <p:style>
            <a:lnRef idx="1">
              <a:schemeClr val="accent1"/>
            </a:lnRef>
            <a:fillRef idx="0">
              <a:schemeClr val="accent1"/>
            </a:fillRef>
            <a:effectRef idx="0">
              <a:schemeClr val="accent1"/>
            </a:effectRef>
            <a:fontRef idx="minor">
              <a:schemeClr val="tx1"/>
            </a:fontRef>
          </p:style>
        </p:cxnSp>
        <p:cxnSp>
          <p:nvCxnSpPr>
            <p:cNvPr id="32" name="Straight Connector 31" hidden="1"/>
            <p:cNvCxnSpPr/>
            <p:nvPr userDrawn="1"/>
          </p:nvCxnSpPr>
          <p:spPr>
            <a:xfrm>
              <a:off x="-5646" y="850908"/>
              <a:ext cx="10058400" cy="0"/>
            </a:xfrm>
            <a:prstGeom prst="line">
              <a:avLst/>
            </a:prstGeom>
            <a:ln w="31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3" name="Straight Connector 32" hidden="1"/>
            <p:cNvCxnSpPr/>
            <p:nvPr userDrawn="1"/>
          </p:nvCxnSpPr>
          <p:spPr>
            <a:xfrm>
              <a:off x="4043" y="1491573"/>
              <a:ext cx="100584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3" name="DraftStamp" hidden="1"/>
          <p:cNvSpPr txBox="1"/>
          <p:nvPr userDrawn="1">
            <p:custDataLst>
              <p:tags r:id="rId3"/>
            </p:custDataLst>
          </p:nvPr>
        </p:nvSpPr>
        <p:spPr>
          <a:xfrm>
            <a:off x="420624" y="254000"/>
            <a:ext cx="1079500" cy="330200"/>
          </a:xfrm>
          <a:prstGeom prst="rect">
            <a:avLst/>
          </a:prstGeom>
          <a:noFill/>
        </p:spPr>
        <p:txBody>
          <a:bodyPr vert="horz" wrap="none" lIns="0" tIns="0" rIns="0" bIns="0" rtlCol="0" anchor="b">
            <a:noAutofit/>
          </a:bodyPr>
          <a:lstStyle/>
          <a:p>
            <a:pPr algn="l">
              <a:lnSpc>
                <a:spcPct val="100000"/>
              </a:lnSpc>
              <a:spcBef>
                <a:spcPct val="0"/>
              </a:spcBef>
              <a:spcAft>
                <a:spcPct val="0"/>
              </a:spcAft>
            </a:pPr>
            <a:r>
              <a:rPr kumimoji="0" lang="en-US" sz="2400" b="1" i="0" u="none" baseline="0">
                <a:solidFill>
                  <a:srgbClr val="E60000"/>
                </a:solidFill>
                <a:latin typeface="Frutiger 55 Roman"/>
              </a:rPr>
              <a:t>Draft</a:t>
            </a:r>
            <a:endParaRPr kumimoji="0" lang="en-US" sz="2400" b="1" i="0" u="none" baseline="0" dirty="0">
              <a:solidFill>
                <a:srgbClr val="E60000"/>
              </a:solidFill>
              <a:latin typeface="Frutiger 55 Roman"/>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1_Default Body Slide">
    <p:spTree>
      <p:nvGrpSpPr>
        <p:cNvPr id="1" name=""/>
        <p:cNvGrpSpPr/>
        <p:nvPr/>
      </p:nvGrpSpPr>
      <p:grpSpPr>
        <a:xfrm>
          <a:off x="0" y="0"/>
          <a:ext cx="0" cy="0"/>
          <a:chOff x="0" y="0"/>
          <a:chExt cx="0" cy="0"/>
        </a:xfrm>
      </p:grpSpPr>
      <p:sp>
        <p:nvSpPr>
          <p:cNvPr id="8" name="Slide Number Textbox"/>
          <p:cNvSpPr txBox="1"/>
          <p:nvPr userDrawn="1"/>
        </p:nvSpPr>
        <p:spPr>
          <a:xfrm>
            <a:off x="9208008" y="6858000"/>
            <a:ext cx="411480" cy="384048"/>
          </a:xfrm>
          <a:prstGeom prst="rect">
            <a:avLst/>
          </a:prstGeom>
          <a:noFill/>
        </p:spPr>
        <p:txBody>
          <a:bodyPr wrap="square" lIns="0" tIns="0" rIns="0" bIns="0" rtlCol="0" anchor="b" anchorCtr="0">
            <a:noAutofit/>
          </a:bodyPr>
          <a:lstStyle/>
          <a:p>
            <a:pPr algn="r"/>
            <a:fld id="{8A23ABA4-7C5F-4A82-88F7-CAC0346A6918}" type="slidenum">
              <a:rPr lang="en-US" sz="700" smtClean="0">
                <a:latin typeface="+mn-lt"/>
              </a:rPr>
              <a:pPr algn="r"/>
              <a:t>‹#›</a:t>
            </a:fld>
            <a:endParaRPr lang="en-US" sz="700" dirty="0">
              <a:latin typeface="+mn-lt"/>
            </a:endParaRPr>
          </a:p>
        </p:txBody>
      </p:sp>
      <p:sp>
        <p:nvSpPr>
          <p:cNvPr id="35" name="LAYOUT BODY"/>
          <p:cNvSpPr>
            <a:spLocks noGrp="1"/>
          </p:cNvSpPr>
          <p:nvPr>
            <p:ph sz="quarter" idx="12"/>
            <p:custDataLst>
              <p:tags r:id="rId1"/>
            </p:custDataLst>
          </p:nvPr>
        </p:nvSpPr>
        <p:spPr>
          <a:xfrm>
            <a:off x="420623" y="1636776"/>
            <a:ext cx="9189719" cy="4789853"/>
          </a:xfrm>
          <a:prstGeom prst="rect">
            <a:avLst/>
          </a:prstGeom>
        </p:spPr>
        <p:txBody>
          <a:bodyPr lIns="0" tIns="0" rIns="0" bIns="0">
            <a:noAutofit/>
          </a:bodyPr>
          <a:lstStyle>
            <a:lvl1pPr marL="0" indent="0">
              <a:spcBef>
                <a:spcPts val="660"/>
              </a:spcBef>
              <a:buFontTx/>
              <a:buNone/>
              <a:defRPr sz="1100">
                <a:latin typeface="+mn-lt"/>
                <a:cs typeface="Aharoni" pitchFamily="2" charset="-79"/>
              </a:defRPr>
            </a:lvl1pPr>
            <a:lvl2pPr marL="0" indent="0">
              <a:spcBef>
                <a:spcPts val="660"/>
              </a:spcBef>
              <a:buFontTx/>
              <a:buNone/>
              <a:defRPr sz="1100">
                <a:latin typeface="+mn-lt"/>
                <a:cs typeface="Aharoni" pitchFamily="2" charset="-79"/>
              </a:defRPr>
            </a:lvl2pPr>
            <a:lvl3pPr marL="227013" indent="-227013">
              <a:spcBef>
                <a:spcPts val="660"/>
              </a:spcBef>
              <a:buClr>
                <a:schemeClr val="tx2"/>
              </a:buClr>
              <a:buFont typeface="Symbol" pitchFamily="18" charset="2"/>
              <a:buChar char="·"/>
              <a:defRPr sz="1100">
                <a:latin typeface="+mn-lt"/>
                <a:cs typeface="Aharoni" pitchFamily="2" charset="-79"/>
              </a:defRPr>
            </a:lvl3pPr>
            <a:lvl4pPr marL="460375" indent="-228600">
              <a:spcBef>
                <a:spcPts val="330"/>
              </a:spcBef>
              <a:buClr>
                <a:schemeClr val="tx1"/>
              </a:buClr>
              <a:buSzPct val="84000"/>
              <a:buFont typeface="Times New Roman" pitchFamily="18" charset="0"/>
              <a:buChar char="–"/>
              <a:defRPr sz="1100">
                <a:latin typeface="+mn-lt"/>
                <a:cs typeface="Aharoni" pitchFamily="2" charset="-79"/>
              </a:defRPr>
            </a:lvl4pPr>
            <a:lvl5pPr marL="687388" indent="-225425">
              <a:spcBef>
                <a:spcPts val="330"/>
              </a:spcBef>
              <a:buClr>
                <a:schemeClr val="tx1"/>
              </a:buClr>
              <a:buSzPct val="84000"/>
              <a:buFont typeface="Times New Roman" pitchFamily="18" charset="0"/>
              <a:buChar char="–"/>
              <a:defRPr lang="en-US" sz="1100" kern="1200" dirty="0" smtClean="0">
                <a:solidFill>
                  <a:schemeClr val="tx1"/>
                </a:solidFill>
                <a:latin typeface="+mn-lt"/>
                <a:ea typeface="+mn-ea"/>
                <a:cs typeface="Aharoni" pitchFamily="2" charset="-79"/>
              </a:defRPr>
            </a:lvl5pPr>
            <a:lvl6pPr marL="687388" indent="-225425">
              <a:spcBef>
                <a:spcPts val="330"/>
              </a:spcBef>
              <a:buClr>
                <a:srgbClr val="000000"/>
              </a:buClr>
              <a:buSzPct val="84000"/>
              <a:buFont typeface="Times New Roman" pitchFamily="18" charset="0"/>
              <a:buChar char="–"/>
              <a:defRPr sz="1100" b="0"/>
            </a:lvl6pPr>
            <a:lvl7pPr marL="687388" indent="-230188">
              <a:spcBef>
                <a:spcPts val="330"/>
              </a:spcBef>
              <a:buClr>
                <a:srgbClr val="000000"/>
              </a:buClr>
              <a:buSzPct val="84000"/>
              <a:buFont typeface="Times New Roman" pitchFamily="18" charset="0"/>
              <a:buChar char="–"/>
              <a:defRPr sz="1100"/>
            </a:lvl7pPr>
            <a:lvl8pPr marL="687388" indent="-227013">
              <a:spcBef>
                <a:spcPts val="330"/>
              </a:spcBef>
              <a:buClr>
                <a:srgbClr val="000000"/>
              </a:buClr>
              <a:buSzPct val="84000"/>
              <a:buFont typeface="Times New Roman" pitchFamily="18" charset="0"/>
              <a:buChar char="–"/>
              <a:defRPr sz="1100"/>
            </a:lvl8pPr>
            <a:lvl9pPr marL="687388" indent="-227013">
              <a:spcBef>
                <a:spcPts val="330"/>
              </a:spcBef>
              <a:buClr>
                <a:srgbClr val="000000"/>
              </a:buClr>
              <a:buSzPct val="84000"/>
              <a:buFont typeface="Times New Roman" pitchFamily="18" charset="0"/>
              <a:buChar char="–"/>
              <a:defRPr sz="11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7" name="THIN BLUE LINE"/>
          <p:cNvCxnSpPr/>
          <p:nvPr>
            <p:custDataLst>
              <p:tags r:id="rId2"/>
            </p:custDataLst>
          </p:nvPr>
        </p:nvCxnSpPr>
        <p:spPr>
          <a:xfrm>
            <a:off x="420624" y="1031875"/>
            <a:ext cx="918972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 name="PAGE HEADING"/>
          <p:cNvSpPr>
            <a:spLocks noGrp="1"/>
          </p:cNvSpPr>
          <p:nvPr>
            <p:ph type="title" hasCustomPrompt="1"/>
            <p:custDataLst>
              <p:tags r:id="rId3"/>
            </p:custDataLst>
          </p:nvPr>
        </p:nvSpPr>
        <p:spPr>
          <a:xfrm>
            <a:off x="420624" y="3"/>
            <a:ext cx="9189720" cy="941832"/>
          </a:xfrm>
        </p:spPr>
        <p:txBody>
          <a:bodyPr lIns="0" tIns="0" rIns="0" bIns="0" anchor="b" anchorCtr="0">
            <a:normAutofit/>
          </a:bodyPr>
          <a:lstStyle>
            <a:lvl1pPr>
              <a:lnSpc>
                <a:spcPts val="3200"/>
              </a:lnSpc>
              <a:defRPr sz="2800" b="0" baseline="0">
                <a:solidFill>
                  <a:schemeClr val="tx1"/>
                </a:solidFill>
                <a:latin typeface="Frutiger 45 Light"/>
                <a:ea typeface="Arial Unicode MS" pitchFamily="34" charset="-128"/>
              </a:defRPr>
            </a:lvl1pPr>
          </a:lstStyle>
          <a:p>
            <a:r>
              <a:rPr lang="en-US" dirty="0"/>
              <a:t>&lt;&lt;Page heading&gt;&gt;</a:t>
            </a:r>
          </a:p>
        </p:txBody>
      </p:sp>
      <p:grpSp>
        <p:nvGrpSpPr>
          <p:cNvPr id="21" name="PXP_GRIDLINES" hidden="1"/>
          <p:cNvGrpSpPr/>
          <p:nvPr userDrawn="1"/>
        </p:nvGrpSpPr>
        <p:grpSpPr>
          <a:xfrm>
            <a:off x="-30640" y="0"/>
            <a:ext cx="10093083" cy="7543800"/>
            <a:chOff x="-30640" y="0"/>
            <a:chExt cx="10093083" cy="7543800"/>
          </a:xfrm>
        </p:grpSpPr>
        <p:cxnSp>
          <p:nvCxnSpPr>
            <p:cNvPr id="22" name="Straight Connector 21" hidden="1"/>
            <p:cNvCxnSpPr/>
            <p:nvPr userDrawn="1"/>
          </p:nvCxnSpPr>
          <p:spPr>
            <a:xfrm>
              <a:off x="402594" y="0"/>
              <a:ext cx="0" cy="754380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23" name="Straight Connector 22" hidden="1"/>
            <p:cNvCxnSpPr/>
            <p:nvPr userDrawn="1"/>
          </p:nvCxnSpPr>
          <p:spPr>
            <a:xfrm>
              <a:off x="5029200" y="0"/>
              <a:ext cx="0" cy="7543800"/>
            </a:xfrm>
            <a:prstGeom prst="line">
              <a:avLst/>
            </a:prstGeom>
            <a:ln w="3175">
              <a:solidFill>
                <a:srgbClr val="464749"/>
              </a:solidFill>
            </a:ln>
          </p:spPr>
          <p:style>
            <a:lnRef idx="1">
              <a:schemeClr val="accent1"/>
            </a:lnRef>
            <a:fillRef idx="0">
              <a:schemeClr val="accent1"/>
            </a:fillRef>
            <a:effectRef idx="0">
              <a:schemeClr val="accent1"/>
            </a:effectRef>
            <a:fontRef idx="minor">
              <a:schemeClr val="tx1"/>
            </a:fontRef>
          </p:style>
        </p:cxnSp>
        <p:cxnSp>
          <p:nvCxnSpPr>
            <p:cNvPr id="24" name="Straight Connector 23" hidden="1"/>
            <p:cNvCxnSpPr/>
            <p:nvPr userDrawn="1"/>
          </p:nvCxnSpPr>
          <p:spPr>
            <a:xfrm>
              <a:off x="9610343" y="0"/>
              <a:ext cx="0" cy="754380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25" name="Straight Connector 24" hidden="1"/>
            <p:cNvCxnSpPr/>
            <p:nvPr userDrawn="1"/>
          </p:nvCxnSpPr>
          <p:spPr>
            <a:xfrm>
              <a:off x="0" y="551751"/>
              <a:ext cx="10058400" cy="0"/>
            </a:xfrm>
            <a:prstGeom prst="line">
              <a:avLst/>
            </a:prstGeom>
            <a:ln w="31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6" name="Straight Connector 25" hidden="1"/>
            <p:cNvCxnSpPr/>
            <p:nvPr userDrawn="1"/>
          </p:nvCxnSpPr>
          <p:spPr>
            <a:xfrm>
              <a:off x="-1600" y="1079526"/>
              <a:ext cx="100584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hidden="1"/>
            <p:cNvCxnSpPr/>
            <p:nvPr userDrawn="1"/>
          </p:nvCxnSpPr>
          <p:spPr>
            <a:xfrm>
              <a:off x="-3200" y="1636176"/>
              <a:ext cx="10058400" cy="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28" name="Straight Connector 27" hidden="1"/>
            <p:cNvCxnSpPr/>
            <p:nvPr userDrawn="1"/>
          </p:nvCxnSpPr>
          <p:spPr>
            <a:xfrm>
              <a:off x="-13716" y="6587211"/>
              <a:ext cx="10058400" cy="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29" name="Straight Connector 28" hidden="1"/>
            <p:cNvCxnSpPr/>
            <p:nvPr userDrawn="1"/>
          </p:nvCxnSpPr>
          <p:spPr>
            <a:xfrm>
              <a:off x="-30640" y="4003499"/>
              <a:ext cx="10058400" cy="0"/>
            </a:xfrm>
            <a:prstGeom prst="line">
              <a:avLst/>
            </a:prstGeom>
            <a:ln w="3175">
              <a:solidFill>
                <a:srgbClr val="464749"/>
              </a:solidFill>
            </a:ln>
          </p:spPr>
          <p:style>
            <a:lnRef idx="1">
              <a:schemeClr val="accent1"/>
            </a:lnRef>
            <a:fillRef idx="0">
              <a:schemeClr val="accent1"/>
            </a:fillRef>
            <a:effectRef idx="0">
              <a:schemeClr val="accent1"/>
            </a:effectRef>
            <a:fontRef idx="minor">
              <a:schemeClr val="tx1"/>
            </a:fontRef>
          </p:style>
        </p:cxnSp>
        <p:cxnSp>
          <p:nvCxnSpPr>
            <p:cNvPr id="30" name="Straight Connector 29" hidden="1"/>
            <p:cNvCxnSpPr/>
            <p:nvPr userDrawn="1"/>
          </p:nvCxnSpPr>
          <p:spPr>
            <a:xfrm>
              <a:off x="0" y="4359099"/>
              <a:ext cx="10058400" cy="0"/>
            </a:xfrm>
            <a:prstGeom prst="line">
              <a:avLst/>
            </a:prstGeom>
            <a:ln w="3175">
              <a:solidFill>
                <a:srgbClr val="464749"/>
              </a:solidFill>
            </a:ln>
          </p:spPr>
          <p:style>
            <a:lnRef idx="1">
              <a:schemeClr val="accent1"/>
            </a:lnRef>
            <a:fillRef idx="0">
              <a:schemeClr val="accent1"/>
            </a:fillRef>
            <a:effectRef idx="0">
              <a:schemeClr val="accent1"/>
            </a:effectRef>
            <a:fontRef idx="minor">
              <a:schemeClr val="tx1"/>
            </a:fontRef>
          </p:style>
        </p:cxnSp>
        <p:cxnSp>
          <p:nvCxnSpPr>
            <p:cNvPr id="31" name="Straight Connector 30" hidden="1"/>
            <p:cNvCxnSpPr/>
            <p:nvPr userDrawn="1"/>
          </p:nvCxnSpPr>
          <p:spPr>
            <a:xfrm>
              <a:off x="-5646" y="850908"/>
              <a:ext cx="10058400" cy="0"/>
            </a:xfrm>
            <a:prstGeom prst="line">
              <a:avLst/>
            </a:prstGeom>
            <a:ln w="31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2" name="Straight Connector 31" hidden="1"/>
            <p:cNvCxnSpPr/>
            <p:nvPr userDrawn="1"/>
          </p:nvCxnSpPr>
          <p:spPr>
            <a:xfrm>
              <a:off x="4043" y="1491573"/>
              <a:ext cx="100584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3" name="DraftStamp" hidden="1"/>
          <p:cNvSpPr txBox="1"/>
          <p:nvPr userDrawn="1">
            <p:custDataLst>
              <p:tags r:id="rId4"/>
            </p:custDataLst>
          </p:nvPr>
        </p:nvSpPr>
        <p:spPr>
          <a:xfrm>
            <a:off x="420624" y="254000"/>
            <a:ext cx="1079500" cy="330200"/>
          </a:xfrm>
          <a:prstGeom prst="rect">
            <a:avLst/>
          </a:prstGeom>
          <a:noFill/>
        </p:spPr>
        <p:txBody>
          <a:bodyPr vert="horz" wrap="none" lIns="0" tIns="0" rIns="0" bIns="0" rtlCol="0" anchor="b">
            <a:noAutofit/>
          </a:bodyPr>
          <a:lstStyle/>
          <a:p>
            <a:pPr algn="l">
              <a:lnSpc>
                <a:spcPct val="100000"/>
              </a:lnSpc>
              <a:spcBef>
                <a:spcPct val="0"/>
              </a:spcBef>
              <a:spcAft>
                <a:spcPct val="0"/>
              </a:spcAft>
            </a:pPr>
            <a:r>
              <a:rPr kumimoji="0" lang="en-US" sz="2400" b="1" i="0" u="none" baseline="0">
                <a:solidFill>
                  <a:srgbClr val="E60000"/>
                </a:solidFill>
                <a:latin typeface="Frutiger 45 Light"/>
                <a:ea typeface="MS PGothic"/>
              </a:rPr>
              <a:t>Draft</a:t>
            </a:r>
            <a:endParaRPr kumimoji="0" lang="en-US" sz="2400" b="1" i="0" u="none" baseline="0" dirty="0">
              <a:solidFill>
                <a:srgbClr val="E60000"/>
              </a:solidFill>
              <a:latin typeface="Frutiger 45 Light"/>
              <a:ea typeface="MS PGothic"/>
            </a:endParaRPr>
          </a:p>
        </p:txBody>
      </p:sp>
    </p:spTree>
    <p:extLst>
      <p:ext uri="{BB962C8B-B14F-4D97-AF65-F5344CB8AC3E}">
        <p14:creationId xmlns:p14="http://schemas.microsoft.com/office/powerpoint/2010/main" val="19371392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 Placeholder"/>
          <p:cNvSpPr>
            <a:spLocks noGrp="1"/>
          </p:cNvSpPr>
          <p:nvPr>
            <p:ph type="body" idx="1"/>
          </p:nvPr>
        </p:nvSpPr>
        <p:spPr>
          <a:xfrm>
            <a:off x="420624" y="1856232"/>
            <a:ext cx="9189720" cy="4764024"/>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Placeholder"/>
          <p:cNvSpPr>
            <a:spLocks noGrp="1"/>
          </p:cNvSpPr>
          <p:nvPr>
            <p:ph type="title"/>
          </p:nvPr>
        </p:nvSpPr>
        <p:spPr>
          <a:xfrm>
            <a:off x="420624" y="0"/>
            <a:ext cx="9189720" cy="941832"/>
          </a:xfrm>
          <a:prstGeom prst="rect">
            <a:avLst/>
          </a:prstGeom>
        </p:spPr>
        <p:txBody>
          <a:bodyPr vert="horz" lIns="0" tIns="0" rIns="0" bIns="0" rtlCol="0" anchor="b" anchorCtr="0">
            <a:normAutofit/>
          </a:bodyPr>
          <a:lstStyle/>
          <a:p>
            <a:r>
              <a:rPr lang="en-US" dirty="0"/>
              <a:t>Click to edit Master title style</a:t>
            </a:r>
          </a:p>
        </p:txBody>
      </p:sp>
      <p:pic>
        <p:nvPicPr>
          <p:cNvPr id="4" name="Grafik 4"/>
          <p:cNvPicPr/>
          <p:nvPr userDrawn="1"/>
        </p:nvPicPr>
        <p:blipFill>
          <a:blip r:embed="rId18" cstate="print">
            <a:extLst>
              <a:ext uri="{28A0092B-C50C-407E-A947-70E740481C1C}">
                <a14:useLocalDpi xmlns:a14="http://schemas.microsoft.com/office/drawing/2010/main" val="0"/>
              </a:ext>
            </a:extLst>
          </a:blip>
          <a:stretch>
            <a:fillRect/>
          </a:stretch>
        </p:blipFill>
        <p:spPr>
          <a:xfrm>
            <a:off x="7765126" y="152400"/>
            <a:ext cx="1924050" cy="628650"/>
          </a:xfrm>
          <a:prstGeom prst="rect">
            <a:avLst/>
          </a:prstGeom>
        </p:spPr>
      </p:pic>
    </p:spTree>
  </p:cSld>
  <p:clrMap bg1="lt1" tx1="dk1" bg2="lt2" tx2="dk2" accent1="accent1" accent2="accent2" accent3="accent3" accent4="accent4" accent5="accent5" accent6="accent6" hlink="hlink" folHlink="folHlink"/>
  <p:sldLayoutIdLst>
    <p:sldLayoutId id="2147484184" r:id="rId1"/>
    <p:sldLayoutId id="2147484185" r:id="rId2"/>
    <p:sldLayoutId id="2147484186" r:id="rId3"/>
    <p:sldLayoutId id="2147484187" r:id="rId4"/>
    <p:sldLayoutId id="2147484188" r:id="rId5"/>
    <p:sldLayoutId id="2147484189" r:id="rId6"/>
    <p:sldLayoutId id="2147484190" r:id="rId7"/>
    <p:sldLayoutId id="2147484191" r:id="rId8"/>
    <p:sldLayoutId id="2147484192" r:id="rId9"/>
    <p:sldLayoutId id="2147484193" r:id="rId10"/>
    <p:sldLayoutId id="2147484194" r:id="rId11"/>
    <p:sldLayoutId id="2147484195" r:id="rId12"/>
    <p:sldLayoutId id="2147484196" r:id="rId13"/>
    <p:sldLayoutId id="2147484197" r:id="rId14"/>
    <p:sldLayoutId id="2147484198" r:id="rId15"/>
    <p:sldLayoutId id="2147484199" r:id="rId16"/>
  </p:sldLayoutIdLst>
  <p:hf hdr="0" ftr="0" dt="0"/>
  <p:txStyles>
    <p:titleStyle>
      <a:lvl1pPr algn="l" defTabSz="1005505" rtl="0" eaLnBrk="1" latinLnBrk="0" hangingPunct="1">
        <a:lnSpc>
          <a:spcPts val="3200"/>
        </a:lnSpc>
        <a:spcBef>
          <a:spcPct val="0"/>
        </a:spcBef>
        <a:buNone/>
        <a:defRPr sz="3200" kern="1200">
          <a:solidFill>
            <a:schemeClr val="tx1"/>
          </a:solidFill>
          <a:latin typeface="Frutiger 45 Light" panose="020B0603020202020204" pitchFamily="34" charset="0"/>
          <a:ea typeface="+mj-ea"/>
          <a:cs typeface="+mj-cs"/>
        </a:defRPr>
      </a:lvl1pPr>
    </p:titleStyle>
    <p:bodyStyle>
      <a:lvl1pPr marL="234950" indent="-234950" algn="l" defTabSz="1005505" rtl="0" eaLnBrk="1" latinLnBrk="0" hangingPunct="1">
        <a:spcBef>
          <a:spcPts val="1400"/>
        </a:spcBef>
        <a:buClr>
          <a:schemeClr val="tx2"/>
        </a:buClr>
        <a:buSzPct val="100000"/>
        <a:buFont typeface="Symbol" pitchFamily="18" charset="2"/>
        <a:buChar char="·"/>
        <a:defRPr sz="1800" b="0" kern="1200">
          <a:solidFill>
            <a:schemeClr val="tx1"/>
          </a:solidFill>
          <a:latin typeface="+mn-lt"/>
          <a:ea typeface="+mn-ea"/>
          <a:cs typeface="+mn-cs"/>
        </a:defRPr>
      </a:lvl1pPr>
      <a:lvl2pPr marL="457200" indent="-222250" algn="l" defTabSz="1005505" rtl="0" eaLnBrk="1" latinLnBrk="0" hangingPunct="1">
        <a:spcBef>
          <a:spcPts val="700"/>
        </a:spcBef>
        <a:buClr>
          <a:schemeClr val="tx1"/>
        </a:buClr>
        <a:buFont typeface="Arial" pitchFamily="34" charset="0"/>
        <a:buChar char="–"/>
        <a:defRPr sz="1600" kern="1200">
          <a:solidFill>
            <a:schemeClr val="tx1"/>
          </a:solidFill>
          <a:latin typeface="+mn-lt"/>
          <a:ea typeface="+mn-ea"/>
          <a:cs typeface="+mn-cs"/>
        </a:defRPr>
      </a:lvl2pPr>
      <a:lvl3pPr marL="692150" indent="-234950" algn="l" defTabSz="1005505" rtl="0" eaLnBrk="1" latinLnBrk="0" hangingPunct="1">
        <a:spcBef>
          <a:spcPts val="700"/>
        </a:spcBef>
        <a:buClr>
          <a:schemeClr val="tx1"/>
        </a:buClr>
        <a:buFont typeface="Arial" pitchFamily="34" charset="0"/>
        <a:buChar char="–"/>
        <a:defRPr sz="1600" kern="1200">
          <a:solidFill>
            <a:schemeClr val="tx1"/>
          </a:solidFill>
          <a:latin typeface="+mn-lt"/>
          <a:ea typeface="+mn-ea"/>
          <a:cs typeface="+mn-cs"/>
        </a:defRPr>
      </a:lvl3pPr>
      <a:lvl4pPr marL="914400" indent="-222250" algn="l" defTabSz="1005505" rtl="0" eaLnBrk="1" latinLnBrk="0" hangingPunct="1">
        <a:spcBef>
          <a:spcPts val="300"/>
        </a:spcBef>
        <a:buClr>
          <a:schemeClr val="tx1"/>
        </a:buClr>
        <a:buSzPct val="84000"/>
        <a:buFont typeface="Arial" pitchFamily="34" charset="0"/>
        <a:buChar char="–"/>
        <a:defRPr sz="1600" kern="1200">
          <a:solidFill>
            <a:schemeClr val="tx1"/>
          </a:solidFill>
          <a:latin typeface="+mn-lt"/>
          <a:ea typeface="+mn-ea"/>
          <a:cs typeface="+mn-cs"/>
        </a:defRPr>
      </a:lvl4pPr>
      <a:lvl5pPr marL="1149350" indent="-234950" algn="l" defTabSz="1005505" rtl="0" eaLnBrk="1" latinLnBrk="0" hangingPunct="1">
        <a:spcBef>
          <a:spcPts val="300"/>
        </a:spcBef>
        <a:buClr>
          <a:schemeClr val="tx1"/>
        </a:buClr>
        <a:buSzPct val="84000"/>
        <a:buFont typeface="Arial" pitchFamily="34" charset="0"/>
        <a:buChar char="–"/>
        <a:defRPr sz="1600" kern="1200">
          <a:solidFill>
            <a:schemeClr val="tx1"/>
          </a:solidFill>
          <a:latin typeface="+mn-lt"/>
          <a:ea typeface="+mn-ea"/>
          <a:cs typeface="+mn-cs"/>
        </a:defRPr>
      </a:lvl5pPr>
      <a:lvl6pPr marL="1152144" indent="-237744" algn="l" defTabSz="1005505" rtl="0" eaLnBrk="1" latinLnBrk="0" hangingPunct="1">
        <a:spcBef>
          <a:spcPts val="300"/>
        </a:spcBef>
        <a:buClr>
          <a:schemeClr val="tx1"/>
        </a:buClr>
        <a:buSzPct val="84000"/>
        <a:buFont typeface="Frutiger 55 Roman" pitchFamily="34" charset="0"/>
        <a:buChar char="–"/>
        <a:defRPr sz="1600" kern="1200">
          <a:solidFill>
            <a:schemeClr val="tx1"/>
          </a:solidFill>
          <a:latin typeface="+mn-lt"/>
          <a:ea typeface="+mn-ea"/>
          <a:cs typeface="+mn-cs"/>
        </a:defRPr>
      </a:lvl6pPr>
      <a:lvl7pPr marL="1152144" indent="-237744" algn="l" defTabSz="1005505" rtl="0" eaLnBrk="1" latinLnBrk="0" hangingPunct="1">
        <a:spcBef>
          <a:spcPts val="300"/>
        </a:spcBef>
        <a:buClr>
          <a:schemeClr val="tx1"/>
        </a:buClr>
        <a:buSzPct val="84000"/>
        <a:buFont typeface="Frutiger 55 Roman" pitchFamily="34" charset="0"/>
        <a:buChar char="–"/>
        <a:defRPr sz="1600" kern="1200">
          <a:solidFill>
            <a:schemeClr val="tx1"/>
          </a:solidFill>
          <a:latin typeface="+mn-lt"/>
          <a:ea typeface="+mn-ea"/>
          <a:cs typeface="+mn-cs"/>
        </a:defRPr>
      </a:lvl7pPr>
      <a:lvl8pPr marL="1152144" indent="-237744" algn="l" defTabSz="1005505" rtl="0" eaLnBrk="1" latinLnBrk="0" hangingPunct="1">
        <a:spcBef>
          <a:spcPts val="300"/>
        </a:spcBef>
        <a:buClr>
          <a:schemeClr val="tx1"/>
        </a:buClr>
        <a:buSzPct val="84000"/>
        <a:buFont typeface="Frutiger 55 Roman" pitchFamily="34" charset="0"/>
        <a:buChar char="–"/>
        <a:defRPr sz="1600" kern="1200">
          <a:solidFill>
            <a:schemeClr val="tx1"/>
          </a:solidFill>
          <a:latin typeface="+mn-lt"/>
          <a:ea typeface="+mn-ea"/>
          <a:cs typeface="+mn-cs"/>
        </a:defRPr>
      </a:lvl8pPr>
      <a:lvl9pPr marL="1152144" indent="-237744" algn="l" defTabSz="1005505" rtl="0" eaLnBrk="1" latinLnBrk="0" hangingPunct="1">
        <a:spcBef>
          <a:spcPts val="300"/>
        </a:spcBef>
        <a:buClr>
          <a:schemeClr val="tx1"/>
        </a:buClr>
        <a:buSzPct val="84000"/>
        <a:buFont typeface="Frutiger 55 Roman" pitchFamily="34" charset="0"/>
        <a:buChar char="–"/>
        <a:defRPr sz="1600" kern="1200">
          <a:solidFill>
            <a:schemeClr val="tx1"/>
          </a:solidFill>
          <a:latin typeface="+mn-lt"/>
          <a:ea typeface="+mn-ea"/>
          <a:cs typeface="+mn-cs"/>
        </a:defRPr>
      </a:lvl9pPr>
    </p:bodyStyle>
    <p:otherStyle>
      <a:defPPr>
        <a:defRPr lang="en-US"/>
      </a:defPPr>
      <a:lvl1pPr marL="0" algn="l" defTabSz="1005505" rtl="0" eaLnBrk="1" latinLnBrk="0" hangingPunct="1">
        <a:defRPr sz="2000" kern="1200">
          <a:solidFill>
            <a:schemeClr val="tx1"/>
          </a:solidFill>
          <a:latin typeface="+mn-lt"/>
          <a:ea typeface="+mn-ea"/>
          <a:cs typeface="+mn-cs"/>
        </a:defRPr>
      </a:lvl1pPr>
      <a:lvl2pPr marL="502753" algn="l" defTabSz="1005505" rtl="0" eaLnBrk="1" latinLnBrk="0" hangingPunct="1">
        <a:defRPr sz="2000" kern="1200">
          <a:solidFill>
            <a:schemeClr val="tx1"/>
          </a:solidFill>
          <a:latin typeface="+mn-lt"/>
          <a:ea typeface="+mn-ea"/>
          <a:cs typeface="+mn-cs"/>
        </a:defRPr>
      </a:lvl2pPr>
      <a:lvl3pPr marL="1005505" algn="l" defTabSz="1005505" rtl="0" eaLnBrk="1" latinLnBrk="0" hangingPunct="1">
        <a:defRPr sz="2000" kern="1200">
          <a:solidFill>
            <a:schemeClr val="tx1"/>
          </a:solidFill>
          <a:latin typeface="+mn-lt"/>
          <a:ea typeface="+mn-ea"/>
          <a:cs typeface="+mn-cs"/>
        </a:defRPr>
      </a:lvl3pPr>
      <a:lvl4pPr marL="1508257" algn="l" defTabSz="1005505" rtl="0" eaLnBrk="1" latinLnBrk="0" hangingPunct="1">
        <a:defRPr sz="2000" kern="1200">
          <a:solidFill>
            <a:schemeClr val="tx1"/>
          </a:solidFill>
          <a:latin typeface="+mn-lt"/>
          <a:ea typeface="+mn-ea"/>
          <a:cs typeface="+mn-cs"/>
        </a:defRPr>
      </a:lvl4pPr>
      <a:lvl5pPr marL="2011009" algn="l" defTabSz="1005505" rtl="0" eaLnBrk="1" latinLnBrk="0" hangingPunct="1">
        <a:defRPr sz="2000" kern="1200">
          <a:solidFill>
            <a:schemeClr val="tx1"/>
          </a:solidFill>
          <a:latin typeface="+mn-lt"/>
          <a:ea typeface="+mn-ea"/>
          <a:cs typeface="+mn-cs"/>
        </a:defRPr>
      </a:lvl5pPr>
      <a:lvl6pPr marL="2513761" algn="l" defTabSz="1005505" rtl="0" eaLnBrk="1" latinLnBrk="0" hangingPunct="1">
        <a:defRPr sz="2000" kern="1200">
          <a:solidFill>
            <a:schemeClr val="tx1"/>
          </a:solidFill>
          <a:latin typeface="+mn-lt"/>
          <a:ea typeface="+mn-ea"/>
          <a:cs typeface="+mn-cs"/>
        </a:defRPr>
      </a:lvl6pPr>
      <a:lvl7pPr marL="3016512" algn="l" defTabSz="1005505" rtl="0" eaLnBrk="1" latinLnBrk="0" hangingPunct="1">
        <a:defRPr sz="2000" kern="1200">
          <a:solidFill>
            <a:schemeClr val="tx1"/>
          </a:solidFill>
          <a:latin typeface="+mn-lt"/>
          <a:ea typeface="+mn-ea"/>
          <a:cs typeface="+mn-cs"/>
        </a:defRPr>
      </a:lvl7pPr>
      <a:lvl8pPr marL="3519265" algn="l" defTabSz="1005505" rtl="0" eaLnBrk="1" latinLnBrk="0" hangingPunct="1">
        <a:defRPr sz="2000" kern="1200">
          <a:solidFill>
            <a:schemeClr val="tx1"/>
          </a:solidFill>
          <a:latin typeface="+mn-lt"/>
          <a:ea typeface="+mn-ea"/>
          <a:cs typeface="+mn-cs"/>
        </a:defRPr>
      </a:lvl8pPr>
      <a:lvl9pPr marL="4022016" algn="l" defTabSz="1005505"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notesSlide" Target="../notesSlides/notesSlide1.xml"/><Relationship Id="rId3" Type="http://schemas.openxmlformats.org/officeDocument/2006/relationships/tags" Target="../tags/tag128.xml"/><Relationship Id="rId7" Type="http://schemas.openxmlformats.org/officeDocument/2006/relationships/slideLayout" Target="../slideLayouts/slideLayout1.xml"/><Relationship Id="rId2" Type="http://schemas.openxmlformats.org/officeDocument/2006/relationships/tags" Target="../tags/tag127.xml"/><Relationship Id="rId1" Type="http://schemas.openxmlformats.org/officeDocument/2006/relationships/tags" Target="../tags/tag126.xml"/><Relationship Id="rId6" Type="http://schemas.openxmlformats.org/officeDocument/2006/relationships/tags" Target="../tags/tag131.xml"/><Relationship Id="rId5" Type="http://schemas.openxmlformats.org/officeDocument/2006/relationships/tags" Target="../tags/tag130.xml"/><Relationship Id="rId4" Type="http://schemas.openxmlformats.org/officeDocument/2006/relationships/tags" Target="../tags/tag129.xml"/></Relationships>
</file>

<file path=ppt/slides/_rels/slide2.xml.rels><?xml version="1.0" encoding="UTF-8" standalone="yes"?>
<Relationships xmlns="http://schemas.openxmlformats.org/package/2006/relationships"><Relationship Id="rId3" Type="http://schemas.openxmlformats.org/officeDocument/2006/relationships/tags" Target="../tags/tag134.xml"/><Relationship Id="rId7" Type="http://schemas.openxmlformats.org/officeDocument/2006/relationships/slide" Target="slide24.xml"/><Relationship Id="rId2" Type="http://schemas.openxmlformats.org/officeDocument/2006/relationships/tags" Target="../tags/tag133.xml"/><Relationship Id="rId1" Type="http://schemas.openxmlformats.org/officeDocument/2006/relationships/tags" Target="../tags/tag132.xml"/><Relationship Id="rId6" Type="http://schemas.openxmlformats.org/officeDocument/2006/relationships/slide" Target="slide8.xml"/><Relationship Id="rId5" Type="http://schemas.openxmlformats.org/officeDocument/2006/relationships/slide" Target="slide3.xml"/><Relationship Id="rId4"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tags" Target="../tags/tag137.xml"/><Relationship Id="rId2" Type="http://schemas.openxmlformats.org/officeDocument/2006/relationships/tags" Target="../tags/tag136.xml"/><Relationship Id="rId1" Type="http://schemas.openxmlformats.org/officeDocument/2006/relationships/tags" Target="../tags/tag135.xml"/><Relationship Id="rId5" Type="http://schemas.openxmlformats.org/officeDocument/2006/relationships/notesSlide" Target="../notesSlides/notesSlide2.xml"/><Relationship Id="rId4"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tags" Target="../tags/tag140.xml"/><Relationship Id="rId7" Type="http://schemas.openxmlformats.org/officeDocument/2006/relationships/image" Target="../media/image3.png"/><Relationship Id="rId2" Type="http://schemas.openxmlformats.org/officeDocument/2006/relationships/tags" Target="../tags/tag139.xml"/><Relationship Id="rId1" Type="http://schemas.openxmlformats.org/officeDocument/2006/relationships/tags" Target="../tags/tag138.xml"/><Relationship Id="rId6" Type="http://schemas.openxmlformats.org/officeDocument/2006/relationships/image" Target="../media/image2.png"/><Relationship Id="rId5" Type="http://schemas.openxmlformats.org/officeDocument/2006/relationships/notesSlide" Target="../notesSlides/notesSlide3.xml"/><Relationship Id="rId10" Type="http://schemas.openxmlformats.org/officeDocument/2006/relationships/image" Target="../media/image5.png"/><Relationship Id="rId4" Type="http://schemas.openxmlformats.org/officeDocument/2006/relationships/slideLayout" Target="../slideLayouts/slideLayout4.xml"/><Relationship Id="rId9"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tags" Target="../tags/tag143.xml"/><Relationship Id="rId2" Type="http://schemas.openxmlformats.org/officeDocument/2006/relationships/tags" Target="../tags/tag142.xml"/><Relationship Id="rId1" Type="http://schemas.openxmlformats.org/officeDocument/2006/relationships/tags" Target="../tags/tag141.xml"/><Relationship Id="rId5" Type="http://schemas.openxmlformats.org/officeDocument/2006/relationships/notesSlide" Target="../notesSlides/notesSlide4.xml"/><Relationship Id="rId4"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tags" Target="../tags/tag146.xml"/><Relationship Id="rId2" Type="http://schemas.openxmlformats.org/officeDocument/2006/relationships/tags" Target="../tags/tag145.xml"/><Relationship Id="rId1" Type="http://schemas.openxmlformats.org/officeDocument/2006/relationships/tags" Target="../tags/tag144.xml"/><Relationship Id="rId5" Type="http://schemas.openxmlformats.org/officeDocument/2006/relationships/slideLayout" Target="../slideLayouts/slideLayout4.xml"/><Relationship Id="rId4" Type="http://schemas.openxmlformats.org/officeDocument/2006/relationships/tags" Target="../tags/tag147.xml"/></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2.bin"/><Relationship Id="rId13" Type="http://schemas.openxmlformats.org/officeDocument/2006/relationships/image" Target="../media/image14.png"/><Relationship Id="rId18" Type="http://schemas.openxmlformats.org/officeDocument/2006/relationships/image" Target="../media/image16.png"/><Relationship Id="rId3" Type="http://schemas.openxmlformats.org/officeDocument/2006/relationships/tags" Target="../tags/tag150.xml"/><Relationship Id="rId7" Type="http://schemas.openxmlformats.org/officeDocument/2006/relationships/image" Target="../media/image6.wmf"/><Relationship Id="rId12" Type="http://schemas.openxmlformats.org/officeDocument/2006/relationships/image" Target="../media/image13.png"/><Relationship Id="rId17" Type="http://schemas.openxmlformats.org/officeDocument/2006/relationships/image" Target="../media/image9.wmf"/><Relationship Id="rId2" Type="http://schemas.openxmlformats.org/officeDocument/2006/relationships/tags" Target="../tags/tag149.xml"/><Relationship Id="rId16" Type="http://schemas.openxmlformats.org/officeDocument/2006/relationships/oleObject" Target="../embeddings/oleObject3.bin"/><Relationship Id="rId1" Type="http://schemas.openxmlformats.org/officeDocument/2006/relationships/tags" Target="../tags/tag148.xml"/><Relationship Id="rId6" Type="http://schemas.openxmlformats.org/officeDocument/2006/relationships/oleObject" Target="../embeddings/oleObject1.bin"/><Relationship Id="rId11" Type="http://schemas.openxmlformats.org/officeDocument/2006/relationships/image" Target="../media/image12.png"/><Relationship Id="rId5" Type="http://schemas.openxmlformats.org/officeDocument/2006/relationships/notesSlide" Target="../notesSlides/notesSlide5.xml"/><Relationship Id="rId15" Type="http://schemas.openxmlformats.org/officeDocument/2006/relationships/image" Target="../media/image15.png"/><Relationship Id="rId10" Type="http://schemas.openxmlformats.org/officeDocument/2006/relationships/image" Target="../media/image11.png"/><Relationship Id="rId4" Type="http://schemas.openxmlformats.org/officeDocument/2006/relationships/slideLayout" Target="../slideLayouts/slideLayout4.xml"/><Relationship Id="rId9" Type="http://schemas.openxmlformats.org/officeDocument/2006/relationships/image" Target="../media/image7.wmf"/><Relationship Id="rId1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tags" Target="../tags/tag153.xml"/><Relationship Id="rId2" Type="http://schemas.openxmlformats.org/officeDocument/2006/relationships/tags" Target="../tags/tag152.xml"/><Relationship Id="rId1" Type="http://schemas.openxmlformats.org/officeDocument/2006/relationships/tags" Target="../tags/tag151.xml"/><Relationship Id="rId5" Type="http://schemas.openxmlformats.org/officeDocument/2006/relationships/image" Target="../media/image18.png"/><Relationship Id="rId4"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tags" Target="../tags/tag156.xml"/><Relationship Id="rId2" Type="http://schemas.openxmlformats.org/officeDocument/2006/relationships/tags" Target="../tags/tag155.xml"/><Relationship Id="rId1" Type="http://schemas.openxmlformats.org/officeDocument/2006/relationships/tags" Target="../tags/tag154.xml"/><Relationship Id="rId6" Type="http://schemas.openxmlformats.org/officeDocument/2006/relationships/image" Target="../media/image10.png"/><Relationship Id="rId5" Type="http://schemas.openxmlformats.org/officeDocument/2006/relationships/notesSlide" Target="../notesSlides/notesSlide6.xml"/><Relationship Id="rId4"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png"/><Relationship Id="rId3" Type="http://schemas.openxmlformats.org/officeDocument/2006/relationships/tags" Target="../tags/tag159.xml"/><Relationship Id="rId7" Type="http://schemas.openxmlformats.org/officeDocument/2006/relationships/image" Target="../media/image21.png"/><Relationship Id="rId12" Type="http://schemas.openxmlformats.org/officeDocument/2006/relationships/image" Target="../media/image26.png"/><Relationship Id="rId2" Type="http://schemas.openxmlformats.org/officeDocument/2006/relationships/tags" Target="../tags/tag158.xml"/><Relationship Id="rId1" Type="http://schemas.openxmlformats.org/officeDocument/2006/relationships/tags" Target="../tags/tag157.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0.png"/><Relationship Id="rId15" Type="http://schemas.openxmlformats.org/officeDocument/2006/relationships/image" Target="../media/image29.png"/><Relationship Id="rId10" Type="http://schemas.openxmlformats.org/officeDocument/2006/relationships/image" Target="../media/image24.png"/><Relationship Id="rId4" Type="http://schemas.openxmlformats.org/officeDocument/2006/relationships/slideLayout" Target="../slideLayouts/slideLayout4.xml"/><Relationship Id="rId9" Type="http://schemas.openxmlformats.org/officeDocument/2006/relationships/image" Target="../media/image23.png"/><Relationship Id="rId14" Type="http://schemas.openxmlformats.org/officeDocument/2006/relationships/image" Target="../media/image28.png"/></Relationships>
</file>

<file path=ppt/slides/_rels/slide11.xml.rels><?xml version="1.0" encoding="UTF-8" standalone="yes"?>
<Relationships xmlns="http://schemas.openxmlformats.org/package/2006/relationships"><Relationship Id="rId3" Type="http://schemas.openxmlformats.org/officeDocument/2006/relationships/tags" Target="../tags/tag162.xml"/><Relationship Id="rId2" Type="http://schemas.openxmlformats.org/officeDocument/2006/relationships/tags" Target="../tags/tag161.xml"/><Relationship Id="rId1" Type="http://schemas.openxmlformats.org/officeDocument/2006/relationships/tags" Target="../tags/tag160.xml"/><Relationship Id="rId6" Type="http://schemas.openxmlformats.org/officeDocument/2006/relationships/image" Target="../media/image17.png"/><Relationship Id="rId5" Type="http://schemas.openxmlformats.org/officeDocument/2006/relationships/image" Target="../media/image30.png"/><Relationship Id="rId4"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tags" Target="../tags/tag165.xml"/><Relationship Id="rId2" Type="http://schemas.openxmlformats.org/officeDocument/2006/relationships/tags" Target="../tags/tag164.xml"/><Relationship Id="rId1" Type="http://schemas.openxmlformats.org/officeDocument/2006/relationships/tags" Target="../tags/tag163.xml"/><Relationship Id="rId5" Type="http://schemas.openxmlformats.org/officeDocument/2006/relationships/image" Target="../media/image19.png"/><Relationship Id="rId4"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tags" Target="../tags/tag168.xml"/><Relationship Id="rId2" Type="http://schemas.openxmlformats.org/officeDocument/2006/relationships/tags" Target="../tags/tag167.xml"/><Relationship Id="rId1" Type="http://schemas.openxmlformats.org/officeDocument/2006/relationships/tags" Target="../tags/tag166.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tags" Target="../tags/tag171.xml"/><Relationship Id="rId2" Type="http://schemas.openxmlformats.org/officeDocument/2006/relationships/tags" Target="../tags/tag170.xml"/><Relationship Id="rId1" Type="http://schemas.openxmlformats.org/officeDocument/2006/relationships/tags" Target="../tags/tag169.xml"/><Relationship Id="rId4"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39.png"/><Relationship Id="rId18" Type="http://schemas.openxmlformats.org/officeDocument/2006/relationships/image" Target="../media/image43.png"/><Relationship Id="rId3" Type="http://schemas.openxmlformats.org/officeDocument/2006/relationships/tags" Target="../tags/tag174.xml"/><Relationship Id="rId7" Type="http://schemas.openxmlformats.org/officeDocument/2006/relationships/slideLayout" Target="../slideLayouts/slideLayout4.xml"/><Relationship Id="rId12" Type="http://schemas.openxmlformats.org/officeDocument/2006/relationships/tags" Target="../tags/tag1830.xml"/><Relationship Id="rId17" Type="http://schemas.openxmlformats.org/officeDocument/2006/relationships/image" Target="../media/image42.png"/><Relationship Id="rId2" Type="http://schemas.openxmlformats.org/officeDocument/2006/relationships/tags" Target="../tags/tag173.xml"/><Relationship Id="rId16" Type="http://schemas.openxmlformats.org/officeDocument/2006/relationships/image" Target="../media/image41.png"/><Relationship Id="rId1" Type="http://schemas.openxmlformats.org/officeDocument/2006/relationships/tags" Target="../tags/tag172.xml"/><Relationship Id="rId6" Type="http://schemas.openxmlformats.org/officeDocument/2006/relationships/tags" Target="../tags/tag177.xml"/><Relationship Id="rId11" Type="http://schemas.openxmlformats.org/officeDocument/2006/relationships/image" Target="../media/image36.png"/><Relationship Id="rId5" Type="http://schemas.openxmlformats.org/officeDocument/2006/relationships/tags" Target="../tags/tag176.xml"/><Relationship Id="rId15" Type="http://schemas.openxmlformats.org/officeDocument/2006/relationships/image" Target="../media/image40.png"/><Relationship Id="rId10" Type="http://schemas.openxmlformats.org/officeDocument/2006/relationships/image" Target="../media/image34.png"/><Relationship Id="rId19" Type="http://schemas.openxmlformats.org/officeDocument/2006/relationships/image" Target="../media/image44.png"/><Relationship Id="rId4" Type="http://schemas.openxmlformats.org/officeDocument/2006/relationships/tags" Target="../tags/tag175.xml"/><Relationship Id="rId9" Type="http://schemas.openxmlformats.org/officeDocument/2006/relationships/image" Target="../media/image33.png"/><Relationship Id="rId14" Type="http://schemas.openxmlformats.org/officeDocument/2006/relationships/tags" Target="../tags/tag1840.xml"/></Relationships>
</file>

<file path=ppt/slides/_rels/slide16.xml.rels><?xml version="1.0" encoding="UTF-8" standalone="yes"?>
<Relationships xmlns="http://schemas.openxmlformats.org/package/2006/relationships"><Relationship Id="rId8" Type="http://schemas.openxmlformats.org/officeDocument/2006/relationships/image" Target="../media/image381.png"/><Relationship Id="rId3" Type="http://schemas.openxmlformats.org/officeDocument/2006/relationships/tags" Target="../tags/tag180.xml"/><Relationship Id="rId7" Type="http://schemas.openxmlformats.org/officeDocument/2006/relationships/tags" Target="../tags/tag1880.xml"/><Relationship Id="rId2" Type="http://schemas.openxmlformats.org/officeDocument/2006/relationships/tags" Target="../tags/tag179.xml"/><Relationship Id="rId1" Type="http://schemas.openxmlformats.org/officeDocument/2006/relationships/tags" Target="../tags/tag178.xml"/><Relationship Id="rId6" Type="http://schemas.openxmlformats.org/officeDocument/2006/relationships/notesSlide" Target="../notesSlides/notesSlide7.xml"/><Relationship Id="rId5" Type="http://schemas.openxmlformats.org/officeDocument/2006/relationships/slideLayout" Target="../slideLayouts/slideLayout4.xml"/><Relationship Id="rId4" Type="http://schemas.openxmlformats.org/officeDocument/2006/relationships/tags" Target="../tags/tag181.xml"/></Relationships>
</file>

<file path=ppt/slides/_rels/slide17.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slideLayout" Target="../slideLayouts/slideLayout4.xml"/><Relationship Id="rId7" Type="http://schemas.openxmlformats.org/officeDocument/2006/relationships/image" Target="../media/image48.png"/><Relationship Id="rId12" Type="http://schemas.openxmlformats.org/officeDocument/2006/relationships/image" Target="../media/image52.png"/><Relationship Id="rId2" Type="http://schemas.openxmlformats.org/officeDocument/2006/relationships/tags" Target="../tags/tag183.xml"/><Relationship Id="rId1" Type="http://schemas.openxmlformats.org/officeDocument/2006/relationships/tags" Target="../tags/tag182.xml"/><Relationship Id="rId6" Type="http://schemas.openxmlformats.org/officeDocument/2006/relationships/image" Target="../media/image47.png"/><Relationship Id="rId11" Type="http://schemas.openxmlformats.org/officeDocument/2006/relationships/tags" Target="../tags/tag1900.xml"/><Relationship Id="rId5" Type="http://schemas.openxmlformats.org/officeDocument/2006/relationships/image" Target="../media/image46.png"/><Relationship Id="rId10" Type="http://schemas.openxmlformats.org/officeDocument/2006/relationships/image" Target="../media/image51.png"/><Relationship Id="rId4" Type="http://schemas.openxmlformats.org/officeDocument/2006/relationships/image" Target="../media/image45.png"/><Relationship Id="rId9" Type="http://schemas.openxmlformats.org/officeDocument/2006/relationships/image" Target="../media/image50.png"/></Relationships>
</file>

<file path=ppt/slides/_rels/slide18.xml.rels><?xml version="1.0" encoding="UTF-8" standalone="yes"?>
<Relationships xmlns="http://schemas.openxmlformats.org/package/2006/relationships"><Relationship Id="rId3" Type="http://schemas.openxmlformats.org/officeDocument/2006/relationships/tags" Target="../tags/tag186.xml"/><Relationship Id="rId7" Type="http://schemas.openxmlformats.org/officeDocument/2006/relationships/image" Target="../media/image53.png"/><Relationship Id="rId2" Type="http://schemas.openxmlformats.org/officeDocument/2006/relationships/tags" Target="../tags/tag185.xml"/><Relationship Id="rId1" Type="http://schemas.openxmlformats.org/officeDocument/2006/relationships/tags" Target="../tags/tag184.xml"/><Relationship Id="rId6" Type="http://schemas.openxmlformats.org/officeDocument/2006/relationships/tags" Target="../tags/tag1950.xml"/><Relationship Id="rId5" Type="http://schemas.openxmlformats.org/officeDocument/2006/relationships/slideLayout" Target="../slideLayouts/slideLayout4.xml"/><Relationship Id="rId4" Type="http://schemas.openxmlformats.org/officeDocument/2006/relationships/tags" Target="../tags/tag187.xml"/></Relationships>
</file>

<file path=ppt/slides/_rels/slide1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slideLayout" Target="../slideLayouts/slideLayout4.xml"/><Relationship Id="rId1" Type="http://schemas.openxmlformats.org/officeDocument/2006/relationships/tags" Target="../tags/tag188.xml"/></Relationships>
</file>

<file path=ppt/slides/_rels/slide20.xml.rels><?xml version="1.0" encoding="UTF-8" standalone="yes"?>
<Relationships xmlns="http://schemas.openxmlformats.org/package/2006/relationships"><Relationship Id="rId3" Type="http://schemas.openxmlformats.org/officeDocument/2006/relationships/tags" Target="../tags/tag191.xml"/><Relationship Id="rId7" Type="http://schemas.openxmlformats.org/officeDocument/2006/relationships/image" Target="../media/image56.png"/><Relationship Id="rId2" Type="http://schemas.openxmlformats.org/officeDocument/2006/relationships/tags" Target="../tags/tag190.xml"/><Relationship Id="rId1" Type="http://schemas.openxmlformats.org/officeDocument/2006/relationships/tags" Target="../tags/tag189.xml"/><Relationship Id="rId6" Type="http://schemas.openxmlformats.org/officeDocument/2006/relationships/tags" Target="../tags/tag2000.xml"/><Relationship Id="rId5" Type="http://schemas.openxmlformats.org/officeDocument/2006/relationships/slideLayout" Target="../slideLayouts/slideLayout4.xml"/><Relationship Id="rId4" Type="http://schemas.openxmlformats.org/officeDocument/2006/relationships/tags" Target="../tags/tag192.xml"/></Relationships>
</file>

<file path=ppt/slides/_rels/slide21.xml.rels><?xml version="1.0" encoding="UTF-8" standalone="yes"?>
<Relationships xmlns="http://schemas.openxmlformats.org/package/2006/relationships"><Relationship Id="rId3" Type="http://schemas.openxmlformats.org/officeDocument/2006/relationships/tags" Target="../tags/tag195.xml"/><Relationship Id="rId7" Type="http://schemas.openxmlformats.org/officeDocument/2006/relationships/image" Target="../media/image38.png"/><Relationship Id="rId2" Type="http://schemas.openxmlformats.org/officeDocument/2006/relationships/tags" Target="../tags/tag194.xml"/><Relationship Id="rId1" Type="http://schemas.openxmlformats.org/officeDocument/2006/relationships/tags" Target="../tags/tag193.xml"/><Relationship Id="rId6" Type="http://schemas.openxmlformats.org/officeDocument/2006/relationships/tags" Target="../tags/tag196.xml"/><Relationship Id="rId5" Type="http://schemas.openxmlformats.org/officeDocument/2006/relationships/slideLayout" Target="../slideLayouts/slideLayout4.xml"/><Relationship Id="rId4" Type="http://schemas.openxmlformats.org/officeDocument/2006/relationships/tags" Target="../tags/tag196.xml"/></Relationships>
</file>

<file path=ppt/slides/_rels/slide22.xml.rels><?xml version="1.0" encoding="UTF-8" standalone="yes"?>
<Relationships xmlns="http://schemas.openxmlformats.org/package/2006/relationships"><Relationship Id="rId3" Type="http://schemas.openxmlformats.org/officeDocument/2006/relationships/tags" Target="../tags/tag199.xml"/><Relationship Id="rId2" Type="http://schemas.openxmlformats.org/officeDocument/2006/relationships/tags" Target="../tags/tag198.xml"/><Relationship Id="rId1" Type="http://schemas.openxmlformats.org/officeDocument/2006/relationships/tags" Target="../tags/tag197.xml"/><Relationship Id="rId4"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tags" Target="../tags/tag202.xml"/><Relationship Id="rId7" Type="http://schemas.openxmlformats.org/officeDocument/2006/relationships/notesSlide" Target="../notesSlides/notesSlide8.xml"/><Relationship Id="rId2" Type="http://schemas.openxmlformats.org/officeDocument/2006/relationships/tags" Target="../tags/tag201.xml"/><Relationship Id="rId1" Type="http://schemas.openxmlformats.org/officeDocument/2006/relationships/tags" Target="../tags/tag200.xml"/><Relationship Id="rId6" Type="http://schemas.openxmlformats.org/officeDocument/2006/relationships/slideLayout" Target="../slideLayouts/slideLayout4.xml"/><Relationship Id="rId5" Type="http://schemas.openxmlformats.org/officeDocument/2006/relationships/tags" Target="../tags/tag204.xml"/><Relationship Id="rId10" Type="http://schemas.openxmlformats.org/officeDocument/2006/relationships/image" Target="../media/image58.png"/><Relationship Id="rId4" Type="http://schemas.openxmlformats.org/officeDocument/2006/relationships/tags" Target="../tags/tag203.xml"/><Relationship Id="rId9" Type="http://schemas.openxmlformats.org/officeDocument/2006/relationships/image" Target="../media/image37.png"/></Relationships>
</file>

<file path=ppt/slides/_rels/slide24.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tags" Target="../tags/tag207.xml"/><Relationship Id="rId7" Type="http://schemas.openxmlformats.org/officeDocument/2006/relationships/image" Target="../media/image59.png"/><Relationship Id="rId2" Type="http://schemas.openxmlformats.org/officeDocument/2006/relationships/tags" Target="../tags/tag206.xml"/><Relationship Id="rId1" Type="http://schemas.openxmlformats.org/officeDocument/2006/relationships/tags" Target="../tags/tag205.xml"/><Relationship Id="rId6" Type="http://schemas.openxmlformats.org/officeDocument/2006/relationships/image" Target="../media/image57.png"/><Relationship Id="rId5" Type="http://schemas.openxmlformats.org/officeDocument/2006/relationships/image" Target="../media/image55.png"/><Relationship Id="rId4"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tags" Target="../tags/tag210.xml"/><Relationship Id="rId2" Type="http://schemas.openxmlformats.org/officeDocument/2006/relationships/tags" Target="../tags/tag209.xml"/><Relationship Id="rId1" Type="http://schemas.openxmlformats.org/officeDocument/2006/relationships/tags" Target="../tags/tag208.xml"/><Relationship Id="rId4"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tags" Target="../tags/tag213.xml"/><Relationship Id="rId7" Type="http://schemas.openxmlformats.org/officeDocument/2006/relationships/image" Target="../media/image62.png"/><Relationship Id="rId2" Type="http://schemas.openxmlformats.org/officeDocument/2006/relationships/tags" Target="../tags/tag212.xml"/><Relationship Id="rId1" Type="http://schemas.openxmlformats.org/officeDocument/2006/relationships/tags" Target="../tags/tag211.xml"/><Relationship Id="rId6" Type="http://schemas.openxmlformats.org/officeDocument/2006/relationships/image" Target="../media/image61.png"/><Relationship Id="rId5" Type="http://schemas.openxmlformats.org/officeDocument/2006/relationships/slideLayout" Target="../slideLayouts/slideLayout4.xml"/><Relationship Id="rId4" Type="http://schemas.openxmlformats.org/officeDocument/2006/relationships/tags" Target="../tags/tag214.xml"/></Relationships>
</file>

<file path=ppt/slides/_rels/slide27.xml.rels><?xml version="1.0" encoding="UTF-8" standalone="yes"?>
<Relationships xmlns="http://schemas.openxmlformats.org/package/2006/relationships"><Relationship Id="rId3" Type="http://schemas.openxmlformats.org/officeDocument/2006/relationships/tags" Target="../tags/tag217.xml"/><Relationship Id="rId2" Type="http://schemas.openxmlformats.org/officeDocument/2006/relationships/tags" Target="../tags/tag216.xml"/><Relationship Id="rId1" Type="http://schemas.openxmlformats.org/officeDocument/2006/relationships/tags" Target="../tags/tag215.xml"/><Relationship Id="rId4"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image" Target="../media/image340.png"/><Relationship Id="rId13" Type="http://schemas.openxmlformats.org/officeDocument/2006/relationships/image" Target="../media/image390.png"/><Relationship Id="rId18" Type="http://schemas.openxmlformats.org/officeDocument/2006/relationships/image" Target="../media/image621.png"/><Relationship Id="rId26" Type="http://schemas.openxmlformats.org/officeDocument/2006/relationships/image" Target="../media/image540.png"/><Relationship Id="rId3" Type="http://schemas.openxmlformats.org/officeDocument/2006/relationships/tags" Target="../tags/tag220.xml"/><Relationship Id="rId21" Type="http://schemas.openxmlformats.org/officeDocument/2006/relationships/image" Target="../media/image470.png"/><Relationship Id="rId7" Type="http://schemas.openxmlformats.org/officeDocument/2006/relationships/image" Target="../media/image330.png"/><Relationship Id="rId12" Type="http://schemas.openxmlformats.org/officeDocument/2006/relationships/image" Target="../media/image380.png"/><Relationship Id="rId17" Type="http://schemas.openxmlformats.org/officeDocument/2006/relationships/image" Target="../media/image430.png"/><Relationship Id="rId25" Type="http://schemas.openxmlformats.org/officeDocument/2006/relationships/image" Target="../media/image530.png"/><Relationship Id="rId2" Type="http://schemas.openxmlformats.org/officeDocument/2006/relationships/tags" Target="../tags/tag219.xml"/><Relationship Id="rId16" Type="http://schemas.openxmlformats.org/officeDocument/2006/relationships/image" Target="../media/image420.png"/><Relationship Id="rId20" Type="http://schemas.openxmlformats.org/officeDocument/2006/relationships/image" Target="../media/image460.png"/><Relationship Id="rId1" Type="http://schemas.openxmlformats.org/officeDocument/2006/relationships/tags" Target="../tags/tag218.xml"/><Relationship Id="rId6" Type="http://schemas.openxmlformats.org/officeDocument/2006/relationships/image" Target="../media/image320.png"/><Relationship Id="rId11" Type="http://schemas.openxmlformats.org/officeDocument/2006/relationships/image" Target="../media/image370.png"/><Relationship Id="rId24" Type="http://schemas.openxmlformats.org/officeDocument/2006/relationships/image" Target="../media/image520.png"/><Relationship Id="rId5" Type="http://schemas.openxmlformats.org/officeDocument/2006/relationships/image" Target="../media/image310.png"/><Relationship Id="rId15" Type="http://schemas.openxmlformats.org/officeDocument/2006/relationships/image" Target="../media/image410.png"/><Relationship Id="rId23" Type="http://schemas.openxmlformats.org/officeDocument/2006/relationships/image" Target="../media/image510.png"/><Relationship Id="rId28" Type="http://schemas.openxmlformats.org/officeDocument/2006/relationships/image" Target="../media/image560.png"/><Relationship Id="rId10" Type="http://schemas.openxmlformats.org/officeDocument/2006/relationships/image" Target="../media/image360.png"/><Relationship Id="rId19" Type="http://schemas.openxmlformats.org/officeDocument/2006/relationships/image" Target="../media/image450.png"/><Relationship Id="rId4" Type="http://schemas.openxmlformats.org/officeDocument/2006/relationships/slideLayout" Target="../slideLayouts/slideLayout4.xml"/><Relationship Id="rId9" Type="http://schemas.openxmlformats.org/officeDocument/2006/relationships/image" Target="../media/image350.png"/><Relationship Id="rId14" Type="http://schemas.openxmlformats.org/officeDocument/2006/relationships/image" Target="../media/image400.png"/><Relationship Id="rId22" Type="http://schemas.openxmlformats.org/officeDocument/2006/relationships/image" Target="../media/image480.png"/><Relationship Id="rId27" Type="http://schemas.openxmlformats.org/officeDocument/2006/relationships/image" Target="../media/image550.png"/></Relationships>
</file>

<file path=ppt/slides/_rels/slide29.xml.rels><?xml version="1.0" encoding="UTF-8" standalone="yes"?>
<Relationships xmlns="http://schemas.openxmlformats.org/package/2006/relationships"><Relationship Id="rId8" Type="http://schemas.openxmlformats.org/officeDocument/2006/relationships/image" Target="../media/image590.png"/><Relationship Id="rId13" Type="http://schemas.openxmlformats.org/officeDocument/2006/relationships/image" Target="../media/image640.png"/><Relationship Id="rId18" Type="http://schemas.openxmlformats.org/officeDocument/2006/relationships/image" Target="../media/image480.png"/><Relationship Id="rId3" Type="http://schemas.openxmlformats.org/officeDocument/2006/relationships/tags" Target="../tags/tag223.xml"/><Relationship Id="rId21" Type="http://schemas.openxmlformats.org/officeDocument/2006/relationships/image" Target="../media/image690.png"/><Relationship Id="rId7" Type="http://schemas.openxmlformats.org/officeDocument/2006/relationships/image" Target="../media/image580.png"/><Relationship Id="rId12" Type="http://schemas.openxmlformats.org/officeDocument/2006/relationships/image" Target="../media/image470.png"/><Relationship Id="rId17" Type="http://schemas.openxmlformats.org/officeDocument/2006/relationships/image" Target="../media/image660.png"/><Relationship Id="rId2" Type="http://schemas.openxmlformats.org/officeDocument/2006/relationships/tags" Target="../tags/tag222.xml"/><Relationship Id="rId16" Type="http://schemas.openxmlformats.org/officeDocument/2006/relationships/image" Target="../media/image510.png"/><Relationship Id="rId20" Type="http://schemas.openxmlformats.org/officeDocument/2006/relationships/image" Target="../media/image680.png"/><Relationship Id="rId1" Type="http://schemas.openxmlformats.org/officeDocument/2006/relationships/tags" Target="../tags/tag221.xml"/><Relationship Id="rId6" Type="http://schemas.openxmlformats.org/officeDocument/2006/relationships/image" Target="../media/image570.png"/><Relationship Id="rId11" Type="http://schemas.openxmlformats.org/officeDocument/2006/relationships/image" Target="../media/image630.png"/><Relationship Id="rId5" Type="http://schemas.openxmlformats.org/officeDocument/2006/relationships/notesSlide" Target="../notesSlides/notesSlide9.xml"/><Relationship Id="rId15" Type="http://schemas.openxmlformats.org/officeDocument/2006/relationships/image" Target="../media/image650.png"/><Relationship Id="rId23" Type="http://schemas.openxmlformats.org/officeDocument/2006/relationships/image" Target="../media/image710.png"/><Relationship Id="rId10" Type="http://schemas.openxmlformats.org/officeDocument/2006/relationships/image" Target="../media/image620.png"/><Relationship Id="rId19" Type="http://schemas.openxmlformats.org/officeDocument/2006/relationships/image" Target="../media/image670.png"/><Relationship Id="rId4" Type="http://schemas.openxmlformats.org/officeDocument/2006/relationships/slideLayout" Target="../slideLayouts/slideLayout4.xml"/><Relationship Id="rId9" Type="http://schemas.openxmlformats.org/officeDocument/2006/relationships/image" Target="../media/image610.png"/><Relationship Id="rId14" Type="http://schemas.openxmlformats.org/officeDocument/2006/relationships/image" Target="../media/image560.png"/><Relationship Id="rId22" Type="http://schemas.openxmlformats.org/officeDocument/2006/relationships/image" Target="../media/image700.png"/></Relationships>
</file>

<file path=ppt/slides/_rels/slide30.xml.rels><?xml version="1.0" encoding="UTF-8" standalone="yes"?>
<Relationships xmlns="http://schemas.openxmlformats.org/package/2006/relationships"><Relationship Id="rId3" Type="http://schemas.openxmlformats.org/officeDocument/2006/relationships/tags" Target="../tags/tag226.xml"/><Relationship Id="rId7" Type="http://schemas.openxmlformats.org/officeDocument/2006/relationships/image" Target="../media/image64.png"/><Relationship Id="rId2" Type="http://schemas.openxmlformats.org/officeDocument/2006/relationships/tags" Target="../tags/tag225.xml"/><Relationship Id="rId1" Type="http://schemas.openxmlformats.org/officeDocument/2006/relationships/tags" Target="../tags/tag224.xml"/><Relationship Id="rId6" Type="http://schemas.openxmlformats.org/officeDocument/2006/relationships/tags" Target="../tags/tag225.xml"/><Relationship Id="rId5" Type="http://schemas.openxmlformats.org/officeDocument/2006/relationships/slideLayout" Target="../slideLayouts/slideLayout4.xml"/><Relationship Id="rId4" Type="http://schemas.openxmlformats.org/officeDocument/2006/relationships/tags" Target="../tags/tag227.xml"/></Relationships>
</file>

<file path=ppt/slides/_rels/slide31.xml.rels><?xml version="1.0" encoding="UTF-8" standalone="yes"?>
<Relationships xmlns="http://schemas.openxmlformats.org/package/2006/relationships"><Relationship Id="rId3" Type="http://schemas.openxmlformats.org/officeDocument/2006/relationships/tags" Target="../tags/tag230.xml"/><Relationship Id="rId2" Type="http://schemas.openxmlformats.org/officeDocument/2006/relationships/tags" Target="../tags/tag229.xml"/><Relationship Id="rId1" Type="http://schemas.openxmlformats.org/officeDocument/2006/relationships/tags" Target="../tags/tag228.xml"/><Relationship Id="rId5" Type="http://schemas.openxmlformats.org/officeDocument/2006/relationships/image" Target="../media/image88.png"/><Relationship Id="rId4"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tags" Target="../tags/tag233.xml"/><Relationship Id="rId2" Type="http://schemas.openxmlformats.org/officeDocument/2006/relationships/tags" Target="../tags/tag232.xml"/><Relationship Id="rId1" Type="http://schemas.openxmlformats.org/officeDocument/2006/relationships/tags" Target="../tags/tag231.xml"/><Relationship Id="rId5" Type="http://schemas.openxmlformats.org/officeDocument/2006/relationships/notesSlide" Target="../notesSlides/notesSlide10.xml"/><Relationship Id="rId4" Type="http://schemas.openxmlformats.org/officeDocument/2006/relationships/slideLayout" Target="../slideLayouts/slideLayout16.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tags" Target="../tags/tag235.xml"/><Relationship Id="rId1" Type="http://schemas.openxmlformats.org/officeDocument/2006/relationships/tags" Target="../tags/tag234.xml"/><Relationship Id="rId5" Type="http://schemas.openxmlformats.org/officeDocument/2006/relationships/image" Target="../media/image63.emf"/><Relationship Id="rId4" Type="http://schemas.openxmlformats.org/officeDocument/2006/relationships/notesSlide" Target="../notesSlides/notesSlide11.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tags" Target="../tags/tag237.xml"/><Relationship Id="rId1" Type="http://schemas.openxmlformats.org/officeDocument/2006/relationships/tags" Target="../tags/tag236.xml"/><Relationship Id="rId6" Type="http://schemas.openxmlformats.org/officeDocument/2006/relationships/image" Target="../media/image64.emf"/><Relationship Id="rId5" Type="http://schemas.openxmlformats.org/officeDocument/2006/relationships/image" Target="../media/image63.emf"/><Relationship Id="rId4" Type="http://schemas.openxmlformats.org/officeDocument/2006/relationships/notesSlide" Target="../notesSlides/notesSlide12.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tags" Target="../tags/tag239.xml"/><Relationship Id="rId1" Type="http://schemas.openxmlformats.org/officeDocument/2006/relationships/tags" Target="../tags/tag238.xml"/><Relationship Id="rId5" Type="http://schemas.openxmlformats.org/officeDocument/2006/relationships/image" Target="../media/image65.emf"/><Relationship Id="rId4" Type="http://schemas.openxmlformats.org/officeDocument/2006/relationships/notesSlide" Target="../notesSlides/notesSlide13.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tags" Target="../tags/tag241.xml"/><Relationship Id="rId1" Type="http://schemas.openxmlformats.org/officeDocument/2006/relationships/tags" Target="../tags/tag240.xml"/><Relationship Id="rId5" Type="http://schemas.openxmlformats.org/officeDocument/2006/relationships/image" Target="../media/image200.png"/><Relationship Id="rId4" Type="http://schemas.openxmlformats.org/officeDocument/2006/relationships/notesSlide" Target="../notesSlides/notesSlide14.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tags" Target="../tags/tag243.xml"/><Relationship Id="rId1" Type="http://schemas.openxmlformats.org/officeDocument/2006/relationships/tags" Target="../tags/tag242.xml"/><Relationship Id="rId6" Type="http://schemas.openxmlformats.org/officeDocument/2006/relationships/image" Target="../media/image63.emf"/><Relationship Id="rId5" Type="http://schemas.openxmlformats.org/officeDocument/2006/relationships/image" Target="../media/image66.emf"/><Relationship Id="rId4" Type="http://schemas.openxmlformats.org/officeDocument/2006/relationships/notesSlide" Target="../notesSlides/notesSlide15.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tags" Target="../tags/tag245.xml"/><Relationship Id="rId1" Type="http://schemas.openxmlformats.org/officeDocument/2006/relationships/tags" Target="../tags/tag244.xml"/><Relationship Id="rId6" Type="http://schemas.openxmlformats.org/officeDocument/2006/relationships/image" Target="../media/image67.emf"/><Relationship Id="rId5" Type="http://schemas.openxmlformats.org/officeDocument/2006/relationships/image" Target="../media/image63.emf"/><Relationship Id="rId4" Type="http://schemas.openxmlformats.org/officeDocument/2006/relationships/notesSlide" Target="../notesSlides/notesSlide16.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tags" Target="../tags/tag247.xml"/><Relationship Id="rId1" Type="http://schemas.openxmlformats.org/officeDocument/2006/relationships/tags" Target="../tags/tag246.xml"/><Relationship Id="rId6" Type="http://schemas.openxmlformats.org/officeDocument/2006/relationships/image" Target="../media/image240.png"/><Relationship Id="rId5" Type="http://schemas.openxmlformats.org/officeDocument/2006/relationships/image" Target="../media/image68.emf"/><Relationship Id="rId4" Type="http://schemas.openxmlformats.org/officeDocument/2006/relationships/notesSlide" Target="../notesSlides/notesSlide17.xml"/></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tags" Target="../tags/tag249.xml"/><Relationship Id="rId1" Type="http://schemas.openxmlformats.org/officeDocument/2006/relationships/tags" Target="../tags/tag248.xml"/><Relationship Id="rId6" Type="http://schemas.openxmlformats.org/officeDocument/2006/relationships/image" Target="../media/image69.emf"/><Relationship Id="rId5" Type="http://schemas.openxmlformats.org/officeDocument/2006/relationships/image" Target="../media/image63.emf"/><Relationship Id="rId4" Type="http://schemas.openxmlformats.org/officeDocument/2006/relationships/notesSlide" Target="../notesSlides/notesSlide18.xml"/></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tags" Target="../tags/tag251.xml"/><Relationship Id="rId1" Type="http://schemas.openxmlformats.org/officeDocument/2006/relationships/tags" Target="../tags/tag250.xml"/><Relationship Id="rId6" Type="http://schemas.openxmlformats.org/officeDocument/2006/relationships/image" Target="../media/image70.emf"/><Relationship Id="rId5" Type="http://schemas.openxmlformats.org/officeDocument/2006/relationships/image" Target="../media/image63.emf"/><Relationship Id="rId4"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REATE DATE"/>
          <p:cNvSpPr>
            <a:spLocks noGrp="1"/>
          </p:cNvSpPr>
          <p:nvPr>
            <p:ph type="body" sz="quarter" idx="11"/>
            <p:custDataLst>
              <p:tags r:id="rId2"/>
            </p:custDataLst>
          </p:nvPr>
        </p:nvSpPr>
        <p:spPr/>
        <p:txBody>
          <a:bodyPr/>
          <a:lstStyle/>
          <a:p>
            <a:r>
              <a:rPr lang="en-US" dirty="0"/>
              <a:t>March </a:t>
            </a:r>
            <a:r>
              <a:rPr lang="pl-PL" dirty="0"/>
              <a:t>1</a:t>
            </a:r>
            <a:r>
              <a:rPr lang="en-GB" dirty="0"/>
              <a:t>7</a:t>
            </a:r>
            <a:r>
              <a:rPr lang="pl-PL" dirty="0"/>
              <a:t>, 202</a:t>
            </a:r>
            <a:r>
              <a:rPr lang="en-GB" dirty="0"/>
              <a:t>6</a:t>
            </a:r>
            <a:endParaRPr lang="en-US" dirty="0"/>
          </a:p>
        </p:txBody>
      </p:sp>
      <p:sp>
        <p:nvSpPr>
          <p:cNvPr id="5" name="PRESENTATION PRESENTER FUNCTION"/>
          <p:cNvSpPr>
            <a:spLocks noGrp="1"/>
          </p:cNvSpPr>
          <p:nvPr>
            <p:ph type="body" sz="quarter" idx="10"/>
            <p:custDataLst>
              <p:tags r:id="rId3"/>
            </p:custDataLst>
          </p:nvPr>
        </p:nvSpPr>
        <p:spPr>
          <a:xfrm>
            <a:off x="511716" y="4622292"/>
            <a:ext cx="4999789" cy="274320"/>
          </a:xfrm>
        </p:spPr>
        <p:txBody>
          <a:bodyPr/>
          <a:lstStyle/>
          <a:p>
            <a:endParaRPr lang="en-US" dirty="0"/>
          </a:p>
        </p:txBody>
      </p:sp>
      <p:sp>
        <p:nvSpPr>
          <p:cNvPr id="4" name="PRESENTATION PRESENTER"/>
          <p:cNvSpPr>
            <a:spLocks noGrp="1"/>
          </p:cNvSpPr>
          <p:nvPr>
            <p:ph type="subTitle" idx="1"/>
            <p:custDataLst>
              <p:tags r:id="rId4"/>
            </p:custDataLst>
          </p:nvPr>
        </p:nvSpPr>
        <p:spPr/>
        <p:txBody>
          <a:bodyPr/>
          <a:lstStyle/>
          <a:p>
            <a:endParaRPr lang="en-US" dirty="0"/>
          </a:p>
        </p:txBody>
      </p:sp>
      <p:sp>
        <p:nvSpPr>
          <p:cNvPr id="2" name="PRESENTATION TITLE"/>
          <p:cNvSpPr>
            <a:spLocks noGrp="1"/>
          </p:cNvSpPr>
          <p:nvPr>
            <p:ph type="ctrTitle"/>
            <p:custDataLst>
              <p:tags r:id="rId5"/>
            </p:custDataLst>
          </p:nvPr>
        </p:nvSpPr>
        <p:spPr/>
        <p:txBody>
          <a:bodyPr/>
          <a:lstStyle/>
          <a:p>
            <a:r>
              <a:rPr lang="en-GB" dirty="0"/>
              <a:t>Introduction to Monte Carlo Simulation in Finance</a:t>
            </a:r>
            <a:endParaRPr lang="en-US" dirty="0"/>
          </a:p>
        </p:txBody>
      </p:sp>
      <p:sp>
        <p:nvSpPr>
          <p:cNvPr id="7" name="PRESENTATION INFOLINE"/>
          <p:cNvSpPr>
            <a:spLocks noGrp="1"/>
          </p:cNvSpPr>
          <p:nvPr>
            <p:ph type="body" sz="quarter" idx="12"/>
            <p:custDataLst>
              <p:tags r:id="rId6"/>
            </p:custDataLst>
          </p:nvPr>
        </p:nvSpPr>
        <p:spPr/>
        <p:txBody>
          <a:bodyPr/>
          <a:lstStyle/>
          <a:p>
            <a:r>
              <a:rPr lang="en-US" dirty="0">
                <a:latin typeface="Frutiger 45 Light" panose="020B0603020202020204" pitchFamily="34" charset="0"/>
              </a:rPr>
              <a:t>Simulating Interest Rates Derivatives Profiles for Counterparty Credit Risk Management</a:t>
            </a:r>
          </a:p>
        </p:txBody>
      </p:sp>
    </p:spTree>
    <p:custDataLst>
      <p:tags r:id="rId1"/>
    </p:custDataLst>
    <p:extLst>
      <p:ext uri="{BB962C8B-B14F-4D97-AF65-F5344CB8AC3E}">
        <p14:creationId xmlns:p14="http://schemas.microsoft.com/office/powerpoint/2010/main" val="37363045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OC TITLE"/>
          <p:cNvSpPr>
            <a:spLocks noGrp="1"/>
          </p:cNvSpPr>
          <p:nvPr>
            <p:ph type="title"/>
            <p:custDataLst>
              <p:tags r:id="rId2"/>
            </p:custDataLst>
          </p:nvPr>
        </p:nvSpPr>
        <p:spPr/>
        <p:txBody>
          <a:bodyPr>
            <a:normAutofit/>
          </a:bodyPr>
          <a:lstStyle/>
          <a:p>
            <a:r>
              <a:rPr lang="en-US" dirty="0"/>
              <a:t>Table of contents</a:t>
            </a:r>
          </a:p>
        </p:txBody>
      </p:sp>
      <p:sp>
        <p:nvSpPr>
          <p:cNvPr id="4" name="TOC BODY"/>
          <p:cNvSpPr/>
          <p:nvPr>
            <p:custDataLst>
              <p:tags r:id="rId3"/>
            </p:custDataLst>
          </p:nvPr>
        </p:nvSpPr>
        <p:spPr>
          <a:xfrm>
            <a:off x="524839" y="1362456"/>
            <a:ext cx="9189720" cy="1138773"/>
          </a:xfrm>
          <a:prstGeom prst="rect">
            <a:avLst/>
          </a:prstGeom>
          <a:noFill/>
          <a:ln w="19050" cap="flat" cmpd="sng" algn="ctr">
            <a:noFill/>
            <a:prstDash val="solid"/>
          </a:ln>
          <a:effectLst/>
          <a:extLst>
            <a:ext uri="{91240B29-F687-4F45-9708-019B960494DF}">
              <a14:hiddenLine xmlns:a14="http://schemas.microsoft.com/office/drawing/2010/main" w="19050" cap="flat" cmpd="sng" algn="ctr">
                <a:solidFill>
                  <a:srgbClr val="7B7D80"/>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1450023" indent="-1450023" eaLnBrk="1" fontAlgn="auto" hangingPunct="1">
              <a:spcBef>
                <a:spcPct val="65000"/>
              </a:spcBef>
              <a:spcAft>
                <a:spcPts val="0"/>
              </a:spcAft>
              <a:tabLst>
                <a:tab pos="9180576" algn="r"/>
              </a:tabLst>
            </a:pPr>
            <a:r>
              <a:rPr lang="en-US" sz="1600" dirty="0">
                <a:solidFill>
                  <a:srgbClr val="000000"/>
                </a:solidFill>
                <a:latin typeface="Frutiger 45 Light" panose="020B0603020202020204" pitchFamily="34" charset="0"/>
              </a:rPr>
              <a:t>Section 1	</a:t>
            </a:r>
            <a:r>
              <a:rPr lang="en-US" sz="1600" b="1" dirty="0">
                <a:solidFill>
                  <a:srgbClr val="000000"/>
                </a:solidFill>
                <a:latin typeface="Frutiger 45 Light" panose="020B0603020202020204" pitchFamily="34" charset="0"/>
              </a:rPr>
              <a:t>Counterparty Credit Risk</a:t>
            </a:r>
            <a:r>
              <a:rPr lang="pl-PL" sz="1600" b="1" dirty="0">
                <a:solidFill>
                  <a:srgbClr val="000000"/>
                </a:solidFill>
                <a:latin typeface="Frutiger 45 Light" panose="020B0603020202020204" pitchFamily="34" charset="0"/>
              </a:rPr>
              <a:t> - </a:t>
            </a:r>
            <a:r>
              <a:rPr lang="pl-PL" sz="1600" b="1" dirty="0" err="1">
                <a:solidFill>
                  <a:srgbClr val="000000"/>
                </a:solidFill>
                <a:latin typeface="Frutiger 45 Light" panose="020B0603020202020204" pitchFamily="34" charset="0"/>
              </a:rPr>
              <a:t>Introduction</a:t>
            </a:r>
            <a:endParaRPr kumimoji="0" lang="en-US" sz="1600" b="0" i="0" u="sng" strike="noStrike" kern="0" cap="none" spc="0" normalizeH="0" baseline="0" noProof="0" dirty="0">
              <a:ln>
                <a:noFill/>
              </a:ln>
              <a:solidFill>
                <a:srgbClr val="000000"/>
              </a:solidFill>
              <a:effectLst/>
              <a:uLnTx/>
              <a:uFill>
                <a:solidFill>
                  <a:srgbClr val="FFFFFF"/>
                </a:solidFill>
              </a:uFill>
              <a:latin typeface="Frutiger 45 Light" panose="020B0603020202020204" pitchFamily="34" charset="0"/>
              <a:hlinkClick r:id="rId5" action="ppaction://hlinksldjump"/>
            </a:endParaRPr>
          </a:p>
          <a:p>
            <a:pPr marL="1450023" indent="-1450023" eaLnBrk="1" fontAlgn="auto" hangingPunct="1">
              <a:spcBef>
                <a:spcPts val="400"/>
              </a:spcBef>
              <a:spcAft>
                <a:spcPts val="0"/>
              </a:spcAft>
              <a:tabLst>
                <a:tab pos="9180576" algn="r"/>
              </a:tabLst>
            </a:pPr>
            <a:r>
              <a:rPr lang="en-US" sz="1600" dirty="0">
                <a:solidFill>
                  <a:srgbClr val="000000"/>
                </a:solidFill>
                <a:latin typeface="Frutiger 45 Light" panose="020B0603020202020204" pitchFamily="34" charset="0"/>
              </a:rPr>
              <a:t>Section 2	</a:t>
            </a:r>
            <a:r>
              <a:rPr lang="pl-PL" sz="1600" b="1" dirty="0">
                <a:solidFill>
                  <a:srgbClr val="000000"/>
                </a:solidFill>
                <a:latin typeface="Frutiger 45 Light" panose="020B0603020202020204" pitchFamily="34" charset="0"/>
              </a:rPr>
              <a:t>Monte Carlo </a:t>
            </a:r>
            <a:r>
              <a:rPr lang="pl-PL" sz="1600" b="1" dirty="0" err="1">
                <a:solidFill>
                  <a:srgbClr val="000000"/>
                </a:solidFill>
                <a:latin typeface="Frutiger 45 Light" panose="020B0603020202020204" pitchFamily="34" charset="0"/>
              </a:rPr>
              <a:t>Simulations</a:t>
            </a:r>
            <a:endParaRPr kumimoji="0" lang="en-US" sz="1600" b="0" i="0" u="sng" strike="noStrike" kern="0" cap="none" spc="0" normalizeH="0" baseline="0" noProof="0" dirty="0">
              <a:ln>
                <a:noFill/>
              </a:ln>
              <a:solidFill>
                <a:srgbClr val="000000"/>
              </a:solidFill>
              <a:effectLst/>
              <a:uLnTx/>
              <a:uFill>
                <a:solidFill>
                  <a:srgbClr val="FFFFFF"/>
                </a:solidFill>
              </a:uFill>
              <a:latin typeface="Frutiger 45 Light" panose="020B0603020202020204" pitchFamily="34" charset="0"/>
              <a:hlinkClick r:id="rId6" action="ppaction://hlinksldjump"/>
            </a:endParaRPr>
          </a:p>
          <a:p>
            <a:pPr marL="1450023" indent="-1450023" eaLnBrk="1" fontAlgn="auto" hangingPunct="1">
              <a:spcBef>
                <a:spcPts val="400"/>
              </a:spcBef>
              <a:spcAft>
                <a:spcPts val="0"/>
              </a:spcAft>
              <a:tabLst>
                <a:tab pos="9180576" algn="r"/>
              </a:tabLst>
            </a:pPr>
            <a:r>
              <a:rPr lang="en-US" sz="1600" dirty="0">
                <a:solidFill>
                  <a:srgbClr val="000000"/>
                </a:solidFill>
                <a:latin typeface="Frutiger 45 Light" panose="020B0603020202020204" pitchFamily="34" charset="0"/>
              </a:rPr>
              <a:t>Section 3	</a:t>
            </a:r>
            <a:r>
              <a:rPr lang="pl-PL" sz="1600" b="1" dirty="0" err="1">
                <a:solidFill>
                  <a:srgbClr val="000000"/>
                </a:solidFill>
                <a:latin typeface="Frutiger 45 Light" panose="020B0603020202020204" pitchFamily="34" charset="0"/>
              </a:rPr>
              <a:t>Modelling</a:t>
            </a:r>
            <a:r>
              <a:rPr lang="pl-PL" sz="1600" b="1" dirty="0">
                <a:solidFill>
                  <a:srgbClr val="000000"/>
                </a:solidFill>
                <a:latin typeface="Frutiger 45 Light" panose="020B0603020202020204" pitchFamily="34" charset="0"/>
              </a:rPr>
              <a:t> </a:t>
            </a:r>
            <a:r>
              <a:rPr lang="pl-PL" sz="1600" b="1" dirty="0" err="1">
                <a:solidFill>
                  <a:srgbClr val="000000"/>
                </a:solidFill>
                <a:latin typeface="Frutiger 45 Light" panose="020B0603020202020204" pitchFamily="34" charset="0"/>
              </a:rPr>
              <a:t>Counterparty</a:t>
            </a:r>
            <a:r>
              <a:rPr lang="pl-PL" sz="1600" b="1" dirty="0">
                <a:solidFill>
                  <a:srgbClr val="000000"/>
                </a:solidFill>
                <a:latin typeface="Frutiger 45 Light" panose="020B0603020202020204" pitchFamily="34" charset="0"/>
              </a:rPr>
              <a:t> </a:t>
            </a:r>
            <a:r>
              <a:rPr lang="pl-PL" sz="1600" b="1" dirty="0" err="1">
                <a:solidFill>
                  <a:srgbClr val="000000"/>
                </a:solidFill>
                <a:latin typeface="Frutiger 45 Light" panose="020B0603020202020204" pitchFamily="34" charset="0"/>
              </a:rPr>
              <a:t>Credit</a:t>
            </a:r>
            <a:r>
              <a:rPr lang="pl-PL" sz="1600" b="1" dirty="0">
                <a:solidFill>
                  <a:srgbClr val="000000"/>
                </a:solidFill>
                <a:latin typeface="Frutiger 45 Light" panose="020B0603020202020204" pitchFamily="34" charset="0"/>
              </a:rPr>
              <a:t> Risk</a:t>
            </a:r>
            <a:endParaRPr kumimoji="0" lang="pl-PL" sz="1600" b="0" i="0" u="sng" strike="noStrike" kern="0" cap="none" spc="0" normalizeH="0" baseline="0" noProof="0" dirty="0">
              <a:ln>
                <a:noFill/>
              </a:ln>
              <a:solidFill>
                <a:srgbClr val="000000"/>
              </a:solidFill>
              <a:effectLst/>
              <a:uLnTx/>
              <a:uFill>
                <a:solidFill>
                  <a:srgbClr val="FFFFFF"/>
                </a:solidFill>
              </a:uFill>
              <a:latin typeface="Frutiger 45 Light" panose="020B0603020202020204" pitchFamily="34" charset="0"/>
              <a:hlinkClick r:id="rId7" action="ppaction://hlinksldjump"/>
            </a:endParaRPr>
          </a:p>
          <a:p>
            <a:pPr marL="1450023" indent="-1450023" eaLnBrk="1" fontAlgn="auto" hangingPunct="1">
              <a:spcBef>
                <a:spcPts val="400"/>
              </a:spcBef>
              <a:spcAft>
                <a:spcPts val="0"/>
              </a:spcAft>
              <a:tabLst>
                <a:tab pos="9180576" algn="r"/>
              </a:tabLst>
            </a:pPr>
            <a:r>
              <a:rPr lang="en-US" sz="1600" dirty="0">
                <a:solidFill>
                  <a:srgbClr val="000000"/>
                </a:solidFill>
                <a:latin typeface="Frutiger 45 Light" panose="020B0603020202020204" pitchFamily="34" charset="0"/>
              </a:rPr>
              <a:t>Section </a:t>
            </a:r>
            <a:r>
              <a:rPr lang="en-GB" sz="1600" dirty="0">
                <a:solidFill>
                  <a:srgbClr val="000000"/>
                </a:solidFill>
                <a:latin typeface="Frutiger 45 Light" panose="020B0603020202020204" pitchFamily="34" charset="0"/>
              </a:rPr>
              <a:t>4</a:t>
            </a:r>
            <a:r>
              <a:rPr lang="en-US" sz="1600" dirty="0">
                <a:solidFill>
                  <a:srgbClr val="000000"/>
                </a:solidFill>
                <a:latin typeface="Frutiger 45 Light" panose="020B0603020202020204" pitchFamily="34" charset="0"/>
              </a:rPr>
              <a:t>	</a:t>
            </a:r>
            <a:r>
              <a:rPr lang="en-US" sz="1600" b="1" dirty="0">
                <a:solidFill>
                  <a:srgbClr val="000000"/>
                </a:solidFill>
                <a:latin typeface="Frutiger 45 Light" panose="020B0603020202020204" pitchFamily="34" charset="0"/>
              </a:rPr>
              <a:t>Backward Induction and American Monte-Carlo Methods</a:t>
            </a:r>
            <a:endParaRPr lang="en-US" sz="1600" u="sng" kern="0" dirty="0">
              <a:solidFill>
                <a:srgbClr val="000000"/>
              </a:solidFill>
              <a:uFill>
                <a:solidFill>
                  <a:srgbClr val="FFFFFF"/>
                </a:solidFill>
              </a:uFill>
              <a:latin typeface="Frutiger 45 Light" panose="020B0603020202020204" pitchFamily="34" charset="0"/>
            </a:endParaRPr>
          </a:p>
        </p:txBody>
      </p:sp>
    </p:spTree>
    <p:custDataLst>
      <p:tags r:id="rId1"/>
    </p:custDataLst>
    <p:extLst>
      <p:ext uri="{BB962C8B-B14F-4D97-AF65-F5344CB8AC3E}">
        <p14:creationId xmlns:p14="http://schemas.microsoft.com/office/powerpoint/2010/main" val="20769663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DIVIDER TITLE"/>
          <p:cNvSpPr>
            <a:spLocks noGrp="1"/>
          </p:cNvSpPr>
          <p:nvPr>
            <p:ph type="subTitle" idx="1"/>
            <p:custDataLst>
              <p:tags r:id="rId2"/>
            </p:custDataLst>
          </p:nvPr>
        </p:nvSpPr>
        <p:spPr/>
        <p:txBody>
          <a:bodyPr/>
          <a:lstStyle/>
          <a:p>
            <a:r>
              <a:rPr lang="en-US" dirty="0"/>
              <a:t>Counterparty Credit Risk</a:t>
            </a:r>
            <a:r>
              <a:rPr lang="pl-PL" dirty="0"/>
              <a:t> - </a:t>
            </a:r>
            <a:r>
              <a:rPr lang="pl-PL" dirty="0" err="1"/>
              <a:t>Introduction</a:t>
            </a:r>
            <a:endParaRPr lang="en-US" dirty="0"/>
          </a:p>
        </p:txBody>
      </p:sp>
      <p:sp>
        <p:nvSpPr>
          <p:cNvPr id="29" name="DIVIDER NUMBER"/>
          <p:cNvSpPr>
            <a:spLocks noGrp="1"/>
          </p:cNvSpPr>
          <p:nvPr>
            <p:ph type="ctrTitle"/>
            <p:custDataLst>
              <p:tags r:id="rId3"/>
            </p:custDataLst>
          </p:nvPr>
        </p:nvSpPr>
        <p:spPr/>
        <p:txBody>
          <a:bodyPr/>
          <a:lstStyle/>
          <a:p>
            <a:r>
              <a:rPr lang="en-US"/>
              <a:t>Section 1</a:t>
            </a:r>
          </a:p>
        </p:txBody>
      </p:sp>
    </p:spTree>
    <p:custDataLst>
      <p:tags r:id="rId1"/>
    </p:custDataLst>
    <p:extLst>
      <p:ext uri="{BB962C8B-B14F-4D97-AF65-F5344CB8AC3E}">
        <p14:creationId xmlns:p14="http://schemas.microsoft.com/office/powerpoint/2010/main" val="7283984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AYOUT BODY"/>
          <p:cNvSpPr>
            <a:spLocks noGrp="1"/>
          </p:cNvSpPr>
          <p:nvPr>
            <p:ph idx="1"/>
            <p:custDataLst>
              <p:tags r:id="rId2"/>
            </p:custDataLst>
          </p:nvPr>
        </p:nvSpPr>
        <p:spPr>
          <a:xfrm>
            <a:off x="420624" y="1306063"/>
            <a:ext cx="9189720" cy="2230867"/>
          </a:xfrm>
        </p:spPr>
        <p:txBody>
          <a:bodyPr/>
          <a:lstStyle/>
          <a:p>
            <a:pPr marL="285750" indent="-285750">
              <a:buFont typeface="Arial" panose="020B0604020202020204" pitchFamily="34" charset="0"/>
              <a:buChar char="•"/>
            </a:pPr>
            <a:r>
              <a:rPr lang="en-US" sz="1600" dirty="0">
                <a:latin typeface="Frutiger 45 Light" panose="020B0603020202020204" pitchFamily="34" charset="0"/>
              </a:rPr>
              <a:t>UBS, and other IBs, trade derivatives with various counterparties worldwide;</a:t>
            </a:r>
          </a:p>
          <a:p>
            <a:pPr marL="285750" indent="-285750">
              <a:buFont typeface="Arial" panose="020B0604020202020204" pitchFamily="34" charset="0"/>
              <a:buChar char="•"/>
            </a:pPr>
            <a:r>
              <a:rPr lang="en-US" sz="1600" dirty="0">
                <a:latin typeface="Frutiger 45 Light" panose="020B0603020202020204" pitchFamily="34" charset="0"/>
              </a:rPr>
              <a:t>Typical scenario:</a:t>
            </a:r>
          </a:p>
          <a:p>
            <a:pPr marL="742950" lvl="1" indent="-285750">
              <a:buFont typeface="Arial" panose="020B0604020202020204" pitchFamily="34" charset="0"/>
              <a:buChar char="•"/>
            </a:pPr>
            <a:r>
              <a:rPr lang="en-US" dirty="0">
                <a:latin typeface="Frutiger 45 Light" panose="020B0603020202020204" pitchFamily="34" charset="0"/>
              </a:rPr>
              <a:t>Company XYZ issues $1bi of 15y bonds at fixed rate;</a:t>
            </a:r>
          </a:p>
          <a:p>
            <a:pPr marL="742950" lvl="1" indent="-285750">
              <a:buFont typeface="Arial" panose="020B0604020202020204" pitchFamily="34" charset="0"/>
              <a:buChar char="•"/>
            </a:pPr>
            <a:r>
              <a:rPr lang="en-US" dirty="0">
                <a:latin typeface="Frutiger 45 Light" panose="020B0603020202020204" pitchFamily="34" charset="0"/>
              </a:rPr>
              <a:t>Company XYZ enters into a swap with UBS to transform its fixed rate liability into a floating one, </a:t>
            </a:r>
            <a:r>
              <a:rPr lang="en-US" dirty="0" err="1">
                <a:latin typeface="Frutiger 45 Light" panose="020B0603020202020204" pitchFamily="34" charset="0"/>
              </a:rPr>
              <a:t>ie</a:t>
            </a:r>
            <a:r>
              <a:rPr lang="en-US" dirty="0">
                <a:latin typeface="Frutiger 45 Light" panose="020B0603020202020204" pitchFamily="34" charset="0"/>
              </a:rPr>
              <a:t>, UBS pays fixed rate to XYZ Co. vs receiving floating for 15y in $1bi;</a:t>
            </a:r>
          </a:p>
          <a:p>
            <a:pPr marL="742950" lvl="1" indent="-285750">
              <a:buFont typeface="Arial" panose="020B0604020202020204" pitchFamily="34" charset="0"/>
              <a:buChar char="•"/>
            </a:pPr>
            <a:r>
              <a:rPr lang="en-US" dirty="0">
                <a:latin typeface="Frutiger 45 Light" panose="020B0603020202020204" pitchFamily="34" charset="0"/>
              </a:rPr>
              <a:t>To hedge market risk, UBS enters into offsetting transactions with another Bank.</a:t>
            </a:r>
          </a:p>
          <a:p>
            <a:endParaRPr lang="en-US" dirty="0">
              <a:latin typeface="Frutiger 45 Light" panose="020B0603020202020204" pitchFamily="34" charset="0"/>
            </a:endParaRPr>
          </a:p>
        </p:txBody>
      </p:sp>
      <p:sp>
        <p:nvSpPr>
          <p:cNvPr id="3" name="PAGE HEADING"/>
          <p:cNvSpPr>
            <a:spLocks noGrp="1"/>
          </p:cNvSpPr>
          <p:nvPr>
            <p:ph type="title"/>
            <p:custDataLst>
              <p:tags r:id="rId3"/>
            </p:custDataLst>
          </p:nvPr>
        </p:nvSpPr>
        <p:spPr/>
        <p:txBody>
          <a:bodyPr>
            <a:normAutofit/>
          </a:bodyPr>
          <a:lstStyle/>
          <a:p>
            <a:r>
              <a:rPr lang="en-US" dirty="0"/>
              <a:t>Counterparty Credit Risk</a:t>
            </a:r>
            <a:r>
              <a:rPr lang="pl-PL" dirty="0"/>
              <a:t> - </a:t>
            </a:r>
            <a:r>
              <a:rPr lang="pl-PL" dirty="0" err="1"/>
              <a:t>Introduction</a:t>
            </a:r>
            <a:endParaRPr lang="en-US" dirty="0"/>
          </a:p>
        </p:txBody>
      </p:sp>
      <p:pic>
        <p:nvPicPr>
          <p:cNvPr id="54" name="Picture 2">
            <a:extLst>
              <a:ext uri="{FF2B5EF4-FFF2-40B4-BE49-F238E27FC236}">
                <a16:creationId xmlns:a16="http://schemas.microsoft.com/office/drawing/2014/main" id="{6598CB2D-F0F3-4916-A4D7-C929D35F876D}"/>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992742" y="6145963"/>
            <a:ext cx="6096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5" name="TextBox 54">
            <a:extLst>
              <a:ext uri="{FF2B5EF4-FFF2-40B4-BE49-F238E27FC236}">
                <a16:creationId xmlns:a16="http://schemas.microsoft.com/office/drawing/2014/main" id="{997AD46E-91A1-460A-99DE-4ECE17F0E285}"/>
              </a:ext>
            </a:extLst>
          </p:cNvPr>
          <p:cNvSpPr txBox="1"/>
          <p:nvPr/>
        </p:nvSpPr>
        <p:spPr>
          <a:xfrm>
            <a:off x="6128599" y="4608570"/>
            <a:ext cx="1527049" cy="914400"/>
          </a:xfrm>
          <a:prstGeom prst="rect">
            <a:avLst/>
          </a:prstGeom>
          <a:noFill/>
        </p:spPr>
        <p:txBody>
          <a:bodyPr wrap="none" lIns="0" tIns="0" rIns="0" bIns="0" rtlCol="0">
            <a:noAutofit/>
          </a:bodyPr>
          <a:lstStyle/>
          <a:p>
            <a:pPr algn="ctr">
              <a:spcBef>
                <a:spcPts val="200"/>
              </a:spcBef>
            </a:pPr>
            <a:r>
              <a:rPr lang="pl-PL" sz="1800" dirty="0" err="1">
                <a:latin typeface="Frutiger 55 Roman" panose="020B0503040202020204" pitchFamily="34" charset="0"/>
              </a:rPr>
              <a:t>Hedging</a:t>
            </a:r>
            <a:endParaRPr lang="en-US" sz="1800" dirty="0">
              <a:latin typeface="Frutiger 55 Roman" panose="020B0503040202020204" pitchFamily="34" charset="0"/>
            </a:endParaRPr>
          </a:p>
        </p:txBody>
      </p:sp>
      <p:sp>
        <p:nvSpPr>
          <p:cNvPr id="56" name="Rectangle 55">
            <a:extLst>
              <a:ext uri="{FF2B5EF4-FFF2-40B4-BE49-F238E27FC236}">
                <a16:creationId xmlns:a16="http://schemas.microsoft.com/office/drawing/2014/main" id="{92255E48-B4AB-4E7E-97DF-EB4388738D28}"/>
              </a:ext>
            </a:extLst>
          </p:cNvPr>
          <p:cNvSpPr/>
          <p:nvPr/>
        </p:nvSpPr>
        <p:spPr>
          <a:xfrm>
            <a:off x="770654" y="3589960"/>
            <a:ext cx="2165599" cy="609600"/>
          </a:xfrm>
          <a:prstGeom prst="rect">
            <a:avLst/>
          </a:prstGeom>
          <a:noFill/>
          <a:ln w="19050">
            <a:solidFill>
              <a:srgbClr val="91919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pl-PL" sz="1100">
                <a:solidFill>
                  <a:schemeClr val="tx1"/>
                </a:solidFill>
              </a:rPr>
              <a:t> </a:t>
            </a:r>
            <a:endParaRPr lang="en-US" sz="1100" dirty="0">
              <a:solidFill>
                <a:schemeClr val="tx1"/>
              </a:solidFill>
            </a:endParaRPr>
          </a:p>
        </p:txBody>
      </p:sp>
      <p:sp>
        <p:nvSpPr>
          <p:cNvPr id="57" name="TextBox 56">
            <a:extLst>
              <a:ext uri="{FF2B5EF4-FFF2-40B4-BE49-F238E27FC236}">
                <a16:creationId xmlns:a16="http://schemas.microsoft.com/office/drawing/2014/main" id="{0BF8F9B0-1F55-4AC8-9886-B689B4621A4F}"/>
              </a:ext>
            </a:extLst>
          </p:cNvPr>
          <p:cNvSpPr txBox="1"/>
          <p:nvPr/>
        </p:nvSpPr>
        <p:spPr>
          <a:xfrm>
            <a:off x="857866" y="3719128"/>
            <a:ext cx="1970794" cy="914400"/>
          </a:xfrm>
          <a:prstGeom prst="rect">
            <a:avLst/>
          </a:prstGeom>
          <a:noFill/>
        </p:spPr>
        <p:txBody>
          <a:bodyPr wrap="none" lIns="0" tIns="0" rIns="0" bIns="0" rtlCol="0">
            <a:noAutofit/>
          </a:bodyPr>
          <a:lstStyle/>
          <a:p>
            <a:pPr algn="ctr"/>
            <a:r>
              <a:rPr lang="pl-PL" sz="2000" dirty="0">
                <a:latin typeface="Frutiger 55 Roman" panose="020B0503040202020204" pitchFamily="34" charset="0"/>
              </a:rPr>
              <a:t>Company XYZ</a:t>
            </a:r>
            <a:endParaRPr lang="en-US" sz="2000" dirty="0">
              <a:latin typeface="Frutiger 55 Roman" panose="020B0503040202020204" pitchFamily="34" charset="0"/>
            </a:endParaRPr>
          </a:p>
        </p:txBody>
      </p:sp>
      <p:cxnSp>
        <p:nvCxnSpPr>
          <p:cNvPr id="58" name="Straight Arrow Connector 57">
            <a:extLst>
              <a:ext uri="{FF2B5EF4-FFF2-40B4-BE49-F238E27FC236}">
                <a16:creationId xmlns:a16="http://schemas.microsoft.com/office/drawing/2014/main" id="{3E23E684-497E-45B6-9B96-BCC6FB2908FD}"/>
              </a:ext>
            </a:extLst>
          </p:cNvPr>
          <p:cNvCxnSpPr/>
          <p:nvPr/>
        </p:nvCxnSpPr>
        <p:spPr>
          <a:xfrm>
            <a:off x="2671140" y="5397594"/>
            <a:ext cx="1216025" cy="0"/>
          </a:xfrm>
          <a:prstGeom prst="straightConnector1">
            <a:avLst/>
          </a:prstGeom>
          <a:ln w="19050">
            <a:solidFill>
              <a:srgbClr val="919191"/>
            </a:solidFill>
            <a:tailEnd type="arrow"/>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291BE3F1-FA95-4134-85F0-F22E98FF3535}"/>
              </a:ext>
            </a:extLst>
          </p:cNvPr>
          <p:cNvCxnSpPr/>
          <p:nvPr/>
        </p:nvCxnSpPr>
        <p:spPr>
          <a:xfrm flipH="1">
            <a:off x="2655618" y="5071980"/>
            <a:ext cx="1216024" cy="0"/>
          </a:xfrm>
          <a:prstGeom prst="straightConnector1">
            <a:avLst/>
          </a:prstGeom>
          <a:ln w="19050">
            <a:solidFill>
              <a:srgbClr val="919191"/>
            </a:solidFill>
            <a:tailEnd type="arrow"/>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AD5C5672-DBB5-465A-A9E6-0CF318F12730}"/>
              </a:ext>
            </a:extLst>
          </p:cNvPr>
          <p:cNvCxnSpPr/>
          <p:nvPr/>
        </p:nvCxnSpPr>
        <p:spPr>
          <a:xfrm flipH="1">
            <a:off x="6272119" y="5083269"/>
            <a:ext cx="1216025" cy="0"/>
          </a:xfrm>
          <a:prstGeom prst="straightConnector1">
            <a:avLst/>
          </a:prstGeom>
          <a:ln w="19050">
            <a:solidFill>
              <a:srgbClr val="919191"/>
            </a:solidFill>
            <a:tailEnd type="arrow"/>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7E030CFC-328A-4E79-925E-EE91DEC4E5A7}"/>
              </a:ext>
            </a:extLst>
          </p:cNvPr>
          <p:cNvCxnSpPr/>
          <p:nvPr/>
        </p:nvCxnSpPr>
        <p:spPr>
          <a:xfrm>
            <a:off x="6284112" y="5396536"/>
            <a:ext cx="1216025" cy="0"/>
          </a:xfrm>
          <a:prstGeom prst="straightConnector1">
            <a:avLst/>
          </a:prstGeom>
          <a:ln w="19050">
            <a:solidFill>
              <a:srgbClr val="919191"/>
            </a:solidFill>
            <a:tailEnd type="arrow"/>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B261D093-76D3-440A-A9DB-9DBE9AA2D603}"/>
              </a:ext>
            </a:extLst>
          </p:cNvPr>
          <p:cNvSpPr txBox="1"/>
          <p:nvPr/>
        </p:nvSpPr>
        <p:spPr>
          <a:xfrm>
            <a:off x="2696670" y="4608783"/>
            <a:ext cx="1184981" cy="299809"/>
          </a:xfrm>
          <a:prstGeom prst="rect">
            <a:avLst/>
          </a:prstGeom>
          <a:noFill/>
        </p:spPr>
        <p:txBody>
          <a:bodyPr wrap="none" lIns="0" tIns="0" rIns="0" bIns="0" rtlCol="0">
            <a:noAutofit/>
          </a:bodyPr>
          <a:lstStyle/>
          <a:p>
            <a:pPr algn="ctr"/>
            <a:r>
              <a:rPr lang="pl-PL" sz="1800" dirty="0">
                <a:latin typeface="Frutiger 55 Roman" panose="020B0503040202020204" pitchFamily="34" charset="0"/>
              </a:rPr>
              <a:t>IRS</a:t>
            </a:r>
            <a:endParaRPr lang="en-US" sz="1800" dirty="0">
              <a:latin typeface="Frutiger 55 Roman" panose="020B0503040202020204" pitchFamily="34" charset="0"/>
            </a:endParaRPr>
          </a:p>
        </p:txBody>
      </p:sp>
      <p:pic>
        <p:nvPicPr>
          <p:cNvPr id="63" name="Picture 2">
            <a:extLst>
              <a:ext uri="{FF2B5EF4-FFF2-40B4-BE49-F238E27FC236}">
                <a16:creationId xmlns:a16="http://schemas.microsoft.com/office/drawing/2014/main" id="{27FA8014-34F4-47FD-A3A0-6B5BD89CE6E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97307" y="4322327"/>
            <a:ext cx="1487312" cy="1487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4" name="Picture 3">
            <a:extLst>
              <a:ext uri="{FF2B5EF4-FFF2-40B4-BE49-F238E27FC236}">
                <a16:creationId xmlns:a16="http://schemas.microsoft.com/office/drawing/2014/main" id="{EE3303C6-A0BB-456D-A386-7820763A5643}"/>
              </a:ext>
            </a:extLst>
          </p:cNvPr>
          <p:cNvPicPr>
            <a:picLocks noChangeAspect="1" noChangeArrowheads="1"/>
          </p:cNvPicPr>
          <p:nvPr/>
        </p:nvPicPr>
        <p:blipFill>
          <a:blip r:embed="rId8" cstate="print">
            <a:extLst>
              <a:ext uri="{BEBA8EAE-BF5A-486C-A8C5-ECC9F3942E4B}">
                <a14:imgProps xmlns:a14="http://schemas.microsoft.com/office/drawing/2010/main">
                  <a14:imgLayer r:embed="rId9">
                    <a14:imgEffect>
                      <a14:brightnessContrast bright="-100000" contrast="-100000"/>
                    </a14:imgEffect>
                  </a14:imgLayer>
                </a14:imgProps>
              </a:ext>
              <a:ext uri="{28A0092B-C50C-407E-A947-70E740481C1C}">
                <a14:useLocalDpi xmlns:a14="http://schemas.microsoft.com/office/drawing/2010/main" val="0"/>
              </a:ext>
            </a:extLst>
          </a:blip>
          <a:srcRect/>
          <a:stretch>
            <a:fillRect/>
          </a:stretch>
        </p:blipFill>
        <p:spPr bwMode="auto">
          <a:xfrm>
            <a:off x="1304346" y="4726559"/>
            <a:ext cx="1029758" cy="9786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5" name="Picture 3">
            <a:extLst>
              <a:ext uri="{FF2B5EF4-FFF2-40B4-BE49-F238E27FC236}">
                <a16:creationId xmlns:a16="http://schemas.microsoft.com/office/drawing/2014/main" id="{7B9F5EA0-2704-45F7-8002-C407598D5595}"/>
              </a:ext>
            </a:extLst>
          </p:cNvPr>
          <p:cNvPicPr>
            <a:picLocks noChangeAspect="1" noChangeArrowheads="1"/>
          </p:cNvPicPr>
          <p:nvPr/>
        </p:nvPicPr>
        <p:blipFill>
          <a:blip r:embed="rId8" cstate="print">
            <a:extLst>
              <a:ext uri="{BEBA8EAE-BF5A-486C-A8C5-ECC9F3942E4B}">
                <a14:imgProps xmlns:a14="http://schemas.microsoft.com/office/drawing/2010/main">
                  <a14:imgLayer r:embed="rId9">
                    <a14:imgEffect>
                      <a14:brightnessContrast bright="-100000" contrast="-100000"/>
                    </a14:imgEffect>
                  </a14:imgLayer>
                </a14:imgProps>
              </a:ext>
              <a:ext uri="{28A0092B-C50C-407E-A947-70E740481C1C}">
                <a14:useLocalDpi xmlns:a14="http://schemas.microsoft.com/office/drawing/2010/main" val="0"/>
              </a:ext>
            </a:extLst>
          </a:blip>
          <a:srcRect/>
          <a:stretch>
            <a:fillRect/>
          </a:stretch>
        </p:blipFill>
        <p:spPr bwMode="auto">
          <a:xfrm>
            <a:off x="7723796" y="4756192"/>
            <a:ext cx="1029758" cy="9786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6" name="Rectangle 65">
            <a:extLst>
              <a:ext uri="{FF2B5EF4-FFF2-40B4-BE49-F238E27FC236}">
                <a16:creationId xmlns:a16="http://schemas.microsoft.com/office/drawing/2014/main" id="{637D1B1E-0170-4D61-9895-821C6C639709}"/>
              </a:ext>
            </a:extLst>
          </p:cNvPr>
          <p:cNvSpPr/>
          <p:nvPr/>
        </p:nvSpPr>
        <p:spPr>
          <a:xfrm>
            <a:off x="7166054" y="3596361"/>
            <a:ext cx="2055876" cy="609600"/>
          </a:xfrm>
          <a:prstGeom prst="rect">
            <a:avLst/>
          </a:prstGeom>
          <a:noFill/>
          <a:ln w="19050">
            <a:solidFill>
              <a:srgbClr val="91919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100" dirty="0">
              <a:solidFill>
                <a:schemeClr val="tx1"/>
              </a:solidFill>
            </a:endParaRPr>
          </a:p>
        </p:txBody>
      </p:sp>
      <p:sp>
        <p:nvSpPr>
          <p:cNvPr id="67" name="TextBox 66">
            <a:extLst>
              <a:ext uri="{FF2B5EF4-FFF2-40B4-BE49-F238E27FC236}">
                <a16:creationId xmlns:a16="http://schemas.microsoft.com/office/drawing/2014/main" id="{AFCACDFD-609F-44BD-8247-C230321194E4}"/>
              </a:ext>
            </a:extLst>
          </p:cNvPr>
          <p:cNvSpPr txBox="1"/>
          <p:nvPr/>
        </p:nvSpPr>
        <p:spPr>
          <a:xfrm>
            <a:off x="7253266" y="3725529"/>
            <a:ext cx="1852634" cy="914400"/>
          </a:xfrm>
          <a:prstGeom prst="rect">
            <a:avLst/>
          </a:prstGeom>
          <a:noFill/>
        </p:spPr>
        <p:txBody>
          <a:bodyPr wrap="none" lIns="0" tIns="0" rIns="0" bIns="0" rtlCol="0">
            <a:noAutofit/>
          </a:bodyPr>
          <a:lstStyle/>
          <a:p>
            <a:pPr algn="ctr"/>
            <a:r>
              <a:rPr lang="pl-PL" sz="2000" dirty="0" err="1">
                <a:latin typeface="Frutiger 55 Roman" panose="020B0503040202020204" pitchFamily="34" charset="0"/>
              </a:rPr>
              <a:t>Another</a:t>
            </a:r>
            <a:r>
              <a:rPr lang="pl-PL" sz="2000" dirty="0">
                <a:latin typeface="Frutiger 55 Roman" panose="020B0503040202020204" pitchFamily="34" charset="0"/>
              </a:rPr>
              <a:t> bank</a:t>
            </a:r>
            <a:endParaRPr lang="en-US" sz="2000" dirty="0">
              <a:latin typeface="Frutiger 55 Roman" panose="020B0503040202020204" pitchFamily="34" charset="0"/>
            </a:endParaRPr>
          </a:p>
        </p:txBody>
      </p:sp>
      <p:sp>
        <p:nvSpPr>
          <p:cNvPr id="68" name="Rectangle 67">
            <a:extLst>
              <a:ext uri="{FF2B5EF4-FFF2-40B4-BE49-F238E27FC236}">
                <a16:creationId xmlns:a16="http://schemas.microsoft.com/office/drawing/2014/main" id="{C5E1BAD2-C707-4B94-B6B9-D5D612F94C5D}"/>
              </a:ext>
            </a:extLst>
          </p:cNvPr>
          <p:cNvSpPr/>
          <p:nvPr/>
        </p:nvSpPr>
        <p:spPr>
          <a:xfrm>
            <a:off x="4464309" y="3596361"/>
            <a:ext cx="1129782" cy="609600"/>
          </a:xfrm>
          <a:prstGeom prst="rect">
            <a:avLst/>
          </a:prstGeom>
          <a:noFill/>
          <a:ln w="19050">
            <a:solidFill>
              <a:srgbClr val="91919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pl-PL" sz="1100">
                <a:solidFill>
                  <a:schemeClr val="tx1"/>
                </a:solidFill>
              </a:rPr>
              <a:t> </a:t>
            </a:r>
            <a:endParaRPr lang="en-US" sz="1100" dirty="0">
              <a:solidFill>
                <a:schemeClr val="tx1"/>
              </a:solidFill>
            </a:endParaRPr>
          </a:p>
        </p:txBody>
      </p:sp>
      <p:sp>
        <p:nvSpPr>
          <p:cNvPr id="69" name="TextBox 68">
            <a:extLst>
              <a:ext uri="{FF2B5EF4-FFF2-40B4-BE49-F238E27FC236}">
                <a16:creationId xmlns:a16="http://schemas.microsoft.com/office/drawing/2014/main" id="{5DD95745-4125-429E-A92D-DA8E67B975C8}"/>
              </a:ext>
            </a:extLst>
          </p:cNvPr>
          <p:cNvSpPr txBox="1"/>
          <p:nvPr/>
        </p:nvSpPr>
        <p:spPr>
          <a:xfrm>
            <a:off x="3993946" y="3719128"/>
            <a:ext cx="940725" cy="914400"/>
          </a:xfrm>
          <a:prstGeom prst="rect">
            <a:avLst/>
          </a:prstGeom>
          <a:noFill/>
        </p:spPr>
        <p:txBody>
          <a:bodyPr wrap="none" lIns="0" tIns="0" rIns="0" bIns="0" rtlCol="0">
            <a:noAutofit/>
          </a:bodyPr>
          <a:lstStyle/>
          <a:p>
            <a:r>
              <a:rPr lang="pl-PL" sz="2400" dirty="0">
                <a:latin typeface="+mn-lt"/>
              </a:rPr>
              <a:t>       </a:t>
            </a:r>
            <a:endParaRPr lang="en-US" sz="2200" dirty="0">
              <a:latin typeface="Frutiger 55 Roman" panose="020B0503040202020204" pitchFamily="34" charset="0"/>
            </a:endParaRPr>
          </a:p>
        </p:txBody>
      </p:sp>
      <p:sp>
        <p:nvSpPr>
          <p:cNvPr id="70" name="TextBox 69">
            <a:extLst>
              <a:ext uri="{FF2B5EF4-FFF2-40B4-BE49-F238E27FC236}">
                <a16:creationId xmlns:a16="http://schemas.microsoft.com/office/drawing/2014/main" id="{4966E5C4-436D-4DAC-8572-B9B4895CBDD7}"/>
              </a:ext>
            </a:extLst>
          </p:cNvPr>
          <p:cNvSpPr txBox="1"/>
          <p:nvPr/>
        </p:nvSpPr>
        <p:spPr>
          <a:xfrm rot="19506456">
            <a:off x="1171927" y="5146277"/>
            <a:ext cx="1651212" cy="914400"/>
          </a:xfrm>
          <a:prstGeom prst="rect">
            <a:avLst/>
          </a:prstGeom>
          <a:noFill/>
        </p:spPr>
        <p:txBody>
          <a:bodyPr wrap="none" lIns="0" tIns="0" rIns="0" bIns="0" rtlCol="0">
            <a:noAutofit/>
          </a:bodyPr>
          <a:lstStyle/>
          <a:p>
            <a:r>
              <a:rPr lang="pl-PL" sz="2400" b="1">
                <a:solidFill>
                  <a:srgbClr val="FF0000"/>
                </a:solidFill>
                <a:latin typeface="+mn-lt"/>
              </a:rPr>
              <a:t>BANKRUPT</a:t>
            </a:r>
            <a:endParaRPr lang="en-US" sz="2400" b="1" dirty="0">
              <a:solidFill>
                <a:srgbClr val="FF0000"/>
              </a:solidFill>
              <a:latin typeface="+mn-lt"/>
            </a:endParaRPr>
          </a:p>
        </p:txBody>
      </p:sp>
      <p:pic>
        <p:nvPicPr>
          <p:cNvPr id="71" name="Picture 2">
            <a:extLst>
              <a:ext uri="{FF2B5EF4-FFF2-40B4-BE49-F238E27FC236}">
                <a16:creationId xmlns:a16="http://schemas.microsoft.com/office/drawing/2014/main" id="{D05F6305-34CC-4B54-8523-EEB79DEF3CEC}"/>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998407" y="6145963"/>
            <a:ext cx="6096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2" name="Picture 2">
            <a:extLst>
              <a:ext uri="{FF2B5EF4-FFF2-40B4-BE49-F238E27FC236}">
                <a16:creationId xmlns:a16="http://schemas.microsoft.com/office/drawing/2014/main" id="{F3537FFA-D7C4-4140-8768-A04DA01B8A22}"/>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724400" y="5065770"/>
            <a:ext cx="609600" cy="609600"/>
          </a:xfrm>
          <a:prstGeom prst="rect">
            <a:avLst/>
          </a:prstGeom>
          <a:solidFill>
            <a:schemeClr val="bg1"/>
          </a:solidFill>
          <a:ln>
            <a:noFill/>
          </a:ln>
          <a:effectLst/>
        </p:spPr>
      </p:pic>
      <p:cxnSp>
        <p:nvCxnSpPr>
          <p:cNvPr id="73" name="Straight Connector 72">
            <a:extLst>
              <a:ext uri="{FF2B5EF4-FFF2-40B4-BE49-F238E27FC236}">
                <a16:creationId xmlns:a16="http://schemas.microsoft.com/office/drawing/2014/main" id="{E40A93DB-B1CA-4314-A8D9-8B49FA385733}"/>
              </a:ext>
            </a:extLst>
          </p:cNvPr>
          <p:cNvCxnSpPr/>
          <p:nvPr/>
        </p:nvCxnSpPr>
        <p:spPr>
          <a:xfrm>
            <a:off x="2908161" y="6058702"/>
            <a:ext cx="762000" cy="69686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6FA8FAC2-3C33-4D88-9910-D18B2EEB66C8}"/>
              </a:ext>
            </a:extLst>
          </p:cNvPr>
          <p:cNvCxnSpPr/>
          <p:nvPr/>
        </p:nvCxnSpPr>
        <p:spPr>
          <a:xfrm flipH="1">
            <a:off x="2936253" y="6058702"/>
            <a:ext cx="733908" cy="69686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pic>
        <p:nvPicPr>
          <p:cNvPr id="75" name="Picture 74">
            <a:extLst>
              <a:ext uri="{FF2B5EF4-FFF2-40B4-BE49-F238E27FC236}">
                <a16:creationId xmlns:a16="http://schemas.microsoft.com/office/drawing/2014/main" id="{92A9FE32-E43B-40EB-9825-9573D43F4EC1}"/>
              </a:ext>
            </a:extLst>
          </p:cNvPr>
          <p:cNvPicPr>
            <a:picLocks noChangeAspect="1"/>
          </p:cNvPicPr>
          <p:nvPr/>
        </p:nvPicPr>
        <p:blipFill>
          <a:blip r:embed="rId10"/>
          <a:stretch>
            <a:fillRect/>
          </a:stretch>
        </p:blipFill>
        <p:spPr>
          <a:xfrm>
            <a:off x="4592540" y="3720473"/>
            <a:ext cx="826002" cy="361376"/>
          </a:xfrm>
          <a:prstGeom prst="rect">
            <a:avLst/>
          </a:prstGeom>
        </p:spPr>
      </p:pic>
      <p:sp>
        <p:nvSpPr>
          <p:cNvPr id="83" name="TextBox 82">
            <a:extLst>
              <a:ext uri="{FF2B5EF4-FFF2-40B4-BE49-F238E27FC236}">
                <a16:creationId xmlns:a16="http://schemas.microsoft.com/office/drawing/2014/main" id="{4EAE3132-0E99-4ABA-A6E0-E76FA0DCF26F}"/>
              </a:ext>
            </a:extLst>
          </p:cNvPr>
          <p:cNvSpPr txBox="1"/>
          <p:nvPr/>
        </p:nvSpPr>
        <p:spPr>
          <a:xfrm>
            <a:off x="7253266" y="6491447"/>
            <a:ext cx="2466245" cy="369332"/>
          </a:xfrm>
          <a:prstGeom prst="rect">
            <a:avLst/>
          </a:prstGeom>
          <a:noFill/>
        </p:spPr>
        <p:txBody>
          <a:bodyPr wrap="square" rtlCol="0">
            <a:spAutoFit/>
          </a:bodyPr>
          <a:lstStyle/>
          <a:p>
            <a:pPr marL="0" lvl="2"/>
            <a:r>
              <a:rPr lang="en-US" b="1" dirty="0">
                <a:latin typeface="Frutiger 45 Light" panose="020B0603020202020204" pitchFamily="34" charset="0"/>
              </a:rPr>
              <a:t>What can go wrong</a:t>
            </a:r>
            <a:r>
              <a:rPr lang="en-US" sz="1600" b="1" dirty="0">
                <a:latin typeface="Frutiger 45 Light" panose="020B0603020202020204" pitchFamily="34" charset="0"/>
              </a:rPr>
              <a:t>?</a:t>
            </a:r>
          </a:p>
        </p:txBody>
      </p:sp>
    </p:spTree>
    <p:custDataLst>
      <p:tags r:id="rId1"/>
    </p:custDataLst>
    <p:extLst>
      <p:ext uri="{BB962C8B-B14F-4D97-AF65-F5344CB8AC3E}">
        <p14:creationId xmlns:p14="http://schemas.microsoft.com/office/powerpoint/2010/main" val="4061712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randombar(horizontal)">
                                      <p:cBhvr>
                                        <p:cTn id="7" dur="500"/>
                                        <p:tgtEl>
                                          <p:spTgt spid="57"/>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56"/>
                                        </p:tgtEl>
                                        <p:attrNameLst>
                                          <p:attrName>style.visibility</p:attrName>
                                        </p:attrNameLst>
                                      </p:cBhvr>
                                      <p:to>
                                        <p:strVal val="visible"/>
                                      </p:to>
                                    </p:set>
                                    <p:animEffect transition="in" filter="randombar(horizontal)">
                                      <p:cBhvr>
                                        <p:cTn id="10" dur="500"/>
                                        <p:tgtEl>
                                          <p:spTgt spid="56"/>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68"/>
                                        </p:tgtEl>
                                        <p:attrNameLst>
                                          <p:attrName>style.visibility</p:attrName>
                                        </p:attrNameLst>
                                      </p:cBhvr>
                                      <p:to>
                                        <p:strVal val="visible"/>
                                      </p:to>
                                    </p:set>
                                    <p:animEffect transition="in" filter="randombar(horizontal)">
                                      <p:cBhvr>
                                        <p:cTn id="13" dur="500"/>
                                        <p:tgtEl>
                                          <p:spTgt spid="68"/>
                                        </p:tgtEl>
                                      </p:cBhvr>
                                    </p:animEffect>
                                  </p:childTnLst>
                                </p:cTn>
                              </p:par>
                              <p:par>
                                <p:cTn id="14" presetID="14" presetClass="entr" presetSubtype="10" fill="hold" grpId="0" nodeType="withEffect">
                                  <p:stCondLst>
                                    <p:cond delay="0"/>
                                  </p:stCondLst>
                                  <p:childTnLst>
                                    <p:set>
                                      <p:cBhvr>
                                        <p:cTn id="15" dur="1" fill="hold">
                                          <p:stCondLst>
                                            <p:cond delay="0"/>
                                          </p:stCondLst>
                                        </p:cTn>
                                        <p:tgtEl>
                                          <p:spTgt spid="69"/>
                                        </p:tgtEl>
                                        <p:attrNameLst>
                                          <p:attrName>style.visibility</p:attrName>
                                        </p:attrNameLst>
                                      </p:cBhvr>
                                      <p:to>
                                        <p:strVal val="visible"/>
                                      </p:to>
                                    </p:set>
                                    <p:animEffect transition="in" filter="randombar(horizontal)">
                                      <p:cBhvr>
                                        <p:cTn id="16" dur="500"/>
                                        <p:tgtEl>
                                          <p:spTgt spid="69"/>
                                        </p:tgtEl>
                                      </p:cBhvr>
                                    </p:animEffect>
                                  </p:childTnLst>
                                </p:cTn>
                              </p:par>
                              <p:par>
                                <p:cTn id="17" presetID="14" presetClass="entr" presetSubtype="10" fill="hold" nodeType="withEffect">
                                  <p:stCondLst>
                                    <p:cond delay="0"/>
                                  </p:stCondLst>
                                  <p:childTnLst>
                                    <p:set>
                                      <p:cBhvr>
                                        <p:cTn id="18" dur="1" fill="hold">
                                          <p:stCondLst>
                                            <p:cond delay="0"/>
                                          </p:stCondLst>
                                        </p:cTn>
                                        <p:tgtEl>
                                          <p:spTgt spid="64"/>
                                        </p:tgtEl>
                                        <p:attrNameLst>
                                          <p:attrName>style.visibility</p:attrName>
                                        </p:attrNameLst>
                                      </p:cBhvr>
                                      <p:to>
                                        <p:strVal val="visible"/>
                                      </p:to>
                                    </p:set>
                                    <p:animEffect transition="in" filter="randombar(horizontal)">
                                      <p:cBhvr>
                                        <p:cTn id="19" dur="500"/>
                                        <p:tgtEl>
                                          <p:spTgt spid="64"/>
                                        </p:tgtEl>
                                      </p:cBhvr>
                                    </p:animEffect>
                                  </p:childTnLst>
                                </p:cTn>
                              </p:par>
                              <p:par>
                                <p:cTn id="20" presetID="14" presetClass="entr" presetSubtype="10" fill="hold" nodeType="withEffect">
                                  <p:stCondLst>
                                    <p:cond delay="0"/>
                                  </p:stCondLst>
                                  <p:childTnLst>
                                    <p:set>
                                      <p:cBhvr>
                                        <p:cTn id="21" dur="1" fill="hold">
                                          <p:stCondLst>
                                            <p:cond delay="0"/>
                                          </p:stCondLst>
                                        </p:cTn>
                                        <p:tgtEl>
                                          <p:spTgt spid="63"/>
                                        </p:tgtEl>
                                        <p:attrNameLst>
                                          <p:attrName>style.visibility</p:attrName>
                                        </p:attrNameLst>
                                      </p:cBhvr>
                                      <p:to>
                                        <p:strVal val="visible"/>
                                      </p:to>
                                    </p:set>
                                    <p:animEffect transition="in" filter="randombar(horizontal)">
                                      <p:cBhvr>
                                        <p:cTn id="22" dur="500"/>
                                        <p:tgtEl>
                                          <p:spTgt spid="63"/>
                                        </p:tgtEl>
                                      </p:cBhvr>
                                    </p:animEffect>
                                  </p:childTnLst>
                                </p:cTn>
                              </p:par>
                              <p:par>
                                <p:cTn id="23" presetID="14" presetClass="entr" presetSubtype="10" fill="hold" grpId="0" nodeType="withEffect">
                                  <p:stCondLst>
                                    <p:cond delay="0"/>
                                  </p:stCondLst>
                                  <p:childTnLst>
                                    <p:set>
                                      <p:cBhvr>
                                        <p:cTn id="24" dur="1" fill="hold">
                                          <p:stCondLst>
                                            <p:cond delay="0"/>
                                          </p:stCondLst>
                                        </p:cTn>
                                        <p:tgtEl>
                                          <p:spTgt spid="62"/>
                                        </p:tgtEl>
                                        <p:attrNameLst>
                                          <p:attrName>style.visibility</p:attrName>
                                        </p:attrNameLst>
                                      </p:cBhvr>
                                      <p:to>
                                        <p:strVal val="visible"/>
                                      </p:to>
                                    </p:set>
                                    <p:animEffect transition="in" filter="randombar(horizontal)">
                                      <p:cBhvr>
                                        <p:cTn id="25" dur="500"/>
                                        <p:tgtEl>
                                          <p:spTgt spid="62"/>
                                        </p:tgtEl>
                                      </p:cBhvr>
                                    </p:animEffect>
                                  </p:childTnLst>
                                </p:cTn>
                              </p:par>
                              <p:par>
                                <p:cTn id="26" presetID="14" presetClass="entr" presetSubtype="10" fill="hold" nodeType="withEffect">
                                  <p:stCondLst>
                                    <p:cond delay="0"/>
                                  </p:stCondLst>
                                  <p:childTnLst>
                                    <p:set>
                                      <p:cBhvr>
                                        <p:cTn id="27" dur="1" fill="hold">
                                          <p:stCondLst>
                                            <p:cond delay="0"/>
                                          </p:stCondLst>
                                        </p:cTn>
                                        <p:tgtEl>
                                          <p:spTgt spid="59"/>
                                        </p:tgtEl>
                                        <p:attrNameLst>
                                          <p:attrName>style.visibility</p:attrName>
                                        </p:attrNameLst>
                                      </p:cBhvr>
                                      <p:to>
                                        <p:strVal val="visible"/>
                                      </p:to>
                                    </p:set>
                                    <p:animEffect transition="in" filter="randombar(horizontal)">
                                      <p:cBhvr>
                                        <p:cTn id="28" dur="500"/>
                                        <p:tgtEl>
                                          <p:spTgt spid="59"/>
                                        </p:tgtEl>
                                      </p:cBhvr>
                                    </p:animEffect>
                                  </p:childTnLst>
                                </p:cTn>
                              </p:par>
                              <p:par>
                                <p:cTn id="29" presetID="14" presetClass="entr" presetSubtype="10" fill="hold" nodeType="withEffect">
                                  <p:stCondLst>
                                    <p:cond delay="0"/>
                                  </p:stCondLst>
                                  <p:childTnLst>
                                    <p:set>
                                      <p:cBhvr>
                                        <p:cTn id="30" dur="1" fill="hold">
                                          <p:stCondLst>
                                            <p:cond delay="0"/>
                                          </p:stCondLst>
                                        </p:cTn>
                                        <p:tgtEl>
                                          <p:spTgt spid="58"/>
                                        </p:tgtEl>
                                        <p:attrNameLst>
                                          <p:attrName>style.visibility</p:attrName>
                                        </p:attrNameLst>
                                      </p:cBhvr>
                                      <p:to>
                                        <p:strVal val="visible"/>
                                      </p:to>
                                    </p:set>
                                    <p:animEffect transition="in" filter="randombar(horizontal)">
                                      <p:cBhvr>
                                        <p:cTn id="31" dur="500"/>
                                        <p:tgtEl>
                                          <p:spTgt spid="58"/>
                                        </p:tgtEl>
                                      </p:cBhvr>
                                    </p:animEffect>
                                  </p:childTnLst>
                                </p:cTn>
                              </p:par>
                              <p:par>
                                <p:cTn id="32" presetID="1" presetClass="entr" presetSubtype="0" fill="hold" nodeType="withEffect">
                                  <p:stCondLst>
                                    <p:cond delay="0"/>
                                  </p:stCondLst>
                                  <p:childTnLst>
                                    <p:set>
                                      <p:cBhvr>
                                        <p:cTn id="33" dur="1" fill="hold">
                                          <p:stCondLst>
                                            <p:cond delay="0"/>
                                          </p:stCondLst>
                                        </p:cTn>
                                        <p:tgtEl>
                                          <p:spTgt spid="75"/>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4" presetClass="entr" presetSubtype="10" fill="hold" nodeType="clickEffect">
                                  <p:stCondLst>
                                    <p:cond delay="0"/>
                                  </p:stCondLst>
                                  <p:childTnLst>
                                    <p:set>
                                      <p:cBhvr>
                                        <p:cTn id="37" dur="1" fill="hold">
                                          <p:stCondLst>
                                            <p:cond delay="0"/>
                                          </p:stCondLst>
                                        </p:cTn>
                                        <p:tgtEl>
                                          <p:spTgt spid="60"/>
                                        </p:tgtEl>
                                        <p:attrNameLst>
                                          <p:attrName>style.visibility</p:attrName>
                                        </p:attrNameLst>
                                      </p:cBhvr>
                                      <p:to>
                                        <p:strVal val="visible"/>
                                      </p:to>
                                    </p:set>
                                    <p:animEffect transition="in" filter="randombar(horizontal)">
                                      <p:cBhvr>
                                        <p:cTn id="38" dur="500"/>
                                        <p:tgtEl>
                                          <p:spTgt spid="60"/>
                                        </p:tgtEl>
                                      </p:cBhvr>
                                    </p:animEffect>
                                  </p:childTnLst>
                                </p:cTn>
                              </p:par>
                              <p:par>
                                <p:cTn id="39" presetID="14" presetClass="entr" presetSubtype="10" fill="hold" grpId="0" nodeType="withEffect">
                                  <p:stCondLst>
                                    <p:cond delay="0"/>
                                  </p:stCondLst>
                                  <p:childTnLst>
                                    <p:set>
                                      <p:cBhvr>
                                        <p:cTn id="40" dur="1" fill="hold">
                                          <p:stCondLst>
                                            <p:cond delay="0"/>
                                          </p:stCondLst>
                                        </p:cTn>
                                        <p:tgtEl>
                                          <p:spTgt spid="55"/>
                                        </p:tgtEl>
                                        <p:attrNameLst>
                                          <p:attrName>style.visibility</p:attrName>
                                        </p:attrNameLst>
                                      </p:cBhvr>
                                      <p:to>
                                        <p:strVal val="visible"/>
                                      </p:to>
                                    </p:set>
                                    <p:animEffect transition="in" filter="randombar(horizontal)">
                                      <p:cBhvr>
                                        <p:cTn id="41" dur="500"/>
                                        <p:tgtEl>
                                          <p:spTgt spid="55"/>
                                        </p:tgtEl>
                                      </p:cBhvr>
                                    </p:animEffect>
                                  </p:childTnLst>
                                </p:cTn>
                              </p:par>
                              <p:par>
                                <p:cTn id="42" presetID="14" presetClass="entr" presetSubtype="10" fill="hold" nodeType="withEffect">
                                  <p:stCondLst>
                                    <p:cond delay="0"/>
                                  </p:stCondLst>
                                  <p:childTnLst>
                                    <p:set>
                                      <p:cBhvr>
                                        <p:cTn id="43" dur="1" fill="hold">
                                          <p:stCondLst>
                                            <p:cond delay="0"/>
                                          </p:stCondLst>
                                        </p:cTn>
                                        <p:tgtEl>
                                          <p:spTgt spid="61"/>
                                        </p:tgtEl>
                                        <p:attrNameLst>
                                          <p:attrName>style.visibility</p:attrName>
                                        </p:attrNameLst>
                                      </p:cBhvr>
                                      <p:to>
                                        <p:strVal val="visible"/>
                                      </p:to>
                                    </p:set>
                                    <p:animEffect transition="in" filter="randombar(horizontal)">
                                      <p:cBhvr>
                                        <p:cTn id="44" dur="500"/>
                                        <p:tgtEl>
                                          <p:spTgt spid="61"/>
                                        </p:tgtEl>
                                      </p:cBhvr>
                                    </p:animEffect>
                                  </p:childTnLst>
                                </p:cTn>
                              </p:par>
                              <p:par>
                                <p:cTn id="45" presetID="14" presetClass="entr" presetSubtype="10" fill="hold" nodeType="withEffect">
                                  <p:stCondLst>
                                    <p:cond delay="0"/>
                                  </p:stCondLst>
                                  <p:childTnLst>
                                    <p:set>
                                      <p:cBhvr>
                                        <p:cTn id="46" dur="1" fill="hold">
                                          <p:stCondLst>
                                            <p:cond delay="0"/>
                                          </p:stCondLst>
                                        </p:cTn>
                                        <p:tgtEl>
                                          <p:spTgt spid="65"/>
                                        </p:tgtEl>
                                        <p:attrNameLst>
                                          <p:attrName>style.visibility</p:attrName>
                                        </p:attrNameLst>
                                      </p:cBhvr>
                                      <p:to>
                                        <p:strVal val="visible"/>
                                      </p:to>
                                    </p:set>
                                    <p:animEffect transition="in" filter="randombar(horizontal)">
                                      <p:cBhvr>
                                        <p:cTn id="47" dur="500"/>
                                        <p:tgtEl>
                                          <p:spTgt spid="65"/>
                                        </p:tgtEl>
                                      </p:cBhvr>
                                    </p:animEffect>
                                  </p:childTnLst>
                                </p:cTn>
                              </p:par>
                              <p:par>
                                <p:cTn id="48" presetID="14" presetClass="entr" presetSubtype="10" fill="hold" grpId="0" nodeType="withEffect">
                                  <p:stCondLst>
                                    <p:cond delay="0"/>
                                  </p:stCondLst>
                                  <p:childTnLst>
                                    <p:set>
                                      <p:cBhvr>
                                        <p:cTn id="49" dur="1" fill="hold">
                                          <p:stCondLst>
                                            <p:cond delay="0"/>
                                          </p:stCondLst>
                                        </p:cTn>
                                        <p:tgtEl>
                                          <p:spTgt spid="67"/>
                                        </p:tgtEl>
                                        <p:attrNameLst>
                                          <p:attrName>style.visibility</p:attrName>
                                        </p:attrNameLst>
                                      </p:cBhvr>
                                      <p:to>
                                        <p:strVal val="visible"/>
                                      </p:to>
                                    </p:set>
                                    <p:animEffect transition="in" filter="randombar(horizontal)">
                                      <p:cBhvr>
                                        <p:cTn id="50" dur="500"/>
                                        <p:tgtEl>
                                          <p:spTgt spid="67"/>
                                        </p:tgtEl>
                                      </p:cBhvr>
                                    </p:animEffect>
                                  </p:childTnLst>
                                </p:cTn>
                              </p:par>
                              <p:par>
                                <p:cTn id="51" presetID="14" presetClass="entr" presetSubtype="10" fill="hold" grpId="0" nodeType="withEffect">
                                  <p:stCondLst>
                                    <p:cond delay="0"/>
                                  </p:stCondLst>
                                  <p:childTnLst>
                                    <p:set>
                                      <p:cBhvr>
                                        <p:cTn id="52" dur="1" fill="hold">
                                          <p:stCondLst>
                                            <p:cond delay="0"/>
                                          </p:stCondLst>
                                        </p:cTn>
                                        <p:tgtEl>
                                          <p:spTgt spid="66"/>
                                        </p:tgtEl>
                                        <p:attrNameLst>
                                          <p:attrName>style.visibility</p:attrName>
                                        </p:attrNameLst>
                                      </p:cBhvr>
                                      <p:to>
                                        <p:strVal val="visible"/>
                                      </p:to>
                                    </p:set>
                                    <p:animEffect transition="in" filter="randombar(horizontal)">
                                      <p:cBhvr>
                                        <p:cTn id="53" dur="500"/>
                                        <p:tgtEl>
                                          <p:spTgt spid="66"/>
                                        </p:tgtEl>
                                      </p:cBhvr>
                                    </p:animEffect>
                                  </p:childTnLst>
                                </p:cTn>
                              </p:par>
                            </p:childTnLst>
                          </p:cTn>
                        </p:par>
                      </p:childTnLst>
                    </p:cTn>
                  </p:par>
                  <p:par>
                    <p:cTn id="54" fill="hold">
                      <p:stCondLst>
                        <p:cond delay="indefinite"/>
                      </p:stCondLst>
                      <p:childTnLst>
                        <p:par>
                          <p:cTn id="55" fill="hold">
                            <p:stCondLst>
                              <p:cond delay="0"/>
                            </p:stCondLst>
                            <p:childTnLst>
                              <p:par>
                                <p:cTn id="56" presetID="14" presetClass="entr" presetSubtype="10" fill="hold" nodeType="clickEffect">
                                  <p:stCondLst>
                                    <p:cond delay="0"/>
                                  </p:stCondLst>
                                  <p:childTnLst>
                                    <p:set>
                                      <p:cBhvr>
                                        <p:cTn id="57" dur="1" fill="hold">
                                          <p:stCondLst>
                                            <p:cond delay="0"/>
                                          </p:stCondLst>
                                        </p:cTn>
                                        <p:tgtEl>
                                          <p:spTgt spid="71"/>
                                        </p:tgtEl>
                                        <p:attrNameLst>
                                          <p:attrName>style.visibility</p:attrName>
                                        </p:attrNameLst>
                                      </p:cBhvr>
                                      <p:to>
                                        <p:strVal val="visible"/>
                                      </p:to>
                                    </p:set>
                                    <p:animEffect transition="in" filter="randombar(horizontal)">
                                      <p:cBhvr>
                                        <p:cTn id="58" dur="500"/>
                                        <p:tgtEl>
                                          <p:spTgt spid="71"/>
                                        </p:tgtEl>
                                      </p:cBhvr>
                                    </p:animEffect>
                                  </p:childTnLst>
                                </p:cTn>
                              </p:par>
                            </p:childTnLst>
                          </p:cTn>
                        </p:par>
                      </p:childTnLst>
                    </p:cTn>
                  </p:par>
                  <p:par>
                    <p:cTn id="59" fill="hold">
                      <p:stCondLst>
                        <p:cond delay="indefinite"/>
                      </p:stCondLst>
                      <p:childTnLst>
                        <p:par>
                          <p:cTn id="60" fill="hold">
                            <p:stCondLst>
                              <p:cond delay="0"/>
                            </p:stCondLst>
                            <p:childTnLst>
                              <p:par>
                                <p:cTn id="61" presetID="42" presetClass="path" presetSubtype="0" accel="50000" decel="50000" fill="hold" nodeType="clickEffect">
                                  <p:stCondLst>
                                    <p:cond delay="0"/>
                                  </p:stCondLst>
                                  <p:childTnLst>
                                    <p:animMotion origin="layout" path="M -4.14141E-6 0 L 0.35291 0 " pathEditMode="relative" rAng="0" ptsTypes="AA">
                                      <p:cBhvr>
                                        <p:cTn id="62" dur="2000" fill="hold"/>
                                        <p:tgtEl>
                                          <p:spTgt spid="71"/>
                                        </p:tgtEl>
                                        <p:attrNameLst>
                                          <p:attrName>ppt_x</p:attrName>
                                          <p:attrName>ppt_y</p:attrName>
                                        </p:attrNameLst>
                                      </p:cBhvr>
                                      <p:rCtr x="17645" y="0"/>
                                    </p:animMotion>
                                  </p:childTnLst>
                                </p:cTn>
                              </p:par>
                            </p:childTnLst>
                          </p:cTn>
                        </p:par>
                        <p:par>
                          <p:cTn id="63" fill="hold">
                            <p:stCondLst>
                              <p:cond delay="2000"/>
                            </p:stCondLst>
                            <p:childTnLst>
                              <p:par>
                                <p:cTn id="64" presetID="63" presetClass="path" presetSubtype="0" accel="50000" decel="50000" fill="hold" nodeType="afterEffect">
                                  <p:stCondLst>
                                    <p:cond delay="0"/>
                                  </p:stCondLst>
                                  <p:childTnLst>
                                    <p:animMotion origin="layout" path="M -4.14141E-6 0 L 0.35291 0 " pathEditMode="relative" rAng="0" ptsTypes="AA">
                                      <p:cBhvr>
                                        <p:cTn id="65" dur="2000" fill="hold"/>
                                        <p:tgtEl>
                                          <p:spTgt spid="71"/>
                                        </p:tgtEl>
                                        <p:attrNameLst>
                                          <p:attrName>ppt_x</p:attrName>
                                          <p:attrName>ppt_y</p:attrName>
                                        </p:attrNameLst>
                                      </p:cBhvr>
                                      <p:rCtr x="17645" y="0"/>
                                    </p:animMotion>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83"/>
                                        </p:tgtEl>
                                        <p:attrNameLst>
                                          <p:attrName>style.visibility</p:attrName>
                                        </p:attrNameLst>
                                      </p:cBhvr>
                                      <p:to>
                                        <p:strVal val="visible"/>
                                      </p:to>
                                    </p:set>
                                    <p:animEffect transition="in" filter="fade">
                                      <p:cBhvr>
                                        <p:cTn id="70" dur="500"/>
                                        <p:tgtEl>
                                          <p:spTgt spid="83"/>
                                        </p:tgtEl>
                                      </p:cBhvr>
                                    </p:animEffect>
                                  </p:childTnLst>
                                </p:cTn>
                              </p:par>
                            </p:childTnLst>
                          </p:cTn>
                        </p:par>
                      </p:childTnLst>
                    </p:cTn>
                  </p:par>
                  <p:par>
                    <p:cTn id="71" fill="hold">
                      <p:stCondLst>
                        <p:cond delay="indefinite"/>
                      </p:stCondLst>
                      <p:childTnLst>
                        <p:par>
                          <p:cTn id="72" fill="hold">
                            <p:stCondLst>
                              <p:cond delay="0"/>
                            </p:stCondLst>
                            <p:childTnLst>
                              <p:par>
                                <p:cTn id="73" presetID="14" presetClass="entr" presetSubtype="10" fill="hold" grpId="0" nodeType="clickEffect">
                                  <p:stCondLst>
                                    <p:cond delay="0"/>
                                  </p:stCondLst>
                                  <p:childTnLst>
                                    <p:set>
                                      <p:cBhvr>
                                        <p:cTn id="74" dur="1" fill="hold">
                                          <p:stCondLst>
                                            <p:cond delay="0"/>
                                          </p:stCondLst>
                                        </p:cTn>
                                        <p:tgtEl>
                                          <p:spTgt spid="70"/>
                                        </p:tgtEl>
                                        <p:attrNameLst>
                                          <p:attrName>style.visibility</p:attrName>
                                        </p:attrNameLst>
                                      </p:cBhvr>
                                      <p:to>
                                        <p:strVal val="visible"/>
                                      </p:to>
                                    </p:set>
                                    <p:animEffect transition="in" filter="randombar(horizontal)">
                                      <p:cBhvr>
                                        <p:cTn id="75" dur="500"/>
                                        <p:tgtEl>
                                          <p:spTgt spid="70"/>
                                        </p:tgtEl>
                                      </p:cBhvr>
                                    </p:animEffect>
                                  </p:childTnLst>
                                </p:cTn>
                              </p:par>
                              <p:par>
                                <p:cTn id="76" presetID="1" presetClass="exit" presetSubtype="0" fill="hold" nodeType="withEffect">
                                  <p:stCondLst>
                                    <p:cond delay="0"/>
                                  </p:stCondLst>
                                  <p:childTnLst>
                                    <p:set>
                                      <p:cBhvr>
                                        <p:cTn id="77" dur="1" fill="hold">
                                          <p:stCondLst>
                                            <p:cond delay="0"/>
                                          </p:stCondLst>
                                        </p:cTn>
                                        <p:tgtEl>
                                          <p:spTgt spid="59"/>
                                        </p:tgtEl>
                                        <p:attrNameLst>
                                          <p:attrName>style.visibility</p:attrName>
                                        </p:attrNameLst>
                                      </p:cBhvr>
                                      <p:to>
                                        <p:strVal val="hidden"/>
                                      </p:to>
                                    </p:set>
                                  </p:childTnLst>
                                </p:cTn>
                              </p:par>
                              <p:par>
                                <p:cTn id="78" presetID="1" presetClass="exit" presetSubtype="0" fill="hold" nodeType="withEffect">
                                  <p:stCondLst>
                                    <p:cond delay="0"/>
                                  </p:stCondLst>
                                  <p:childTnLst>
                                    <p:set>
                                      <p:cBhvr>
                                        <p:cTn id="79" dur="1" fill="hold">
                                          <p:stCondLst>
                                            <p:cond delay="0"/>
                                          </p:stCondLst>
                                        </p:cTn>
                                        <p:tgtEl>
                                          <p:spTgt spid="58"/>
                                        </p:tgtEl>
                                        <p:attrNameLst>
                                          <p:attrName>style.visibility</p:attrName>
                                        </p:attrNameLst>
                                      </p:cBhvr>
                                      <p:to>
                                        <p:strVal val="hidden"/>
                                      </p:to>
                                    </p:set>
                                  </p:childTnLst>
                                </p:cTn>
                              </p:par>
                              <p:par>
                                <p:cTn id="80" presetID="1" presetClass="exit" presetSubtype="0" fill="hold" grpId="1" nodeType="withEffect">
                                  <p:stCondLst>
                                    <p:cond delay="0"/>
                                  </p:stCondLst>
                                  <p:childTnLst>
                                    <p:set>
                                      <p:cBhvr>
                                        <p:cTn id="81" dur="1" fill="hold">
                                          <p:stCondLst>
                                            <p:cond delay="0"/>
                                          </p:stCondLst>
                                        </p:cTn>
                                        <p:tgtEl>
                                          <p:spTgt spid="62"/>
                                        </p:tgtEl>
                                        <p:attrNameLst>
                                          <p:attrName>style.visibility</p:attrName>
                                        </p:attrNameLst>
                                      </p:cBhvr>
                                      <p:to>
                                        <p:strVal val="hidden"/>
                                      </p:to>
                                    </p:set>
                                  </p:childTnLst>
                                </p:cTn>
                              </p:par>
                              <p:par>
                                <p:cTn id="82" presetID="14" presetClass="entr" presetSubtype="10" fill="hold" nodeType="withEffect">
                                  <p:stCondLst>
                                    <p:cond delay="0"/>
                                  </p:stCondLst>
                                  <p:childTnLst>
                                    <p:set>
                                      <p:cBhvr>
                                        <p:cTn id="83" dur="1" fill="hold">
                                          <p:stCondLst>
                                            <p:cond delay="0"/>
                                          </p:stCondLst>
                                        </p:cTn>
                                        <p:tgtEl>
                                          <p:spTgt spid="74"/>
                                        </p:tgtEl>
                                        <p:attrNameLst>
                                          <p:attrName>style.visibility</p:attrName>
                                        </p:attrNameLst>
                                      </p:cBhvr>
                                      <p:to>
                                        <p:strVal val="visible"/>
                                      </p:to>
                                    </p:set>
                                    <p:animEffect transition="in" filter="randombar(horizontal)">
                                      <p:cBhvr>
                                        <p:cTn id="84" dur="500"/>
                                        <p:tgtEl>
                                          <p:spTgt spid="74"/>
                                        </p:tgtEl>
                                      </p:cBhvr>
                                    </p:animEffect>
                                  </p:childTnLst>
                                </p:cTn>
                              </p:par>
                              <p:par>
                                <p:cTn id="85" presetID="14" presetClass="entr" presetSubtype="10" fill="hold" nodeType="withEffect">
                                  <p:stCondLst>
                                    <p:cond delay="0"/>
                                  </p:stCondLst>
                                  <p:childTnLst>
                                    <p:set>
                                      <p:cBhvr>
                                        <p:cTn id="86" dur="1" fill="hold">
                                          <p:stCondLst>
                                            <p:cond delay="0"/>
                                          </p:stCondLst>
                                        </p:cTn>
                                        <p:tgtEl>
                                          <p:spTgt spid="73"/>
                                        </p:tgtEl>
                                        <p:attrNameLst>
                                          <p:attrName>style.visibility</p:attrName>
                                        </p:attrNameLst>
                                      </p:cBhvr>
                                      <p:to>
                                        <p:strVal val="visible"/>
                                      </p:to>
                                    </p:set>
                                    <p:animEffect transition="in" filter="randombar(horizontal)">
                                      <p:cBhvr>
                                        <p:cTn id="87" dur="500"/>
                                        <p:tgtEl>
                                          <p:spTgt spid="73"/>
                                        </p:tgtEl>
                                      </p:cBhvr>
                                    </p:animEffect>
                                  </p:childTnLst>
                                </p:cTn>
                              </p:par>
                              <p:par>
                                <p:cTn id="88" presetID="1" presetClass="exit" presetSubtype="0" fill="hold" nodeType="withEffect">
                                  <p:stCondLst>
                                    <p:cond delay="0"/>
                                  </p:stCondLst>
                                  <p:childTnLst>
                                    <p:set>
                                      <p:cBhvr>
                                        <p:cTn id="89" dur="1" fill="hold">
                                          <p:stCondLst>
                                            <p:cond delay="0"/>
                                          </p:stCondLst>
                                        </p:cTn>
                                        <p:tgtEl>
                                          <p:spTgt spid="71"/>
                                        </p:tgtEl>
                                        <p:attrNameLst>
                                          <p:attrName>style.visibility</p:attrName>
                                        </p:attrNameLst>
                                      </p:cBhvr>
                                      <p:to>
                                        <p:strVal val="hidden"/>
                                      </p:to>
                                    </p:set>
                                  </p:childTnLst>
                                </p:cTn>
                              </p:par>
                              <p:par>
                                <p:cTn id="90" presetID="14" presetClass="entr" presetSubtype="10" fill="hold" nodeType="withEffect">
                                  <p:stCondLst>
                                    <p:cond delay="0"/>
                                  </p:stCondLst>
                                  <p:childTnLst>
                                    <p:set>
                                      <p:cBhvr>
                                        <p:cTn id="91" dur="1" fill="hold">
                                          <p:stCondLst>
                                            <p:cond delay="0"/>
                                          </p:stCondLst>
                                        </p:cTn>
                                        <p:tgtEl>
                                          <p:spTgt spid="54"/>
                                        </p:tgtEl>
                                        <p:attrNameLst>
                                          <p:attrName>style.visibility</p:attrName>
                                        </p:attrNameLst>
                                      </p:cBhvr>
                                      <p:to>
                                        <p:strVal val="visible"/>
                                      </p:to>
                                    </p:set>
                                    <p:animEffect transition="in" filter="randombar(horizontal)">
                                      <p:cBhvr>
                                        <p:cTn id="92" dur="500"/>
                                        <p:tgtEl>
                                          <p:spTgt spid="54"/>
                                        </p:tgtEl>
                                      </p:cBhvr>
                                    </p:animEffect>
                                  </p:childTnLst>
                                </p:cTn>
                              </p:par>
                              <p:par>
                                <p:cTn id="93" presetID="10" presetClass="entr" presetSubtype="0" fill="hold" grpId="1" nodeType="withEffect">
                                  <p:stCondLst>
                                    <p:cond delay="0"/>
                                  </p:stCondLst>
                                  <p:childTnLst>
                                    <p:set>
                                      <p:cBhvr>
                                        <p:cTn id="94" dur="1" fill="hold">
                                          <p:stCondLst>
                                            <p:cond delay="0"/>
                                          </p:stCondLst>
                                        </p:cTn>
                                        <p:tgtEl>
                                          <p:spTgt spid="83"/>
                                        </p:tgtEl>
                                        <p:attrNameLst>
                                          <p:attrName>style.visibility</p:attrName>
                                        </p:attrNameLst>
                                      </p:cBhvr>
                                      <p:to>
                                        <p:strVal val="visible"/>
                                      </p:to>
                                    </p:set>
                                    <p:animEffect transition="in" filter="fade">
                                      <p:cBhvr>
                                        <p:cTn id="95" dur="500"/>
                                        <p:tgtEl>
                                          <p:spTgt spid="83"/>
                                        </p:tgtEl>
                                      </p:cBhvr>
                                    </p:animEffect>
                                  </p:childTnLst>
                                </p:cTn>
                              </p:par>
                            </p:childTnLst>
                          </p:cTn>
                        </p:par>
                      </p:childTnLst>
                    </p:cTn>
                  </p:par>
                  <p:par>
                    <p:cTn id="96" fill="hold">
                      <p:stCondLst>
                        <p:cond delay="indefinite"/>
                      </p:stCondLst>
                      <p:childTnLst>
                        <p:par>
                          <p:cTn id="97" fill="hold">
                            <p:stCondLst>
                              <p:cond delay="0"/>
                            </p:stCondLst>
                            <p:childTnLst>
                              <p:par>
                                <p:cTn id="98" presetID="14" presetClass="entr" presetSubtype="10" fill="hold" nodeType="clickEffect">
                                  <p:stCondLst>
                                    <p:cond delay="0"/>
                                  </p:stCondLst>
                                  <p:childTnLst>
                                    <p:set>
                                      <p:cBhvr>
                                        <p:cTn id="99" dur="1" fill="hold">
                                          <p:stCondLst>
                                            <p:cond delay="0"/>
                                          </p:stCondLst>
                                        </p:cTn>
                                        <p:tgtEl>
                                          <p:spTgt spid="72"/>
                                        </p:tgtEl>
                                        <p:attrNameLst>
                                          <p:attrName>style.visibility</p:attrName>
                                        </p:attrNameLst>
                                      </p:cBhvr>
                                      <p:to>
                                        <p:strVal val="visible"/>
                                      </p:to>
                                    </p:set>
                                    <p:animEffect transition="in" filter="randombar(horizontal)">
                                      <p:cBhvr>
                                        <p:cTn id="100" dur="500"/>
                                        <p:tgtEl>
                                          <p:spTgt spid="72"/>
                                        </p:tgtEl>
                                      </p:cBhvr>
                                    </p:animEffect>
                                  </p:childTnLst>
                                </p:cTn>
                              </p:par>
                            </p:childTnLst>
                          </p:cTn>
                        </p:par>
                      </p:childTnLst>
                    </p:cTn>
                  </p:par>
                  <p:par>
                    <p:cTn id="101" fill="hold">
                      <p:stCondLst>
                        <p:cond delay="indefinite"/>
                      </p:stCondLst>
                      <p:childTnLst>
                        <p:par>
                          <p:cTn id="102" fill="hold">
                            <p:stCondLst>
                              <p:cond delay="0"/>
                            </p:stCondLst>
                            <p:childTnLst>
                              <p:par>
                                <p:cTn id="103" presetID="36" presetClass="path" presetSubtype="0" accel="50000" decel="50000" fill="hold" nodeType="clickEffect">
                                  <p:stCondLst>
                                    <p:cond delay="0"/>
                                  </p:stCondLst>
                                  <p:childTnLst>
                                    <p:animMotion origin="layout" path="M -3.48485E-6 -1.91919E-6 L -3.48485E-6 0.07155 C -3.48485E-6 0.10333 0.04988 0.14331 0.0906 0.14331 L 0.18135 0.14331 " pathEditMode="relative" rAng="0" ptsTypes="FfFF">
                                      <p:cBhvr>
                                        <p:cTn id="104" dur="2000" fill="hold"/>
                                        <p:tgtEl>
                                          <p:spTgt spid="72"/>
                                        </p:tgtEl>
                                        <p:attrNameLst>
                                          <p:attrName>ppt_x</p:attrName>
                                          <p:attrName>ppt_y</p:attrName>
                                        </p:attrNameLst>
                                      </p:cBhvr>
                                      <p:rCtr x="9059" y="715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p:bldP spid="56" grpId="0" animBg="1"/>
      <p:bldP spid="57" grpId="0"/>
      <p:bldP spid="62" grpId="0"/>
      <p:bldP spid="62" grpId="1"/>
      <p:bldP spid="66" grpId="0" animBg="1"/>
      <p:bldP spid="67" grpId="0"/>
      <p:bldP spid="68" grpId="0" animBg="1"/>
      <p:bldP spid="69" grpId="0"/>
      <p:bldP spid="70" grpId="0"/>
      <p:bldP spid="83" grpId="0"/>
      <p:bldP spid="83"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420624" y="1841158"/>
            <a:ext cx="9189720" cy="4770780"/>
          </a:xfrm>
        </p:spPr>
        <p:txBody>
          <a:bodyPr/>
          <a:lstStyle/>
          <a:p>
            <a:pPr marL="0" indent="0">
              <a:buNone/>
            </a:pPr>
            <a:r>
              <a:rPr lang="en-US" dirty="0">
                <a:latin typeface="Frutiger 45 Light" panose="020B0603020202020204" pitchFamily="34" charset="0"/>
              </a:rPr>
              <a:t>Example:</a:t>
            </a:r>
          </a:p>
          <a:p>
            <a:pPr marL="204911" lvl="1" indent="0">
              <a:buNone/>
            </a:pPr>
            <a:r>
              <a:rPr lang="en-US" dirty="0">
                <a:latin typeface="Frutiger 45 Light" panose="020B0603020202020204" pitchFamily="34" charset="0"/>
              </a:rPr>
              <a:t>$100mio 5y loan to a company</a:t>
            </a:r>
          </a:p>
          <a:p>
            <a:pPr marL="204911" lvl="1" indent="0">
              <a:buNone/>
            </a:pPr>
            <a:r>
              <a:rPr lang="en-US" dirty="0">
                <a:latin typeface="Frutiger 45 Light" panose="020B0603020202020204" pitchFamily="34" charset="0"/>
              </a:rPr>
              <a:t>Company has no tangible assets</a:t>
            </a:r>
          </a:p>
          <a:p>
            <a:pPr marL="204911" lvl="1" indent="0">
              <a:buNone/>
            </a:pPr>
            <a:r>
              <a:rPr lang="en-US" dirty="0">
                <a:latin typeface="Frutiger 45 Light" panose="020B0603020202020204" pitchFamily="34" charset="0"/>
              </a:rPr>
              <a:t>Probability of default over next 5y is 5%</a:t>
            </a:r>
            <a:endParaRPr lang="pl-PL" dirty="0">
              <a:latin typeface="Frutiger 45 Light" panose="020B0603020202020204" pitchFamily="34" charset="0"/>
            </a:endParaRPr>
          </a:p>
          <a:p>
            <a:pPr marL="0" indent="0">
              <a:buNone/>
            </a:pPr>
            <a:r>
              <a:rPr lang="pl-PL" dirty="0">
                <a:latin typeface="Frutiger 45 Light" panose="020B0603020202020204" pitchFamily="34" charset="0"/>
              </a:rPr>
              <a:t>	</a:t>
            </a:r>
            <a:r>
              <a:rPr lang="en-US" dirty="0">
                <a:latin typeface="Frutiger 45 Light" panose="020B0603020202020204" pitchFamily="34" charset="0"/>
              </a:rPr>
              <a:t>Expected Loss = EAD x PD x LGD</a:t>
            </a:r>
          </a:p>
          <a:p>
            <a:pPr lvl="8"/>
            <a:r>
              <a:rPr lang="en-US" dirty="0">
                <a:latin typeface="Frutiger 45 Light" panose="020B0603020202020204" pitchFamily="34" charset="0"/>
              </a:rPr>
              <a:t>EAD: Exposure at Default</a:t>
            </a:r>
          </a:p>
          <a:p>
            <a:pPr lvl="4"/>
            <a:r>
              <a:rPr lang="en-US" dirty="0">
                <a:latin typeface="Frutiger 45 Light" panose="020B0603020202020204" pitchFamily="34" charset="0"/>
              </a:rPr>
              <a:t>PD: Probability of Default</a:t>
            </a:r>
          </a:p>
          <a:p>
            <a:pPr lvl="4"/>
            <a:r>
              <a:rPr lang="en-US" dirty="0">
                <a:latin typeface="Frutiger 45 Light" panose="020B0603020202020204" pitchFamily="34" charset="0"/>
              </a:rPr>
              <a:t>LGD: Loss Given Default</a:t>
            </a:r>
          </a:p>
          <a:p>
            <a:pPr marL="204911" lvl="1" indent="0">
              <a:buNone/>
            </a:pPr>
            <a:r>
              <a:rPr lang="en-US" dirty="0">
                <a:latin typeface="Frutiger 45 Light" panose="020B0603020202020204" pitchFamily="34" charset="0"/>
              </a:rPr>
              <a:t>- What is the EAD?</a:t>
            </a:r>
          </a:p>
          <a:p>
            <a:pPr marL="204911" lvl="1" indent="0">
              <a:buNone/>
            </a:pPr>
            <a:endParaRPr lang="pl-PL" b="1" dirty="0">
              <a:latin typeface="Frutiger 45 Light" panose="020B0603020202020204" pitchFamily="34" charset="0"/>
            </a:endParaRPr>
          </a:p>
          <a:p>
            <a:pPr marL="0" indent="0">
              <a:buNone/>
            </a:pPr>
            <a:r>
              <a:rPr lang="en-GB" b="1" dirty="0">
                <a:latin typeface="Frutiger 45 Light" panose="020B0603020202020204" pitchFamily="34" charset="0"/>
              </a:rPr>
              <a:t>For a corporate loan, it is easy to determine the EAD (Exposure at Default). But how can we do it for a portfolio of derivatives?</a:t>
            </a:r>
          </a:p>
          <a:p>
            <a:pPr marL="0" indent="0">
              <a:buNone/>
            </a:pPr>
            <a:endParaRPr lang="en-US" dirty="0">
              <a:latin typeface="Frutiger 45 Light" panose="020B0603020202020204" pitchFamily="34" charset="0"/>
            </a:endParaRPr>
          </a:p>
        </p:txBody>
      </p:sp>
      <p:sp>
        <p:nvSpPr>
          <p:cNvPr id="4" name="PAGE HEADING"/>
          <p:cNvSpPr>
            <a:spLocks noGrp="1"/>
          </p:cNvSpPr>
          <p:nvPr>
            <p:ph type="title"/>
            <p:custDataLst>
              <p:tags r:id="rId2"/>
            </p:custDataLst>
          </p:nvPr>
        </p:nvSpPr>
        <p:spPr/>
        <p:txBody>
          <a:bodyPr>
            <a:normAutofit/>
          </a:bodyPr>
          <a:lstStyle/>
          <a:p>
            <a:r>
              <a:rPr lang="pl-PL" dirty="0" err="1"/>
              <a:t>Counterparty</a:t>
            </a:r>
            <a:r>
              <a:rPr lang="pl-PL" dirty="0"/>
              <a:t> </a:t>
            </a:r>
            <a:r>
              <a:rPr lang="pl-PL" dirty="0" err="1"/>
              <a:t>Credit</a:t>
            </a:r>
            <a:r>
              <a:rPr lang="pl-PL" dirty="0"/>
              <a:t> </a:t>
            </a:r>
            <a:r>
              <a:rPr lang="pl-PL" dirty="0" err="1"/>
              <a:t>Risk</a:t>
            </a:r>
            <a:r>
              <a:rPr lang="pl-PL" dirty="0"/>
              <a:t> - </a:t>
            </a:r>
            <a:r>
              <a:rPr lang="pl-PL" dirty="0" err="1"/>
              <a:t>Introduction</a:t>
            </a:r>
            <a:endParaRPr lang="en-US" dirty="0"/>
          </a:p>
        </p:txBody>
      </p:sp>
      <p:sp>
        <p:nvSpPr>
          <p:cNvPr id="2" name="TextBox 1"/>
          <p:cNvSpPr txBox="1"/>
          <p:nvPr>
            <p:custDataLst>
              <p:tags r:id="rId3"/>
            </p:custDataLst>
          </p:nvPr>
        </p:nvSpPr>
        <p:spPr>
          <a:xfrm>
            <a:off x="420624" y="1120775"/>
            <a:ext cx="9189720" cy="274320"/>
          </a:xfrm>
          <a:prstGeom prst="rect">
            <a:avLst/>
          </a:prstGeom>
          <a:noFill/>
        </p:spPr>
        <p:txBody>
          <a:bodyPr vert="horz" wrap="square" lIns="0" tIns="0" rIns="0" bIns="0" rtlCol="0" anchor="t">
            <a:noAutofit/>
          </a:bodyPr>
          <a:lstStyle/>
          <a:p>
            <a:pPr eaLnBrk="1">
              <a:spcBef>
                <a:spcPts val="0"/>
              </a:spcBef>
              <a:spcAft>
                <a:spcPts val="600"/>
              </a:spcAft>
            </a:pPr>
            <a:r>
              <a:rPr lang="pl-PL" sz="2000" kern="0" dirty="0" err="1">
                <a:solidFill>
                  <a:srgbClr val="464749"/>
                </a:solidFill>
                <a:latin typeface="Frutiger 45 Light" panose="020B0603020202020204" pitchFamily="34" charset="0"/>
              </a:rPr>
              <a:t>Expected</a:t>
            </a:r>
            <a:r>
              <a:rPr lang="pl-PL" sz="2000" kern="0" dirty="0">
                <a:solidFill>
                  <a:srgbClr val="464749"/>
                </a:solidFill>
                <a:latin typeface="Frutiger 45 Light" panose="020B0603020202020204" pitchFamily="34" charset="0"/>
              </a:rPr>
              <a:t> </a:t>
            </a:r>
            <a:r>
              <a:rPr lang="pl-PL" sz="2000" kern="0" dirty="0" err="1">
                <a:solidFill>
                  <a:srgbClr val="464749"/>
                </a:solidFill>
                <a:latin typeface="Frutiger 45 Light" panose="020B0603020202020204" pitchFamily="34" charset="0"/>
              </a:rPr>
              <a:t>loss</a:t>
            </a:r>
            <a:r>
              <a:rPr lang="pl-PL" sz="2000" kern="0" dirty="0">
                <a:solidFill>
                  <a:srgbClr val="464749"/>
                </a:solidFill>
                <a:latin typeface="Frutiger 45 Light" panose="020B0603020202020204" pitchFamily="34" charset="0"/>
              </a:rPr>
              <a:t> – </a:t>
            </a:r>
            <a:r>
              <a:rPr lang="pl-PL" sz="2000" kern="0" dirty="0" err="1">
                <a:solidFill>
                  <a:srgbClr val="464749"/>
                </a:solidFill>
                <a:latin typeface="Frutiger 45 Light" panose="020B0603020202020204" pitchFamily="34" charset="0"/>
              </a:rPr>
              <a:t>simple</a:t>
            </a:r>
            <a:r>
              <a:rPr lang="pl-PL" sz="2000" kern="0" dirty="0">
                <a:solidFill>
                  <a:srgbClr val="464749"/>
                </a:solidFill>
                <a:latin typeface="Frutiger 45 Light" panose="020B0603020202020204" pitchFamily="34" charset="0"/>
              </a:rPr>
              <a:t> </a:t>
            </a:r>
            <a:r>
              <a:rPr lang="pl-PL" sz="2000" kern="0" dirty="0" err="1">
                <a:solidFill>
                  <a:srgbClr val="464749"/>
                </a:solidFill>
                <a:latin typeface="Frutiger 45 Light" panose="020B0603020202020204" pitchFamily="34" charset="0"/>
              </a:rPr>
              <a:t>example</a:t>
            </a:r>
            <a:endParaRPr lang="en-US" sz="2000" kern="0" dirty="0">
              <a:solidFill>
                <a:srgbClr val="464749"/>
              </a:solidFill>
              <a:latin typeface="Frutiger 45 Light" panose="020B0603020202020204" pitchFamily="34" charset="0"/>
            </a:endParaRPr>
          </a:p>
        </p:txBody>
      </p:sp>
    </p:spTree>
    <p:custDataLst>
      <p:tags r:id="rId1"/>
    </p:custDataLst>
    <p:extLst>
      <p:ext uri="{BB962C8B-B14F-4D97-AF65-F5344CB8AC3E}">
        <p14:creationId xmlns:p14="http://schemas.microsoft.com/office/powerpoint/2010/main" val="133242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AGE HEADING"/>
          <p:cNvSpPr>
            <a:spLocks noGrp="1"/>
          </p:cNvSpPr>
          <p:nvPr>
            <p:ph type="title"/>
            <p:custDataLst>
              <p:tags r:id="rId2"/>
            </p:custDataLst>
          </p:nvPr>
        </p:nvSpPr>
        <p:spPr/>
        <p:txBody>
          <a:bodyPr>
            <a:normAutofit/>
          </a:bodyPr>
          <a:lstStyle/>
          <a:p>
            <a:r>
              <a:rPr lang="en-US" dirty="0">
                <a:latin typeface="Frutiger 45 Light" panose="020B0603020202020204" pitchFamily="34" charset="0"/>
              </a:rPr>
              <a:t>Counterparty Credit Risk</a:t>
            </a:r>
            <a:r>
              <a:rPr lang="pl-PL" dirty="0">
                <a:latin typeface="Frutiger 45 Light" panose="020B0603020202020204" pitchFamily="34" charset="0"/>
              </a:rPr>
              <a:t> - </a:t>
            </a:r>
            <a:r>
              <a:rPr lang="pl-PL" dirty="0" err="1">
                <a:latin typeface="Frutiger 45 Light" panose="020B0603020202020204" pitchFamily="34" charset="0"/>
              </a:rPr>
              <a:t>Introduction</a:t>
            </a:r>
            <a:endParaRPr lang="en-US" dirty="0">
              <a:latin typeface="Frutiger 45 Light" panose="020B0603020202020204" pitchFamily="34" charset="0"/>
            </a:endParaRPr>
          </a:p>
        </p:txBody>
      </p:sp>
      <p:sp>
        <p:nvSpPr>
          <p:cNvPr id="24" name="LAYOUT BODY">
            <a:extLst>
              <a:ext uri="{FF2B5EF4-FFF2-40B4-BE49-F238E27FC236}">
                <a16:creationId xmlns:a16="http://schemas.microsoft.com/office/drawing/2014/main" id="{E2C74CA0-EBEE-40A4-A6C7-049EAA996265}"/>
              </a:ext>
            </a:extLst>
          </p:cNvPr>
          <p:cNvSpPr>
            <a:spLocks noGrp="1"/>
          </p:cNvSpPr>
          <p:nvPr>
            <p:ph idx="1"/>
            <p:custDataLst>
              <p:tags r:id="rId3"/>
            </p:custDataLst>
          </p:nvPr>
        </p:nvSpPr>
        <p:spPr>
          <a:xfrm>
            <a:off x="420624" y="1235352"/>
            <a:ext cx="9189720" cy="2230867"/>
          </a:xfrm>
        </p:spPr>
        <p:txBody>
          <a:bodyPr/>
          <a:lstStyle/>
          <a:p>
            <a:pPr marL="0" indent="0">
              <a:buNone/>
            </a:pPr>
            <a:endParaRPr lang="pl-PL" dirty="0">
              <a:latin typeface="Frutiger 45 Light" panose="020B0603020202020204" pitchFamily="34" charset="0"/>
            </a:endParaRPr>
          </a:p>
          <a:p>
            <a:pPr marL="0" indent="0">
              <a:buNone/>
            </a:pPr>
            <a:r>
              <a:rPr lang="pl-PL" dirty="0" err="1">
                <a:latin typeface="Frutiger 45 Light" panose="020B0603020202020204" pitchFamily="34" charset="0"/>
              </a:rPr>
              <a:t>Counterparty</a:t>
            </a:r>
            <a:r>
              <a:rPr lang="pl-PL" dirty="0">
                <a:latin typeface="Frutiger 45 Light" panose="020B0603020202020204" pitchFamily="34" charset="0"/>
              </a:rPr>
              <a:t> </a:t>
            </a:r>
            <a:r>
              <a:rPr lang="pl-PL" dirty="0" err="1">
                <a:latin typeface="Frutiger 45 Light" panose="020B0603020202020204" pitchFamily="34" charset="0"/>
              </a:rPr>
              <a:t>credit</a:t>
            </a:r>
            <a:r>
              <a:rPr lang="pl-PL" dirty="0">
                <a:latin typeface="Frutiger 45 Light" panose="020B0603020202020204" pitchFamily="34" charset="0"/>
              </a:rPr>
              <a:t> </a:t>
            </a:r>
            <a:r>
              <a:rPr lang="pl-PL" dirty="0" err="1">
                <a:latin typeface="Frutiger 45 Light" panose="020B0603020202020204" pitchFamily="34" charset="0"/>
              </a:rPr>
              <a:t>risk</a:t>
            </a:r>
            <a:r>
              <a:rPr lang="pl-PL" dirty="0">
                <a:latin typeface="Frutiger 45 Light" panose="020B0603020202020204" pitchFamily="34" charset="0"/>
              </a:rPr>
              <a:t> </a:t>
            </a:r>
            <a:r>
              <a:rPr lang="pl-PL" dirty="0" err="1">
                <a:latin typeface="Frutiger 45 Light" panose="020B0603020202020204" pitchFamily="34" charset="0"/>
              </a:rPr>
              <a:t>is</a:t>
            </a:r>
            <a:r>
              <a:rPr lang="pl-PL" dirty="0">
                <a:latin typeface="Frutiger 45 Light" panose="020B0603020202020204" pitchFamily="34" charset="0"/>
              </a:rPr>
              <a:t> a </a:t>
            </a:r>
            <a:r>
              <a:rPr lang="pl-PL" dirty="0" err="1">
                <a:latin typeface="Frutiger 45 Light" panose="020B0603020202020204" pitchFamily="34" charset="0"/>
              </a:rPr>
              <a:t>risk</a:t>
            </a:r>
            <a:r>
              <a:rPr lang="pl-PL" dirty="0">
                <a:latin typeface="Frutiger 45 Light" panose="020B0603020202020204" pitchFamily="34" charset="0"/>
              </a:rPr>
              <a:t> </a:t>
            </a:r>
            <a:r>
              <a:rPr lang="pl-PL" dirty="0" err="1">
                <a:latin typeface="Frutiger 45 Light" panose="020B0603020202020204" pitchFamily="34" charset="0"/>
              </a:rPr>
              <a:t>that</a:t>
            </a:r>
            <a:r>
              <a:rPr lang="pl-PL" dirty="0">
                <a:latin typeface="Frutiger 45 Light" panose="020B0603020202020204" pitchFamily="34" charset="0"/>
              </a:rPr>
              <a:t> a </a:t>
            </a:r>
            <a:r>
              <a:rPr lang="pl-PL" dirty="0" err="1">
                <a:latin typeface="Frutiger 45 Light" panose="020B0603020202020204" pitchFamily="34" charset="0"/>
              </a:rPr>
              <a:t>counterparty</a:t>
            </a:r>
            <a:r>
              <a:rPr lang="pl-PL" dirty="0">
                <a:latin typeface="Frutiger 45 Light" panose="020B0603020202020204" pitchFamily="34" charset="0"/>
              </a:rPr>
              <a:t> </a:t>
            </a:r>
            <a:r>
              <a:rPr lang="pl-PL" dirty="0" err="1">
                <a:latin typeface="Frutiger 45 Light" panose="020B0603020202020204" pitchFamily="34" charset="0"/>
              </a:rPr>
              <a:t>will</a:t>
            </a:r>
            <a:r>
              <a:rPr lang="pl-PL" dirty="0">
                <a:latin typeface="Frutiger 45 Light" panose="020B0603020202020204" pitchFamily="34" charset="0"/>
              </a:rPr>
              <a:t> not be </a:t>
            </a:r>
            <a:r>
              <a:rPr lang="pl-PL" dirty="0" err="1">
                <a:latin typeface="Frutiger 45 Light" panose="020B0603020202020204" pitchFamily="34" charset="0"/>
              </a:rPr>
              <a:t>able</a:t>
            </a:r>
            <a:r>
              <a:rPr lang="pl-PL" dirty="0">
                <a:latin typeface="Frutiger 45 Light" panose="020B0603020202020204" pitchFamily="34" charset="0"/>
              </a:rPr>
              <a:t> to </a:t>
            </a:r>
            <a:r>
              <a:rPr lang="pl-PL" dirty="0" err="1">
                <a:latin typeface="Frutiger 45 Light" panose="020B0603020202020204" pitchFamily="34" charset="0"/>
              </a:rPr>
              <a:t>meet</a:t>
            </a:r>
            <a:r>
              <a:rPr lang="pl-PL" dirty="0">
                <a:latin typeface="Frutiger 45 Light" panose="020B0603020202020204" pitchFamily="34" charset="0"/>
              </a:rPr>
              <a:t> </a:t>
            </a:r>
            <a:r>
              <a:rPr lang="pl-PL" dirty="0" err="1">
                <a:latin typeface="Frutiger 45 Light" panose="020B0603020202020204" pitchFamily="34" charset="0"/>
              </a:rPr>
              <a:t>its</a:t>
            </a:r>
            <a:r>
              <a:rPr lang="pl-PL" dirty="0">
                <a:latin typeface="Frutiger 45 Light" panose="020B0603020202020204" pitchFamily="34" charset="0"/>
              </a:rPr>
              <a:t> </a:t>
            </a:r>
            <a:r>
              <a:rPr lang="pl-PL" dirty="0" err="1">
                <a:latin typeface="Frutiger 45 Light" panose="020B0603020202020204" pitchFamily="34" charset="0"/>
              </a:rPr>
              <a:t>obligations</a:t>
            </a:r>
            <a:r>
              <a:rPr lang="pl-PL" dirty="0">
                <a:latin typeface="Frutiger 45 Light" panose="020B0603020202020204" pitchFamily="34" charset="0"/>
              </a:rPr>
              <a:t> (</a:t>
            </a:r>
            <a:r>
              <a:rPr lang="pl-PL" dirty="0" err="1">
                <a:latin typeface="Frutiger 45 Light" panose="020B0603020202020204" pitchFamily="34" charset="0"/>
              </a:rPr>
              <a:t>payments</a:t>
            </a:r>
            <a:r>
              <a:rPr lang="pl-PL" dirty="0">
                <a:latin typeface="Frutiger 45 Light" panose="020B0603020202020204" pitchFamily="34" charset="0"/>
              </a:rPr>
              <a:t>). It </a:t>
            </a:r>
            <a:r>
              <a:rPr lang="pl-PL" dirty="0" err="1">
                <a:latin typeface="Frutiger 45 Light" panose="020B0603020202020204" pitchFamily="34" charset="0"/>
              </a:rPr>
              <a:t>is</a:t>
            </a:r>
            <a:r>
              <a:rPr lang="pl-PL" dirty="0">
                <a:latin typeface="Frutiger 45 Light" panose="020B0603020202020204" pitchFamily="34" charset="0"/>
              </a:rPr>
              <a:t> </a:t>
            </a:r>
            <a:r>
              <a:rPr lang="pl-PL" dirty="0" err="1">
                <a:latin typeface="Frutiger 45 Light" panose="020B0603020202020204" pitchFamily="34" charset="0"/>
              </a:rPr>
              <a:t>different</a:t>
            </a:r>
            <a:r>
              <a:rPr lang="pl-PL" dirty="0">
                <a:latin typeface="Frutiger 45 Light" panose="020B0603020202020204" pitchFamily="34" charset="0"/>
              </a:rPr>
              <a:t> from the </a:t>
            </a:r>
            <a:r>
              <a:rPr lang="pl-PL" dirty="0" err="1">
                <a:latin typeface="Frutiger 45 Light" panose="020B0603020202020204" pitchFamily="34" charset="0"/>
              </a:rPr>
              <a:t>credit</a:t>
            </a:r>
            <a:r>
              <a:rPr lang="pl-PL" dirty="0">
                <a:latin typeface="Frutiger 45 Light" panose="020B0603020202020204" pitchFamily="34" charset="0"/>
              </a:rPr>
              <a:t> </a:t>
            </a:r>
            <a:r>
              <a:rPr lang="pl-PL" dirty="0" err="1">
                <a:latin typeface="Frutiger 45 Light" panose="020B0603020202020204" pitchFamily="34" charset="0"/>
              </a:rPr>
              <a:t>risk</a:t>
            </a:r>
            <a:r>
              <a:rPr lang="pl-PL" dirty="0">
                <a:latin typeface="Frutiger 45 Light" panose="020B0603020202020204" pitchFamily="34" charset="0"/>
              </a:rPr>
              <a:t> of </a:t>
            </a:r>
            <a:r>
              <a:rPr lang="pl-PL" dirty="0" err="1">
                <a:latin typeface="Frutiger 45 Light" panose="020B0603020202020204" pitchFamily="34" charset="0"/>
              </a:rPr>
              <a:t>bonds</a:t>
            </a:r>
            <a:r>
              <a:rPr lang="pl-PL" dirty="0">
                <a:latin typeface="Frutiger 45 Light" panose="020B0603020202020204" pitchFamily="34" charset="0"/>
              </a:rPr>
              <a:t> and </a:t>
            </a:r>
            <a:r>
              <a:rPr lang="pl-PL" dirty="0" err="1">
                <a:latin typeface="Frutiger 45 Light" panose="020B0603020202020204" pitchFamily="34" charset="0"/>
              </a:rPr>
              <a:t>loans</a:t>
            </a:r>
            <a:r>
              <a:rPr lang="pl-PL" dirty="0">
                <a:latin typeface="Frutiger 45 Light" panose="020B0603020202020204" pitchFamily="34" charset="0"/>
              </a:rPr>
              <a:t>.</a:t>
            </a:r>
          </a:p>
          <a:p>
            <a:pPr marL="342900" indent="-342900">
              <a:buClr>
                <a:srgbClr val="FF0000"/>
              </a:buClr>
              <a:buFont typeface="Arial" panose="020B0604020202020204" pitchFamily="34" charset="0"/>
              <a:buChar char="•"/>
            </a:pPr>
            <a:r>
              <a:rPr lang="pl-PL" dirty="0">
                <a:latin typeface="Frutiger 45 Light" panose="020B0603020202020204" pitchFamily="34" charset="0"/>
              </a:rPr>
              <a:t>The </a:t>
            </a:r>
            <a:r>
              <a:rPr lang="pl-PL" dirty="0" err="1">
                <a:latin typeface="Frutiger 45 Light" panose="020B0603020202020204" pitchFamily="34" charset="0"/>
              </a:rPr>
              <a:t>loss</a:t>
            </a:r>
            <a:r>
              <a:rPr lang="pl-PL" dirty="0">
                <a:latin typeface="Frutiger 45 Light" panose="020B0603020202020204" pitchFamily="34" charset="0"/>
              </a:rPr>
              <a:t> </a:t>
            </a:r>
            <a:r>
              <a:rPr lang="pl-PL" dirty="0" err="1">
                <a:latin typeface="Frutiger 45 Light" panose="020B0603020202020204" pitchFamily="34" charset="0"/>
              </a:rPr>
              <a:t>amount</a:t>
            </a:r>
            <a:r>
              <a:rPr lang="pl-PL" dirty="0">
                <a:latin typeface="Frutiger 45 Light" panose="020B0603020202020204" pitchFamily="34" charset="0"/>
              </a:rPr>
              <a:t> </a:t>
            </a:r>
            <a:r>
              <a:rPr lang="pl-PL" dirty="0" err="1">
                <a:latin typeface="Frutiger 45 Light" panose="020B0603020202020204" pitchFamily="34" charset="0"/>
              </a:rPr>
              <a:t>is</a:t>
            </a:r>
            <a:r>
              <a:rPr lang="pl-PL" dirty="0">
                <a:latin typeface="Frutiger 45 Light" panose="020B0603020202020204" pitchFamily="34" charset="0"/>
              </a:rPr>
              <a:t> not </a:t>
            </a:r>
            <a:r>
              <a:rPr lang="pl-PL" dirty="0" err="1">
                <a:latin typeface="Frutiger 45 Light" panose="020B0603020202020204" pitchFamily="34" charset="0"/>
              </a:rPr>
              <a:t>known</a:t>
            </a:r>
            <a:r>
              <a:rPr lang="pl-PL" dirty="0">
                <a:latin typeface="Frutiger 45 Light" panose="020B0603020202020204" pitchFamily="34" charset="0"/>
              </a:rPr>
              <a:t> </a:t>
            </a:r>
            <a:r>
              <a:rPr lang="pl-PL" dirty="0" err="1">
                <a:latin typeface="Frutiger 45 Light" panose="020B0603020202020204" pitchFamily="34" charset="0"/>
              </a:rPr>
              <a:t>until</a:t>
            </a:r>
            <a:r>
              <a:rPr lang="pl-PL" dirty="0">
                <a:latin typeface="Frutiger 45 Light" panose="020B0603020202020204" pitchFamily="34" charset="0"/>
              </a:rPr>
              <a:t> the </a:t>
            </a:r>
            <a:r>
              <a:rPr lang="pl-PL" dirty="0" err="1">
                <a:latin typeface="Frutiger 45 Light" panose="020B0603020202020204" pitchFamily="34" charset="0"/>
              </a:rPr>
              <a:t>time</a:t>
            </a:r>
            <a:r>
              <a:rPr lang="pl-PL" dirty="0">
                <a:latin typeface="Frutiger 45 Light" panose="020B0603020202020204" pitchFamily="34" charset="0"/>
              </a:rPr>
              <a:t> of </a:t>
            </a:r>
            <a:r>
              <a:rPr lang="pl-PL" dirty="0" err="1">
                <a:latin typeface="Frutiger 45 Light" panose="020B0603020202020204" pitchFamily="34" charset="0"/>
              </a:rPr>
              <a:t>bunkruptcy</a:t>
            </a:r>
            <a:endParaRPr lang="pl-PL" dirty="0">
              <a:latin typeface="Frutiger 45 Light" panose="020B0603020202020204" pitchFamily="34" charset="0"/>
            </a:endParaRPr>
          </a:p>
          <a:p>
            <a:pPr marL="342900" indent="-342900">
              <a:buClr>
                <a:srgbClr val="FF0000"/>
              </a:buClr>
              <a:buFont typeface="Arial" panose="020B0604020202020204" pitchFamily="34" charset="0"/>
              <a:buChar char="•"/>
            </a:pPr>
            <a:r>
              <a:rPr lang="pl-PL" dirty="0">
                <a:latin typeface="Frutiger 45 Light" panose="020B0603020202020204" pitchFamily="34" charset="0"/>
              </a:rPr>
              <a:t>The </a:t>
            </a:r>
            <a:r>
              <a:rPr lang="pl-PL" dirty="0" err="1">
                <a:latin typeface="Frutiger 45 Light" panose="020B0603020202020204" pitchFamily="34" charset="0"/>
              </a:rPr>
              <a:t>risk</a:t>
            </a:r>
            <a:r>
              <a:rPr lang="pl-PL" dirty="0">
                <a:latin typeface="Frutiger 45 Light" panose="020B0603020202020204" pitchFamily="34" charset="0"/>
              </a:rPr>
              <a:t> </a:t>
            </a:r>
            <a:r>
              <a:rPr lang="pl-PL" dirty="0" err="1">
                <a:latin typeface="Frutiger 45 Light" panose="020B0603020202020204" pitchFamily="34" charset="0"/>
              </a:rPr>
              <a:t>is</a:t>
            </a:r>
            <a:r>
              <a:rPr lang="pl-PL" dirty="0">
                <a:latin typeface="Frutiger 45 Light" panose="020B0603020202020204" pitchFamily="34" charset="0"/>
              </a:rPr>
              <a:t> </a:t>
            </a:r>
            <a:r>
              <a:rPr lang="pl-PL" dirty="0" err="1">
                <a:latin typeface="Frutiger 45 Light" panose="020B0603020202020204" pitchFamily="34" charset="0"/>
              </a:rPr>
              <a:t>typically</a:t>
            </a:r>
            <a:r>
              <a:rPr lang="pl-PL" dirty="0">
                <a:latin typeface="Frutiger 45 Light" panose="020B0603020202020204" pitchFamily="34" charset="0"/>
              </a:rPr>
              <a:t> </a:t>
            </a:r>
            <a:r>
              <a:rPr lang="pl-PL" dirty="0" err="1">
                <a:latin typeface="Frutiger 45 Light" panose="020B0603020202020204" pitchFamily="34" charset="0"/>
              </a:rPr>
              <a:t>bilateral</a:t>
            </a:r>
            <a:r>
              <a:rPr lang="pl-PL" dirty="0">
                <a:latin typeface="Frutiger 45 Light" panose="020B0603020202020204" pitchFamily="34" charset="0"/>
              </a:rPr>
              <a:t>, </a:t>
            </a:r>
            <a:r>
              <a:rPr lang="pl-PL" dirty="0" err="1">
                <a:latin typeface="Frutiger 45 Light" panose="020B0603020202020204" pitchFamily="34" charset="0"/>
              </a:rPr>
              <a:t>both</a:t>
            </a:r>
            <a:r>
              <a:rPr lang="pl-PL" dirty="0">
                <a:latin typeface="Frutiger 45 Light" panose="020B0603020202020204" pitchFamily="34" charset="0"/>
              </a:rPr>
              <a:t> </a:t>
            </a:r>
            <a:r>
              <a:rPr lang="pl-PL" dirty="0" err="1">
                <a:latin typeface="Frutiger 45 Light" panose="020B0603020202020204" pitchFamily="34" charset="0"/>
              </a:rPr>
              <a:t>parties</a:t>
            </a:r>
            <a:r>
              <a:rPr lang="pl-PL" dirty="0">
                <a:latin typeface="Frutiger 45 Light" panose="020B0603020202020204" pitchFamily="34" charset="0"/>
              </a:rPr>
              <a:t> </a:t>
            </a:r>
            <a:r>
              <a:rPr lang="pl-PL" dirty="0" err="1">
                <a:latin typeface="Frutiger 45 Light" panose="020B0603020202020204" pitchFamily="34" charset="0"/>
              </a:rPr>
              <a:t>take</a:t>
            </a:r>
            <a:r>
              <a:rPr lang="pl-PL" dirty="0">
                <a:latin typeface="Frutiger 45 Light" panose="020B0603020202020204" pitchFamily="34" charset="0"/>
              </a:rPr>
              <a:t> the </a:t>
            </a:r>
            <a:r>
              <a:rPr lang="pl-PL" dirty="0" err="1">
                <a:latin typeface="Frutiger 45 Light" panose="020B0603020202020204" pitchFamily="34" charset="0"/>
              </a:rPr>
              <a:t>risk</a:t>
            </a:r>
            <a:r>
              <a:rPr lang="pl-PL" dirty="0">
                <a:latin typeface="Frutiger 45 Light" panose="020B0603020202020204" pitchFamily="34" charset="0"/>
              </a:rPr>
              <a:t>.</a:t>
            </a:r>
            <a:endParaRPr lang="en-US" dirty="0">
              <a:latin typeface="Frutiger 45 Light" panose="020B0603020202020204" pitchFamily="34" charset="0"/>
            </a:endParaRPr>
          </a:p>
          <a:p>
            <a:pPr marL="0" indent="0">
              <a:buNone/>
            </a:pPr>
            <a:endParaRPr lang="pl-PL" dirty="0">
              <a:latin typeface="Frutiger 45 Light" panose="020B0603020202020204" pitchFamily="34" charset="0"/>
            </a:endParaRPr>
          </a:p>
          <a:p>
            <a:pPr marL="0" indent="0">
              <a:buNone/>
            </a:pPr>
            <a:endParaRPr lang="en-US" dirty="0">
              <a:latin typeface="Frutiger 45 Light" panose="020B0603020202020204" pitchFamily="34" charset="0"/>
            </a:endParaRPr>
          </a:p>
        </p:txBody>
      </p:sp>
      <p:sp>
        <p:nvSpPr>
          <p:cNvPr id="25" name="TextBox 24">
            <a:extLst>
              <a:ext uri="{FF2B5EF4-FFF2-40B4-BE49-F238E27FC236}">
                <a16:creationId xmlns:a16="http://schemas.microsoft.com/office/drawing/2014/main" id="{E7635EDA-3E9D-45E1-9D1F-8F029195824D}"/>
              </a:ext>
            </a:extLst>
          </p:cNvPr>
          <p:cNvSpPr txBox="1"/>
          <p:nvPr/>
        </p:nvSpPr>
        <p:spPr>
          <a:xfrm>
            <a:off x="1436777" y="4524357"/>
            <a:ext cx="2362200" cy="1219200"/>
          </a:xfrm>
          <a:prstGeom prst="rect">
            <a:avLst/>
          </a:prstGeom>
          <a:noFill/>
        </p:spPr>
        <p:txBody>
          <a:bodyPr wrap="square" lIns="0" tIns="0" rIns="0" bIns="0" rtlCol="0">
            <a:noAutofit/>
          </a:bodyPr>
          <a:lstStyle/>
          <a:p>
            <a:pPr marL="171450" lvl="0" indent="-171450">
              <a:spcBef>
                <a:spcPts val="600"/>
              </a:spcBef>
              <a:buClr>
                <a:srgbClr val="FF0000"/>
              </a:buClr>
              <a:buFont typeface="Arial" panose="020B0604020202020204" pitchFamily="34" charset="0"/>
              <a:buChar char="•"/>
            </a:pPr>
            <a:r>
              <a:rPr lang="pl-PL" sz="1400" dirty="0">
                <a:latin typeface="Frutiger 45 Light" panose="020B0603020202020204" pitchFamily="34" charset="0"/>
              </a:rPr>
              <a:t> </a:t>
            </a:r>
            <a:r>
              <a:rPr lang="pl-PL" sz="1400" dirty="0" err="1">
                <a:latin typeface="Frutiger 45 Light" panose="020B0603020202020204" pitchFamily="34" charset="0"/>
              </a:rPr>
              <a:t>forwards</a:t>
            </a:r>
            <a:endParaRPr lang="en-US" sz="1400" dirty="0">
              <a:latin typeface="Frutiger 45 Light" panose="020B0603020202020204" pitchFamily="34" charset="0"/>
            </a:endParaRPr>
          </a:p>
          <a:p>
            <a:pPr marL="171450" lvl="0" indent="-171450">
              <a:spcBef>
                <a:spcPts val="600"/>
              </a:spcBef>
              <a:buClr>
                <a:srgbClr val="FF0000"/>
              </a:buClr>
              <a:buFont typeface="Arial" panose="020B0604020202020204" pitchFamily="34" charset="0"/>
              <a:buChar char="•"/>
            </a:pPr>
            <a:r>
              <a:rPr lang="pl-PL" sz="1400" dirty="0">
                <a:latin typeface="Frutiger 45 Light" panose="020B0603020202020204" pitchFamily="34" charset="0"/>
              </a:rPr>
              <a:t> </a:t>
            </a:r>
            <a:r>
              <a:rPr lang="pl-PL" sz="1400" dirty="0" err="1">
                <a:latin typeface="Frutiger 45 Light" panose="020B0603020202020204" pitchFamily="34" charset="0"/>
              </a:rPr>
              <a:t>swaps</a:t>
            </a:r>
            <a:endParaRPr lang="pl-PL" sz="1400" dirty="0">
              <a:latin typeface="Frutiger 45 Light" panose="020B0603020202020204" pitchFamily="34" charset="0"/>
            </a:endParaRPr>
          </a:p>
          <a:p>
            <a:pPr marL="171450" lvl="0" indent="-171450">
              <a:spcBef>
                <a:spcPts val="600"/>
              </a:spcBef>
              <a:buClr>
                <a:srgbClr val="FF0000"/>
              </a:buClr>
              <a:buFont typeface="Arial" panose="020B0604020202020204" pitchFamily="34" charset="0"/>
              <a:buChar char="•"/>
            </a:pPr>
            <a:r>
              <a:rPr lang="pl-PL" sz="1400" dirty="0">
                <a:latin typeface="Frutiger 45 Light" panose="020B0603020202020204" pitchFamily="34" charset="0"/>
              </a:rPr>
              <a:t> CDS</a:t>
            </a:r>
          </a:p>
          <a:p>
            <a:pPr marL="171450" lvl="0" indent="-171450">
              <a:spcBef>
                <a:spcPts val="600"/>
              </a:spcBef>
              <a:buClr>
                <a:srgbClr val="FF0000"/>
              </a:buClr>
              <a:buFont typeface="Arial" panose="020B0604020202020204" pitchFamily="34" charset="0"/>
              <a:buChar char="•"/>
            </a:pPr>
            <a:r>
              <a:rPr lang="pl-PL" sz="1400" dirty="0" err="1">
                <a:latin typeface="Frutiger 45 Light" panose="020B0603020202020204" pitchFamily="34" charset="0"/>
              </a:rPr>
              <a:t>European</a:t>
            </a:r>
            <a:r>
              <a:rPr lang="pl-PL" sz="1400" dirty="0">
                <a:latin typeface="Frutiger 45 Light" panose="020B0603020202020204" pitchFamily="34" charset="0"/>
              </a:rPr>
              <a:t>/American/</a:t>
            </a:r>
            <a:r>
              <a:rPr lang="pl-PL" sz="1400" dirty="0" err="1">
                <a:latin typeface="Frutiger 45 Light" panose="020B0603020202020204" pitchFamily="34" charset="0"/>
              </a:rPr>
              <a:t>Asian</a:t>
            </a:r>
            <a:r>
              <a:rPr lang="pl-PL" sz="1400" dirty="0">
                <a:latin typeface="Frutiger 45 Light" panose="020B0603020202020204" pitchFamily="34" charset="0"/>
              </a:rPr>
              <a:t> </a:t>
            </a:r>
            <a:r>
              <a:rPr lang="pl-PL" sz="1400" dirty="0" err="1">
                <a:latin typeface="Frutiger 45 Light" panose="020B0603020202020204" pitchFamily="34" charset="0"/>
              </a:rPr>
              <a:t>Options</a:t>
            </a:r>
            <a:endParaRPr lang="en-US" sz="1400" dirty="0">
              <a:latin typeface="Frutiger 45 Light" panose="020B0603020202020204" pitchFamily="34" charset="0"/>
            </a:endParaRPr>
          </a:p>
        </p:txBody>
      </p:sp>
      <p:sp>
        <p:nvSpPr>
          <p:cNvPr id="29" name="TextBox 28">
            <a:extLst>
              <a:ext uri="{FF2B5EF4-FFF2-40B4-BE49-F238E27FC236}">
                <a16:creationId xmlns:a16="http://schemas.microsoft.com/office/drawing/2014/main" id="{11D69EE9-E154-4DD9-BAC4-4E3D498AC42E}"/>
              </a:ext>
            </a:extLst>
          </p:cNvPr>
          <p:cNvSpPr txBox="1"/>
          <p:nvPr/>
        </p:nvSpPr>
        <p:spPr>
          <a:xfrm>
            <a:off x="5172914" y="4523407"/>
            <a:ext cx="3293627" cy="1219200"/>
          </a:xfrm>
          <a:prstGeom prst="rect">
            <a:avLst/>
          </a:prstGeom>
          <a:noFill/>
        </p:spPr>
        <p:txBody>
          <a:bodyPr wrap="square" lIns="0" tIns="0" rIns="0" bIns="0" rtlCol="0">
            <a:noAutofit/>
          </a:bodyPr>
          <a:lstStyle/>
          <a:p>
            <a:pPr marL="171450" lvl="0" indent="-171450">
              <a:spcBef>
                <a:spcPts val="600"/>
              </a:spcBef>
              <a:buClr>
                <a:srgbClr val="FF0000"/>
              </a:buClr>
              <a:buFont typeface="Arial" panose="020B0604020202020204" pitchFamily="34" charset="0"/>
              <a:buChar char="•"/>
            </a:pPr>
            <a:r>
              <a:rPr lang="pl-PL" sz="1400" dirty="0">
                <a:latin typeface="Frutiger 45 Light" panose="020B0603020202020204" pitchFamily="34" charset="0"/>
              </a:rPr>
              <a:t> repo</a:t>
            </a:r>
            <a:endParaRPr lang="en-US" sz="1400" dirty="0">
              <a:latin typeface="Frutiger 45 Light" panose="020B0603020202020204" pitchFamily="34" charset="0"/>
            </a:endParaRPr>
          </a:p>
          <a:p>
            <a:pPr marL="171450" lvl="0" indent="-171450">
              <a:spcBef>
                <a:spcPts val="600"/>
              </a:spcBef>
              <a:buClr>
                <a:srgbClr val="FF0000"/>
              </a:buClr>
              <a:buFont typeface="Arial" panose="020B0604020202020204" pitchFamily="34" charset="0"/>
              <a:buChar char="•"/>
            </a:pPr>
            <a:r>
              <a:rPr lang="pl-PL" sz="1400" dirty="0">
                <a:latin typeface="Frutiger 45 Light" panose="020B0603020202020204" pitchFamily="34" charset="0"/>
              </a:rPr>
              <a:t> reverse repo</a:t>
            </a:r>
          </a:p>
          <a:p>
            <a:pPr marL="171450" lvl="0" indent="-171450">
              <a:spcBef>
                <a:spcPts val="600"/>
              </a:spcBef>
              <a:buClr>
                <a:srgbClr val="FF0000"/>
              </a:buClr>
              <a:buFont typeface="Arial" panose="020B0604020202020204" pitchFamily="34" charset="0"/>
              <a:buChar char="•"/>
            </a:pPr>
            <a:r>
              <a:rPr lang="pl-PL" sz="1400" dirty="0">
                <a:latin typeface="Frutiger 45 Light" panose="020B0603020202020204" pitchFamily="34" charset="0"/>
              </a:rPr>
              <a:t> </a:t>
            </a:r>
            <a:r>
              <a:rPr lang="pl-PL" sz="1400" dirty="0" err="1">
                <a:latin typeface="Frutiger 45 Light" panose="020B0603020202020204" pitchFamily="34" charset="0"/>
              </a:rPr>
              <a:t>security</a:t>
            </a:r>
            <a:r>
              <a:rPr lang="pl-PL" sz="1400" dirty="0">
                <a:latin typeface="Frutiger 45 Light" panose="020B0603020202020204" pitchFamily="34" charset="0"/>
              </a:rPr>
              <a:t> </a:t>
            </a:r>
            <a:r>
              <a:rPr lang="pl-PL" sz="1400" dirty="0" err="1">
                <a:latin typeface="Frutiger 45 Light" panose="020B0603020202020204" pitchFamily="34" charset="0"/>
              </a:rPr>
              <a:t>lending</a:t>
            </a:r>
            <a:endParaRPr lang="en-US" sz="1400" dirty="0">
              <a:latin typeface="Frutiger 45 Light" panose="020B0603020202020204" pitchFamily="34" charset="0"/>
            </a:endParaRPr>
          </a:p>
        </p:txBody>
      </p:sp>
      <p:grpSp>
        <p:nvGrpSpPr>
          <p:cNvPr id="30" name="Group 29">
            <a:extLst>
              <a:ext uri="{FF2B5EF4-FFF2-40B4-BE49-F238E27FC236}">
                <a16:creationId xmlns:a16="http://schemas.microsoft.com/office/drawing/2014/main" id="{38EB6423-1BBA-45C7-B28C-8F8743D19CAE}"/>
              </a:ext>
            </a:extLst>
          </p:cNvPr>
          <p:cNvGrpSpPr/>
          <p:nvPr/>
        </p:nvGrpSpPr>
        <p:grpSpPr>
          <a:xfrm>
            <a:off x="1061363" y="3914757"/>
            <a:ext cx="2737613" cy="456156"/>
            <a:chOff x="3733469" y="2147037"/>
            <a:chExt cx="3581400" cy="456156"/>
          </a:xfrm>
          <a:solidFill>
            <a:schemeClr val="bg1">
              <a:lumMod val="85000"/>
            </a:schemeClr>
          </a:solidFill>
        </p:grpSpPr>
        <p:sp>
          <p:nvSpPr>
            <p:cNvPr id="31" name="Rounded Rectangle 39">
              <a:extLst>
                <a:ext uri="{FF2B5EF4-FFF2-40B4-BE49-F238E27FC236}">
                  <a16:creationId xmlns:a16="http://schemas.microsoft.com/office/drawing/2014/main" id="{D57406CE-100E-4F93-9B09-587BCC26468F}"/>
                </a:ext>
              </a:extLst>
            </p:cNvPr>
            <p:cNvSpPr/>
            <p:nvPr/>
          </p:nvSpPr>
          <p:spPr>
            <a:xfrm>
              <a:off x="3733469" y="2147037"/>
              <a:ext cx="3581400" cy="456156"/>
            </a:xfrm>
            <a:prstGeom prst="roundRect">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GB"/>
            </a:p>
          </p:txBody>
        </p:sp>
        <p:sp>
          <p:nvSpPr>
            <p:cNvPr id="32" name="Rounded Rectangle 4">
              <a:extLst>
                <a:ext uri="{FF2B5EF4-FFF2-40B4-BE49-F238E27FC236}">
                  <a16:creationId xmlns:a16="http://schemas.microsoft.com/office/drawing/2014/main" id="{06C8FD69-3174-4D22-AF07-AD14945917FE}"/>
                </a:ext>
              </a:extLst>
            </p:cNvPr>
            <p:cNvSpPr/>
            <p:nvPr/>
          </p:nvSpPr>
          <p:spPr>
            <a:xfrm>
              <a:off x="3764819" y="2147037"/>
              <a:ext cx="3536864" cy="411620"/>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pl-PL" dirty="0">
                  <a:solidFill>
                    <a:schemeClr val="tx1"/>
                  </a:solidFill>
                  <a:latin typeface="Frutiger 45 Light" panose="020B0603020202020204" pitchFamily="34" charset="0"/>
                </a:rPr>
                <a:t>OTC </a:t>
              </a:r>
              <a:r>
                <a:rPr lang="pl-PL" dirty="0" err="1">
                  <a:solidFill>
                    <a:schemeClr val="tx1"/>
                  </a:solidFill>
                  <a:latin typeface="Frutiger 45 Light" panose="020B0603020202020204" pitchFamily="34" charset="0"/>
                </a:rPr>
                <a:t>Derivatives</a:t>
              </a:r>
              <a:endParaRPr lang="en-US" kern="1200" dirty="0">
                <a:solidFill>
                  <a:schemeClr val="tx1"/>
                </a:solidFill>
                <a:latin typeface="Frutiger 45 Light" panose="020B0603020202020204" pitchFamily="34" charset="0"/>
              </a:endParaRPr>
            </a:p>
          </p:txBody>
        </p:sp>
      </p:grpSp>
      <p:sp>
        <p:nvSpPr>
          <p:cNvPr id="33" name="TextBox 32">
            <a:extLst>
              <a:ext uri="{FF2B5EF4-FFF2-40B4-BE49-F238E27FC236}">
                <a16:creationId xmlns:a16="http://schemas.microsoft.com/office/drawing/2014/main" id="{1C249435-B004-4ECE-AC58-8CA7773E269C}"/>
              </a:ext>
            </a:extLst>
          </p:cNvPr>
          <p:cNvSpPr txBox="1"/>
          <p:nvPr/>
        </p:nvSpPr>
        <p:spPr>
          <a:xfrm>
            <a:off x="1085327" y="3543300"/>
            <a:ext cx="7007721" cy="457200"/>
          </a:xfrm>
          <a:prstGeom prst="rect">
            <a:avLst/>
          </a:prstGeom>
          <a:noFill/>
        </p:spPr>
        <p:txBody>
          <a:bodyPr wrap="none" lIns="0" tIns="0" rIns="0" bIns="0" rtlCol="0">
            <a:noAutofit/>
          </a:bodyPr>
          <a:lstStyle/>
          <a:p>
            <a:pPr algn="ctr"/>
            <a:r>
              <a:rPr lang="pl-PL" dirty="0">
                <a:latin typeface="Frutiger 45 Light" panose="020B0603020202020204" pitchFamily="34" charset="0"/>
              </a:rPr>
              <a:t>Instruments </a:t>
            </a:r>
            <a:r>
              <a:rPr lang="pl-PL" dirty="0" err="1">
                <a:latin typeface="Frutiger 45 Light" panose="020B0603020202020204" pitchFamily="34" charset="0"/>
              </a:rPr>
              <a:t>generating</a:t>
            </a:r>
            <a:r>
              <a:rPr lang="pl-PL" dirty="0">
                <a:latin typeface="Frutiger 45 Light" panose="020B0603020202020204" pitchFamily="34" charset="0"/>
              </a:rPr>
              <a:t> </a:t>
            </a:r>
            <a:r>
              <a:rPr lang="pl-PL" dirty="0" err="1">
                <a:latin typeface="Frutiger 45 Light" panose="020B0603020202020204" pitchFamily="34" charset="0"/>
              </a:rPr>
              <a:t>counterparty</a:t>
            </a:r>
            <a:r>
              <a:rPr lang="pl-PL" dirty="0">
                <a:latin typeface="Frutiger 45 Light" panose="020B0603020202020204" pitchFamily="34" charset="0"/>
              </a:rPr>
              <a:t> </a:t>
            </a:r>
            <a:r>
              <a:rPr lang="pl-PL" dirty="0" err="1">
                <a:latin typeface="Frutiger 45 Light" panose="020B0603020202020204" pitchFamily="34" charset="0"/>
              </a:rPr>
              <a:t>risk</a:t>
            </a:r>
            <a:r>
              <a:rPr lang="pl-PL" dirty="0">
                <a:latin typeface="Frutiger 45 Light" panose="020B0603020202020204" pitchFamily="34" charset="0"/>
              </a:rPr>
              <a:t>:</a:t>
            </a:r>
            <a:endParaRPr lang="en-US" dirty="0">
              <a:latin typeface="Frutiger 45 Light" panose="020B0603020202020204" pitchFamily="34" charset="0"/>
            </a:endParaRPr>
          </a:p>
        </p:txBody>
      </p:sp>
      <p:sp>
        <p:nvSpPr>
          <p:cNvPr id="34" name="TextBox 33">
            <a:extLst>
              <a:ext uri="{FF2B5EF4-FFF2-40B4-BE49-F238E27FC236}">
                <a16:creationId xmlns:a16="http://schemas.microsoft.com/office/drawing/2014/main" id="{AC46AE76-9CDE-45FC-920C-CD8DFD6061C4}"/>
              </a:ext>
            </a:extLst>
          </p:cNvPr>
          <p:cNvSpPr txBox="1"/>
          <p:nvPr/>
        </p:nvSpPr>
        <p:spPr>
          <a:xfrm>
            <a:off x="542451" y="5933107"/>
            <a:ext cx="8946065" cy="914400"/>
          </a:xfrm>
          <a:prstGeom prst="rect">
            <a:avLst/>
          </a:prstGeom>
          <a:noFill/>
        </p:spPr>
        <p:txBody>
          <a:bodyPr wrap="none" lIns="0" tIns="0" rIns="0" bIns="0" rtlCol="0">
            <a:noAutofit/>
          </a:bodyPr>
          <a:lstStyle/>
          <a:p>
            <a:r>
              <a:rPr lang="pl-PL" dirty="0">
                <a:latin typeface="Frutiger 45 Light" panose="020B0603020202020204" pitchFamily="34" charset="0"/>
              </a:rPr>
              <a:t>In </a:t>
            </a:r>
            <a:r>
              <a:rPr lang="pl-PL" dirty="0" err="1">
                <a:latin typeface="Frutiger 45 Light" panose="020B0603020202020204" pitchFamily="34" charset="0"/>
              </a:rPr>
              <a:t>financial</a:t>
            </a:r>
            <a:r>
              <a:rPr lang="pl-PL" dirty="0">
                <a:latin typeface="Frutiger 45 Light" panose="020B0603020202020204" pitchFamily="34" charset="0"/>
              </a:rPr>
              <a:t> </a:t>
            </a:r>
            <a:r>
              <a:rPr lang="pl-PL" dirty="0" err="1">
                <a:latin typeface="Frutiger 45 Light" panose="020B0603020202020204" pitchFamily="34" charset="0"/>
              </a:rPr>
              <a:t>institutions</a:t>
            </a:r>
            <a:r>
              <a:rPr lang="pl-PL" dirty="0">
                <a:latin typeface="Frutiger 45 Light" panose="020B0603020202020204" pitchFamily="34" charset="0"/>
              </a:rPr>
              <a:t> </a:t>
            </a:r>
            <a:r>
              <a:rPr lang="pl-PL" dirty="0" err="1">
                <a:latin typeface="Frutiger 45 Light" panose="020B0603020202020204" pitchFamily="34" charset="0"/>
              </a:rPr>
              <a:t>this</a:t>
            </a:r>
            <a:r>
              <a:rPr lang="pl-PL" dirty="0">
                <a:latin typeface="Frutiger 45 Light" panose="020B0603020202020204" pitchFamily="34" charset="0"/>
              </a:rPr>
              <a:t> </a:t>
            </a:r>
            <a:r>
              <a:rPr lang="pl-PL" dirty="0" err="1">
                <a:latin typeface="Frutiger 45 Light" panose="020B0603020202020204" pitchFamily="34" charset="0"/>
              </a:rPr>
              <a:t>risk</a:t>
            </a:r>
            <a:r>
              <a:rPr lang="pl-PL" dirty="0">
                <a:latin typeface="Frutiger 45 Light" panose="020B0603020202020204" pitchFamily="34" charset="0"/>
              </a:rPr>
              <a:t> </a:t>
            </a:r>
            <a:r>
              <a:rPr lang="pl-PL" dirty="0" err="1">
                <a:latin typeface="Frutiger 45 Light" panose="020B0603020202020204" pitchFamily="34" charset="0"/>
              </a:rPr>
              <a:t>impacts</a:t>
            </a:r>
            <a:r>
              <a:rPr lang="pl-PL" dirty="0">
                <a:latin typeface="Frutiger 45 Light" panose="020B0603020202020204" pitchFamily="34" charset="0"/>
              </a:rPr>
              <a:t> in </a:t>
            </a:r>
            <a:r>
              <a:rPr lang="pl-PL" dirty="0" err="1">
                <a:latin typeface="Frutiger 45 Light" panose="020B0603020202020204" pitchFamily="34" charset="0"/>
              </a:rPr>
              <a:t>particular</a:t>
            </a:r>
            <a:r>
              <a:rPr lang="pl-PL" dirty="0">
                <a:latin typeface="Frutiger 45 Light" panose="020B0603020202020204" pitchFamily="34" charset="0"/>
              </a:rPr>
              <a:t> </a:t>
            </a:r>
            <a:r>
              <a:rPr lang="pl-PL" dirty="0" err="1">
                <a:latin typeface="Frutiger 45 Light" panose="020B0603020202020204" pitchFamily="34" charset="0"/>
              </a:rPr>
              <a:t>two</a:t>
            </a:r>
            <a:r>
              <a:rPr lang="pl-PL" dirty="0">
                <a:latin typeface="Frutiger 45 Light" panose="020B0603020202020204" pitchFamily="34" charset="0"/>
              </a:rPr>
              <a:t> </a:t>
            </a:r>
            <a:r>
              <a:rPr lang="pl-PL" dirty="0" err="1">
                <a:latin typeface="Frutiger 45 Light" panose="020B0603020202020204" pitchFamily="34" charset="0"/>
              </a:rPr>
              <a:t>areas</a:t>
            </a:r>
            <a:r>
              <a:rPr lang="pl-PL" dirty="0">
                <a:latin typeface="Frutiger 45 Light" panose="020B0603020202020204" pitchFamily="34" charset="0"/>
              </a:rPr>
              <a:t>:</a:t>
            </a:r>
          </a:p>
          <a:p>
            <a:r>
              <a:rPr lang="pl-PL" dirty="0" err="1">
                <a:latin typeface="Frutiger 45 Light" panose="020B0603020202020204" pitchFamily="34" charset="0"/>
              </a:rPr>
              <a:t>pricing</a:t>
            </a:r>
            <a:r>
              <a:rPr lang="pl-PL" dirty="0">
                <a:latin typeface="Frutiger 45 Light" panose="020B0603020202020204" pitchFamily="34" charset="0"/>
              </a:rPr>
              <a:t> and </a:t>
            </a:r>
            <a:r>
              <a:rPr lang="pl-PL" dirty="0" err="1">
                <a:latin typeface="Frutiger 45 Light" panose="020B0603020202020204" pitchFamily="34" charset="0"/>
              </a:rPr>
              <a:t>capital</a:t>
            </a:r>
            <a:r>
              <a:rPr lang="pl-PL" dirty="0">
                <a:latin typeface="Frutiger 45 Light" panose="020B0603020202020204" pitchFamily="34" charset="0"/>
              </a:rPr>
              <a:t> </a:t>
            </a:r>
            <a:r>
              <a:rPr lang="pl-PL" dirty="0" err="1">
                <a:latin typeface="Frutiger 45 Light" panose="020B0603020202020204" pitchFamily="34" charset="0"/>
              </a:rPr>
              <a:t>requirements</a:t>
            </a:r>
            <a:r>
              <a:rPr lang="pl-PL" dirty="0">
                <a:latin typeface="Frutiger 45 Light" panose="020B0603020202020204" pitchFamily="34" charset="0"/>
              </a:rPr>
              <a:t>.</a:t>
            </a:r>
            <a:endParaRPr lang="en-US" dirty="0">
              <a:latin typeface="Frutiger 45 Light" panose="020B0603020202020204" pitchFamily="34" charset="0"/>
            </a:endParaRPr>
          </a:p>
        </p:txBody>
      </p:sp>
      <p:sp>
        <p:nvSpPr>
          <p:cNvPr id="14" name="TextBox 13">
            <a:extLst>
              <a:ext uri="{FF2B5EF4-FFF2-40B4-BE49-F238E27FC236}">
                <a16:creationId xmlns:a16="http://schemas.microsoft.com/office/drawing/2014/main" id="{49DCBEC0-F269-4D35-9948-BF57676E2B0B}"/>
              </a:ext>
            </a:extLst>
          </p:cNvPr>
          <p:cNvSpPr txBox="1"/>
          <p:nvPr>
            <p:custDataLst>
              <p:tags r:id="rId4"/>
            </p:custDataLst>
          </p:nvPr>
        </p:nvSpPr>
        <p:spPr>
          <a:xfrm>
            <a:off x="420624" y="1120775"/>
            <a:ext cx="9189720" cy="274320"/>
          </a:xfrm>
          <a:prstGeom prst="rect">
            <a:avLst/>
          </a:prstGeom>
          <a:noFill/>
        </p:spPr>
        <p:txBody>
          <a:bodyPr vert="horz" wrap="square" lIns="0" tIns="0" rIns="0" bIns="0" rtlCol="0" anchor="t">
            <a:noAutofit/>
          </a:bodyPr>
          <a:lstStyle/>
          <a:p>
            <a:pPr eaLnBrk="1">
              <a:spcBef>
                <a:spcPts val="0"/>
              </a:spcBef>
              <a:spcAft>
                <a:spcPts val="600"/>
              </a:spcAft>
            </a:pPr>
            <a:r>
              <a:rPr lang="pl-PL" sz="2000" kern="0" dirty="0" err="1">
                <a:solidFill>
                  <a:srgbClr val="464749"/>
                </a:solidFill>
                <a:latin typeface="Frutiger 45 Light" panose="020B0603020202020204" pitchFamily="34" charset="0"/>
              </a:rPr>
              <a:t>Counterparty</a:t>
            </a:r>
            <a:r>
              <a:rPr lang="pl-PL" sz="2000" kern="0" dirty="0">
                <a:solidFill>
                  <a:srgbClr val="464749"/>
                </a:solidFill>
                <a:latin typeface="Frutiger 45 Light" panose="020B0603020202020204" pitchFamily="34" charset="0"/>
              </a:rPr>
              <a:t> </a:t>
            </a:r>
            <a:r>
              <a:rPr lang="pl-PL" sz="2000" kern="0" dirty="0" err="1">
                <a:solidFill>
                  <a:srgbClr val="464749"/>
                </a:solidFill>
                <a:latin typeface="Frutiger 45 Light" panose="020B0603020202020204" pitchFamily="34" charset="0"/>
              </a:rPr>
              <a:t>credit</a:t>
            </a:r>
            <a:r>
              <a:rPr lang="pl-PL" sz="2000" kern="0" dirty="0">
                <a:solidFill>
                  <a:srgbClr val="464749"/>
                </a:solidFill>
                <a:latin typeface="Frutiger 45 Light" panose="020B0603020202020204" pitchFamily="34" charset="0"/>
              </a:rPr>
              <a:t> </a:t>
            </a:r>
            <a:r>
              <a:rPr lang="pl-PL" sz="2000" kern="0" dirty="0" err="1">
                <a:solidFill>
                  <a:srgbClr val="464749"/>
                </a:solidFill>
                <a:latin typeface="Frutiger 45 Light" panose="020B0603020202020204" pitchFamily="34" charset="0"/>
              </a:rPr>
              <a:t>risk</a:t>
            </a:r>
            <a:endParaRPr lang="en-US" sz="2000" kern="0" dirty="0">
              <a:solidFill>
                <a:srgbClr val="464749"/>
              </a:solidFill>
              <a:latin typeface="Frutiger 45 Light" panose="020B0603020202020204" pitchFamily="34" charset="0"/>
            </a:endParaRPr>
          </a:p>
        </p:txBody>
      </p:sp>
      <p:grpSp>
        <p:nvGrpSpPr>
          <p:cNvPr id="15" name="Group 14">
            <a:extLst>
              <a:ext uri="{FF2B5EF4-FFF2-40B4-BE49-F238E27FC236}">
                <a16:creationId xmlns:a16="http://schemas.microsoft.com/office/drawing/2014/main" id="{67814B6A-F181-4903-BEA4-A953124ABD68}"/>
              </a:ext>
            </a:extLst>
          </p:cNvPr>
          <p:cNvGrpSpPr/>
          <p:nvPr/>
        </p:nvGrpSpPr>
        <p:grpSpPr>
          <a:xfrm>
            <a:off x="4720281" y="3914757"/>
            <a:ext cx="3032815" cy="456156"/>
            <a:chOff x="3733469" y="2147037"/>
            <a:chExt cx="3581400" cy="456156"/>
          </a:xfrm>
          <a:solidFill>
            <a:schemeClr val="bg1">
              <a:lumMod val="85000"/>
            </a:schemeClr>
          </a:solidFill>
        </p:grpSpPr>
        <p:sp>
          <p:nvSpPr>
            <p:cNvPr id="16" name="Rounded Rectangle 39">
              <a:extLst>
                <a:ext uri="{FF2B5EF4-FFF2-40B4-BE49-F238E27FC236}">
                  <a16:creationId xmlns:a16="http://schemas.microsoft.com/office/drawing/2014/main" id="{F53E4CD3-4DF5-46E0-9906-72A0F1313A18}"/>
                </a:ext>
              </a:extLst>
            </p:cNvPr>
            <p:cNvSpPr/>
            <p:nvPr/>
          </p:nvSpPr>
          <p:spPr>
            <a:xfrm>
              <a:off x="3733469" y="2147037"/>
              <a:ext cx="3581400" cy="456156"/>
            </a:xfrm>
            <a:prstGeom prst="roundRect">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GB"/>
            </a:p>
          </p:txBody>
        </p:sp>
        <p:sp>
          <p:nvSpPr>
            <p:cNvPr id="17" name="Rounded Rectangle 4">
              <a:extLst>
                <a:ext uri="{FF2B5EF4-FFF2-40B4-BE49-F238E27FC236}">
                  <a16:creationId xmlns:a16="http://schemas.microsoft.com/office/drawing/2014/main" id="{B34D8814-0C93-4BD8-8289-0A47172015C4}"/>
                </a:ext>
              </a:extLst>
            </p:cNvPr>
            <p:cNvSpPr/>
            <p:nvPr/>
          </p:nvSpPr>
          <p:spPr>
            <a:xfrm>
              <a:off x="3764819" y="2147037"/>
              <a:ext cx="3536864" cy="411620"/>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pl-PL" dirty="0" err="1">
                  <a:solidFill>
                    <a:schemeClr val="tx1"/>
                  </a:solidFill>
                  <a:latin typeface="Frutiger 45 Light" panose="020B0603020202020204" pitchFamily="34" charset="0"/>
                </a:rPr>
                <a:t>Financing</a:t>
              </a:r>
              <a:r>
                <a:rPr lang="pl-PL" dirty="0">
                  <a:solidFill>
                    <a:schemeClr val="tx1"/>
                  </a:solidFill>
                  <a:latin typeface="Frutiger 45 Light" panose="020B0603020202020204" pitchFamily="34" charset="0"/>
                </a:rPr>
                <a:t> </a:t>
              </a:r>
              <a:r>
                <a:rPr lang="pl-PL" dirty="0" err="1">
                  <a:solidFill>
                    <a:schemeClr val="tx1"/>
                  </a:solidFill>
                  <a:latin typeface="Frutiger 45 Light" panose="020B0603020202020204" pitchFamily="34" charset="0"/>
                </a:rPr>
                <a:t>transactions</a:t>
              </a:r>
              <a:endParaRPr lang="en-US" kern="1200" dirty="0">
                <a:solidFill>
                  <a:schemeClr val="tx1"/>
                </a:solidFill>
                <a:latin typeface="Frutiger 45 Light" panose="020B0603020202020204" pitchFamily="34" charset="0"/>
              </a:endParaRPr>
            </a:p>
          </p:txBody>
        </p:sp>
      </p:grpSp>
    </p:spTree>
    <p:custDataLst>
      <p:tags r:id="rId1"/>
    </p:custDataLst>
    <p:extLst>
      <p:ext uri="{BB962C8B-B14F-4D97-AF65-F5344CB8AC3E}">
        <p14:creationId xmlns:p14="http://schemas.microsoft.com/office/powerpoint/2010/main" val="4223558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9" grpId="0"/>
      <p:bldP spid="33" grpId="0"/>
      <p:bldP spid="3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AGE HEADING"/>
          <p:cNvSpPr>
            <a:spLocks noGrp="1"/>
          </p:cNvSpPr>
          <p:nvPr>
            <p:ph type="title"/>
            <p:custDataLst>
              <p:tags r:id="rId2"/>
            </p:custDataLst>
          </p:nvPr>
        </p:nvSpPr>
        <p:spPr/>
        <p:txBody>
          <a:bodyPr>
            <a:normAutofit/>
          </a:bodyPr>
          <a:lstStyle/>
          <a:p>
            <a:r>
              <a:rPr lang="en-US" dirty="0"/>
              <a:t>Counterparty Credit Risk</a:t>
            </a:r>
            <a:r>
              <a:rPr lang="pl-PL" dirty="0"/>
              <a:t> - </a:t>
            </a:r>
            <a:r>
              <a:rPr lang="pl-PL" dirty="0" err="1"/>
              <a:t>Introduction</a:t>
            </a:r>
            <a:endParaRPr lang="en-US" dirty="0"/>
          </a:p>
        </p:txBody>
      </p:sp>
      <p:sp>
        <p:nvSpPr>
          <p:cNvPr id="4" name="Content Placeholder 3">
            <a:extLst>
              <a:ext uri="{FF2B5EF4-FFF2-40B4-BE49-F238E27FC236}">
                <a16:creationId xmlns:a16="http://schemas.microsoft.com/office/drawing/2014/main" id="{A8A36BDB-D958-4667-9D07-8F62FE00B96E}"/>
              </a:ext>
            </a:extLst>
          </p:cNvPr>
          <p:cNvSpPr>
            <a:spLocks noGrp="1"/>
          </p:cNvSpPr>
          <p:nvPr>
            <p:ph idx="1"/>
          </p:nvPr>
        </p:nvSpPr>
        <p:spPr>
          <a:xfrm>
            <a:off x="420624" y="6409718"/>
            <a:ext cx="9189720" cy="386473"/>
          </a:xfrm>
        </p:spPr>
        <p:txBody>
          <a:bodyPr/>
          <a:lstStyle/>
          <a:p>
            <a:pPr marL="0" indent="0">
              <a:buNone/>
            </a:pPr>
            <a:r>
              <a:rPr lang="pl-PL" dirty="0">
                <a:latin typeface="Frutiger 55 Roman" panose="020B0503040202020204" pitchFamily="34" charset="0"/>
              </a:rPr>
              <a:t>  We </a:t>
            </a:r>
            <a:r>
              <a:rPr lang="pl-PL" dirty="0" err="1">
                <a:latin typeface="Frutiger 55 Roman" panose="020B0503040202020204" pitchFamily="34" charset="0"/>
              </a:rPr>
              <a:t>don’t</a:t>
            </a:r>
            <a:r>
              <a:rPr lang="pl-PL" dirty="0">
                <a:latin typeface="Frutiger 55 Roman" panose="020B0503040202020204" pitchFamily="34" charset="0"/>
              </a:rPr>
              <a:t> </a:t>
            </a:r>
            <a:r>
              <a:rPr lang="pl-PL" dirty="0" err="1">
                <a:latin typeface="Frutiger 55 Roman" panose="020B0503040202020204" pitchFamily="34" charset="0"/>
              </a:rPr>
              <a:t>know</a:t>
            </a:r>
            <a:r>
              <a:rPr lang="pl-PL" dirty="0">
                <a:latin typeface="Frutiger 55 Roman" panose="020B0503040202020204" pitchFamily="34" charset="0"/>
              </a:rPr>
              <a:t> the </a:t>
            </a:r>
            <a:r>
              <a:rPr lang="pl-PL" dirty="0" err="1">
                <a:latin typeface="Frutiger 55 Roman" panose="020B0503040202020204" pitchFamily="34" charset="0"/>
              </a:rPr>
              <a:t>future</a:t>
            </a:r>
            <a:r>
              <a:rPr lang="pl-PL" dirty="0">
                <a:latin typeface="Frutiger 55 Roman" panose="020B0503040202020204" pitchFamily="34" charset="0"/>
              </a:rPr>
              <a:t> </a:t>
            </a:r>
            <a:r>
              <a:rPr lang="pl-PL" dirty="0" err="1">
                <a:latin typeface="Frutiger 55 Roman" panose="020B0503040202020204" pitchFamily="34" charset="0"/>
              </a:rPr>
              <a:t>value</a:t>
            </a:r>
            <a:r>
              <a:rPr lang="pl-PL" dirty="0">
                <a:latin typeface="Frutiger 55 Roman" panose="020B0503040202020204" pitchFamily="34" charset="0"/>
              </a:rPr>
              <a:t> of           </a:t>
            </a:r>
            <a:r>
              <a:rPr lang="en-GB" dirty="0">
                <a:latin typeface="Frutiger 55 Roman" panose="020B0503040202020204" pitchFamily="34" charset="0"/>
              </a:rPr>
              <a:t>   </a:t>
            </a:r>
            <a:r>
              <a:rPr lang="pl-PL" dirty="0">
                <a:latin typeface="Frutiger 55 Roman" panose="020B0503040202020204" pitchFamily="34" charset="0"/>
              </a:rPr>
              <a:t>,</a:t>
            </a:r>
            <a:r>
              <a:rPr lang="en-GB" dirty="0">
                <a:latin typeface="Frutiger 55 Roman" panose="020B0503040202020204" pitchFamily="34" charset="0"/>
              </a:rPr>
              <a:t> </a:t>
            </a:r>
            <a:r>
              <a:rPr lang="pl-PL" dirty="0">
                <a:latin typeface="Frutiger 55 Roman" panose="020B0503040202020204" pitchFamily="34" charset="0"/>
              </a:rPr>
              <a:t>the </a:t>
            </a:r>
            <a:r>
              <a:rPr lang="pl-PL" dirty="0" err="1">
                <a:latin typeface="Frutiger 55 Roman" panose="020B0503040202020204" pitchFamily="34" charset="0"/>
              </a:rPr>
              <a:t>exposure</a:t>
            </a:r>
            <a:r>
              <a:rPr lang="pl-PL" dirty="0">
                <a:latin typeface="Frutiger 55 Roman" panose="020B0503040202020204" pitchFamily="34" charset="0"/>
              </a:rPr>
              <a:t> </a:t>
            </a:r>
            <a:r>
              <a:rPr lang="pl-PL" dirty="0" err="1">
                <a:latin typeface="Frutiger 55 Roman" panose="020B0503040202020204" pitchFamily="34" charset="0"/>
              </a:rPr>
              <a:t>is</a:t>
            </a:r>
            <a:r>
              <a:rPr lang="pl-PL" dirty="0">
                <a:latin typeface="Frutiger 55 Roman" panose="020B0503040202020204" pitchFamily="34" charset="0"/>
              </a:rPr>
              <a:t> </a:t>
            </a:r>
            <a:r>
              <a:rPr lang="pl-PL" dirty="0" err="1">
                <a:latin typeface="Frutiger 55 Roman" panose="020B0503040202020204" pitchFamily="34" charset="0"/>
              </a:rPr>
              <a:t>random</a:t>
            </a:r>
            <a:r>
              <a:rPr lang="pl-PL" dirty="0">
                <a:latin typeface="Frutiger 55 Roman" panose="020B0503040202020204" pitchFamily="34" charset="0"/>
              </a:rPr>
              <a:t>!</a:t>
            </a:r>
          </a:p>
          <a:p>
            <a:endParaRPr lang="pl-PL" sz="600" u="sng" dirty="0">
              <a:latin typeface="Frutiger 55 Roman" panose="020B0503040202020204" pitchFamily="34" charset="0"/>
            </a:endParaRPr>
          </a:p>
        </p:txBody>
      </p:sp>
      <p:sp>
        <p:nvSpPr>
          <p:cNvPr id="17" name="Rounded Rectangle 4">
            <a:extLst>
              <a:ext uri="{FF2B5EF4-FFF2-40B4-BE49-F238E27FC236}">
                <a16:creationId xmlns:a16="http://schemas.microsoft.com/office/drawing/2014/main" id="{DC58D6CD-0D29-448A-9AB8-9EBEB588B7BD}"/>
              </a:ext>
            </a:extLst>
          </p:cNvPr>
          <p:cNvSpPr/>
          <p:nvPr/>
        </p:nvSpPr>
        <p:spPr>
          <a:xfrm>
            <a:off x="441629" y="5125227"/>
            <a:ext cx="9087392" cy="1056766"/>
          </a:xfrm>
          <a:prstGeom prst="roundRect">
            <a:avLst/>
          </a:prstGeom>
          <a:solidFill>
            <a:schemeClr val="bg1">
              <a:lumMod val="95000"/>
            </a:schemeClr>
          </a:solidFill>
          <a:ln/>
        </p:spPr>
        <p:style>
          <a:lnRef idx="1">
            <a:schemeClr val="accent4"/>
          </a:lnRef>
          <a:fillRef idx="2">
            <a:schemeClr val="accent4"/>
          </a:fillRef>
          <a:effectRef idx="1">
            <a:schemeClr val="accent4"/>
          </a:effectRef>
          <a:fontRef idx="minor">
            <a:schemeClr val="dk1"/>
          </a:fontRef>
        </p:style>
        <p:txBody>
          <a:bodyPr lIns="0" tIns="0" rIns="0" bIns="0" rtlCol="0" anchor="ctr"/>
          <a:lstStyle/>
          <a:p>
            <a:endParaRPr lang="pl-PL" sz="2400" b="1" dirty="0">
              <a:solidFill>
                <a:schemeClr val="tx1"/>
              </a:solidFill>
            </a:endParaRPr>
          </a:p>
          <a:p>
            <a:r>
              <a:rPr lang="pl-PL" sz="2000" dirty="0" err="1">
                <a:solidFill>
                  <a:schemeClr val="tx1"/>
                </a:solidFill>
                <a:latin typeface="Frutiger 45 Light" panose="020B0603020202020204" pitchFamily="34" charset="0"/>
              </a:rPr>
              <a:t>Credit</a:t>
            </a:r>
            <a:r>
              <a:rPr lang="pl-PL" sz="2000" dirty="0">
                <a:solidFill>
                  <a:schemeClr val="tx1"/>
                </a:solidFill>
                <a:latin typeface="Frutiger 45 Light" panose="020B0603020202020204" pitchFamily="34" charset="0"/>
              </a:rPr>
              <a:t> </a:t>
            </a:r>
            <a:r>
              <a:rPr lang="pl-PL" sz="2000" dirty="0" err="1">
                <a:solidFill>
                  <a:schemeClr val="tx1"/>
                </a:solidFill>
                <a:latin typeface="Frutiger 45 Light" panose="020B0603020202020204" pitchFamily="34" charset="0"/>
              </a:rPr>
              <a:t>exposure</a:t>
            </a:r>
            <a:r>
              <a:rPr lang="pl-PL" sz="2000" dirty="0">
                <a:solidFill>
                  <a:schemeClr val="tx1"/>
                </a:solidFill>
                <a:latin typeface="Frutiger 45 Light" panose="020B0603020202020204" pitchFamily="34" charset="0"/>
              </a:rPr>
              <a:t> </a:t>
            </a:r>
            <a:r>
              <a:rPr lang="pl-PL" sz="2000" dirty="0" err="1">
                <a:solidFill>
                  <a:schemeClr val="tx1"/>
                </a:solidFill>
                <a:latin typeface="Frutiger 45 Light" panose="020B0603020202020204" pitchFamily="34" charset="0"/>
              </a:rPr>
              <a:t>at</a:t>
            </a:r>
            <a:r>
              <a:rPr lang="pl-PL" sz="2000" dirty="0">
                <a:solidFill>
                  <a:schemeClr val="tx1"/>
                </a:solidFill>
                <a:latin typeface="Frutiger 45 Light" panose="020B0603020202020204" pitchFamily="34" charset="0"/>
              </a:rPr>
              <a:t> </a:t>
            </a:r>
            <a:r>
              <a:rPr lang="pl-PL" sz="2000" dirty="0" err="1">
                <a:solidFill>
                  <a:schemeClr val="tx1"/>
                </a:solidFill>
                <a:latin typeface="Frutiger 45 Light" panose="020B0603020202020204" pitchFamily="34" charset="0"/>
              </a:rPr>
              <a:t>time</a:t>
            </a:r>
            <a:r>
              <a:rPr lang="pl-PL" sz="2000" dirty="0">
                <a:solidFill>
                  <a:schemeClr val="tx1"/>
                </a:solidFill>
                <a:latin typeface="Frutiger 45 Light" panose="020B0603020202020204" pitchFamily="34" charset="0"/>
              </a:rPr>
              <a:t> t </a:t>
            </a:r>
            <a:r>
              <a:rPr lang="pl-PL" sz="2000" dirty="0" err="1">
                <a:solidFill>
                  <a:schemeClr val="tx1"/>
                </a:solidFill>
                <a:latin typeface="Frutiger 45 Light" panose="020B0603020202020204" pitchFamily="34" charset="0"/>
              </a:rPr>
              <a:t>is</a:t>
            </a:r>
            <a:r>
              <a:rPr lang="pl-PL" sz="2000" dirty="0">
                <a:solidFill>
                  <a:schemeClr val="tx1"/>
                </a:solidFill>
                <a:latin typeface="Frutiger 45 Light" panose="020B0603020202020204" pitchFamily="34" charset="0"/>
              </a:rPr>
              <a:t> the </a:t>
            </a:r>
            <a:r>
              <a:rPr lang="pl-PL" sz="2000" dirty="0" err="1">
                <a:solidFill>
                  <a:schemeClr val="tx1"/>
                </a:solidFill>
                <a:latin typeface="Frutiger 45 Light" panose="020B0603020202020204" pitchFamily="34" charset="0"/>
              </a:rPr>
              <a:t>replacement</a:t>
            </a:r>
            <a:r>
              <a:rPr lang="pl-PL" sz="2000" dirty="0">
                <a:solidFill>
                  <a:schemeClr val="tx1"/>
                </a:solidFill>
                <a:latin typeface="Frutiger 45 Light" panose="020B0603020202020204" pitchFamily="34" charset="0"/>
              </a:rPr>
              <a:t> </a:t>
            </a:r>
            <a:r>
              <a:rPr lang="pl-PL" sz="2000" dirty="0" err="1">
                <a:solidFill>
                  <a:schemeClr val="tx1"/>
                </a:solidFill>
                <a:latin typeface="Frutiger 45 Light" panose="020B0603020202020204" pitchFamily="34" charset="0"/>
              </a:rPr>
              <a:t>value</a:t>
            </a:r>
            <a:r>
              <a:rPr lang="pl-PL" sz="2000" dirty="0">
                <a:solidFill>
                  <a:schemeClr val="tx1"/>
                </a:solidFill>
                <a:latin typeface="Frutiger 45 Light" panose="020B0603020202020204" pitchFamily="34" charset="0"/>
              </a:rPr>
              <a:t> of the </a:t>
            </a:r>
            <a:r>
              <a:rPr lang="pl-PL" sz="2000" dirty="0" err="1">
                <a:solidFill>
                  <a:schemeClr val="tx1"/>
                </a:solidFill>
                <a:latin typeface="Frutiger 45 Light" panose="020B0603020202020204" pitchFamily="34" charset="0"/>
              </a:rPr>
              <a:t>contract</a:t>
            </a:r>
            <a:r>
              <a:rPr lang="pl-PL" sz="2000" dirty="0">
                <a:solidFill>
                  <a:schemeClr val="tx1"/>
                </a:solidFill>
                <a:latin typeface="Frutiger 45 Light" panose="020B0603020202020204" pitchFamily="34" charset="0"/>
              </a:rPr>
              <a:t> </a:t>
            </a:r>
            <a:r>
              <a:rPr lang="pl-PL" sz="2000" dirty="0" err="1">
                <a:solidFill>
                  <a:schemeClr val="tx1"/>
                </a:solidFill>
                <a:latin typeface="Frutiger 45 Light" panose="020B0603020202020204" pitchFamily="34" charset="0"/>
              </a:rPr>
              <a:t>if</a:t>
            </a:r>
            <a:r>
              <a:rPr lang="pl-PL" sz="2000" dirty="0">
                <a:solidFill>
                  <a:schemeClr val="tx1"/>
                </a:solidFill>
                <a:latin typeface="Frutiger 45 Light" panose="020B0603020202020204" pitchFamily="34" charset="0"/>
              </a:rPr>
              <a:t> </a:t>
            </a:r>
            <a:r>
              <a:rPr lang="pl-PL" sz="2000" dirty="0" err="1">
                <a:solidFill>
                  <a:schemeClr val="tx1"/>
                </a:solidFill>
                <a:latin typeface="Frutiger 45 Light" panose="020B0603020202020204" pitchFamily="34" charset="0"/>
              </a:rPr>
              <a:t>it</a:t>
            </a:r>
            <a:r>
              <a:rPr lang="pl-PL" sz="2000" dirty="0">
                <a:solidFill>
                  <a:schemeClr val="tx1"/>
                </a:solidFill>
                <a:latin typeface="Frutiger 45 Light" panose="020B0603020202020204" pitchFamily="34" charset="0"/>
              </a:rPr>
              <a:t> </a:t>
            </a:r>
            <a:r>
              <a:rPr lang="pl-PL" sz="2000" dirty="0" err="1">
                <a:solidFill>
                  <a:schemeClr val="tx1"/>
                </a:solidFill>
                <a:latin typeface="Frutiger 45 Light" panose="020B0603020202020204" pitchFamily="34" charset="0"/>
              </a:rPr>
              <a:t>is</a:t>
            </a:r>
            <a:r>
              <a:rPr lang="pl-PL" sz="2000" dirty="0">
                <a:solidFill>
                  <a:schemeClr val="tx1"/>
                </a:solidFill>
                <a:latin typeface="Frutiger 45 Light" panose="020B0603020202020204" pitchFamily="34" charset="0"/>
              </a:rPr>
              <a:t> </a:t>
            </a:r>
            <a:r>
              <a:rPr lang="pl-PL" sz="2000" dirty="0" err="1">
                <a:solidFill>
                  <a:schemeClr val="tx1"/>
                </a:solidFill>
                <a:latin typeface="Frutiger 45 Light" panose="020B0603020202020204" pitchFamily="34" charset="0"/>
              </a:rPr>
              <a:t>positive</a:t>
            </a:r>
            <a:r>
              <a:rPr lang="pl-PL" sz="2000" dirty="0">
                <a:solidFill>
                  <a:schemeClr val="tx1"/>
                </a:solidFill>
                <a:latin typeface="Frutiger 45 Light" panose="020B0603020202020204" pitchFamily="34" charset="0"/>
              </a:rPr>
              <a:t> and zero </a:t>
            </a:r>
            <a:r>
              <a:rPr lang="pl-PL" sz="2000" dirty="0" err="1">
                <a:solidFill>
                  <a:schemeClr val="tx1"/>
                </a:solidFill>
                <a:latin typeface="Frutiger 45 Light" panose="020B0603020202020204" pitchFamily="34" charset="0"/>
              </a:rPr>
              <a:t>otherwise</a:t>
            </a:r>
            <a:r>
              <a:rPr lang="pl-PL" sz="2000" dirty="0">
                <a:solidFill>
                  <a:schemeClr val="tx1"/>
                </a:solidFill>
                <a:latin typeface="Frutiger 45 Light" panose="020B0603020202020204" pitchFamily="34" charset="0"/>
              </a:rPr>
              <a:t>.  </a:t>
            </a:r>
          </a:p>
          <a:p>
            <a:endParaRPr lang="en-US" sz="2400" dirty="0">
              <a:solidFill>
                <a:schemeClr val="tx1"/>
              </a:solidFill>
            </a:endParaRPr>
          </a:p>
        </p:txBody>
      </p:sp>
      <p:cxnSp>
        <p:nvCxnSpPr>
          <p:cNvPr id="18" name="Straight Arrow Connector 17">
            <a:extLst>
              <a:ext uri="{FF2B5EF4-FFF2-40B4-BE49-F238E27FC236}">
                <a16:creationId xmlns:a16="http://schemas.microsoft.com/office/drawing/2014/main" id="{BA525688-5533-4FD3-B6ED-BA33BFB55304}"/>
              </a:ext>
            </a:extLst>
          </p:cNvPr>
          <p:cNvCxnSpPr/>
          <p:nvPr/>
        </p:nvCxnSpPr>
        <p:spPr>
          <a:xfrm flipV="1">
            <a:off x="3835987" y="2892632"/>
            <a:ext cx="1295400" cy="892896"/>
          </a:xfrm>
          <a:prstGeom prst="straightConnector1">
            <a:avLst/>
          </a:prstGeom>
          <a:ln w="19050">
            <a:solidFill>
              <a:srgbClr val="919191"/>
            </a:solidFill>
            <a:tailEnd type="arrow"/>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EBFDDC63-01EB-4F96-83CE-C7201C298509}"/>
              </a:ext>
            </a:extLst>
          </p:cNvPr>
          <p:cNvSpPr txBox="1"/>
          <p:nvPr/>
        </p:nvSpPr>
        <p:spPr>
          <a:xfrm>
            <a:off x="2922521" y="2471997"/>
            <a:ext cx="914400" cy="914400"/>
          </a:xfrm>
          <a:prstGeom prst="rect">
            <a:avLst/>
          </a:prstGeom>
          <a:noFill/>
        </p:spPr>
        <p:txBody>
          <a:bodyPr wrap="none" lIns="0" tIns="0" rIns="0" bIns="0" rtlCol="0">
            <a:noAutofit/>
          </a:bodyPr>
          <a:lstStyle/>
          <a:p>
            <a:endParaRPr lang="en-US" sz="1100">
              <a:latin typeface="+mn-lt"/>
            </a:endParaRPr>
          </a:p>
        </p:txBody>
      </p:sp>
      <p:graphicFrame>
        <p:nvGraphicFramePr>
          <p:cNvPr id="21" name="Object 20">
            <a:extLst>
              <a:ext uri="{FF2B5EF4-FFF2-40B4-BE49-F238E27FC236}">
                <a16:creationId xmlns:a16="http://schemas.microsoft.com/office/drawing/2014/main" id="{15755873-12B7-476A-9FEA-C15C59906C25}"/>
              </a:ext>
            </a:extLst>
          </p:cNvPr>
          <p:cNvGraphicFramePr>
            <a:graphicFrameLocks noChangeAspect="1"/>
          </p:cNvGraphicFramePr>
          <p:nvPr>
            <p:extLst>
              <p:ext uri="{D42A27DB-BD31-4B8C-83A1-F6EECF244321}">
                <p14:modId xmlns:p14="http://schemas.microsoft.com/office/powerpoint/2010/main" val="2634816792"/>
              </p:ext>
            </p:extLst>
          </p:nvPr>
        </p:nvGraphicFramePr>
        <p:xfrm>
          <a:off x="3975833" y="2823869"/>
          <a:ext cx="514499" cy="421748"/>
        </p:xfrm>
        <a:graphic>
          <a:graphicData uri="http://schemas.openxmlformats.org/presentationml/2006/ole">
            <mc:AlternateContent xmlns:mc="http://schemas.openxmlformats.org/markup-compatibility/2006">
              <mc:Choice xmlns:v="urn:schemas-microsoft-com:vml" Requires="v">
                <p:oleObj name="Equation" r:id="rId6" imgW="241200" imgH="177480" progId="Equation.3">
                  <p:embed/>
                </p:oleObj>
              </mc:Choice>
              <mc:Fallback>
                <p:oleObj name="Equation" r:id="rId6" imgW="241200" imgH="177480" progId="Equation.3">
                  <p:embed/>
                  <p:pic>
                    <p:nvPicPr>
                      <p:cNvPr id="21" name="Object 20">
                        <a:extLst>
                          <a:ext uri="{FF2B5EF4-FFF2-40B4-BE49-F238E27FC236}">
                            <a16:creationId xmlns:a16="http://schemas.microsoft.com/office/drawing/2014/main" id="{15755873-12B7-476A-9FEA-C15C59906C25}"/>
                          </a:ext>
                        </a:extLst>
                      </p:cNvPr>
                      <p:cNvPicPr/>
                      <p:nvPr/>
                    </p:nvPicPr>
                    <p:blipFill>
                      <a:blip r:embed="rId7"/>
                      <a:stretch>
                        <a:fillRect/>
                      </a:stretch>
                    </p:blipFill>
                    <p:spPr>
                      <a:xfrm>
                        <a:off x="3975833" y="2823869"/>
                        <a:ext cx="514499" cy="421748"/>
                      </a:xfrm>
                      <a:prstGeom prst="rect">
                        <a:avLst/>
                      </a:prstGeom>
                    </p:spPr>
                  </p:pic>
                </p:oleObj>
              </mc:Fallback>
            </mc:AlternateContent>
          </a:graphicData>
        </a:graphic>
      </p:graphicFrame>
      <p:graphicFrame>
        <p:nvGraphicFramePr>
          <p:cNvPr id="22" name="Object 21">
            <a:extLst>
              <a:ext uri="{FF2B5EF4-FFF2-40B4-BE49-F238E27FC236}">
                <a16:creationId xmlns:a16="http://schemas.microsoft.com/office/drawing/2014/main" id="{7E42ED0F-F5D9-417E-9693-9B4F91CD1F8A}"/>
              </a:ext>
            </a:extLst>
          </p:cNvPr>
          <p:cNvGraphicFramePr>
            <a:graphicFrameLocks noChangeAspect="1"/>
          </p:cNvGraphicFramePr>
          <p:nvPr>
            <p:extLst>
              <p:ext uri="{D42A27DB-BD31-4B8C-83A1-F6EECF244321}">
                <p14:modId xmlns:p14="http://schemas.microsoft.com/office/powerpoint/2010/main" val="2980297551"/>
              </p:ext>
            </p:extLst>
          </p:nvPr>
        </p:nvGraphicFramePr>
        <p:xfrm>
          <a:off x="3985507" y="4193726"/>
          <a:ext cx="514350" cy="420687"/>
        </p:xfrm>
        <a:graphic>
          <a:graphicData uri="http://schemas.openxmlformats.org/presentationml/2006/ole">
            <mc:AlternateContent xmlns:mc="http://schemas.openxmlformats.org/markup-compatibility/2006">
              <mc:Choice xmlns:v="urn:schemas-microsoft-com:vml" Requires="v">
                <p:oleObj name="Equation" r:id="rId8" imgW="241200" imgH="177480" progId="Equation.3">
                  <p:embed/>
                </p:oleObj>
              </mc:Choice>
              <mc:Fallback>
                <p:oleObj name="Equation" r:id="rId8" imgW="241200" imgH="177480" progId="Equation.3">
                  <p:embed/>
                  <p:pic>
                    <p:nvPicPr>
                      <p:cNvPr id="22" name="Object 21">
                        <a:extLst>
                          <a:ext uri="{FF2B5EF4-FFF2-40B4-BE49-F238E27FC236}">
                            <a16:creationId xmlns:a16="http://schemas.microsoft.com/office/drawing/2014/main" id="{7E42ED0F-F5D9-417E-9693-9B4F91CD1F8A}"/>
                          </a:ext>
                        </a:extLst>
                      </p:cNvPr>
                      <p:cNvPicPr>
                        <a:picLocks noChangeAspect="1" noChangeArrowheads="1"/>
                      </p:cNvPicPr>
                      <p:nvPr/>
                    </p:nvPicPr>
                    <p:blipFill>
                      <a:blip r:embed="rId9"/>
                      <a:srcRect/>
                      <a:stretch>
                        <a:fillRect/>
                      </a:stretch>
                    </p:blipFill>
                    <p:spPr bwMode="auto">
                      <a:xfrm>
                        <a:off x="3985507" y="4193726"/>
                        <a:ext cx="514350" cy="420687"/>
                      </a:xfrm>
                      <a:prstGeom prst="rect">
                        <a:avLst/>
                      </a:prstGeom>
                      <a:noFill/>
                      <a:ln>
                        <a:noFill/>
                      </a:ln>
                    </p:spPr>
                  </p:pic>
                </p:oleObj>
              </mc:Fallback>
            </mc:AlternateContent>
          </a:graphicData>
        </a:graphic>
      </p:graphicFrame>
      <mc:AlternateContent xmlns:mc="http://schemas.openxmlformats.org/markup-compatibility/2006" xmlns:a14="http://schemas.microsoft.com/office/drawing/2010/main">
        <mc:Choice Requires="a14">
          <p:sp>
            <p:nvSpPr>
              <p:cNvPr id="23" name="Rectangle 22">
                <a:extLst>
                  <a:ext uri="{FF2B5EF4-FFF2-40B4-BE49-F238E27FC236}">
                    <a16:creationId xmlns:a16="http://schemas.microsoft.com/office/drawing/2014/main" id="{4AE2938D-995E-4A77-B2A6-CE2312E305FA}"/>
                  </a:ext>
                </a:extLst>
              </p:cNvPr>
              <p:cNvSpPr/>
              <p:nvPr/>
            </p:nvSpPr>
            <p:spPr>
              <a:xfrm>
                <a:off x="3282893" y="5666229"/>
                <a:ext cx="3493777" cy="49244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600" i="1">
                              <a:latin typeface="Cambria Math" panose="02040503050406030204" pitchFamily="18" charset="0"/>
                            </a:rPr>
                          </m:ctrlPr>
                        </m:sSubPr>
                        <m:e>
                          <m:r>
                            <a:rPr lang="en-US" sz="2600" i="1">
                              <a:latin typeface="Cambria Math"/>
                            </a:rPr>
                            <m:t>𝐸</m:t>
                          </m:r>
                        </m:e>
                        <m:sub>
                          <m:r>
                            <a:rPr lang="en-US" sz="2600" i="1">
                              <a:latin typeface="Cambria Math"/>
                            </a:rPr>
                            <m:t>𝑋</m:t>
                          </m:r>
                        </m:sub>
                      </m:sSub>
                      <m:r>
                        <a:rPr lang="en-US" sz="2600" i="1">
                          <a:latin typeface="Cambria Math"/>
                        </a:rPr>
                        <m:t>(</m:t>
                      </m:r>
                      <m:r>
                        <a:rPr lang="en-US" sz="2600" i="1">
                          <a:latin typeface="Cambria Math"/>
                        </a:rPr>
                        <m:t>𝑡</m:t>
                      </m:r>
                      <m:r>
                        <a:rPr lang="en-US" sz="2600" i="1">
                          <a:latin typeface="Cambria Math"/>
                        </a:rPr>
                        <m:t>)=</m:t>
                      </m:r>
                      <m:r>
                        <a:rPr lang="en-US" sz="2600" i="1">
                          <a:latin typeface="Cambria Math"/>
                        </a:rPr>
                        <m:t>𝑚𝑎𝑥</m:t>
                      </m:r>
                      <m:r>
                        <a:rPr lang="en-US" sz="2600" i="1">
                          <a:latin typeface="Cambria Math"/>
                        </a:rPr>
                        <m:t>(</m:t>
                      </m:r>
                      <m:sSub>
                        <m:sSubPr>
                          <m:ctrlPr>
                            <a:rPr lang="en-US" sz="2600" i="1">
                              <a:latin typeface="Cambria Math" panose="02040503050406030204" pitchFamily="18" charset="0"/>
                            </a:rPr>
                          </m:ctrlPr>
                        </m:sSubPr>
                        <m:e>
                          <m:r>
                            <a:rPr lang="en-US" sz="2600" i="1">
                              <a:latin typeface="Cambria Math"/>
                            </a:rPr>
                            <m:t>𝑉</m:t>
                          </m:r>
                        </m:e>
                        <m:sub>
                          <m:r>
                            <a:rPr lang="en-US" sz="2600" i="1">
                              <a:latin typeface="Cambria Math"/>
                            </a:rPr>
                            <m:t>𝑋</m:t>
                          </m:r>
                        </m:sub>
                      </m:sSub>
                      <m:r>
                        <a:rPr lang="en-US" sz="2600" i="1">
                          <a:latin typeface="Cambria Math"/>
                        </a:rPr>
                        <m:t>(</m:t>
                      </m:r>
                      <m:r>
                        <a:rPr lang="en-US" sz="2600" i="1">
                          <a:latin typeface="Cambria Math"/>
                        </a:rPr>
                        <m:t>𝑡</m:t>
                      </m:r>
                      <m:r>
                        <a:rPr lang="en-US" sz="2600" i="1">
                          <a:latin typeface="Cambria Math"/>
                        </a:rPr>
                        <m:t>),0)</m:t>
                      </m:r>
                    </m:oMath>
                  </m:oMathPara>
                </a14:m>
                <a:endParaRPr lang="en-US" sz="2600" dirty="0"/>
              </a:p>
            </p:txBody>
          </p:sp>
        </mc:Choice>
        <mc:Fallback xmlns="">
          <p:sp>
            <p:nvSpPr>
              <p:cNvPr id="23" name="Rectangle 22">
                <a:extLst>
                  <a:ext uri="{FF2B5EF4-FFF2-40B4-BE49-F238E27FC236}">
                    <a16:creationId xmlns:a16="http://schemas.microsoft.com/office/drawing/2014/main" id="{4AE2938D-995E-4A77-B2A6-CE2312E305FA}"/>
                  </a:ext>
                </a:extLst>
              </p:cNvPr>
              <p:cNvSpPr>
                <a:spLocks noRot="1" noChangeAspect="1" noMove="1" noResize="1" noEditPoints="1" noAdjustHandles="1" noChangeArrowheads="1" noChangeShapeType="1" noTextEdit="1"/>
              </p:cNvSpPr>
              <p:nvPr/>
            </p:nvSpPr>
            <p:spPr>
              <a:xfrm>
                <a:off x="3282893" y="5666229"/>
                <a:ext cx="3493777" cy="492443"/>
              </a:xfrm>
              <a:prstGeom prst="rect">
                <a:avLst/>
              </a:prstGeom>
              <a:blipFill>
                <a:blip r:embed="rId1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5" name="Rectangle 34">
                <a:extLst>
                  <a:ext uri="{FF2B5EF4-FFF2-40B4-BE49-F238E27FC236}">
                    <a16:creationId xmlns:a16="http://schemas.microsoft.com/office/drawing/2014/main" id="{1B5D56AC-3B8B-425A-8F98-B8C65A26A3B7}"/>
                  </a:ext>
                </a:extLst>
              </p:cNvPr>
              <p:cNvSpPr/>
              <p:nvPr/>
            </p:nvSpPr>
            <p:spPr>
              <a:xfrm>
                <a:off x="2767176" y="3532498"/>
                <a:ext cx="854015"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a:rPr>
                            <m:t>𝑉</m:t>
                          </m:r>
                        </m:e>
                        <m:sub>
                          <m:r>
                            <a:rPr lang="en-US" sz="2000" i="1">
                              <a:latin typeface="Cambria Math"/>
                            </a:rPr>
                            <m:t>𝑋</m:t>
                          </m:r>
                        </m:sub>
                      </m:sSub>
                      <m:r>
                        <a:rPr lang="en-US" sz="2000" i="1">
                          <a:latin typeface="Cambria Math"/>
                        </a:rPr>
                        <m:t>(</m:t>
                      </m:r>
                      <m:r>
                        <a:rPr lang="en-US" sz="2000" i="1">
                          <a:latin typeface="Cambria Math"/>
                        </a:rPr>
                        <m:t>𝜏</m:t>
                      </m:r>
                      <m:r>
                        <a:rPr lang="en-US" sz="2000" i="1">
                          <a:latin typeface="Cambria Math"/>
                        </a:rPr>
                        <m:t>)</m:t>
                      </m:r>
                    </m:oMath>
                  </m:oMathPara>
                </a14:m>
                <a:endParaRPr lang="en-US" sz="2000" dirty="0"/>
              </a:p>
            </p:txBody>
          </p:sp>
        </mc:Choice>
        <mc:Fallback xmlns="">
          <p:sp>
            <p:nvSpPr>
              <p:cNvPr id="35" name="Rectangle 34">
                <a:extLst>
                  <a:ext uri="{FF2B5EF4-FFF2-40B4-BE49-F238E27FC236}">
                    <a16:creationId xmlns:a16="http://schemas.microsoft.com/office/drawing/2014/main" id="{1B5D56AC-3B8B-425A-8F98-B8C65A26A3B7}"/>
                  </a:ext>
                </a:extLst>
              </p:cNvPr>
              <p:cNvSpPr>
                <a:spLocks noRot="1" noChangeAspect="1" noMove="1" noResize="1" noEditPoints="1" noAdjustHandles="1" noChangeArrowheads="1" noChangeShapeType="1" noTextEdit="1"/>
              </p:cNvSpPr>
              <p:nvPr/>
            </p:nvSpPr>
            <p:spPr>
              <a:xfrm>
                <a:off x="2767176" y="3532498"/>
                <a:ext cx="854015" cy="400110"/>
              </a:xfrm>
              <a:prstGeom prst="rect">
                <a:avLst/>
              </a:prstGeom>
              <a:blipFill>
                <a:blip r:embed="rId11"/>
                <a:stretch>
                  <a:fillRect b="-1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6" name="Rectangle 35">
                <a:extLst>
                  <a:ext uri="{FF2B5EF4-FFF2-40B4-BE49-F238E27FC236}">
                    <a16:creationId xmlns:a16="http://schemas.microsoft.com/office/drawing/2014/main" id="{52539890-B1A4-4D39-A69A-DFA7127622E9}"/>
                  </a:ext>
                </a:extLst>
              </p:cNvPr>
              <p:cNvSpPr/>
              <p:nvPr/>
            </p:nvSpPr>
            <p:spPr>
              <a:xfrm>
                <a:off x="5295738" y="2586101"/>
                <a:ext cx="449287" cy="40011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pl-PL" sz="2000" i="1" smtClean="0">
                          <a:latin typeface="Cambria Math"/>
                        </a:rPr>
                        <m:t>0</m:t>
                      </m:r>
                    </m:oMath>
                  </m:oMathPara>
                </a14:m>
                <a:endParaRPr lang="en-US" sz="2000" dirty="0"/>
              </a:p>
            </p:txBody>
          </p:sp>
        </mc:Choice>
        <mc:Fallback xmlns="">
          <p:sp>
            <p:nvSpPr>
              <p:cNvPr id="36" name="Rectangle 35">
                <a:extLst>
                  <a:ext uri="{FF2B5EF4-FFF2-40B4-BE49-F238E27FC236}">
                    <a16:creationId xmlns:a16="http://schemas.microsoft.com/office/drawing/2014/main" id="{52539890-B1A4-4D39-A69A-DFA7127622E9}"/>
                  </a:ext>
                </a:extLst>
              </p:cNvPr>
              <p:cNvSpPr>
                <a:spLocks noRot="1" noChangeAspect="1" noMove="1" noResize="1" noEditPoints="1" noAdjustHandles="1" noChangeArrowheads="1" noChangeShapeType="1" noTextEdit="1"/>
              </p:cNvSpPr>
              <p:nvPr/>
            </p:nvSpPr>
            <p:spPr>
              <a:xfrm>
                <a:off x="5295738" y="2586101"/>
                <a:ext cx="449287" cy="400110"/>
              </a:xfrm>
              <a:prstGeom prst="rect">
                <a:avLst/>
              </a:prstGeom>
              <a:blipFill>
                <a:blip r:embed="rId1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7" name="Rectangle 36">
                <a:extLst>
                  <a:ext uri="{FF2B5EF4-FFF2-40B4-BE49-F238E27FC236}">
                    <a16:creationId xmlns:a16="http://schemas.microsoft.com/office/drawing/2014/main" id="{9F85522F-AFD3-46A1-9BD1-6DCD36474F66}"/>
                  </a:ext>
                </a:extLst>
              </p:cNvPr>
              <p:cNvSpPr/>
              <p:nvPr/>
            </p:nvSpPr>
            <p:spPr>
              <a:xfrm>
                <a:off x="5400274" y="4235712"/>
                <a:ext cx="854015"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a:rPr>
                            <m:t>𝑉</m:t>
                          </m:r>
                        </m:e>
                        <m:sub>
                          <m:r>
                            <a:rPr lang="en-US" sz="2000" i="1">
                              <a:latin typeface="Cambria Math"/>
                            </a:rPr>
                            <m:t>𝑋</m:t>
                          </m:r>
                        </m:sub>
                      </m:sSub>
                      <m:r>
                        <a:rPr lang="en-US" sz="2000" i="1">
                          <a:latin typeface="Cambria Math"/>
                        </a:rPr>
                        <m:t>(</m:t>
                      </m:r>
                      <m:r>
                        <a:rPr lang="en-US" sz="2000" i="1">
                          <a:latin typeface="Cambria Math"/>
                        </a:rPr>
                        <m:t>𝜏</m:t>
                      </m:r>
                      <m:r>
                        <a:rPr lang="en-US" sz="2000" i="1">
                          <a:latin typeface="Cambria Math"/>
                        </a:rPr>
                        <m:t>)</m:t>
                      </m:r>
                    </m:oMath>
                  </m:oMathPara>
                </a14:m>
                <a:endParaRPr lang="en-US" sz="2000" dirty="0"/>
              </a:p>
            </p:txBody>
          </p:sp>
        </mc:Choice>
        <mc:Fallback xmlns="">
          <p:sp>
            <p:nvSpPr>
              <p:cNvPr id="37" name="Rectangle 36">
                <a:extLst>
                  <a:ext uri="{FF2B5EF4-FFF2-40B4-BE49-F238E27FC236}">
                    <a16:creationId xmlns:a16="http://schemas.microsoft.com/office/drawing/2014/main" id="{9F85522F-AFD3-46A1-9BD1-6DCD36474F66}"/>
                  </a:ext>
                </a:extLst>
              </p:cNvPr>
              <p:cNvSpPr>
                <a:spLocks noRot="1" noChangeAspect="1" noMove="1" noResize="1" noEditPoints="1" noAdjustHandles="1" noChangeArrowheads="1" noChangeShapeType="1" noTextEdit="1"/>
              </p:cNvSpPr>
              <p:nvPr/>
            </p:nvSpPr>
            <p:spPr>
              <a:xfrm>
                <a:off x="5400274" y="4235712"/>
                <a:ext cx="854015" cy="400110"/>
              </a:xfrm>
              <a:prstGeom prst="rect">
                <a:avLst/>
              </a:prstGeom>
              <a:blipFill>
                <a:blip r:embed="rId13"/>
                <a:stretch>
                  <a:fillRect b="-16923"/>
                </a:stretch>
              </a:blipFill>
            </p:spPr>
            <p:txBody>
              <a:bodyPr/>
              <a:lstStyle/>
              <a:p>
                <a:r>
                  <a:rPr lang="en-GB">
                    <a:noFill/>
                  </a:rPr>
                  <a:t> </a:t>
                </a:r>
              </a:p>
            </p:txBody>
          </p:sp>
        </mc:Fallback>
      </mc:AlternateContent>
      <p:cxnSp>
        <p:nvCxnSpPr>
          <p:cNvPr id="38" name="Straight Arrow Connector 37">
            <a:extLst>
              <a:ext uri="{FF2B5EF4-FFF2-40B4-BE49-F238E27FC236}">
                <a16:creationId xmlns:a16="http://schemas.microsoft.com/office/drawing/2014/main" id="{39DBE113-DF07-45F3-A1B5-170328BE7E3C}"/>
              </a:ext>
            </a:extLst>
          </p:cNvPr>
          <p:cNvCxnSpPr/>
          <p:nvPr/>
        </p:nvCxnSpPr>
        <p:spPr>
          <a:xfrm>
            <a:off x="3849278" y="3779279"/>
            <a:ext cx="1282109" cy="687526"/>
          </a:xfrm>
          <a:prstGeom prst="straightConnector1">
            <a:avLst/>
          </a:prstGeom>
          <a:ln w="19050">
            <a:solidFill>
              <a:srgbClr val="919191"/>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381E61B4-3109-43A8-B157-1CB27F2CE023}"/>
              </a:ext>
            </a:extLst>
          </p:cNvPr>
          <p:cNvCxnSpPr/>
          <p:nvPr/>
        </p:nvCxnSpPr>
        <p:spPr>
          <a:xfrm>
            <a:off x="5492289" y="4051610"/>
            <a:ext cx="762000" cy="69686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4677277F-BDEC-4820-85F5-5C025D77CF13}"/>
              </a:ext>
            </a:extLst>
          </p:cNvPr>
          <p:cNvCxnSpPr/>
          <p:nvPr/>
        </p:nvCxnSpPr>
        <p:spPr>
          <a:xfrm flipH="1">
            <a:off x="5520381" y="4051610"/>
            <a:ext cx="733908" cy="69686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pic>
        <p:nvPicPr>
          <p:cNvPr id="42" name="Picture 753">
            <a:extLst>
              <a:ext uri="{FF2B5EF4-FFF2-40B4-BE49-F238E27FC236}">
                <a16:creationId xmlns:a16="http://schemas.microsoft.com/office/drawing/2014/main" id="{E66F4C19-0A1C-4C98-848C-C2F2E0971593}"/>
              </a:ext>
            </a:extLst>
          </p:cNvPr>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6621685" y="4051610"/>
            <a:ext cx="562803" cy="5628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a:extLst>
              <a:ext uri="{FF2B5EF4-FFF2-40B4-BE49-F238E27FC236}">
                <a16:creationId xmlns:a16="http://schemas.microsoft.com/office/drawing/2014/main" id="{DE86D10D-D50A-4A85-BFD6-574AC1DE260B}"/>
              </a:ext>
            </a:extLst>
          </p:cNvPr>
          <p:cNvSpPr/>
          <p:nvPr/>
        </p:nvSpPr>
        <p:spPr>
          <a:xfrm>
            <a:off x="339300" y="1288311"/>
            <a:ext cx="9189720" cy="1200329"/>
          </a:xfrm>
          <a:prstGeom prst="rect">
            <a:avLst/>
          </a:prstGeom>
        </p:spPr>
        <p:txBody>
          <a:bodyPr wrap="square">
            <a:spAutoFit/>
          </a:bodyPr>
          <a:lstStyle/>
          <a:p>
            <a:pPr marL="0" indent="0">
              <a:buNone/>
            </a:pPr>
            <a:endParaRPr lang="pl-PL" dirty="0"/>
          </a:p>
          <a:p>
            <a:pPr marL="0" indent="0">
              <a:buNone/>
            </a:pPr>
            <a:r>
              <a:rPr lang="pl-PL" dirty="0"/>
              <a:t>We </a:t>
            </a:r>
            <a:r>
              <a:rPr lang="pl-PL" dirty="0" err="1"/>
              <a:t>have</a:t>
            </a:r>
            <a:r>
              <a:rPr lang="pl-PL" dirty="0"/>
              <a:t> a </a:t>
            </a:r>
            <a:r>
              <a:rPr lang="pl-PL" dirty="0" err="1"/>
              <a:t>derivative</a:t>
            </a:r>
            <a:r>
              <a:rPr lang="pl-PL" dirty="0"/>
              <a:t> X </a:t>
            </a:r>
            <a:r>
              <a:rPr lang="pl-PL" dirty="0" err="1"/>
              <a:t>having</a:t>
            </a:r>
            <a:r>
              <a:rPr lang="pl-PL" dirty="0"/>
              <a:t> </a:t>
            </a:r>
            <a:r>
              <a:rPr lang="pl-PL" dirty="0" err="1"/>
              <a:t>value</a:t>
            </a:r>
            <a:r>
              <a:rPr lang="en-GB" dirty="0"/>
              <a:t>  </a:t>
            </a:r>
            <a:r>
              <a:rPr lang="pl-PL" dirty="0"/>
              <a:t>             </a:t>
            </a:r>
            <a:r>
              <a:rPr lang="pl-PL" dirty="0" err="1"/>
              <a:t>at</a:t>
            </a:r>
            <a:r>
              <a:rPr lang="pl-PL" dirty="0"/>
              <a:t> </a:t>
            </a:r>
            <a:r>
              <a:rPr lang="pl-PL" dirty="0" err="1"/>
              <a:t>time</a:t>
            </a:r>
            <a:r>
              <a:rPr lang="pl-PL" dirty="0"/>
              <a:t> t. </a:t>
            </a:r>
          </a:p>
          <a:p>
            <a:pPr marL="0" indent="0">
              <a:buNone/>
            </a:pPr>
            <a:r>
              <a:rPr lang="pl-PL" dirty="0" err="1"/>
              <a:t>If</a:t>
            </a:r>
            <a:r>
              <a:rPr lang="pl-PL" dirty="0"/>
              <a:t> the </a:t>
            </a:r>
            <a:r>
              <a:rPr lang="pl-PL" dirty="0" err="1"/>
              <a:t>counterparty</a:t>
            </a:r>
            <a:r>
              <a:rPr lang="pl-PL" dirty="0"/>
              <a:t> </a:t>
            </a:r>
            <a:r>
              <a:rPr lang="pl-PL" dirty="0" err="1"/>
              <a:t>defaults</a:t>
            </a:r>
            <a:r>
              <a:rPr lang="pl-PL" dirty="0"/>
              <a:t> </a:t>
            </a:r>
            <a:r>
              <a:rPr lang="pl-PL" dirty="0" err="1"/>
              <a:t>at</a:t>
            </a:r>
            <a:r>
              <a:rPr lang="pl-PL" dirty="0"/>
              <a:t> </a:t>
            </a:r>
            <a:r>
              <a:rPr lang="pl-PL" dirty="0" err="1"/>
              <a:t>time</a:t>
            </a:r>
            <a:r>
              <a:rPr lang="pl-PL" dirty="0"/>
              <a:t>   </a:t>
            </a:r>
            <a:r>
              <a:rPr lang="en-GB" dirty="0"/>
              <a:t> </a:t>
            </a:r>
            <a:r>
              <a:rPr lang="pl-PL" dirty="0"/>
              <a:t>. </a:t>
            </a:r>
            <a:r>
              <a:rPr lang="pl-PL" dirty="0" err="1"/>
              <a:t>Our</a:t>
            </a:r>
            <a:r>
              <a:rPr lang="pl-PL" dirty="0"/>
              <a:t> </a:t>
            </a:r>
            <a:r>
              <a:rPr lang="pl-PL" dirty="0" err="1"/>
              <a:t>loss</a:t>
            </a:r>
            <a:r>
              <a:rPr lang="pl-PL" dirty="0"/>
              <a:t> </a:t>
            </a:r>
            <a:r>
              <a:rPr lang="pl-PL" dirty="0" err="1"/>
              <a:t>is</a:t>
            </a:r>
            <a:r>
              <a:rPr lang="pl-PL" dirty="0"/>
              <a:t>:</a:t>
            </a:r>
            <a:endParaRPr lang="en-US" dirty="0">
              <a:latin typeface="Frutiger 55 Roman" panose="020B0503040202020204" pitchFamily="34" charset="0"/>
            </a:endParaRPr>
          </a:p>
        </p:txBody>
      </p:sp>
      <mc:AlternateContent xmlns:mc="http://schemas.openxmlformats.org/markup-compatibility/2006" xmlns:a14="http://schemas.microsoft.com/office/drawing/2010/main">
        <mc:Choice Requires="a14">
          <p:sp>
            <p:nvSpPr>
              <p:cNvPr id="60" name="Rectangle 59">
                <a:extLst>
                  <a:ext uri="{FF2B5EF4-FFF2-40B4-BE49-F238E27FC236}">
                    <a16:creationId xmlns:a16="http://schemas.microsoft.com/office/drawing/2014/main" id="{D2B996F0-EAE7-432A-BFCE-B9ECD6094E0D}"/>
                  </a:ext>
                </a:extLst>
              </p:cNvPr>
              <p:cNvSpPr/>
              <p:nvPr/>
            </p:nvSpPr>
            <p:spPr>
              <a:xfrm>
                <a:off x="3757305" y="6353243"/>
                <a:ext cx="437055" cy="40011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r>
                            <a:rPr lang="en-US" sz="2000" i="1">
                              <a:latin typeface="Cambria Math"/>
                            </a:rPr>
                            <m:t>𝑉</m:t>
                          </m:r>
                        </m:e>
                        <m:sub>
                          <m:r>
                            <a:rPr lang="en-US" sz="2000" i="1">
                              <a:latin typeface="Cambria Math"/>
                            </a:rPr>
                            <m:t>𝑋</m:t>
                          </m:r>
                        </m:sub>
                      </m:sSub>
                      <m:r>
                        <a:rPr lang="en-US" sz="2000" i="1">
                          <a:latin typeface="Cambria Math"/>
                        </a:rPr>
                        <m:t>(</m:t>
                      </m:r>
                      <m:r>
                        <a:rPr lang="pl-PL" sz="2000" b="0" i="1" smtClean="0">
                          <a:latin typeface="Cambria Math"/>
                        </a:rPr>
                        <m:t>𝑡</m:t>
                      </m:r>
                      <m:r>
                        <a:rPr lang="en-US" sz="2000" i="1">
                          <a:latin typeface="Cambria Math"/>
                        </a:rPr>
                        <m:t>)</m:t>
                      </m:r>
                    </m:oMath>
                  </m:oMathPara>
                </a14:m>
                <a:endParaRPr lang="en-US" sz="2000" dirty="0"/>
              </a:p>
            </p:txBody>
          </p:sp>
        </mc:Choice>
        <mc:Fallback xmlns="">
          <p:sp>
            <p:nvSpPr>
              <p:cNvPr id="60" name="Rectangle 59">
                <a:extLst>
                  <a:ext uri="{FF2B5EF4-FFF2-40B4-BE49-F238E27FC236}">
                    <a16:creationId xmlns:a16="http://schemas.microsoft.com/office/drawing/2014/main" id="{D2B996F0-EAE7-432A-BFCE-B9ECD6094E0D}"/>
                  </a:ext>
                </a:extLst>
              </p:cNvPr>
              <p:cNvSpPr>
                <a:spLocks noRot="1" noChangeAspect="1" noMove="1" noResize="1" noEditPoints="1" noAdjustHandles="1" noChangeArrowheads="1" noChangeShapeType="1" noTextEdit="1"/>
              </p:cNvSpPr>
              <p:nvPr/>
            </p:nvSpPr>
            <p:spPr>
              <a:xfrm>
                <a:off x="3757305" y="6353243"/>
                <a:ext cx="437055" cy="400110"/>
              </a:xfrm>
              <a:prstGeom prst="rect">
                <a:avLst/>
              </a:prstGeom>
              <a:blipFill>
                <a:blip r:embed="rId15"/>
                <a:stretch>
                  <a:fillRect r="-80556" b="-15152"/>
                </a:stretch>
              </a:blipFill>
            </p:spPr>
            <p:txBody>
              <a:bodyPr/>
              <a:lstStyle/>
              <a:p>
                <a:r>
                  <a:rPr lang="en-GB">
                    <a:noFill/>
                  </a:rPr>
                  <a:t> </a:t>
                </a:r>
              </a:p>
            </p:txBody>
          </p:sp>
        </mc:Fallback>
      </mc:AlternateContent>
      <p:graphicFrame>
        <p:nvGraphicFramePr>
          <p:cNvPr id="61" name="Object 60">
            <a:extLst>
              <a:ext uri="{FF2B5EF4-FFF2-40B4-BE49-F238E27FC236}">
                <a16:creationId xmlns:a16="http://schemas.microsoft.com/office/drawing/2014/main" id="{B072F553-C694-4523-9725-877FA256232B}"/>
              </a:ext>
            </a:extLst>
          </p:cNvPr>
          <p:cNvGraphicFramePr>
            <a:graphicFrameLocks noChangeAspect="1"/>
          </p:cNvGraphicFramePr>
          <p:nvPr>
            <p:extLst>
              <p:ext uri="{D42A27DB-BD31-4B8C-83A1-F6EECF244321}">
                <p14:modId xmlns:p14="http://schemas.microsoft.com/office/powerpoint/2010/main" val="2027832455"/>
              </p:ext>
            </p:extLst>
          </p:nvPr>
        </p:nvGraphicFramePr>
        <p:xfrm>
          <a:off x="3707519" y="2151494"/>
          <a:ext cx="256935" cy="297182"/>
        </p:xfrm>
        <a:graphic>
          <a:graphicData uri="http://schemas.openxmlformats.org/presentationml/2006/ole">
            <mc:AlternateContent xmlns:mc="http://schemas.openxmlformats.org/markup-compatibility/2006">
              <mc:Choice xmlns:v="urn:schemas-microsoft-com:vml" Requires="v">
                <p:oleObj name="Equation" r:id="rId16" imgW="126720" imgH="139680" progId="Equation.3">
                  <p:embed/>
                </p:oleObj>
              </mc:Choice>
              <mc:Fallback>
                <p:oleObj name="Equation" r:id="rId16" imgW="126720" imgH="139680" progId="Equation.3">
                  <p:embed/>
                  <p:pic>
                    <p:nvPicPr>
                      <p:cNvPr id="61" name="Object 60">
                        <a:extLst>
                          <a:ext uri="{FF2B5EF4-FFF2-40B4-BE49-F238E27FC236}">
                            <a16:creationId xmlns:a16="http://schemas.microsoft.com/office/drawing/2014/main" id="{B072F553-C694-4523-9725-877FA256232B}"/>
                          </a:ext>
                        </a:extLst>
                      </p:cNvPr>
                      <p:cNvPicPr/>
                      <p:nvPr/>
                    </p:nvPicPr>
                    <p:blipFill>
                      <a:blip r:embed="rId17"/>
                      <a:stretch>
                        <a:fillRect/>
                      </a:stretch>
                    </p:blipFill>
                    <p:spPr>
                      <a:xfrm>
                        <a:off x="3707519" y="2151494"/>
                        <a:ext cx="256935" cy="297182"/>
                      </a:xfrm>
                      <a:prstGeom prst="rect">
                        <a:avLst/>
                      </a:prstGeom>
                    </p:spPr>
                  </p:pic>
                </p:oleObj>
              </mc:Fallback>
            </mc:AlternateContent>
          </a:graphicData>
        </a:graphic>
      </p:graphicFrame>
      <p:sp>
        <p:nvSpPr>
          <p:cNvPr id="24" name="TextBox 23">
            <a:extLst>
              <a:ext uri="{FF2B5EF4-FFF2-40B4-BE49-F238E27FC236}">
                <a16:creationId xmlns:a16="http://schemas.microsoft.com/office/drawing/2014/main" id="{F0CC28BA-5EB7-498D-9170-8B7FE57D672C}"/>
              </a:ext>
            </a:extLst>
          </p:cNvPr>
          <p:cNvSpPr txBox="1"/>
          <p:nvPr>
            <p:custDataLst>
              <p:tags r:id="rId3"/>
            </p:custDataLst>
          </p:nvPr>
        </p:nvSpPr>
        <p:spPr>
          <a:xfrm>
            <a:off x="420624" y="1120775"/>
            <a:ext cx="9189720" cy="274320"/>
          </a:xfrm>
          <a:prstGeom prst="rect">
            <a:avLst/>
          </a:prstGeom>
          <a:noFill/>
        </p:spPr>
        <p:txBody>
          <a:bodyPr vert="horz" wrap="square" lIns="0" tIns="0" rIns="0" bIns="0" rtlCol="0" anchor="t">
            <a:noAutofit/>
          </a:bodyPr>
          <a:lstStyle/>
          <a:p>
            <a:pPr eaLnBrk="1">
              <a:spcBef>
                <a:spcPts val="0"/>
              </a:spcBef>
              <a:spcAft>
                <a:spcPts val="600"/>
              </a:spcAft>
            </a:pPr>
            <a:r>
              <a:rPr lang="pl-PL" sz="2000" kern="0" dirty="0" err="1">
                <a:solidFill>
                  <a:srgbClr val="464749"/>
                </a:solidFill>
                <a:latin typeface="UBSHeadline"/>
              </a:rPr>
              <a:t>Credit</a:t>
            </a:r>
            <a:r>
              <a:rPr lang="pl-PL" sz="2000" kern="0" dirty="0">
                <a:solidFill>
                  <a:srgbClr val="464749"/>
                </a:solidFill>
                <a:latin typeface="UBSHeadline"/>
              </a:rPr>
              <a:t> </a:t>
            </a:r>
            <a:r>
              <a:rPr lang="pl-PL" sz="2000" kern="0" dirty="0" err="1">
                <a:solidFill>
                  <a:srgbClr val="464749"/>
                </a:solidFill>
                <a:latin typeface="UBSHeadline"/>
              </a:rPr>
              <a:t>exposure</a:t>
            </a:r>
            <a:endParaRPr lang="en-US" sz="2000" kern="0" dirty="0">
              <a:solidFill>
                <a:srgbClr val="464749"/>
              </a:solidFill>
              <a:latin typeface="UBSHeadline"/>
            </a:endParaRPr>
          </a:p>
        </p:txBody>
      </p:sp>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DF509E25-ED4C-42BF-89B2-3704A0F47B7E}"/>
                  </a:ext>
                </a:extLst>
              </p:cNvPr>
              <p:cNvSpPr/>
              <p:nvPr/>
            </p:nvSpPr>
            <p:spPr>
              <a:xfrm>
                <a:off x="3757304" y="1667733"/>
                <a:ext cx="437055" cy="400110"/>
              </a:xfrm>
              <a:prstGeom prst="rect">
                <a:avLst/>
              </a:prstGeom>
            </p:spPr>
            <p:txBody>
              <a:bodyPr wrap="square">
                <a:spAutoFit/>
              </a:bodyPr>
              <a:lstStyle/>
              <a:p>
                <a14:m>
                  <m:oMath xmlns:m="http://schemas.openxmlformats.org/officeDocument/2006/math">
                    <m:sSub>
                      <m:sSubPr>
                        <m:ctrlPr>
                          <a:rPr lang="en-US" sz="2000" i="1" smtClean="0">
                            <a:latin typeface="Cambria Math" panose="02040503050406030204" pitchFamily="18" charset="0"/>
                          </a:rPr>
                        </m:ctrlPr>
                      </m:sSubPr>
                      <m:e>
                        <m:r>
                          <a:rPr lang="en-US" sz="2000" i="1">
                            <a:latin typeface="Cambria Math"/>
                          </a:rPr>
                          <m:t>𝑉</m:t>
                        </m:r>
                      </m:e>
                      <m:sub>
                        <m:r>
                          <a:rPr lang="en-US" sz="2000" i="1">
                            <a:latin typeface="Cambria Math"/>
                          </a:rPr>
                          <m:t>𝑋</m:t>
                        </m:r>
                      </m:sub>
                    </m:sSub>
                    <m:r>
                      <a:rPr lang="en-US" sz="2000" i="1">
                        <a:latin typeface="Cambria Math"/>
                      </a:rPr>
                      <m:t>(</m:t>
                    </m:r>
                    <m:r>
                      <a:rPr lang="pl-PL" sz="2000" b="0" i="1" smtClean="0">
                        <a:latin typeface="Cambria Math"/>
                      </a:rPr>
                      <m:t>𝑡</m:t>
                    </m:r>
                    <m:r>
                      <a:rPr lang="en-US" sz="2000" i="1">
                        <a:latin typeface="Cambria Math"/>
                      </a:rPr>
                      <m:t>)</m:t>
                    </m:r>
                  </m:oMath>
                </a14:m>
                <a:r>
                  <a:rPr lang="en-US" sz="2000" dirty="0"/>
                  <a:t>  </a:t>
                </a:r>
              </a:p>
            </p:txBody>
          </p:sp>
        </mc:Choice>
        <mc:Fallback xmlns="">
          <p:sp>
            <p:nvSpPr>
              <p:cNvPr id="26" name="Rectangle 25">
                <a:extLst>
                  <a:ext uri="{FF2B5EF4-FFF2-40B4-BE49-F238E27FC236}">
                    <a16:creationId xmlns:a16="http://schemas.microsoft.com/office/drawing/2014/main" id="{DF509E25-ED4C-42BF-89B2-3704A0F47B7E}"/>
                  </a:ext>
                </a:extLst>
              </p:cNvPr>
              <p:cNvSpPr>
                <a:spLocks noRot="1" noChangeAspect="1" noMove="1" noResize="1" noEditPoints="1" noAdjustHandles="1" noChangeArrowheads="1" noChangeShapeType="1" noTextEdit="1"/>
              </p:cNvSpPr>
              <p:nvPr/>
            </p:nvSpPr>
            <p:spPr>
              <a:xfrm>
                <a:off x="3757304" y="1667733"/>
                <a:ext cx="437055" cy="400110"/>
              </a:xfrm>
              <a:prstGeom prst="rect">
                <a:avLst/>
              </a:prstGeom>
              <a:blipFill>
                <a:blip r:embed="rId18"/>
                <a:stretch>
                  <a:fillRect r="-80556" b="-15385"/>
                </a:stretch>
              </a:blipFill>
            </p:spPr>
            <p:txBody>
              <a:bodyPr/>
              <a:lstStyle/>
              <a:p>
                <a:r>
                  <a:rPr lang="en-GB">
                    <a:noFill/>
                  </a:rPr>
                  <a:t> </a:t>
                </a:r>
              </a:p>
            </p:txBody>
          </p:sp>
        </mc:Fallback>
      </mc:AlternateContent>
    </p:spTree>
    <p:custDataLst>
      <p:tags r:id="rId1"/>
    </p:custDataLst>
    <p:extLst>
      <p:ext uri="{BB962C8B-B14F-4D97-AF65-F5344CB8AC3E}">
        <p14:creationId xmlns:p14="http://schemas.microsoft.com/office/powerpoint/2010/main" val="1025076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0" end="0"/>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17" grpId="0" animBg="1"/>
      <p:bldP spid="23" grpId="0"/>
      <p:bldP spid="6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AGE HEADING"/>
          <p:cNvSpPr>
            <a:spLocks noGrp="1"/>
          </p:cNvSpPr>
          <p:nvPr>
            <p:ph type="title"/>
            <p:custDataLst>
              <p:tags r:id="rId2"/>
            </p:custDataLst>
          </p:nvPr>
        </p:nvSpPr>
        <p:spPr/>
        <p:txBody>
          <a:bodyPr/>
          <a:lstStyle/>
          <a:p>
            <a:r>
              <a:rPr lang="en-US" dirty="0"/>
              <a:t>Counterparty Credit Risk</a:t>
            </a:r>
            <a:r>
              <a:rPr lang="pl-PL" dirty="0"/>
              <a:t> - </a:t>
            </a:r>
            <a:r>
              <a:rPr lang="pl-PL" dirty="0" err="1"/>
              <a:t>Introduction</a:t>
            </a:r>
            <a:endParaRPr lang="en-US" dirty="0"/>
          </a:p>
        </p:txBody>
      </p:sp>
      <p:sp>
        <p:nvSpPr>
          <p:cNvPr id="4" name="TextBox 3"/>
          <p:cNvSpPr txBox="1"/>
          <p:nvPr>
            <p:custDataLst>
              <p:tags r:id="rId3"/>
            </p:custDataLst>
          </p:nvPr>
        </p:nvSpPr>
        <p:spPr>
          <a:xfrm>
            <a:off x="420624" y="1120775"/>
            <a:ext cx="9189720" cy="274320"/>
          </a:xfrm>
          <a:prstGeom prst="rect">
            <a:avLst/>
          </a:prstGeom>
          <a:noFill/>
        </p:spPr>
        <p:txBody>
          <a:bodyPr vert="horz" wrap="square" lIns="0" tIns="0" rIns="0" bIns="0" rtlCol="0" anchor="t">
            <a:noAutofit/>
          </a:bodyPr>
          <a:lstStyle/>
          <a:p>
            <a:pPr eaLnBrk="1">
              <a:spcBef>
                <a:spcPts val="0"/>
              </a:spcBef>
              <a:spcAft>
                <a:spcPts val="600"/>
              </a:spcAft>
            </a:pPr>
            <a:r>
              <a:rPr lang="en-US" sz="2000" kern="0" dirty="0">
                <a:solidFill>
                  <a:srgbClr val="464749"/>
                </a:solidFill>
                <a:latin typeface="Frutiger 45 Light" panose="020B0603020202020204" pitchFamily="34" charset="0"/>
              </a:rPr>
              <a:t>Profiles’ definitions</a:t>
            </a:r>
          </a:p>
        </p:txBody>
      </p:sp>
      <mc:AlternateContent xmlns:mc="http://schemas.openxmlformats.org/markup-compatibility/2006" xmlns:a14="http://schemas.microsoft.com/office/drawing/2010/main">
        <mc:Choice Requires="a14">
          <p:graphicFrame>
            <p:nvGraphicFramePr>
              <p:cNvPr id="6" name="Table 5"/>
              <p:cNvGraphicFramePr>
                <a:graphicFrameLocks noGrp="1"/>
              </p:cNvGraphicFramePr>
              <p:nvPr>
                <p:extLst>
                  <p:ext uri="{D42A27DB-BD31-4B8C-83A1-F6EECF244321}">
                    <p14:modId xmlns:p14="http://schemas.microsoft.com/office/powerpoint/2010/main" val="1907738640"/>
                  </p:ext>
                </p:extLst>
              </p:nvPr>
            </p:nvGraphicFramePr>
            <p:xfrm>
              <a:off x="420688" y="1855789"/>
              <a:ext cx="8820435" cy="4212818"/>
            </p:xfrm>
            <a:graphic>
              <a:graphicData uri="http://schemas.openxmlformats.org/drawingml/2006/table">
                <a:tbl>
                  <a:tblPr firstRow="1" firstCol="1" bandRow="1">
                    <a:tableStyleId>{21E4AEA4-8DFA-4A89-87EB-49C32662AFE0}</a:tableStyleId>
                  </a:tblPr>
                  <a:tblGrid>
                    <a:gridCol w="1236096">
                      <a:extLst>
                        <a:ext uri="{9D8B030D-6E8A-4147-A177-3AD203B41FA5}">
                          <a16:colId xmlns:a16="http://schemas.microsoft.com/office/drawing/2014/main" val="20000"/>
                        </a:ext>
                      </a:extLst>
                    </a:gridCol>
                    <a:gridCol w="4074060">
                      <a:extLst>
                        <a:ext uri="{9D8B030D-6E8A-4147-A177-3AD203B41FA5}">
                          <a16:colId xmlns:a16="http://schemas.microsoft.com/office/drawing/2014/main" val="20001"/>
                        </a:ext>
                      </a:extLst>
                    </a:gridCol>
                    <a:gridCol w="3510279">
                      <a:extLst>
                        <a:ext uri="{9D8B030D-6E8A-4147-A177-3AD203B41FA5}">
                          <a16:colId xmlns:a16="http://schemas.microsoft.com/office/drawing/2014/main" val="20002"/>
                        </a:ext>
                      </a:extLst>
                    </a:gridCol>
                  </a:tblGrid>
                  <a:tr h="376614">
                    <a:tc>
                      <a:txBody>
                        <a:bodyPr/>
                        <a:lstStyle/>
                        <a:p>
                          <a:pPr>
                            <a:lnSpc>
                              <a:spcPts val="1400"/>
                            </a:lnSpc>
                            <a:spcAft>
                              <a:spcPts val="0"/>
                            </a:spcAft>
                          </a:pPr>
                          <a:r>
                            <a:rPr lang="de-CH" sz="1600" dirty="0">
                              <a:solidFill>
                                <a:srgbClr val="FFFFFF"/>
                              </a:solidFill>
                              <a:effectLst/>
                            </a:rPr>
                            <a:t>Profile</a:t>
                          </a:r>
                          <a:endParaRPr lang="en-US" sz="1600" b="1" dirty="0">
                            <a:solidFill>
                              <a:srgbClr val="FFFFFF"/>
                            </a:solidFill>
                            <a:effectLst/>
                            <a:latin typeface="Frutiger 45 Light" panose="020B0603020202020204" pitchFamily="34" charset="0"/>
                            <a:ea typeface="Times New Roman"/>
                            <a:cs typeface="Times New Roman"/>
                          </a:endParaRPr>
                        </a:p>
                      </a:txBody>
                      <a:tcPr marL="72000" marR="54667" marT="72000" marB="54000" anchor="ctr">
                        <a:solidFill>
                          <a:srgbClr val="DFAD22"/>
                        </a:solidFill>
                      </a:tcPr>
                    </a:tc>
                    <a:tc>
                      <a:txBody>
                        <a:bodyPr/>
                        <a:lstStyle/>
                        <a:p>
                          <a:pPr>
                            <a:lnSpc>
                              <a:spcPts val="1400"/>
                            </a:lnSpc>
                            <a:spcAft>
                              <a:spcPts val="0"/>
                            </a:spcAft>
                          </a:pPr>
                          <a:r>
                            <a:rPr lang="en-US" sz="1600" dirty="0">
                              <a:solidFill>
                                <a:srgbClr val="000000"/>
                              </a:solidFill>
                              <a:effectLst/>
                              <a:latin typeface="+mn-lt"/>
                              <a:ea typeface="+mn-ea"/>
                              <a:cs typeface="+mn-cs"/>
                            </a:rPr>
                            <a:t>Description</a:t>
                          </a:r>
                          <a:endParaRPr lang="en-US" sz="1600" dirty="0">
                            <a:solidFill>
                              <a:srgbClr val="000000"/>
                            </a:solidFill>
                            <a:effectLst/>
                            <a:latin typeface="Frutiger 45 Light" panose="020B0603020202020204" pitchFamily="34" charset="0"/>
                            <a:ea typeface="Times New Roman"/>
                            <a:cs typeface="Times New Roman"/>
                          </a:endParaRPr>
                        </a:p>
                      </a:txBody>
                      <a:tcPr marL="72000" marR="54667" marT="72000" marB="54000" anchor="ctr">
                        <a:solidFill>
                          <a:srgbClr val="EDD79D"/>
                        </a:solidFill>
                      </a:tcPr>
                    </a:tc>
                    <a:tc>
                      <a:txBody>
                        <a:bodyPr/>
                        <a:lstStyle/>
                        <a:p>
                          <a:pPr>
                            <a:lnSpc>
                              <a:spcPts val="1400"/>
                            </a:lnSpc>
                            <a:spcAft>
                              <a:spcPts val="0"/>
                            </a:spcAft>
                          </a:pPr>
                          <a:r>
                            <a:rPr lang="en-US" sz="1600" dirty="0">
                              <a:solidFill>
                                <a:srgbClr val="000000"/>
                              </a:solidFill>
                              <a:effectLst/>
                              <a:latin typeface="Frutiger 45 Light" panose="020B0603020202020204" pitchFamily="34" charset="0"/>
                              <a:ea typeface="Times New Roman"/>
                              <a:cs typeface="Times New Roman"/>
                            </a:rPr>
                            <a:t>How</a:t>
                          </a:r>
                          <a:r>
                            <a:rPr lang="en-US" sz="1600" baseline="0" dirty="0">
                              <a:solidFill>
                                <a:srgbClr val="000000"/>
                              </a:solidFill>
                              <a:effectLst/>
                              <a:latin typeface="Frutiger 45 Light" panose="020B0603020202020204" pitchFamily="34" charset="0"/>
                              <a:ea typeface="Times New Roman"/>
                              <a:cs typeface="Times New Roman"/>
                            </a:rPr>
                            <a:t> to compute</a:t>
                          </a:r>
                          <a:endParaRPr lang="en-US" sz="1600" dirty="0">
                            <a:solidFill>
                              <a:srgbClr val="000000"/>
                            </a:solidFill>
                            <a:effectLst/>
                            <a:latin typeface="Frutiger 45 Light" panose="020B0603020202020204" pitchFamily="34" charset="0"/>
                            <a:ea typeface="Times New Roman"/>
                            <a:cs typeface="Times New Roman"/>
                          </a:endParaRPr>
                        </a:p>
                      </a:txBody>
                      <a:tcPr marL="72000" marR="54667" marT="72000" marB="54000" anchor="ctr">
                        <a:solidFill>
                          <a:srgbClr val="EDD79D"/>
                        </a:solidFill>
                      </a:tcPr>
                    </a:tc>
                    <a:extLst>
                      <a:ext uri="{0D108BD9-81ED-4DB2-BD59-A6C34878D82A}">
                        <a16:rowId xmlns:a16="http://schemas.microsoft.com/office/drawing/2014/main" val="10000"/>
                      </a:ext>
                    </a:extLst>
                  </a:tr>
                  <a:tr h="872936">
                    <a:tc>
                      <a:txBody>
                        <a:bodyPr/>
                        <a:lstStyle/>
                        <a:p>
                          <a:pPr algn="ctr">
                            <a:lnSpc>
                              <a:spcPts val="1400"/>
                            </a:lnSpc>
                            <a:spcAft>
                              <a:spcPts val="0"/>
                            </a:spcAft>
                          </a:pPr>
                          <a:endParaRPr lang="en-US" sz="1600" dirty="0">
                            <a:solidFill>
                              <a:srgbClr val="FFFFFF"/>
                            </a:solidFill>
                            <a:effectLst/>
                          </a:endParaRPr>
                        </a:p>
                        <a:p>
                          <a:pPr algn="ctr">
                            <a:lnSpc>
                              <a:spcPts val="1400"/>
                            </a:lnSpc>
                            <a:spcAft>
                              <a:spcPts val="0"/>
                            </a:spcAft>
                          </a:pPr>
                          <a14:m>
                            <m:oMathPara xmlns:m="http://schemas.openxmlformats.org/officeDocument/2006/math">
                              <m:oMathParaPr>
                                <m:jc m:val="centerGroup"/>
                              </m:oMathParaPr>
                              <m:oMath xmlns:m="http://schemas.openxmlformats.org/officeDocument/2006/math">
                                <m:sSub>
                                  <m:sSubPr>
                                    <m:ctrlPr>
                                      <a:rPr lang="en-US" sz="2000" i="1" smtClean="0">
                                        <a:solidFill>
                                          <a:srgbClr val="FFFFFF"/>
                                        </a:solidFill>
                                        <a:effectLst/>
                                        <a:latin typeface="Cambria Math" panose="02040503050406030204" pitchFamily="18" charset="0"/>
                                      </a:rPr>
                                    </m:ctrlPr>
                                  </m:sSubPr>
                                  <m:e>
                                    <m:r>
                                      <a:rPr lang="pl-PL" sz="2000" b="1" i="0" smtClean="0">
                                        <a:solidFill>
                                          <a:srgbClr val="FFFFFF"/>
                                        </a:solidFill>
                                        <a:effectLst/>
                                        <a:latin typeface="Cambria Math" panose="02040503050406030204" pitchFamily="18" charset="0"/>
                                      </a:rPr>
                                      <m:t>𝐄𝐄</m:t>
                                    </m:r>
                                  </m:e>
                                  <m:sub>
                                    <m:r>
                                      <a:rPr lang="pl-PL" sz="2000" b="1" i="1" smtClean="0">
                                        <a:solidFill>
                                          <a:srgbClr val="FFFFFF"/>
                                        </a:solidFill>
                                        <a:effectLst/>
                                        <a:latin typeface="Cambria Math" panose="02040503050406030204" pitchFamily="18" charset="0"/>
                                      </a:rPr>
                                      <m:t>𝒕</m:t>
                                    </m:r>
                                  </m:sub>
                                </m:sSub>
                              </m:oMath>
                            </m:oMathPara>
                          </a14:m>
                          <a:endParaRPr lang="en-US" sz="2000" b="1" dirty="0">
                            <a:solidFill>
                              <a:srgbClr val="FFFFFF"/>
                            </a:solidFill>
                            <a:effectLst/>
                            <a:latin typeface="Frutiger 45 Light" panose="020B0603020202020204" pitchFamily="34" charset="0"/>
                            <a:ea typeface="Times New Roman"/>
                            <a:cs typeface="Times New Roman"/>
                          </a:endParaRPr>
                        </a:p>
                      </a:txBody>
                      <a:tcPr marL="72000" marR="54667" marT="72000" marB="54000">
                        <a:solidFill>
                          <a:srgbClr val="DFAD22"/>
                        </a:solidFill>
                      </a:tcPr>
                    </a:tc>
                    <a:tc>
                      <a:txBody>
                        <a:bodyPr/>
                        <a:lstStyle/>
                        <a:p>
                          <a:pPr>
                            <a:lnSpc>
                              <a:spcPts val="1400"/>
                            </a:lnSpc>
                            <a:spcAft>
                              <a:spcPts val="0"/>
                            </a:spcAft>
                          </a:pPr>
                          <a:r>
                            <a:rPr lang="en-US" sz="1600" i="0" dirty="0">
                              <a:solidFill>
                                <a:srgbClr val="000000"/>
                              </a:solidFill>
                              <a:effectLst/>
                              <a:latin typeface="+mn-lt"/>
                              <a:ea typeface="Times New Roman"/>
                              <a:cs typeface="Times New Roman"/>
                            </a:rPr>
                            <a:t>Expected Exposure:</a:t>
                          </a:r>
                        </a:p>
                        <a:p>
                          <a:pPr>
                            <a:lnSpc>
                              <a:spcPts val="1400"/>
                            </a:lnSpc>
                            <a:spcAft>
                              <a:spcPts val="0"/>
                            </a:spcAft>
                          </a:pPr>
                          <a:endParaRPr lang="en-US" sz="1600" i="0" dirty="0">
                            <a:solidFill>
                              <a:srgbClr val="000000"/>
                            </a:solidFill>
                            <a:effectLst/>
                            <a:latin typeface="+mn-lt"/>
                            <a:ea typeface="Times New Roman"/>
                            <a:cs typeface="Times New Roman"/>
                          </a:endParaRPr>
                        </a:p>
                        <a:p>
                          <a:pPr>
                            <a:lnSpc>
                              <a:spcPts val="1400"/>
                            </a:lnSpc>
                            <a:spcAft>
                              <a:spcPts val="0"/>
                            </a:spcAft>
                          </a:pPr>
                          <a:r>
                            <a:rPr lang="en-US" sz="1600" i="0" dirty="0">
                              <a:solidFill>
                                <a:srgbClr val="000000"/>
                              </a:solidFill>
                              <a:effectLst/>
                              <a:latin typeface="+mn-lt"/>
                              <a:ea typeface="Times New Roman"/>
                              <a:cs typeface="Times New Roman"/>
                            </a:rPr>
                            <a:t>Expectation</a:t>
                          </a:r>
                          <a:r>
                            <a:rPr lang="en-US" sz="1600" i="0" baseline="0" dirty="0">
                              <a:solidFill>
                                <a:srgbClr val="000000"/>
                              </a:solidFill>
                              <a:effectLst/>
                              <a:latin typeface="+mn-lt"/>
                              <a:ea typeface="Times New Roman"/>
                              <a:cs typeface="Times New Roman"/>
                            </a:rPr>
                            <a:t> of the port</a:t>
                          </a:r>
                          <a:r>
                            <a:rPr lang="pl-PL" sz="1600" i="0" baseline="0" dirty="0">
                              <a:solidFill>
                                <a:srgbClr val="000000"/>
                              </a:solidFill>
                              <a:effectLst/>
                              <a:latin typeface="+mn-lt"/>
                              <a:ea typeface="Times New Roman"/>
                              <a:cs typeface="Times New Roman"/>
                            </a:rPr>
                            <a:t>f</a:t>
                          </a:r>
                          <a:r>
                            <a:rPr lang="en-US" sz="1600" i="0" baseline="0" dirty="0">
                              <a:solidFill>
                                <a:srgbClr val="000000"/>
                              </a:solidFill>
                              <a:effectLst/>
                              <a:latin typeface="+mn-lt"/>
                              <a:ea typeface="Times New Roman"/>
                              <a:cs typeface="Times New Roman"/>
                            </a:rPr>
                            <a:t>olio value floored at zero.</a:t>
                          </a:r>
                          <a:endParaRPr lang="en-US" sz="1600" i="0" dirty="0">
                            <a:solidFill>
                              <a:srgbClr val="000000"/>
                            </a:solidFill>
                            <a:effectLst/>
                            <a:latin typeface="+mn-lt"/>
                            <a:ea typeface="Times New Roman"/>
                            <a:cs typeface="Times New Roman"/>
                          </a:endParaRPr>
                        </a:p>
                      </a:txBody>
                      <a:tcPr marL="72000" marR="54667" marT="72000" marB="54000">
                        <a:solidFill>
                          <a:srgbClr val="EDD79D"/>
                        </a:solidFill>
                      </a:tcPr>
                    </a:tc>
                    <a:tc>
                      <a:txBody>
                        <a:bodyPr/>
                        <a:lstStyle/>
                        <a:p>
                          <a:pPr>
                            <a:lnSpc>
                              <a:spcPts val="1400"/>
                            </a:lnSpc>
                            <a:spcAft>
                              <a:spcPts val="0"/>
                            </a:spcAft>
                          </a:pPr>
                          <a:endParaRPr lang="en-GB" sz="1800" i="1" dirty="0">
                            <a:solidFill>
                              <a:srgbClr val="000000"/>
                            </a:solidFill>
                            <a:effectLst/>
                            <a:latin typeface="Cambria Math" panose="02040503050406030204" pitchFamily="18" charset="0"/>
                            <a:ea typeface="Cambria Math" panose="02040503050406030204" pitchFamily="18" charset="0"/>
                            <a:cs typeface="Times New Roman"/>
                          </a:endParaRPr>
                        </a:p>
                        <a:p>
                          <a:pPr marL="0" marR="0" lvl="0" indent="0" algn="l" defTabSz="1005505" rtl="0" eaLnBrk="1" fontAlgn="auto" latinLnBrk="0" hangingPunct="1">
                            <a:lnSpc>
                              <a:spcPts val="1400"/>
                            </a:lnSpc>
                            <a:spcBef>
                              <a:spcPts val="0"/>
                            </a:spcBef>
                            <a:spcAft>
                              <a:spcPts val="0"/>
                            </a:spcAft>
                            <a:buClrTx/>
                            <a:buSzTx/>
                            <a:buFontTx/>
                            <a:buNone/>
                            <a:tabLst/>
                            <a:defRPr/>
                          </a:pPr>
                          <a14:m>
                            <m:oMath xmlns:m="http://schemas.openxmlformats.org/officeDocument/2006/math">
                              <m:sSub>
                                <m:sSubPr>
                                  <m:ctrlPr>
                                    <a:rPr lang="en-US" sz="1800" i="1" smtClean="0">
                                      <a:solidFill>
                                        <a:srgbClr val="000000"/>
                                      </a:solidFill>
                                      <a:effectLst/>
                                      <a:latin typeface="Cambria Math" panose="02040503050406030204" pitchFamily="18" charset="0"/>
                                      <a:ea typeface="Cambria Math" panose="02040503050406030204" pitchFamily="18" charset="0"/>
                                      <a:cs typeface="Times New Roman"/>
                                    </a:rPr>
                                  </m:ctrlPr>
                                </m:sSubPr>
                                <m:e>
                                  <m:r>
                                    <a:rPr lang="pl-PL" sz="1800" b="0" i="1" smtClean="0">
                                      <a:solidFill>
                                        <a:srgbClr val="000000"/>
                                      </a:solidFill>
                                      <a:effectLst/>
                                      <a:latin typeface="Cambria Math" panose="02040503050406030204" pitchFamily="18" charset="0"/>
                                      <a:ea typeface="Cambria Math" panose="02040503050406030204" pitchFamily="18" charset="0"/>
                                      <a:cs typeface="Times New Roman"/>
                                    </a:rPr>
                                    <m:t>𝐸𝐸</m:t>
                                  </m:r>
                                </m:e>
                                <m:sub>
                                  <m:r>
                                    <a:rPr lang="en-US" sz="1800" b="0" i="1" smtClean="0">
                                      <a:solidFill>
                                        <a:srgbClr val="000000"/>
                                      </a:solidFill>
                                      <a:effectLst/>
                                      <a:latin typeface="Cambria Math"/>
                                      <a:ea typeface="Cambria Math" panose="02040503050406030204" pitchFamily="18" charset="0"/>
                                      <a:cs typeface="Times New Roman"/>
                                    </a:rPr>
                                    <m:t>𝑡</m:t>
                                  </m:r>
                                </m:sub>
                              </m:sSub>
                            </m:oMath>
                          </a14:m>
                          <a:r>
                            <a:rPr lang="en-US" sz="1800" dirty="0">
                              <a:solidFill>
                                <a:srgbClr val="000000"/>
                              </a:solidFill>
                              <a:effectLst/>
                              <a:latin typeface="Cambria Math" panose="02040503050406030204" pitchFamily="18" charset="0"/>
                              <a:ea typeface="Cambria Math" panose="02040503050406030204" pitchFamily="18" charset="0"/>
                              <a:cs typeface="Times New Roman"/>
                            </a:rPr>
                            <a:t> </a:t>
                          </a:r>
                          <a:r>
                            <a:rPr lang="pl-PL" sz="1800" dirty="0">
                              <a:solidFill>
                                <a:srgbClr val="000000"/>
                              </a:solidFill>
                              <a:effectLst/>
                              <a:latin typeface="Cambria Math" panose="02040503050406030204" pitchFamily="18" charset="0"/>
                              <a:ea typeface="Cambria Math" panose="02040503050406030204" pitchFamily="18" charset="0"/>
                              <a:cs typeface="Times New Roman"/>
                            </a:rPr>
                            <a:t>= </a:t>
                          </a:r>
                          <a14:m>
                            <m:oMath xmlns:m="http://schemas.openxmlformats.org/officeDocument/2006/math">
                              <m:r>
                                <a:rPr lang="en-US" sz="1800" i="1" smtClean="0">
                                  <a:latin typeface="Cambria Math"/>
                                </a:rPr>
                                <m:t>𝔼</m:t>
                              </m:r>
                              <m:d>
                                <m:dPr>
                                  <m:ctrlPr>
                                    <a:rPr lang="en-US" sz="1800" i="1" smtClean="0">
                                      <a:latin typeface="Cambria Math" panose="02040503050406030204" pitchFamily="18" charset="0"/>
                                    </a:rPr>
                                  </m:ctrlPr>
                                </m:dPr>
                                <m:e>
                                  <m:r>
                                    <m:rPr>
                                      <m:sty m:val="p"/>
                                    </m:rPr>
                                    <a:rPr lang="pl-PL" sz="1800" b="0" i="0" smtClean="0">
                                      <a:latin typeface="Cambria Math" panose="02040503050406030204" pitchFamily="18" charset="0"/>
                                    </a:rPr>
                                    <m:t>max</m:t>
                                  </m:r>
                                  <m:r>
                                    <a:rPr lang="pl-PL" sz="1800" b="0" i="1" smtClean="0">
                                      <a:latin typeface="Cambria Math" panose="02040503050406030204" pitchFamily="18" charset="0"/>
                                    </a:rPr>
                                    <m:t>⁡(</m:t>
                                  </m:r>
                                  <m:sSub>
                                    <m:sSubPr>
                                      <m:ctrlPr>
                                        <a:rPr lang="en-US" sz="1800" i="1" dirty="0" smtClean="0">
                                          <a:solidFill>
                                            <a:srgbClr val="000000"/>
                                          </a:solidFill>
                                          <a:effectLst/>
                                          <a:latin typeface="Cambria Math" panose="02040503050406030204" pitchFamily="18" charset="0"/>
                                          <a:ea typeface="Cambria Math" panose="02040503050406030204" pitchFamily="18" charset="0"/>
                                          <a:cs typeface="Times New Roman"/>
                                        </a:rPr>
                                      </m:ctrlPr>
                                    </m:sSubPr>
                                    <m:e>
                                      <m:r>
                                        <m:rPr>
                                          <m:sty m:val="p"/>
                                        </m:rPr>
                                        <a:rPr lang="en-US" sz="1800" b="0" i="0" dirty="0" smtClean="0">
                                          <a:solidFill>
                                            <a:srgbClr val="000000"/>
                                          </a:solidFill>
                                          <a:effectLst/>
                                          <a:latin typeface="Cambria Math"/>
                                          <a:ea typeface="Cambria Math" panose="02040503050406030204" pitchFamily="18" charset="0"/>
                                          <a:cs typeface="Times New Roman"/>
                                        </a:rPr>
                                        <m:t>V</m:t>
                                      </m:r>
                                    </m:e>
                                    <m:sub>
                                      <m:r>
                                        <m:rPr>
                                          <m:sty m:val="p"/>
                                        </m:rPr>
                                        <a:rPr lang="en-US" sz="1800" b="0" i="0" dirty="0" smtClean="0">
                                          <a:solidFill>
                                            <a:srgbClr val="000000"/>
                                          </a:solidFill>
                                          <a:effectLst/>
                                          <a:latin typeface="Cambria Math" panose="02040503050406030204" pitchFamily="18" charset="0"/>
                                          <a:ea typeface="Cambria Math" panose="02040503050406030204" pitchFamily="18" charset="0"/>
                                          <a:cs typeface="Times New Roman"/>
                                        </a:rPr>
                                        <m:t>t</m:t>
                                      </m:r>
                                    </m:sub>
                                  </m:sSub>
                                  <m:r>
                                    <a:rPr lang="en-US" sz="1800" b="0" i="1" dirty="0" smtClean="0">
                                      <a:solidFill>
                                        <a:srgbClr val="000000"/>
                                      </a:solidFill>
                                      <a:effectLst/>
                                      <a:latin typeface="Cambria Math"/>
                                      <a:ea typeface="Cambria Math" panose="02040503050406030204" pitchFamily="18" charset="0"/>
                                      <a:cs typeface="Times New Roman"/>
                                    </a:rPr>
                                    <m:t> </m:t>
                                  </m:r>
                                  <m:r>
                                    <m:rPr>
                                      <m:nor/>
                                    </m:rPr>
                                    <a:rPr lang="pl-PL" sz="1800" i="0" dirty="0">
                                      <a:solidFill>
                                        <a:srgbClr val="000000"/>
                                      </a:solidFill>
                                      <a:effectLst/>
                                      <a:latin typeface="Cambria Math" panose="02040503050406030204" pitchFamily="18" charset="0"/>
                                      <a:ea typeface="Cambria Math" panose="02040503050406030204" pitchFamily="18" charset="0"/>
                                      <a:cs typeface="Times New Roman"/>
                                    </a:rPr>
                                    <m:t>,0)</m:t>
                                  </m:r>
                                </m:e>
                              </m:d>
                            </m:oMath>
                          </a14:m>
                          <a:endParaRPr lang="en-US" sz="1800" i="0" dirty="0">
                            <a:solidFill>
                              <a:srgbClr val="000000"/>
                            </a:solidFill>
                            <a:effectLst/>
                            <a:latin typeface="Cambria Math" panose="02040503050406030204" pitchFamily="18" charset="0"/>
                            <a:ea typeface="Cambria Math" panose="02040503050406030204" pitchFamily="18" charset="0"/>
                            <a:cs typeface="Times New Roman"/>
                          </a:endParaRPr>
                        </a:p>
                      </a:txBody>
                      <a:tcPr marL="72000" marR="54667" marT="72000" marB="54000">
                        <a:solidFill>
                          <a:srgbClr val="EDD79D"/>
                        </a:solidFill>
                      </a:tcPr>
                    </a:tc>
                    <a:extLst>
                      <a:ext uri="{0D108BD9-81ED-4DB2-BD59-A6C34878D82A}">
                        <a16:rowId xmlns:a16="http://schemas.microsoft.com/office/drawing/2014/main" val="10001"/>
                      </a:ext>
                    </a:extLst>
                  </a:tr>
                  <a:tr h="814811">
                    <a:tc>
                      <a:txBody>
                        <a:bodyPr/>
                        <a:lstStyle/>
                        <a:p>
                          <a:pPr algn="ctr">
                            <a:lnSpc>
                              <a:spcPts val="1400"/>
                            </a:lnSpc>
                            <a:spcAft>
                              <a:spcPts val="0"/>
                            </a:spcAft>
                          </a:pPr>
                          <a:endParaRPr lang="pl-PL" sz="1600" dirty="0">
                            <a:solidFill>
                              <a:srgbClr val="FFFFFF"/>
                            </a:solidFill>
                            <a:effectLst/>
                          </a:endParaRPr>
                        </a:p>
                        <a:p>
                          <a:pPr algn="ctr">
                            <a:lnSpc>
                              <a:spcPts val="1400"/>
                            </a:lnSpc>
                            <a:spcAft>
                              <a:spcPts val="0"/>
                            </a:spcAft>
                          </a:pPr>
                          <a14:m>
                            <m:oMathPara xmlns:m="http://schemas.openxmlformats.org/officeDocument/2006/math">
                              <m:oMathParaPr>
                                <m:jc m:val="centerGroup"/>
                              </m:oMathParaPr>
                              <m:oMath xmlns:m="http://schemas.openxmlformats.org/officeDocument/2006/math">
                                <m:sSub>
                                  <m:sSubPr>
                                    <m:ctrlPr>
                                      <a:rPr lang="en-US" sz="2000" i="1" smtClean="0">
                                        <a:solidFill>
                                          <a:srgbClr val="FFFFFF"/>
                                        </a:solidFill>
                                        <a:effectLst/>
                                        <a:latin typeface="Cambria Math" panose="02040503050406030204" pitchFamily="18" charset="0"/>
                                      </a:rPr>
                                    </m:ctrlPr>
                                  </m:sSubPr>
                                  <m:e>
                                    <m:r>
                                      <a:rPr lang="pl-PL" sz="2000" b="1" i="0" smtClean="0">
                                        <a:solidFill>
                                          <a:srgbClr val="FFFFFF"/>
                                        </a:solidFill>
                                        <a:effectLst/>
                                        <a:latin typeface="Cambria Math" panose="02040503050406030204" pitchFamily="18" charset="0"/>
                                      </a:rPr>
                                      <m:t>𝐏𝐅𝐄</m:t>
                                    </m:r>
                                  </m:e>
                                  <m:sub>
                                    <m:r>
                                      <a:rPr lang="pl-PL" sz="2000" b="1" i="1" smtClean="0">
                                        <a:solidFill>
                                          <a:srgbClr val="FFFFFF"/>
                                        </a:solidFill>
                                        <a:effectLst/>
                                        <a:latin typeface="Cambria Math" panose="02040503050406030204" pitchFamily="18" charset="0"/>
                                      </a:rPr>
                                      <m:t>𝒕</m:t>
                                    </m:r>
                                  </m:sub>
                                </m:sSub>
                              </m:oMath>
                            </m:oMathPara>
                          </a14:m>
                          <a:endParaRPr lang="de-CH" sz="2000" dirty="0">
                            <a:solidFill>
                              <a:srgbClr val="FFFFFF"/>
                            </a:solidFill>
                            <a:effectLst/>
                          </a:endParaRPr>
                        </a:p>
                      </a:txBody>
                      <a:tcPr marL="72000" marR="54667" marT="72000" marB="54000">
                        <a:solidFill>
                          <a:srgbClr val="DFAD22"/>
                        </a:solidFill>
                      </a:tcPr>
                    </a:tc>
                    <a:tc>
                      <a:txBody>
                        <a:bodyPr/>
                        <a:lstStyle/>
                        <a:p>
                          <a:pPr marL="0" lvl="0" indent="0">
                            <a:lnSpc>
                              <a:spcPts val="1400"/>
                            </a:lnSpc>
                            <a:spcAft>
                              <a:spcPts val="0"/>
                            </a:spcAft>
                            <a:buFont typeface="Frutiger 45 Light"/>
                            <a:buNone/>
                          </a:pPr>
                          <a:r>
                            <a:rPr lang="en-US" sz="1600" dirty="0">
                              <a:solidFill>
                                <a:srgbClr val="000000"/>
                              </a:solidFill>
                              <a:effectLst/>
                              <a:latin typeface="+mn-lt"/>
                              <a:ea typeface="Times New Roman"/>
                              <a:cs typeface="Times New Roman"/>
                            </a:rPr>
                            <a:t>Potential Future Exposure:</a:t>
                          </a:r>
                        </a:p>
                        <a:p>
                          <a:pPr marL="0" lvl="0" indent="0">
                            <a:lnSpc>
                              <a:spcPts val="1400"/>
                            </a:lnSpc>
                            <a:spcAft>
                              <a:spcPts val="0"/>
                            </a:spcAft>
                            <a:buFont typeface="Frutiger 45 Light"/>
                            <a:buNone/>
                          </a:pPr>
                          <a:endParaRPr lang="en-US" sz="1600" dirty="0">
                            <a:solidFill>
                              <a:srgbClr val="000000"/>
                            </a:solidFill>
                            <a:effectLst/>
                            <a:latin typeface="+mn-lt"/>
                            <a:ea typeface="Times New Roman"/>
                            <a:cs typeface="Times New Roman"/>
                          </a:endParaRPr>
                        </a:p>
                        <a:p>
                          <a:pPr marL="0" lvl="0" indent="0">
                            <a:lnSpc>
                              <a:spcPts val="1400"/>
                            </a:lnSpc>
                            <a:spcAft>
                              <a:spcPts val="0"/>
                            </a:spcAft>
                            <a:buFont typeface="Frutiger 45 Light"/>
                            <a:buNone/>
                          </a:pPr>
                          <a:r>
                            <a:rPr lang="en-US" sz="1600" dirty="0">
                              <a:solidFill>
                                <a:srgbClr val="000000"/>
                              </a:solidFill>
                              <a:effectLst/>
                              <a:latin typeface="+mn-lt"/>
                              <a:ea typeface="Times New Roman"/>
                              <a:cs typeface="Times New Roman"/>
                            </a:rPr>
                            <a:t>97.5% quantile</a:t>
                          </a:r>
                          <a:r>
                            <a:rPr lang="en-US" sz="1600" baseline="0" dirty="0">
                              <a:solidFill>
                                <a:srgbClr val="000000"/>
                              </a:solidFill>
                              <a:effectLst/>
                              <a:latin typeface="+mn-lt"/>
                              <a:ea typeface="Times New Roman"/>
                              <a:cs typeface="Times New Roman"/>
                            </a:rPr>
                            <a:t> of the portfolio value at time t</a:t>
                          </a:r>
                          <a:endParaRPr lang="en-US" sz="1600" dirty="0">
                            <a:solidFill>
                              <a:srgbClr val="000000"/>
                            </a:solidFill>
                            <a:effectLst/>
                            <a:latin typeface="+mn-lt"/>
                            <a:ea typeface="Times New Roman"/>
                            <a:cs typeface="Times New Roman"/>
                          </a:endParaRPr>
                        </a:p>
                      </a:txBody>
                      <a:tcPr marL="72000" marR="54667" marT="72000" marB="54000">
                        <a:solidFill>
                          <a:srgbClr val="EDD79D"/>
                        </a:solidFill>
                      </a:tcPr>
                    </a:tc>
                    <a:tc>
                      <a:txBody>
                        <a:bodyPr/>
                        <a:lstStyle/>
                        <a:p>
                          <a:pPr marL="0" lvl="0" indent="0">
                            <a:lnSpc>
                              <a:spcPts val="1400"/>
                            </a:lnSpc>
                            <a:spcAft>
                              <a:spcPts val="0"/>
                            </a:spcAft>
                            <a:buFont typeface="Frutiger 45 Light"/>
                            <a:buNone/>
                          </a:pPr>
                          <a:endParaRPr lang="pl-PL" sz="1800" dirty="0">
                            <a:solidFill>
                              <a:srgbClr val="000000"/>
                            </a:solidFill>
                            <a:effectLst/>
                            <a:latin typeface="Cambria Math" panose="02040503050406030204" pitchFamily="18" charset="0"/>
                            <a:ea typeface="Cambria Math" panose="02040503050406030204" pitchFamily="18" charset="0"/>
                            <a:cs typeface="Times New Roman"/>
                          </a:endParaRPr>
                        </a:p>
                        <a:p>
                          <a:pPr marL="0" lvl="0" indent="0">
                            <a:lnSpc>
                              <a:spcPts val="1400"/>
                            </a:lnSpc>
                            <a:spcAft>
                              <a:spcPts val="0"/>
                            </a:spcAft>
                            <a:buFont typeface="Frutiger 45 Light"/>
                            <a:buNone/>
                          </a:pPr>
                          <a14:m>
                            <m:oMath xmlns:m="http://schemas.openxmlformats.org/officeDocument/2006/math">
                              <m:sSub>
                                <m:sSubPr>
                                  <m:ctrlPr>
                                    <a:rPr lang="en-US" sz="1800" i="1" smtClean="0">
                                      <a:solidFill>
                                        <a:srgbClr val="000000"/>
                                      </a:solidFill>
                                      <a:effectLst/>
                                      <a:latin typeface="Cambria Math" panose="02040503050406030204" pitchFamily="18" charset="0"/>
                                      <a:ea typeface="Cambria Math" panose="02040503050406030204" pitchFamily="18" charset="0"/>
                                      <a:cs typeface="Times New Roman"/>
                                    </a:rPr>
                                  </m:ctrlPr>
                                </m:sSubPr>
                                <m:e>
                                  <m:r>
                                    <a:rPr lang="pl-PL" sz="1800" b="0" i="1" smtClean="0">
                                      <a:solidFill>
                                        <a:srgbClr val="000000"/>
                                      </a:solidFill>
                                      <a:effectLst/>
                                      <a:latin typeface="Cambria Math" panose="02040503050406030204" pitchFamily="18" charset="0"/>
                                      <a:ea typeface="Cambria Math" panose="02040503050406030204" pitchFamily="18" charset="0"/>
                                      <a:cs typeface="Times New Roman"/>
                                    </a:rPr>
                                    <m:t>𝑃𝐹𝐸</m:t>
                                  </m:r>
                                </m:e>
                                <m:sub>
                                  <m:r>
                                    <a:rPr lang="en-US" sz="1800" b="0" i="1" smtClean="0">
                                      <a:solidFill>
                                        <a:srgbClr val="000000"/>
                                      </a:solidFill>
                                      <a:effectLst/>
                                      <a:latin typeface="Cambria Math"/>
                                      <a:ea typeface="Cambria Math" panose="02040503050406030204" pitchFamily="18" charset="0"/>
                                      <a:cs typeface="Times New Roman"/>
                                    </a:rPr>
                                    <m:t>𝑡</m:t>
                                  </m:r>
                                </m:sub>
                              </m:sSub>
                            </m:oMath>
                          </a14:m>
                          <a:r>
                            <a:rPr lang="en-US" sz="1800" dirty="0">
                              <a:solidFill>
                                <a:srgbClr val="000000"/>
                              </a:solidFill>
                              <a:effectLst/>
                              <a:latin typeface="Cambria Math" panose="02040503050406030204" pitchFamily="18" charset="0"/>
                              <a:ea typeface="Cambria Math" panose="02040503050406030204" pitchFamily="18" charset="0"/>
                              <a:cs typeface="Times New Roman"/>
                            </a:rPr>
                            <a:t> </a:t>
                          </a:r>
                          <a:r>
                            <a:rPr lang="pl-PL" sz="1800" dirty="0">
                              <a:solidFill>
                                <a:srgbClr val="000000"/>
                              </a:solidFill>
                              <a:effectLst/>
                              <a:latin typeface="Cambria Math" panose="02040503050406030204" pitchFamily="18" charset="0"/>
                              <a:ea typeface="Cambria Math" panose="02040503050406030204" pitchFamily="18" charset="0"/>
                              <a:cs typeface="Times New Roman"/>
                            </a:rPr>
                            <a:t>= </a:t>
                          </a:r>
                          <a14:m>
                            <m:oMath xmlns:m="http://schemas.openxmlformats.org/officeDocument/2006/math">
                              <m:r>
                                <m:rPr>
                                  <m:sty m:val="p"/>
                                </m:rPr>
                                <a:rPr lang="pl-PL" sz="1800" b="0" i="0" smtClean="0">
                                  <a:latin typeface="Cambria Math" panose="02040503050406030204" pitchFamily="18" charset="0"/>
                                </a:rPr>
                                <m:t>inf</m:t>
                              </m:r>
                              <m:d>
                                <m:dPr>
                                  <m:begChr m:val="{"/>
                                  <m:endChr m:val="}"/>
                                  <m:ctrlPr>
                                    <a:rPr lang="pl-PL" sz="1800" b="0" i="1" smtClean="0">
                                      <a:latin typeface="Cambria Math" panose="02040503050406030204" pitchFamily="18" charset="0"/>
                                    </a:rPr>
                                  </m:ctrlPr>
                                </m:dPr>
                                <m:e>
                                  <m:r>
                                    <a:rPr lang="pl-PL" sz="1800" b="0" i="1" smtClean="0">
                                      <a:latin typeface="Cambria Math" panose="02040503050406030204" pitchFamily="18" charset="0"/>
                                    </a:rPr>
                                    <m:t>𝑥</m:t>
                                  </m:r>
                                  <m:r>
                                    <a:rPr lang="pl-PL" sz="1800" b="0" i="1" smtClean="0">
                                      <a:latin typeface="Cambria Math" panose="02040503050406030204" pitchFamily="18" charset="0"/>
                                    </a:rPr>
                                    <m:t>:</m:t>
                                  </m:r>
                                  <m:r>
                                    <a:rPr lang="pl-PL" sz="1800" b="0" i="1" smtClean="0">
                                      <a:latin typeface="Cambria Math" panose="02040503050406030204" pitchFamily="18" charset="0"/>
                                    </a:rPr>
                                    <m:t>𝑃</m:t>
                                  </m:r>
                                  <m:d>
                                    <m:dPr>
                                      <m:ctrlPr>
                                        <a:rPr lang="pl-PL" sz="1800" b="0" i="1" smtClean="0">
                                          <a:latin typeface="Cambria Math" panose="02040503050406030204" pitchFamily="18" charset="0"/>
                                        </a:rPr>
                                      </m:ctrlPr>
                                    </m:dPr>
                                    <m:e>
                                      <m:sSub>
                                        <m:sSubPr>
                                          <m:ctrlPr>
                                            <a:rPr lang="en-US" sz="1800" i="1" dirty="0" smtClean="0">
                                              <a:solidFill>
                                                <a:srgbClr val="000000"/>
                                              </a:solidFill>
                                              <a:effectLst/>
                                              <a:latin typeface="Cambria Math" panose="02040503050406030204" pitchFamily="18" charset="0"/>
                                              <a:ea typeface="Cambria Math" panose="02040503050406030204" pitchFamily="18" charset="0"/>
                                              <a:cs typeface="Times New Roman"/>
                                            </a:rPr>
                                          </m:ctrlPr>
                                        </m:sSubPr>
                                        <m:e>
                                          <m:r>
                                            <m:rPr>
                                              <m:sty m:val="p"/>
                                            </m:rPr>
                                            <a:rPr lang="en-US" sz="1800" b="0" i="0" dirty="0" smtClean="0">
                                              <a:solidFill>
                                                <a:srgbClr val="000000"/>
                                              </a:solidFill>
                                              <a:effectLst/>
                                              <a:latin typeface="Cambria Math" panose="02040503050406030204" pitchFamily="18" charset="0"/>
                                              <a:ea typeface="Cambria Math" panose="02040503050406030204" pitchFamily="18" charset="0"/>
                                              <a:cs typeface="Times New Roman"/>
                                            </a:rPr>
                                            <m:t>V</m:t>
                                          </m:r>
                                        </m:e>
                                        <m:sub>
                                          <m:r>
                                            <m:rPr>
                                              <m:sty m:val="p"/>
                                            </m:rPr>
                                            <a:rPr lang="en-US" sz="1800" b="0" i="0" dirty="0" smtClean="0">
                                              <a:solidFill>
                                                <a:srgbClr val="000000"/>
                                              </a:solidFill>
                                              <a:effectLst/>
                                              <a:latin typeface="Cambria Math" panose="02040503050406030204" pitchFamily="18" charset="0"/>
                                              <a:ea typeface="Cambria Math" panose="02040503050406030204" pitchFamily="18" charset="0"/>
                                              <a:cs typeface="Times New Roman"/>
                                            </a:rPr>
                                            <m:t>t</m:t>
                                          </m:r>
                                        </m:sub>
                                      </m:sSub>
                                      <m:r>
                                        <a:rPr lang="pl-PL" sz="1800" b="0" i="1" dirty="0" smtClean="0">
                                          <a:solidFill>
                                            <a:srgbClr val="000000"/>
                                          </a:solidFill>
                                          <a:effectLst/>
                                          <a:latin typeface="Cambria Math" panose="02040503050406030204" pitchFamily="18" charset="0"/>
                                          <a:ea typeface="Cambria Math" panose="02040503050406030204" pitchFamily="18" charset="0"/>
                                          <a:cs typeface="Times New Roman"/>
                                        </a:rPr>
                                        <m:t>≤</m:t>
                                      </m:r>
                                      <m:r>
                                        <a:rPr lang="pl-PL" sz="1800" b="0" i="1" dirty="0" smtClean="0">
                                          <a:solidFill>
                                            <a:srgbClr val="000000"/>
                                          </a:solidFill>
                                          <a:effectLst/>
                                          <a:latin typeface="Cambria Math" panose="02040503050406030204" pitchFamily="18" charset="0"/>
                                          <a:ea typeface="Cambria Math" panose="02040503050406030204" pitchFamily="18" charset="0"/>
                                          <a:cs typeface="Times New Roman"/>
                                        </a:rPr>
                                        <m:t>𝑥</m:t>
                                      </m:r>
                                    </m:e>
                                  </m:d>
                                  <m:r>
                                    <a:rPr lang="pl-PL" sz="1800" b="0" i="1" dirty="0" smtClean="0">
                                      <a:solidFill>
                                        <a:srgbClr val="000000"/>
                                      </a:solidFill>
                                      <a:effectLst/>
                                      <a:latin typeface="Cambria Math" panose="02040503050406030204" pitchFamily="18" charset="0"/>
                                      <a:ea typeface="Cambria Math" panose="02040503050406030204" pitchFamily="18" charset="0"/>
                                      <a:cs typeface="Times New Roman"/>
                                    </a:rPr>
                                    <m:t>≥</m:t>
                                  </m:r>
                                  <m:r>
                                    <a:rPr lang="pl-PL" sz="1800" b="0" i="1" dirty="0" smtClean="0">
                                      <a:solidFill>
                                        <a:srgbClr val="000000"/>
                                      </a:solidFill>
                                      <a:effectLst/>
                                      <a:latin typeface="Cambria Math" panose="02040503050406030204" pitchFamily="18" charset="0"/>
                                      <a:ea typeface="Cambria Math" panose="02040503050406030204" pitchFamily="18" charset="0"/>
                                      <a:cs typeface="Times New Roman"/>
                                    </a:rPr>
                                    <m:t>𝛼</m:t>
                                  </m:r>
                                  <m:r>
                                    <a:rPr lang="pl-PL" sz="1800" b="0" i="1" smtClean="0">
                                      <a:latin typeface="Cambria Math" panose="02040503050406030204" pitchFamily="18" charset="0"/>
                                    </a:rPr>
                                    <m:t>)</m:t>
                                  </m:r>
                                </m:e>
                              </m:d>
                            </m:oMath>
                          </a14:m>
                          <a:r>
                            <a:rPr lang="pl-PL" sz="1800" dirty="0">
                              <a:solidFill>
                                <a:srgbClr val="000000"/>
                              </a:solidFill>
                              <a:effectLst/>
                              <a:latin typeface="Cambria Math" panose="02040503050406030204" pitchFamily="18" charset="0"/>
                              <a:ea typeface="Cambria Math" panose="02040503050406030204" pitchFamily="18" charset="0"/>
                              <a:cs typeface="Times New Roman"/>
                            </a:rPr>
                            <a:t>, </a:t>
                          </a:r>
                          <a:endParaRPr lang="pl-PL" sz="1800" b="0" i="1" dirty="0">
                            <a:solidFill>
                              <a:srgbClr val="000000"/>
                            </a:solidFill>
                            <a:effectLst/>
                            <a:latin typeface="Cambria Math" panose="02040503050406030204" pitchFamily="18" charset="0"/>
                            <a:ea typeface="Cambria Math" panose="02040503050406030204" pitchFamily="18" charset="0"/>
                            <a:cs typeface="Times New Roman"/>
                          </a:endParaRPr>
                        </a:p>
                        <a:p>
                          <a:pPr marL="0" lvl="0" indent="0">
                            <a:lnSpc>
                              <a:spcPts val="1400"/>
                            </a:lnSpc>
                            <a:spcAft>
                              <a:spcPts val="0"/>
                            </a:spcAft>
                            <a:buFont typeface="Frutiger 45 Light"/>
                            <a:buNone/>
                          </a:pPr>
                          <a:endParaRPr lang="pl-PL" sz="1800" b="0" i="1" dirty="0">
                            <a:solidFill>
                              <a:srgbClr val="000000"/>
                            </a:solidFill>
                            <a:effectLst/>
                            <a:latin typeface="Cambria Math" panose="02040503050406030204" pitchFamily="18" charset="0"/>
                            <a:ea typeface="Cambria Math" panose="02040503050406030204" pitchFamily="18" charset="0"/>
                            <a:cs typeface="Times New Roman"/>
                          </a:endParaRPr>
                        </a:p>
                        <a:p>
                          <a:pPr marL="0" lvl="0" indent="0">
                            <a:lnSpc>
                              <a:spcPts val="1400"/>
                            </a:lnSpc>
                            <a:spcAft>
                              <a:spcPts val="0"/>
                            </a:spcAft>
                            <a:buFont typeface="Frutiger 45 Light"/>
                            <a:buNone/>
                          </a:pPr>
                          <a14:m>
                            <m:oMath xmlns:m="http://schemas.openxmlformats.org/officeDocument/2006/math">
                              <m:r>
                                <a:rPr lang="pl-PL" sz="1800" b="0" i="1" dirty="0" smtClean="0">
                                  <a:solidFill>
                                    <a:srgbClr val="000000"/>
                                  </a:solidFill>
                                  <a:effectLst/>
                                  <a:latin typeface="Cambria Math" panose="02040503050406030204" pitchFamily="18" charset="0"/>
                                  <a:ea typeface="Cambria Math" panose="02040503050406030204" pitchFamily="18" charset="0"/>
                                  <a:cs typeface="Times New Roman"/>
                                </a:rPr>
                                <m:t>𝛼</m:t>
                              </m:r>
                            </m:oMath>
                          </a14:m>
                          <a:r>
                            <a:rPr lang="pl-PL" sz="1800" dirty="0">
                              <a:solidFill>
                                <a:srgbClr val="000000"/>
                              </a:solidFill>
                              <a:effectLst/>
                              <a:latin typeface="Cambria Math" panose="02040503050406030204" pitchFamily="18" charset="0"/>
                              <a:ea typeface="Cambria Math" panose="02040503050406030204" pitchFamily="18" charset="0"/>
                              <a:cs typeface="Times New Roman"/>
                            </a:rPr>
                            <a:t>=97.5%</a:t>
                          </a:r>
                          <a:endParaRPr lang="en-US" sz="1800" dirty="0">
                            <a:solidFill>
                              <a:srgbClr val="000000"/>
                            </a:solidFill>
                            <a:effectLst/>
                            <a:latin typeface="Cambria Math" panose="02040503050406030204" pitchFamily="18" charset="0"/>
                            <a:ea typeface="Cambria Math" panose="02040503050406030204" pitchFamily="18" charset="0"/>
                            <a:cs typeface="Times New Roman"/>
                          </a:endParaRPr>
                        </a:p>
                      </a:txBody>
                      <a:tcPr marL="72000" marR="54667" marT="72000" marB="54000">
                        <a:solidFill>
                          <a:srgbClr val="EDD79D"/>
                        </a:solidFill>
                      </a:tcPr>
                    </a:tc>
                    <a:extLst>
                      <a:ext uri="{0D108BD9-81ED-4DB2-BD59-A6C34878D82A}">
                        <a16:rowId xmlns:a16="http://schemas.microsoft.com/office/drawing/2014/main" val="10002"/>
                      </a:ext>
                    </a:extLst>
                  </a:tr>
                  <a:tr h="858245">
                    <a:tc>
                      <a:txBody>
                        <a:bodyPr/>
                        <a:lstStyle/>
                        <a:p>
                          <a:pPr marL="0" marR="0" indent="0" algn="ctr" defTabSz="1005505" rtl="0" eaLnBrk="1" fontAlgn="auto" latinLnBrk="0" hangingPunct="1">
                            <a:lnSpc>
                              <a:spcPts val="1400"/>
                            </a:lnSpc>
                            <a:spcBef>
                              <a:spcPts val="0"/>
                            </a:spcBef>
                            <a:spcAft>
                              <a:spcPts val="0"/>
                            </a:spcAft>
                            <a:buClrTx/>
                            <a:buSzTx/>
                            <a:buFontTx/>
                            <a:buNone/>
                            <a:tabLst/>
                            <a:defRPr/>
                          </a:pPr>
                          <a:endParaRPr lang="en-US" sz="1600" b="1" dirty="0">
                            <a:solidFill>
                              <a:srgbClr val="FFFFFF"/>
                            </a:solidFill>
                            <a:effectLst/>
                            <a:latin typeface="+mn-lt"/>
                            <a:ea typeface="Times New Roman"/>
                            <a:cs typeface="Times New Roman"/>
                          </a:endParaRPr>
                        </a:p>
                        <a:p>
                          <a:pPr algn="ctr">
                            <a:lnSpc>
                              <a:spcPts val="1400"/>
                            </a:lnSpc>
                            <a:spcAft>
                              <a:spcPts val="0"/>
                            </a:spcAft>
                          </a:pPr>
                          <a14:m>
                            <m:oMathPara xmlns:m="http://schemas.openxmlformats.org/officeDocument/2006/math">
                              <m:oMathParaPr>
                                <m:jc m:val="centerGroup"/>
                              </m:oMathParaPr>
                              <m:oMath xmlns:m="http://schemas.openxmlformats.org/officeDocument/2006/math">
                                <m:sSub>
                                  <m:sSubPr>
                                    <m:ctrlPr>
                                      <a:rPr lang="en-US" sz="2000" i="1" smtClean="0">
                                        <a:solidFill>
                                          <a:srgbClr val="FFFFFF"/>
                                        </a:solidFill>
                                        <a:effectLst/>
                                        <a:latin typeface="Cambria Math" panose="02040503050406030204" pitchFamily="18" charset="0"/>
                                      </a:rPr>
                                    </m:ctrlPr>
                                  </m:sSubPr>
                                  <m:e>
                                    <m:r>
                                      <a:rPr lang="pl-PL" sz="2000" b="1" i="0" smtClean="0">
                                        <a:solidFill>
                                          <a:srgbClr val="FFFFFF"/>
                                        </a:solidFill>
                                        <a:effectLst/>
                                        <a:latin typeface="Cambria Math" panose="02040503050406030204" pitchFamily="18" charset="0"/>
                                      </a:rPr>
                                      <m:t>𝐑𝐞𝐯</m:t>
                                    </m:r>
                                    <m:r>
                                      <a:rPr lang="pl-PL" sz="2000" b="1" i="0" smtClean="0">
                                        <a:solidFill>
                                          <a:srgbClr val="FFFFFF"/>
                                        </a:solidFill>
                                        <a:effectLst/>
                                        <a:latin typeface="Cambria Math" panose="02040503050406030204" pitchFamily="18" charset="0"/>
                                      </a:rPr>
                                      <m:t>_</m:t>
                                    </m:r>
                                    <m:r>
                                      <a:rPr lang="pl-PL" sz="2000" b="1" i="0" smtClean="0">
                                        <a:solidFill>
                                          <a:srgbClr val="FFFFFF"/>
                                        </a:solidFill>
                                        <a:effectLst/>
                                        <a:latin typeface="Cambria Math" panose="02040503050406030204" pitchFamily="18" charset="0"/>
                                      </a:rPr>
                                      <m:t>𝐄𝐄</m:t>
                                    </m:r>
                                  </m:e>
                                  <m:sub>
                                    <m:r>
                                      <a:rPr lang="pl-PL" sz="2000" b="1" i="1" smtClean="0">
                                        <a:solidFill>
                                          <a:srgbClr val="FFFFFF"/>
                                        </a:solidFill>
                                        <a:effectLst/>
                                        <a:latin typeface="Cambria Math" panose="02040503050406030204" pitchFamily="18" charset="0"/>
                                      </a:rPr>
                                      <m:t>𝒕</m:t>
                                    </m:r>
                                  </m:sub>
                                </m:sSub>
                              </m:oMath>
                            </m:oMathPara>
                          </a14:m>
                          <a:endParaRPr lang="en-US" sz="2000" b="1" dirty="0">
                            <a:solidFill>
                              <a:srgbClr val="FFFFFF"/>
                            </a:solidFill>
                            <a:effectLst/>
                            <a:latin typeface="Frutiger 45 Light" panose="020B0603020202020204" pitchFamily="34" charset="0"/>
                            <a:ea typeface="Times New Roman"/>
                            <a:cs typeface="Times New Roman"/>
                          </a:endParaRPr>
                        </a:p>
                      </a:txBody>
                      <a:tcPr marL="72000" marR="54667" marT="72000" marB="54000">
                        <a:solidFill>
                          <a:srgbClr val="DFAD22"/>
                        </a:solidFill>
                      </a:tcPr>
                    </a:tc>
                    <a:tc>
                      <a:txBody>
                        <a:bodyPr/>
                        <a:lstStyle/>
                        <a:p>
                          <a:pPr marL="0" lvl="0" indent="0">
                            <a:lnSpc>
                              <a:spcPts val="1400"/>
                            </a:lnSpc>
                            <a:spcAft>
                              <a:spcPts val="0"/>
                            </a:spcAft>
                            <a:buFont typeface="Frutiger 45 Light"/>
                            <a:buNone/>
                          </a:pPr>
                          <a:r>
                            <a:rPr lang="pl-PL" sz="1600" dirty="0">
                              <a:solidFill>
                                <a:srgbClr val="000000"/>
                              </a:solidFill>
                              <a:effectLst/>
                              <a:latin typeface="+mn-lt"/>
                              <a:ea typeface="Times New Roman"/>
                              <a:cs typeface="Times New Roman"/>
                            </a:rPr>
                            <a:t>Reverse </a:t>
                          </a:r>
                          <a:r>
                            <a:rPr lang="pl-PL" sz="1600" dirty="0" err="1">
                              <a:solidFill>
                                <a:srgbClr val="000000"/>
                              </a:solidFill>
                              <a:effectLst/>
                              <a:latin typeface="+mn-lt"/>
                              <a:ea typeface="Times New Roman"/>
                              <a:cs typeface="Times New Roman"/>
                            </a:rPr>
                            <a:t>Expected</a:t>
                          </a:r>
                          <a:r>
                            <a:rPr lang="pl-PL" sz="1600" dirty="0">
                              <a:solidFill>
                                <a:srgbClr val="000000"/>
                              </a:solidFill>
                              <a:effectLst/>
                              <a:latin typeface="+mn-lt"/>
                              <a:ea typeface="Times New Roman"/>
                              <a:cs typeface="Times New Roman"/>
                            </a:rPr>
                            <a:t> </a:t>
                          </a:r>
                          <a:r>
                            <a:rPr lang="pl-PL" sz="1600" dirty="0" err="1">
                              <a:solidFill>
                                <a:srgbClr val="000000"/>
                              </a:solidFill>
                              <a:effectLst/>
                              <a:latin typeface="+mn-lt"/>
                              <a:ea typeface="Times New Roman"/>
                              <a:cs typeface="Times New Roman"/>
                            </a:rPr>
                            <a:t>Positive</a:t>
                          </a:r>
                          <a:r>
                            <a:rPr lang="pl-PL" sz="1600" dirty="0">
                              <a:solidFill>
                                <a:srgbClr val="000000"/>
                              </a:solidFill>
                              <a:effectLst/>
                              <a:latin typeface="+mn-lt"/>
                              <a:ea typeface="Times New Roman"/>
                              <a:cs typeface="Times New Roman"/>
                            </a:rPr>
                            <a:t> </a:t>
                          </a:r>
                          <a:r>
                            <a:rPr lang="pl-PL" sz="1600" dirty="0" err="1">
                              <a:solidFill>
                                <a:srgbClr val="000000"/>
                              </a:solidFill>
                              <a:effectLst/>
                              <a:latin typeface="+mn-lt"/>
                              <a:ea typeface="Times New Roman"/>
                              <a:cs typeface="Times New Roman"/>
                            </a:rPr>
                            <a:t>Exposure</a:t>
                          </a:r>
                          <a:r>
                            <a:rPr lang="pl-PL" sz="1600" dirty="0">
                              <a:solidFill>
                                <a:srgbClr val="000000"/>
                              </a:solidFill>
                              <a:effectLst/>
                              <a:latin typeface="+mn-lt"/>
                              <a:ea typeface="Times New Roman"/>
                              <a:cs typeface="Times New Roman"/>
                            </a:rPr>
                            <a:t>:</a:t>
                          </a:r>
                        </a:p>
                        <a:p>
                          <a:pPr marL="0" lvl="0" indent="0">
                            <a:lnSpc>
                              <a:spcPts val="1400"/>
                            </a:lnSpc>
                            <a:spcAft>
                              <a:spcPts val="0"/>
                            </a:spcAft>
                            <a:buFont typeface="Frutiger 45 Light"/>
                            <a:buNone/>
                          </a:pPr>
                          <a:endParaRPr lang="pl-PL" sz="1600" dirty="0">
                            <a:solidFill>
                              <a:srgbClr val="000000"/>
                            </a:solidFill>
                            <a:effectLst/>
                            <a:latin typeface="+mn-lt"/>
                            <a:ea typeface="Times New Roman"/>
                            <a:cs typeface="Times New Roman"/>
                          </a:endParaRPr>
                        </a:p>
                        <a:p>
                          <a:pPr marL="0" lvl="0" indent="0">
                            <a:lnSpc>
                              <a:spcPts val="1400"/>
                            </a:lnSpc>
                            <a:spcAft>
                              <a:spcPts val="0"/>
                            </a:spcAft>
                            <a:buFont typeface="Frutiger 45 Light"/>
                            <a:buNone/>
                          </a:pPr>
                          <a:r>
                            <a:rPr lang="en-US" sz="1600" dirty="0">
                              <a:solidFill>
                                <a:srgbClr val="000000"/>
                              </a:solidFill>
                              <a:effectLst/>
                              <a:latin typeface="+mn-lt"/>
                              <a:ea typeface="Times New Roman"/>
                              <a:cs typeface="Times New Roman"/>
                            </a:rPr>
                            <a:t>Equivalent to </a:t>
                          </a:r>
                          <a14:m>
                            <m:oMath xmlns:m="http://schemas.openxmlformats.org/officeDocument/2006/math">
                              <m:sSub>
                                <m:sSubPr>
                                  <m:ctrlPr>
                                    <a:rPr lang="en-US" sz="1600" i="1" dirty="0" smtClean="0">
                                      <a:solidFill>
                                        <a:srgbClr val="000000"/>
                                      </a:solidFill>
                                      <a:effectLst/>
                                      <a:latin typeface="Cambria Math" panose="02040503050406030204" pitchFamily="18" charset="0"/>
                                      <a:ea typeface="Cambria Math" panose="02040503050406030204" pitchFamily="18" charset="0"/>
                                      <a:cs typeface="Times New Roman"/>
                                    </a:rPr>
                                  </m:ctrlPr>
                                </m:sSubPr>
                                <m:e>
                                  <m:r>
                                    <m:rPr>
                                      <m:sty m:val="p"/>
                                    </m:rPr>
                                    <a:rPr lang="en-US" sz="1600" b="0" i="0" dirty="0" smtClean="0">
                                      <a:solidFill>
                                        <a:srgbClr val="000000"/>
                                      </a:solidFill>
                                      <a:effectLst/>
                                      <a:latin typeface="Cambria Math"/>
                                      <a:ea typeface="Cambria Math" panose="02040503050406030204" pitchFamily="18" charset="0"/>
                                      <a:cs typeface="Times New Roman"/>
                                    </a:rPr>
                                    <m:t>EPE</m:t>
                                  </m:r>
                                </m:e>
                                <m:sub>
                                  <m:r>
                                    <m:rPr>
                                      <m:sty m:val="p"/>
                                    </m:rPr>
                                    <a:rPr lang="en-US" sz="1600" b="0" i="0" dirty="0" smtClean="0">
                                      <a:solidFill>
                                        <a:srgbClr val="000000"/>
                                      </a:solidFill>
                                      <a:effectLst/>
                                      <a:latin typeface="Cambria Math"/>
                                      <a:ea typeface="Cambria Math" panose="02040503050406030204" pitchFamily="18" charset="0"/>
                                      <a:cs typeface="Times New Roman"/>
                                    </a:rPr>
                                    <m:t>t</m:t>
                                  </m:r>
                                </m:sub>
                              </m:sSub>
                            </m:oMath>
                          </a14:m>
                          <a:r>
                            <a:rPr lang="en-US" sz="1600" dirty="0">
                              <a:solidFill>
                                <a:srgbClr val="000000"/>
                              </a:solidFill>
                              <a:effectLst/>
                              <a:latin typeface="+mn-lt"/>
                              <a:ea typeface="Times New Roman"/>
                              <a:cs typeface="Times New Roman"/>
                            </a:rPr>
                            <a:t> but from the counterparty's</a:t>
                          </a:r>
                          <a:r>
                            <a:rPr lang="en-US" sz="1600" baseline="0" dirty="0">
                              <a:solidFill>
                                <a:srgbClr val="000000"/>
                              </a:solidFill>
                              <a:effectLst/>
                              <a:latin typeface="+mn-lt"/>
                              <a:ea typeface="Times New Roman"/>
                              <a:cs typeface="Times New Roman"/>
                            </a:rPr>
                            <a:t> point of view</a:t>
                          </a:r>
                          <a:endParaRPr lang="en-US" sz="1600" dirty="0">
                            <a:solidFill>
                              <a:srgbClr val="000000"/>
                            </a:solidFill>
                            <a:effectLst/>
                            <a:latin typeface="+mn-lt"/>
                            <a:ea typeface="Times New Roman"/>
                            <a:cs typeface="Times New Roman"/>
                          </a:endParaRPr>
                        </a:p>
                      </a:txBody>
                      <a:tcPr marL="72000" marR="54667" marT="72000" marB="54000">
                        <a:solidFill>
                          <a:srgbClr val="EDD79D"/>
                        </a:solidFill>
                      </a:tcPr>
                    </a:tc>
                    <a:tc>
                      <a:txBody>
                        <a:bodyPr/>
                        <a:lstStyle/>
                        <a:p>
                          <a:pPr marL="0" lvl="0" indent="0">
                            <a:lnSpc>
                              <a:spcPts val="1400"/>
                            </a:lnSpc>
                            <a:spcAft>
                              <a:spcPts val="0"/>
                            </a:spcAft>
                            <a:buFont typeface="Frutiger 45 Light"/>
                            <a:buNone/>
                          </a:pPr>
                          <a:endParaRPr lang="pl-PL" sz="1400" dirty="0">
                            <a:solidFill>
                              <a:srgbClr val="000000"/>
                            </a:solidFill>
                            <a:effectLst/>
                            <a:latin typeface="Cambria Math" panose="02040503050406030204" pitchFamily="18" charset="0"/>
                            <a:ea typeface="Cambria Math" panose="02040503050406030204" pitchFamily="18" charset="0"/>
                            <a:cs typeface="Times New Roman"/>
                          </a:endParaRPr>
                        </a:p>
                        <a:p>
                          <a:pPr marL="0" lvl="0" indent="0">
                            <a:lnSpc>
                              <a:spcPts val="1400"/>
                            </a:lnSpc>
                            <a:spcAft>
                              <a:spcPts val="0"/>
                            </a:spcAft>
                            <a:buFont typeface="Frutiger 45 Light"/>
                            <a:buNone/>
                          </a:pPr>
                          <a14:m>
                            <m:oMath xmlns:m="http://schemas.openxmlformats.org/officeDocument/2006/math">
                              <m:sSub>
                                <m:sSubPr>
                                  <m:ctrlPr>
                                    <a:rPr lang="en-US" sz="1800" i="1" smtClean="0">
                                      <a:solidFill>
                                        <a:srgbClr val="000000"/>
                                      </a:solidFill>
                                      <a:effectLst/>
                                      <a:latin typeface="Cambria Math" panose="02040503050406030204" pitchFamily="18" charset="0"/>
                                      <a:ea typeface="Cambria Math" panose="02040503050406030204" pitchFamily="18" charset="0"/>
                                      <a:cs typeface="Times New Roman"/>
                                    </a:rPr>
                                  </m:ctrlPr>
                                </m:sSubPr>
                                <m:e>
                                  <m:r>
                                    <a:rPr lang="pl-PL" sz="1800" b="0" i="1" smtClean="0">
                                      <a:solidFill>
                                        <a:srgbClr val="000000"/>
                                      </a:solidFill>
                                      <a:effectLst/>
                                      <a:latin typeface="Cambria Math" panose="02040503050406030204" pitchFamily="18" charset="0"/>
                                      <a:ea typeface="Cambria Math" panose="02040503050406030204" pitchFamily="18" charset="0"/>
                                      <a:cs typeface="Times New Roman"/>
                                    </a:rPr>
                                    <m:t>𝑅𝑒𝑣</m:t>
                                  </m:r>
                                  <m:r>
                                    <a:rPr lang="pl-PL" sz="1800" b="0" i="1" smtClean="0">
                                      <a:solidFill>
                                        <a:srgbClr val="000000"/>
                                      </a:solidFill>
                                      <a:effectLst/>
                                      <a:latin typeface="Cambria Math" panose="02040503050406030204" pitchFamily="18" charset="0"/>
                                      <a:ea typeface="Cambria Math" panose="02040503050406030204" pitchFamily="18" charset="0"/>
                                      <a:cs typeface="Times New Roman"/>
                                    </a:rPr>
                                    <m:t>_</m:t>
                                  </m:r>
                                  <m:r>
                                    <a:rPr lang="pl-PL" sz="1800" b="0" i="1" smtClean="0">
                                      <a:solidFill>
                                        <a:srgbClr val="000000"/>
                                      </a:solidFill>
                                      <a:effectLst/>
                                      <a:latin typeface="Cambria Math" panose="02040503050406030204" pitchFamily="18" charset="0"/>
                                      <a:ea typeface="Cambria Math" panose="02040503050406030204" pitchFamily="18" charset="0"/>
                                      <a:cs typeface="Times New Roman"/>
                                    </a:rPr>
                                    <m:t>𝐸𝐸</m:t>
                                  </m:r>
                                </m:e>
                                <m:sub>
                                  <m:r>
                                    <a:rPr lang="en-US" sz="1800" b="0" i="1" smtClean="0">
                                      <a:solidFill>
                                        <a:srgbClr val="000000"/>
                                      </a:solidFill>
                                      <a:effectLst/>
                                      <a:latin typeface="Cambria Math"/>
                                      <a:ea typeface="Cambria Math" panose="02040503050406030204" pitchFamily="18" charset="0"/>
                                      <a:cs typeface="Times New Roman"/>
                                    </a:rPr>
                                    <m:t>𝑡</m:t>
                                  </m:r>
                                </m:sub>
                              </m:sSub>
                            </m:oMath>
                          </a14:m>
                          <a:r>
                            <a:rPr lang="en-US" sz="1800" dirty="0">
                              <a:solidFill>
                                <a:srgbClr val="000000"/>
                              </a:solidFill>
                              <a:effectLst/>
                              <a:latin typeface="Cambria Math" panose="02040503050406030204" pitchFamily="18" charset="0"/>
                              <a:ea typeface="Cambria Math" panose="02040503050406030204" pitchFamily="18" charset="0"/>
                              <a:cs typeface="Times New Roman"/>
                            </a:rPr>
                            <a:t> </a:t>
                          </a:r>
                          <a:r>
                            <a:rPr lang="pl-PL" sz="1800" dirty="0">
                              <a:solidFill>
                                <a:srgbClr val="000000"/>
                              </a:solidFill>
                              <a:effectLst/>
                              <a:latin typeface="Cambria Math" panose="02040503050406030204" pitchFamily="18" charset="0"/>
                              <a:ea typeface="Cambria Math" panose="02040503050406030204" pitchFamily="18" charset="0"/>
                              <a:cs typeface="Times New Roman"/>
                            </a:rPr>
                            <a:t>= </a:t>
                          </a:r>
                          <a14:m>
                            <m:oMath xmlns:m="http://schemas.openxmlformats.org/officeDocument/2006/math">
                              <m:r>
                                <a:rPr lang="en-US" sz="1800" i="1" smtClean="0">
                                  <a:latin typeface="Cambria Math"/>
                                </a:rPr>
                                <m:t>𝔼</m:t>
                              </m:r>
                              <m:d>
                                <m:dPr>
                                  <m:ctrlPr>
                                    <a:rPr lang="en-US" sz="1800" i="1" smtClean="0">
                                      <a:latin typeface="Cambria Math" panose="02040503050406030204" pitchFamily="18" charset="0"/>
                                    </a:rPr>
                                  </m:ctrlPr>
                                </m:dPr>
                                <m:e>
                                  <m:r>
                                    <m:rPr>
                                      <m:sty m:val="p"/>
                                    </m:rPr>
                                    <a:rPr lang="pl-PL" sz="1800" b="0" i="0" smtClean="0">
                                      <a:latin typeface="Cambria Math" panose="02040503050406030204" pitchFamily="18" charset="0"/>
                                    </a:rPr>
                                    <m:t>max</m:t>
                                  </m:r>
                                  <m:r>
                                    <a:rPr lang="pl-PL" sz="1800" b="0" i="1" smtClean="0">
                                      <a:latin typeface="Cambria Math" panose="02040503050406030204" pitchFamily="18" charset="0"/>
                                    </a:rPr>
                                    <m:t>⁡(−</m:t>
                                  </m:r>
                                  <m:sSub>
                                    <m:sSubPr>
                                      <m:ctrlPr>
                                        <a:rPr lang="en-US" sz="1800" i="1" dirty="0" smtClean="0">
                                          <a:solidFill>
                                            <a:srgbClr val="000000"/>
                                          </a:solidFill>
                                          <a:effectLst/>
                                          <a:latin typeface="Cambria Math" panose="02040503050406030204" pitchFamily="18" charset="0"/>
                                          <a:ea typeface="Cambria Math" panose="02040503050406030204" pitchFamily="18" charset="0"/>
                                          <a:cs typeface="Times New Roman"/>
                                        </a:rPr>
                                      </m:ctrlPr>
                                    </m:sSubPr>
                                    <m:e>
                                      <m:r>
                                        <m:rPr>
                                          <m:sty m:val="p"/>
                                        </m:rPr>
                                        <a:rPr lang="en-US" sz="1800" b="0" i="0" dirty="0" smtClean="0">
                                          <a:solidFill>
                                            <a:srgbClr val="000000"/>
                                          </a:solidFill>
                                          <a:effectLst/>
                                          <a:latin typeface="Cambria Math"/>
                                          <a:ea typeface="Cambria Math" panose="02040503050406030204" pitchFamily="18" charset="0"/>
                                          <a:cs typeface="Times New Roman"/>
                                        </a:rPr>
                                        <m:t>V</m:t>
                                      </m:r>
                                    </m:e>
                                    <m:sub>
                                      <m:r>
                                        <m:rPr>
                                          <m:sty m:val="p"/>
                                        </m:rPr>
                                        <a:rPr lang="en-US" sz="1800" b="0" i="0" dirty="0" smtClean="0">
                                          <a:solidFill>
                                            <a:srgbClr val="000000"/>
                                          </a:solidFill>
                                          <a:effectLst/>
                                          <a:latin typeface="Cambria Math" panose="02040503050406030204" pitchFamily="18" charset="0"/>
                                          <a:ea typeface="Cambria Math" panose="02040503050406030204" pitchFamily="18" charset="0"/>
                                          <a:cs typeface="Times New Roman"/>
                                        </a:rPr>
                                        <m:t>t</m:t>
                                      </m:r>
                                    </m:sub>
                                  </m:sSub>
                                  <m:r>
                                    <a:rPr lang="en-US" sz="1800" b="0" i="1" dirty="0" smtClean="0">
                                      <a:solidFill>
                                        <a:srgbClr val="000000"/>
                                      </a:solidFill>
                                      <a:effectLst/>
                                      <a:latin typeface="Cambria Math"/>
                                      <a:ea typeface="Cambria Math" panose="02040503050406030204" pitchFamily="18" charset="0"/>
                                      <a:cs typeface="Times New Roman"/>
                                    </a:rPr>
                                    <m:t> </m:t>
                                  </m:r>
                                  <m:r>
                                    <m:rPr>
                                      <m:nor/>
                                    </m:rPr>
                                    <a:rPr lang="pl-PL" sz="1800" i="0" dirty="0">
                                      <a:solidFill>
                                        <a:srgbClr val="000000"/>
                                      </a:solidFill>
                                      <a:effectLst/>
                                      <a:latin typeface="Cambria Math" panose="02040503050406030204" pitchFamily="18" charset="0"/>
                                      <a:ea typeface="Cambria Math" panose="02040503050406030204" pitchFamily="18" charset="0"/>
                                      <a:cs typeface="Times New Roman"/>
                                    </a:rPr>
                                    <m:t>,0)</m:t>
                                  </m:r>
                                </m:e>
                              </m:d>
                            </m:oMath>
                          </a14:m>
                          <a:endParaRPr lang="en-US" sz="1800" dirty="0">
                            <a:solidFill>
                              <a:srgbClr val="000000"/>
                            </a:solidFill>
                            <a:effectLst/>
                            <a:latin typeface="Cambria Math" panose="02040503050406030204" pitchFamily="18" charset="0"/>
                            <a:ea typeface="Cambria Math" panose="02040503050406030204" pitchFamily="18" charset="0"/>
                            <a:cs typeface="Times New Roman"/>
                          </a:endParaRPr>
                        </a:p>
                      </a:txBody>
                      <a:tcPr marL="72000" marR="54667" marT="72000" marB="54000">
                        <a:solidFill>
                          <a:srgbClr val="EDD79D"/>
                        </a:solidFill>
                      </a:tcPr>
                    </a:tc>
                    <a:extLst>
                      <a:ext uri="{0D108BD9-81ED-4DB2-BD59-A6C34878D82A}">
                        <a16:rowId xmlns:a16="http://schemas.microsoft.com/office/drawing/2014/main" val="10003"/>
                      </a:ext>
                    </a:extLst>
                  </a:tr>
                  <a:tr h="1260266">
                    <a:tc>
                      <a:txBody>
                        <a:bodyPr/>
                        <a:lstStyle/>
                        <a:p>
                          <a:pPr algn="ctr">
                            <a:lnSpc>
                              <a:spcPts val="1400"/>
                            </a:lnSpc>
                            <a:spcAft>
                              <a:spcPts val="0"/>
                            </a:spcAft>
                          </a:pPr>
                          <a:endParaRPr lang="pl-PL" sz="1600" b="1" dirty="0">
                            <a:solidFill>
                              <a:srgbClr val="FFFFFF"/>
                            </a:solidFill>
                            <a:effectLst/>
                            <a:latin typeface="+mn-lt"/>
                            <a:ea typeface="Times New Roman"/>
                            <a:cs typeface="Times New Roman"/>
                          </a:endParaRPr>
                        </a:p>
                        <a:p>
                          <a:pPr algn="ctr">
                            <a:lnSpc>
                              <a:spcPts val="1400"/>
                            </a:lnSpc>
                            <a:spcAft>
                              <a:spcPts val="0"/>
                            </a:spcAft>
                          </a:pPr>
                          <a14:m>
                            <m:oMathPara xmlns:m="http://schemas.openxmlformats.org/officeDocument/2006/math">
                              <m:oMathParaPr>
                                <m:jc m:val="centerGroup"/>
                              </m:oMathParaPr>
                              <m:oMath xmlns:m="http://schemas.openxmlformats.org/officeDocument/2006/math">
                                <m:sSub>
                                  <m:sSubPr>
                                    <m:ctrlPr>
                                      <a:rPr lang="en-US" sz="2000" b="1" i="1" kern="1200" smtClean="0">
                                        <a:solidFill>
                                          <a:srgbClr val="FFFFFF"/>
                                        </a:solidFill>
                                        <a:effectLst/>
                                        <a:latin typeface="Cambria Math" panose="02040503050406030204" pitchFamily="18" charset="0"/>
                                        <a:ea typeface="+mn-ea"/>
                                        <a:cs typeface="+mn-cs"/>
                                      </a:rPr>
                                    </m:ctrlPr>
                                  </m:sSubPr>
                                  <m:e>
                                    <m:r>
                                      <a:rPr lang="pl-PL" sz="2000" b="1" i="1" kern="1200" smtClean="0">
                                        <a:solidFill>
                                          <a:srgbClr val="FFFFFF"/>
                                        </a:solidFill>
                                        <a:effectLst/>
                                        <a:latin typeface="Cambria Math" panose="02040503050406030204" pitchFamily="18" charset="0"/>
                                        <a:ea typeface="+mn-ea"/>
                                        <a:cs typeface="+mn-cs"/>
                                      </a:rPr>
                                      <m:t>𝐓𝐂𝐌</m:t>
                                    </m:r>
                                  </m:e>
                                  <m:sub>
                                    <m:r>
                                      <a:rPr lang="pl-PL" sz="2000" b="1" i="1" kern="1200" smtClean="0">
                                        <a:solidFill>
                                          <a:srgbClr val="FFFFFF"/>
                                        </a:solidFill>
                                        <a:effectLst/>
                                        <a:latin typeface="Cambria Math" panose="02040503050406030204" pitchFamily="18" charset="0"/>
                                        <a:ea typeface="+mn-ea"/>
                                        <a:cs typeface="+mn-cs"/>
                                      </a:rPr>
                                      <m:t>𝒕</m:t>
                                    </m:r>
                                    <m:r>
                                      <a:rPr lang="pl-PL" sz="2000" b="1" i="1" kern="1200" smtClean="0">
                                        <a:solidFill>
                                          <a:srgbClr val="FFFFFF"/>
                                        </a:solidFill>
                                        <a:effectLst/>
                                        <a:latin typeface="Cambria Math" panose="02040503050406030204" pitchFamily="18" charset="0"/>
                                        <a:ea typeface="+mn-ea"/>
                                        <a:cs typeface="+mn-cs"/>
                                      </a:rPr>
                                      <m:t>,</m:t>
                                    </m:r>
                                    <m:r>
                                      <m:rPr>
                                        <m:sty m:val="p"/>
                                      </m:rPr>
                                      <a:rPr lang="el-GR" sz="2000" b="1" i="1" kern="1200" smtClean="0">
                                        <a:solidFill>
                                          <a:srgbClr val="FFFFFF"/>
                                        </a:solidFill>
                                        <a:effectLst/>
                                        <a:latin typeface="Cambria Math" panose="02040503050406030204" pitchFamily="18" charset="0"/>
                                        <a:ea typeface="+mn-ea"/>
                                        <a:cs typeface="+mn-cs"/>
                                      </a:rPr>
                                      <m:t>δ</m:t>
                                    </m:r>
                                  </m:sub>
                                </m:sSub>
                              </m:oMath>
                            </m:oMathPara>
                          </a14:m>
                          <a:endParaRPr lang="en-US" sz="2000" b="1" i="1" kern="1200" dirty="0">
                            <a:solidFill>
                              <a:srgbClr val="FFFFFF"/>
                            </a:solidFill>
                            <a:effectLst/>
                            <a:latin typeface="Cambria Math" panose="02040503050406030204" pitchFamily="18" charset="0"/>
                            <a:ea typeface="+mn-ea"/>
                            <a:cs typeface="+mn-cs"/>
                          </a:endParaRPr>
                        </a:p>
                      </a:txBody>
                      <a:tcPr marL="72000" marR="54667" marT="72000" marB="54000">
                        <a:solidFill>
                          <a:srgbClr val="DFAD22"/>
                        </a:solidFill>
                      </a:tcPr>
                    </a:tc>
                    <a:tc>
                      <a:txBody>
                        <a:bodyPr/>
                        <a:lstStyle/>
                        <a:p>
                          <a:pPr marL="0" lvl="0" indent="0">
                            <a:lnSpc>
                              <a:spcPts val="1400"/>
                            </a:lnSpc>
                            <a:spcAft>
                              <a:spcPts val="0"/>
                            </a:spcAft>
                            <a:buFont typeface="Frutiger 45 Light"/>
                            <a:buNone/>
                          </a:pPr>
                          <a:r>
                            <a:rPr lang="pl-PL" sz="1600" dirty="0">
                              <a:solidFill>
                                <a:srgbClr val="000000"/>
                              </a:solidFill>
                              <a:effectLst/>
                              <a:latin typeface="+mn-lt"/>
                              <a:ea typeface="Times New Roman"/>
                              <a:cs typeface="Times New Roman"/>
                            </a:rPr>
                            <a:t>Total </a:t>
                          </a:r>
                          <a:r>
                            <a:rPr lang="pl-PL" sz="1600" dirty="0" err="1">
                              <a:solidFill>
                                <a:srgbClr val="000000"/>
                              </a:solidFill>
                              <a:effectLst/>
                              <a:latin typeface="+mn-lt"/>
                              <a:ea typeface="Times New Roman"/>
                              <a:cs typeface="Times New Roman"/>
                            </a:rPr>
                            <a:t>Claim</a:t>
                          </a:r>
                          <a:r>
                            <a:rPr lang="pl-PL" sz="1600" dirty="0">
                              <a:solidFill>
                                <a:srgbClr val="000000"/>
                              </a:solidFill>
                              <a:effectLst/>
                              <a:latin typeface="+mn-lt"/>
                              <a:ea typeface="Times New Roman"/>
                              <a:cs typeface="Times New Roman"/>
                            </a:rPr>
                            <a:t> </a:t>
                          </a:r>
                          <a:r>
                            <a:rPr lang="pl-PL" sz="1600" dirty="0" err="1">
                              <a:solidFill>
                                <a:srgbClr val="000000"/>
                              </a:solidFill>
                              <a:effectLst/>
                              <a:latin typeface="+mn-lt"/>
                              <a:ea typeface="Times New Roman"/>
                              <a:cs typeface="Times New Roman"/>
                            </a:rPr>
                            <a:t>Mean</a:t>
                          </a:r>
                          <a:r>
                            <a:rPr lang="pl-PL" sz="1600" dirty="0">
                              <a:solidFill>
                                <a:srgbClr val="000000"/>
                              </a:solidFill>
                              <a:effectLst/>
                              <a:latin typeface="+mn-lt"/>
                              <a:ea typeface="Times New Roman"/>
                              <a:cs typeface="Times New Roman"/>
                            </a:rPr>
                            <a:t>:</a:t>
                          </a:r>
                        </a:p>
                        <a:p>
                          <a:pPr marL="0" lvl="0" indent="0">
                            <a:lnSpc>
                              <a:spcPts val="1400"/>
                            </a:lnSpc>
                            <a:spcAft>
                              <a:spcPts val="0"/>
                            </a:spcAft>
                            <a:buFont typeface="Frutiger 45 Light"/>
                            <a:buNone/>
                          </a:pPr>
                          <a:endParaRPr lang="pl-PL" sz="1600" dirty="0">
                            <a:solidFill>
                              <a:srgbClr val="000000"/>
                            </a:solidFill>
                            <a:effectLst/>
                            <a:latin typeface="+mn-lt"/>
                            <a:ea typeface="Times New Roman"/>
                            <a:cs typeface="Times New Roman"/>
                          </a:endParaRPr>
                        </a:p>
                        <a:p>
                          <a:pPr marL="0" lvl="0" indent="0">
                            <a:lnSpc>
                              <a:spcPts val="1400"/>
                            </a:lnSpc>
                            <a:spcAft>
                              <a:spcPts val="0"/>
                            </a:spcAft>
                            <a:buFont typeface="Frutiger 45 Light"/>
                            <a:buNone/>
                          </a:pPr>
                          <a:r>
                            <a:rPr lang="en-US" sz="1600" dirty="0">
                              <a:solidFill>
                                <a:srgbClr val="000000"/>
                              </a:solidFill>
                              <a:effectLst/>
                              <a:latin typeface="+mn-lt"/>
                              <a:ea typeface="Times New Roman"/>
                              <a:cs typeface="Times New Roman"/>
                            </a:rPr>
                            <a:t>For a given close-out period of</a:t>
                          </a:r>
                          <a:r>
                            <a:rPr lang="en-US" sz="1600" baseline="0" dirty="0">
                              <a:solidFill>
                                <a:srgbClr val="000000"/>
                              </a:solidFill>
                              <a:effectLst/>
                              <a:latin typeface="+mn-lt"/>
                              <a:ea typeface="Times New Roman"/>
                              <a:cs typeface="Times New Roman"/>
                            </a:rPr>
                            <a:t> length </a:t>
                          </a:r>
                          <a14:m>
                            <m:oMath xmlns:m="http://schemas.openxmlformats.org/officeDocument/2006/math">
                              <m:r>
                                <m:rPr>
                                  <m:sty m:val="p"/>
                                </m:rPr>
                                <a:rPr lang="el-GR" sz="1600" b="0" i="1" smtClean="0">
                                  <a:solidFill>
                                    <a:srgbClr val="000000"/>
                                  </a:solidFill>
                                  <a:effectLst/>
                                  <a:latin typeface="Cambria Math"/>
                                  <a:ea typeface="Cambria Math" panose="02040503050406030204" pitchFamily="18" charset="0"/>
                                  <a:cs typeface="Times New Roman"/>
                                </a:rPr>
                                <m:t>δ</m:t>
                              </m:r>
                            </m:oMath>
                          </a14:m>
                          <a:r>
                            <a:rPr lang="en-US" sz="1600" dirty="0">
                              <a:solidFill>
                                <a:srgbClr val="000000"/>
                              </a:solidFill>
                              <a:effectLst/>
                              <a:latin typeface="+mn-lt"/>
                              <a:ea typeface="Times New Roman"/>
                              <a:cs typeface="Times New Roman"/>
                            </a:rPr>
                            <a:t>, also called margin</a:t>
                          </a:r>
                          <a:r>
                            <a:rPr lang="en-US" sz="1600" baseline="0" dirty="0">
                              <a:solidFill>
                                <a:srgbClr val="000000"/>
                              </a:solidFill>
                              <a:effectLst/>
                              <a:latin typeface="+mn-lt"/>
                              <a:ea typeface="Times New Roman"/>
                              <a:cs typeface="Times New Roman"/>
                            </a:rPr>
                            <a:t> period of risk (MPR), the TCM is given by the formula on the RHS.</a:t>
                          </a:r>
                          <a:endParaRPr lang="en-US" sz="1600" dirty="0">
                            <a:solidFill>
                              <a:srgbClr val="000000"/>
                            </a:solidFill>
                            <a:effectLst/>
                            <a:latin typeface="+mn-lt"/>
                            <a:ea typeface="Times New Roman"/>
                            <a:cs typeface="Times New Roman"/>
                          </a:endParaRPr>
                        </a:p>
                      </a:txBody>
                      <a:tcPr marL="72000" marR="54667" marT="72000" marB="54000">
                        <a:solidFill>
                          <a:srgbClr val="EDD79D"/>
                        </a:solidFill>
                      </a:tcPr>
                    </a:tc>
                    <a:tc>
                      <a:txBody>
                        <a:bodyPr/>
                        <a:lstStyle/>
                        <a:p>
                          <a:pPr marL="0" lvl="0" indent="0">
                            <a:lnSpc>
                              <a:spcPts val="1400"/>
                            </a:lnSpc>
                            <a:spcAft>
                              <a:spcPts val="0"/>
                            </a:spcAft>
                            <a:buFont typeface="Frutiger 45 Light"/>
                            <a:buNone/>
                          </a:pPr>
                          <a:endParaRPr lang="en-US" sz="1800" i="1" dirty="0">
                            <a:solidFill>
                              <a:srgbClr val="000000"/>
                            </a:solidFill>
                            <a:effectLst/>
                            <a:latin typeface="Cambria Math" panose="02040503050406030204" pitchFamily="18" charset="0"/>
                            <a:ea typeface="Cambria Math" panose="02040503050406030204" pitchFamily="18" charset="0"/>
                            <a:cs typeface="Times New Roman"/>
                          </a:endParaRPr>
                        </a:p>
                        <a:p>
                          <a:pPr marL="0" lvl="0" indent="0">
                            <a:lnSpc>
                              <a:spcPts val="1400"/>
                            </a:lnSpc>
                            <a:spcAft>
                              <a:spcPts val="0"/>
                            </a:spcAft>
                            <a:buFont typeface="Frutiger 45 Light"/>
                            <a:buNone/>
                          </a:pPr>
                          <a:endParaRPr lang="en-US" sz="1800" i="1" dirty="0">
                            <a:solidFill>
                              <a:srgbClr val="000000"/>
                            </a:solidFill>
                            <a:effectLst/>
                            <a:latin typeface="Cambria Math" panose="02040503050406030204" pitchFamily="18" charset="0"/>
                            <a:ea typeface="Cambria Math" panose="02040503050406030204" pitchFamily="18" charset="0"/>
                            <a:cs typeface="Times New Roman"/>
                          </a:endParaRPr>
                        </a:p>
                        <a:p>
                          <a:pPr marL="0" lvl="0" indent="0">
                            <a:lnSpc>
                              <a:spcPts val="1400"/>
                            </a:lnSpc>
                            <a:spcAft>
                              <a:spcPts val="0"/>
                            </a:spcAft>
                            <a:buFont typeface="Frutiger 45 Light"/>
                            <a:buNone/>
                          </a:pPr>
                          <a14:m>
                            <m:oMath xmlns:m="http://schemas.openxmlformats.org/officeDocument/2006/math">
                              <m:sSub>
                                <m:sSubPr>
                                  <m:ctrlPr>
                                    <a:rPr lang="en-US" sz="1800" i="1" smtClean="0">
                                      <a:solidFill>
                                        <a:srgbClr val="000000"/>
                                      </a:solidFill>
                                      <a:effectLst/>
                                      <a:latin typeface="Cambria Math" panose="02040503050406030204" pitchFamily="18" charset="0"/>
                                      <a:ea typeface="Cambria Math" panose="02040503050406030204" pitchFamily="18" charset="0"/>
                                      <a:cs typeface="Times New Roman"/>
                                    </a:rPr>
                                  </m:ctrlPr>
                                </m:sSubPr>
                                <m:e>
                                  <m:r>
                                    <a:rPr lang="en-US" sz="1800" b="0" i="1" smtClean="0">
                                      <a:solidFill>
                                        <a:srgbClr val="000000"/>
                                      </a:solidFill>
                                      <a:effectLst/>
                                      <a:latin typeface="Cambria Math"/>
                                      <a:ea typeface="Cambria Math" panose="02040503050406030204" pitchFamily="18" charset="0"/>
                                      <a:cs typeface="Times New Roman"/>
                                    </a:rPr>
                                    <m:t>𝑇𝐶</m:t>
                                  </m:r>
                                  <m:r>
                                    <a:rPr lang="pl-PL" sz="1800" b="0" i="1" smtClean="0">
                                      <a:solidFill>
                                        <a:srgbClr val="000000"/>
                                      </a:solidFill>
                                      <a:effectLst/>
                                      <a:latin typeface="Cambria Math" panose="02040503050406030204" pitchFamily="18" charset="0"/>
                                      <a:ea typeface="Cambria Math" panose="02040503050406030204" pitchFamily="18" charset="0"/>
                                      <a:cs typeface="Times New Roman"/>
                                    </a:rPr>
                                    <m:t>𝑀</m:t>
                                  </m:r>
                                </m:e>
                                <m:sub>
                                  <m:r>
                                    <a:rPr lang="en-US" sz="1800" b="0" i="1" smtClean="0">
                                      <a:solidFill>
                                        <a:srgbClr val="000000"/>
                                      </a:solidFill>
                                      <a:effectLst/>
                                      <a:latin typeface="Cambria Math"/>
                                      <a:ea typeface="Cambria Math" panose="02040503050406030204" pitchFamily="18" charset="0"/>
                                      <a:cs typeface="Times New Roman"/>
                                    </a:rPr>
                                    <m:t>𝑡</m:t>
                                  </m:r>
                                  <m:r>
                                    <a:rPr lang="en-US" sz="1800" b="0" i="1" smtClean="0">
                                      <a:solidFill>
                                        <a:srgbClr val="000000"/>
                                      </a:solidFill>
                                      <a:effectLst/>
                                      <a:latin typeface="Cambria Math"/>
                                      <a:ea typeface="Cambria Math" panose="02040503050406030204" pitchFamily="18" charset="0"/>
                                      <a:cs typeface="Times New Roman"/>
                                    </a:rPr>
                                    <m:t>, </m:t>
                                  </m:r>
                                  <m:r>
                                    <m:rPr>
                                      <m:sty m:val="p"/>
                                    </m:rPr>
                                    <a:rPr lang="el-GR" sz="1800" b="0" i="1" smtClean="0">
                                      <a:solidFill>
                                        <a:srgbClr val="000000"/>
                                      </a:solidFill>
                                      <a:effectLst/>
                                      <a:latin typeface="Cambria Math"/>
                                      <a:ea typeface="Cambria Math" panose="02040503050406030204" pitchFamily="18" charset="0"/>
                                      <a:cs typeface="Times New Roman"/>
                                    </a:rPr>
                                    <m:t>δ</m:t>
                                  </m:r>
                                </m:sub>
                              </m:sSub>
                            </m:oMath>
                          </a14:m>
                          <a:r>
                            <a:rPr lang="en-US" sz="1800" dirty="0">
                              <a:solidFill>
                                <a:srgbClr val="000000"/>
                              </a:solidFill>
                              <a:effectLst/>
                              <a:latin typeface="Cambria Math" panose="02040503050406030204" pitchFamily="18" charset="0"/>
                              <a:ea typeface="Cambria Math" panose="02040503050406030204" pitchFamily="18" charset="0"/>
                              <a:cs typeface="Times New Roman"/>
                            </a:rPr>
                            <a:t> </a:t>
                          </a:r>
                          <a:r>
                            <a:rPr lang="pl-PL" sz="1800" dirty="0">
                              <a:solidFill>
                                <a:srgbClr val="000000"/>
                              </a:solidFill>
                              <a:effectLst/>
                              <a:latin typeface="Cambria Math" panose="02040503050406030204" pitchFamily="18" charset="0"/>
                              <a:ea typeface="Cambria Math" panose="02040503050406030204" pitchFamily="18" charset="0"/>
                              <a:cs typeface="Times New Roman"/>
                            </a:rPr>
                            <a:t>=</a:t>
                          </a:r>
                          <a:r>
                            <a:rPr lang="en-US" sz="1800" dirty="0">
                              <a:solidFill>
                                <a:srgbClr val="000000"/>
                              </a:solidFill>
                              <a:effectLst/>
                              <a:latin typeface="Cambria Math" panose="02040503050406030204" pitchFamily="18" charset="0"/>
                              <a:ea typeface="Cambria Math" panose="02040503050406030204" pitchFamily="18" charset="0"/>
                              <a:cs typeface="Times New Roman"/>
                            </a:rPr>
                            <a:t> </a:t>
                          </a:r>
                          <a14:m>
                            <m:oMath xmlns:m="http://schemas.openxmlformats.org/officeDocument/2006/math">
                              <m:sSup>
                                <m:sSupPr>
                                  <m:ctrlPr>
                                    <a:rPr lang="en-US" sz="1800" i="1" smtClean="0">
                                      <a:solidFill>
                                        <a:srgbClr val="000000"/>
                                      </a:solidFill>
                                      <a:effectLst/>
                                      <a:latin typeface="Cambria Math" panose="02040503050406030204" pitchFamily="18" charset="0"/>
                                      <a:ea typeface="Cambria Math" panose="02040503050406030204" pitchFamily="18" charset="0"/>
                                      <a:cs typeface="Times New Roman"/>
                                    </a:rPr>
                                  </m:ctrlPr>
                                </m:sSupPr>
                                <m:e>
                                  <m:r>
                                    <a:rPr lang="en-US" sz="1800" i="1" smtClean="0">
                                      <a:latin typeface="Cambria Math"/>
                                    </a:rPr>
                                    <m:t>𝔼</m:t>
                                  </m:r>
                                  <m:r>
                                    <m:rPr>
                                      <m:nor/>
                                    </m:rPr>
                                    <a:rPr lang="en-US" sz="1800" dirty="0" smtClean="0">
                                      <a:solidFill>
                                        <a:srgbClr val="000000"/>
                                      </a:solidFill>
                                      <a:effectLst/>
                                      <a:latin typeface="Cambria Math" panose="02040503050406030204" pitchFamily="18" charset="0"/>
                                      <a:ea typeface="Cambria Math" panose="02040503050406030204" pitchFamily="18" charset="0"/>
                                      <a:cs typeface="Times New Roman"/>
                                    </a:rPr>
                                    <m:t>(</m:t>
                                  </m:r>
                                  <m:r>
                                    <m:rPr>
                                      <m:nor/>
                                    </m:rPr>
                                    <a:rPr lang="pl-PL" sz="1800" b="0" i="0" dirty="0" smtClean="0">
                                      <a:solidFill>
                                        <a:srgbClr val="000000"/>
                                      </a:solidFill>
                                      <a:effectLst/>
                                      <a:latin typeface="Cambria Math" panose="02040503050406030204" pitchFamily="18" charset="0"/>
                                      <a:ea typeface="Cambria Math" panose="02040503050406030204" pitchFamily="18" charset="0"/>
                                      <a:cs typeface="Times New Roman"/>
                                    </a:rPr>
                                    <m:t>max</m:t>
                                  </m:r>
                                  <m:r>
                                    <m:rPr>
                                      <m:nor/>
                                    </m:rPr>
                                    <a:rPr lang="pl-PL" sz="1800" b="0" i="0" dirty="0" smtClean="0">
                                      <a:solidFill>
                                        <a:srgbClr val="000000"/>
                                      </a:solidFill>
                                      <a:effectLst/>
                                      <a:latin typeface="Cambria Math" panose="02040503050406030204" pitchFamily="18" charset="0"/>
                                      <a:ea typeface="Cambria Math" panose="02040503050406030204" pitchFamily="18" charset="0"/>
                                      <a:cs typeface="Times New Roman"/>
                                    </a:rPr>
                                    <m:t>(</m:t>
                                  </m:r>
                                  <m:sSub>
                                    <m:sSubPr>
                                      <m:ctrlPr>
                                        <a:rPr lang="en-US" sz="1800" i="1" dirty="0" smtClean="0">
                                          <a:solidFill>
                                            <a:srgbClr val="000000"/>
                                          </a:solidFill>
                                          <a:effectLst/>
                                          <a:latin typeface="Cambria Math" panose="02040503050406030204" pitchFamily="18" charset="0"/>
                                          <a:ea typeface="Cambria Math" panose="02040503050406030204" pitchFamily="18" charset="0"/>
                                          <a:cs typeface="Times New Roman"/>
                                        </a:rPr>
                                      </m:ctrlPr>
                                    </m:sSubPr>
                                    <m:e>
                                      <m:r>
                                        <m:rPr>
                                          <m:sty m:val="p"/>
                                        </m:rPr>
                                        <a:rPr lang="en-US" sz="1800" b="0" i="0" dirty="0" smtClean="0">
                                          <a:solidFill>
                                            <a:srgbClr val="000000"/>
                                          </a:solidFill>
                                          <a:effectLst/>
                                          <a:latin typeface="Cambria Math" panose="02040503050406030204" pitchFamily="18" charset="0"/>
                                          <a:ea typeface="Cambria Math" panose="02040503050406030204" pitchFamily="18" charset="0"/>
                                          <a:cs typeface="Times New Roman"/>
                                        </a:rPr>
                                        <m:t>V</m:t>
                                      </m:r>
                                    </m:e>
                                    <m:sub>
                                      <m:r>
                                        <a:rPr lang="en-US" sz="1800" b="0" i="1" smtClean="0">
                                          <a:solidFill>
                                            <a:srgbClr val="000000"/>
                                          </a:solidFill>
                                          <a:effectLst/>
                                          <a:latin typeface="Cambria Math"/>
                                          <a:ea typeface="Cambria Math" panose="02040503050406030204" pitchFamily="18" charset="0"/>
                                          <a:cs typeface="Times New Roman"/>
                                        </a:rPr>
                                        <m:t>𝑡</m:t>
                                      </m:r>
                                      <m:r>
                                        <a:rPr lang="en-US" sz="1800" b="0" i="1" smtClean="0">
                                          <a:solidFill>
                                            <a:srgbClr val="000000"/>
                                          </a:solidFill>
                                          <a:effectLst/>
                                          <a:latin typeface="Cambria Math"/>
                                          <a:ea typeface="Cambria Math" panose="02040503050406030204" pitchFamily="18" charset="0"/>
                                          <a:cs typeface="Times New Roman"/>
                                        </a:rPr>
                                        <m:t>, </m:t>
                                      </m:r>
                                      <m:r>
                                        <m:rPr>
                                          <m:sty m:val="p"/>
                                        </m:rPr>
                                        <a:rPr lang="el-GR" sz="1800" b="0" i="1" smtClean="0">
                                          <a:solidFill>
                                            <a:srgbClr val="000000"/>
                                          </a:solidFill>
                                          <a:effectLst/>
                                          <a:latin typeface="Cambria Math"/>
                                          <a:ea typeface="Cambria Math" panose="02040503050406030204" pitchFamily="18" charset="0"/>
                                          <a:cs typeface="Times New Roman"/>
                                        </a:rPr>
                                        <m:t>δ</m:t>
                                      </m:r>
                                    </m:sub>
                                  </m:sSub>
                                  <m:r>
                                    <a:rPr lang="en-US" sz="1800" b="0" i="1" dirty="0" smtClean="0">
                                      <a:solidFill>
                                        <a:srgbClr val="000000"/>
                                      </a:solidFill>
                                      <a:effectLst/>
                                      <a:latin typeface="Cambria Math"/>
                                      <a:ea typeface="Cambria Math" panose="02040503050406030204" pitchFamily="18" charset="0"/>
                                      <a:cs typeface="Times New Roman"/>
                                    </a:rPr>
                                    <m:t>−</m:t>
                                  </m:r>
                                  <m:r>
                                    <m:rPr>
                                      <m:nor/>
                                    </m:rPr>
                                    <a:rPr lang="en-US" sz="1800" dirty="0" smtClean="0">
                                      <a:solidFill>
                                        <a:srgbClr val="000000"/>
                                      </a:solidFill>
                                      <a:effectLst/>
                                      <a:latin typeface="Cambria Math" panose="02040503050406030204" pitchFamily="18" charset="0"/>
                                      <a:ea typeface="Cambria Math" panose="02040503050406030204" pitchFamily="18" charset="0"/>
                                      <a:cs typeface="Times New Roman"/>
                                    </a:rPr>
                                    <m:t> </m:t>
                                  </m:r>
                                  <m:sSub>
                                    <m:sSubPr>
                                      <m:ctrlPr>
                                        <a:rPr lang="en-US" sz="1800" i="1" dirty="0" smtClean="0">
                                          <a:solidFill>
                                            <a:srgbClr val="000000"/>
                                          </a:solidFill>
                                          <a:effectLst/>
                                          <a:latin typeface="Cambria Math" panose="02040503050406030204" pitchFamily="18" charset="0"/>
                                          <a:ea typeface="Cambria Math" panose="02040503050406030204" pitchFamily="18" charset="0"/>
                                          <a:cs typeface="Times New Roman"/>
                                        </a:rPr>
                                      </m:ctrlPr>
                                    </m:sSubPr>
                                    <m:e>
                                      <m:r>
                                        <m:rPr>
                                          <m:sty m:val="p"/>
                                        </m:rPr>
                                        <a:rPr lang="en-US" sz="1800" b="0" i="0" dirty="0" smtClean="0">
                                          <a:solidFill>
                                            <a:srgbClr val="000000"/>
                                          </a:solidFill>
                                          <a:effectLst/>
                                          <a:latin typeface="Cambria Math"/>
                                          <a:ea typeface="Cambria Math" panose="02040503050406030204" pitchFamily="18" charset="0"/>
                                          <a:cs typeface="Times New Roman"/>
                                        </a:rPr>
                                        <m:t>V</m:t>
                                      </m:r>
                                    </m:e>
                                    <m:sub>
                                      <m:r>
                                        <m:rPr>
                                          <m:sty m:val="p"/>
                                        </m:rPr>
                                        <a:rPr lang="en-US" sz="1800" b="0" i="0" dirty="0" smtClean="0">
                                          <a:solidFill>
                                            <a:srgbClr val="000000"/>
                                          </a:solidFill>
                                          <a:effectLst/>
                                          <a:latin typeface="Cambria Math" panose="02040503050406030204" pitchFamily="18" charset="0"/>
                                          <a:ea typeface="Cambria Math" panose="02040503050406030204" pitchFamily="18" charset="0"/>
                                          <a:cs typeface="Times New Roman"/>
                                        </a:rPr>
                                        <m:t>t</m:t>
                                      </m:r>
                                    </m:sub>
                                  </m:sSub>
                                  <m:r>
                                    <a:rPr lang="pl-PL" sz="1800" b="0" i="1" dirty="0" smtClean="0">
                                      <a:solidFill>
                                        <a:srgbClr val="000000"/>
                                      </a:solidFill>
                                      <a:effectLst/>
                                      <a:latin typeface="Cambria Math" panose="02040503050406030204" pitchFamily="18" charset="0"/>
                                      <a:ea typeface="Cambria Math" panose="02040503050406030204" pitchFamily="18" charset="0"/>
                                      <a:cs typeface="Times New Roman"/>
                                    </a:rPr>
                                    <m:t>,0</m:t>
                                  </m:r>
                                  <m:r>
                                    <a:rPr lang="en-US" sz="1800" b="0" i="1" dirty="0" smtClean="0">
                                      <a:solidFill>
                                        <a:srgbClr val="000000"/>
                                      </a:solidFill>
                                      <a:effectLst/>
                                      <a:latin typeface="Cambria Math"/>
                                      <a:ea typeface="Cambria Math" panose="02040503050406030204" pitchFamily="18" charset="0"/>
                                      <a:cs typeface="Times New Roman"/>
                                    </a:rPr>
                                    <m:t> )</m:t>
                                  </m:r>
                                </m:e>
                                <m:sup>
                                  <m:r>
                                    <a:rPr lang="en-US" sz="1800" b="0" i="1" smtClean="0">
                                      <a:solidFill>
                                        <a:srgbClr val="000000"/>
                                      </a:solidFill>
                                      <a:effectLst/>
                                      <a:latin typeface="Cambria Math"/>
                                      <a:ea typeface="Cambria Math" panose="02040503050406030204" pitchFamily="18" charset="0"/>
                                      <a:cs typeface="Times New Roman"/>
                                    </a:rPr>
                                    <m:t>+</m:t>
                                  </m:r>
                                </m:sup>
                              </m:sSup>
                            </m:oMath>
                          </a14:m>
                          <a:endParaRPr lang="en-US" sz="1800" dirty="0">
                            <a:solidFill>
                              <a:srgbClr val="000000"/>
                            </a:solidFill>
                            <a:effectLst/>
                            <a:latin typeface="Cambria Math" panose="02040503050406030204" pitchFamily="18" charset="0"/>
                            <a:ea typeface="Cambria Math" panose="02040503050406030204" pitchFamily="18" charset="0"/>
                            <a:cs typeface="Times New Roman"/>
                          </a:endParaRPr>
                        </a:p>
                      </a:txBody>
                      <a:tcPr marL="72000" marR="54667" marT="72000" marB="54000">
                        <a:solidFill>
                          <a:srgbClr val="EDD79D"/>
                        </a:solidFill>
                      </a:tcPr>
                    </a:tc>
                    <a:extLst>
                      <a:ext uri="{0D108BD9-81ED-4DB2-BD59-A6C34878D82A}">
                        <a16:rowId xmlns:a16="http://schemas.microsoft.com/office/drawing/2014/main" val="10004"/>
                      </a:ext>
                    </a:extLst>
                  </a:tr>
                </a:tbl>
              </a:graphicData>
            </a:graphic>
          </p:graphicFrame>
        </mc:Choice>
        <mc:Fallback xmlns="">
          <p:graphicFrame>
            <p:nvGraphicFramePr>
              <p:cNvPr id="6" name="Table 5"/>
              <p:cNvGraphicFramePr>
                <a:graphicFrameLocks noGrp="1"/>
              </p:cNvGraphicFramePr>
              <p:nvPr>
                <p:extLst>
                  <p:ext uri="{D42A27DB-BD31-4B8C-83A1-F6EECF244321}">
                    <p14:modId xmlns:p14="http://schemas.microsoft.com/office/powerpoint/2010/main" val="1907738640"/>
                  </p:ext>
                </p:extLst>
              </p:nvPr>
            </p:nvGraphicFramePr>
            <p:xfrm>
              <a:off x="420688" y="1855789"/>
              <a:ext cx="8820435" cy="4212818"/>
            </p:xfrm>
            <a:graphic>
              <a:graphicData uri="http://schemas.openxmlformats.org/drawingml/2006/table">
                <a:tbl>
                  <a:tblPr firstRow="1" firstCol="1" bandRow="1">
                    <a:tableStyleId>{21E4AEA4-8DFA-4A89-87EB-49C32662AFE0}</a:tableStyleId>
                  </a:tblPr>
                  <a:tblGrid>
                    <a:gridCol w="1236096">
                      <a:extLst>
                        <a:ext uri="{9D8B030D-6E8A-4147-A177-3AD203B41FA5}">
                          <a16:colId xmlns:a16="http://schemas.microsoft.com/office/drawing/2014/main" val="20000"/>
                        </a:ext>
                      </a:extLst>
                    </a:gridCol>
                    <a:gridCol w="4074060">
                      <a:extLst>
                        <a:ext uri="{9D8B030D-6E8A-4147-A177-3AD203B41FA5}">
                          <a16:colId xmlns:a16="http://schemas.microsoft.com/office/drawing/2014/main" val="20001"/>
                        </a:ext>
                      </a:extLst>
                    </a:gridCol>
                    <a:gridCol w="3510279">
                      <a:extLst>
                        <a:ext uri="{9D8B030D-6E8A-4147-A177-3AD203B41FA5}">
                          <a16:colId xmlns:a16="http://schemas.microsoft.com/office/drawing/2014/main" val="20002"/>
                        </a:ext>
                      </a:extLst>
                    </a:gridCol>
                  </a:tblGrid>
                  <a:tr h="376614">
                    <a:tc>
                      <a:txBody>
                        <a:bodyPr/>
                        <a:lstStyle/>
                        <a:p>
                          <a:pPr>
                            <a:lnSpc>
                              <a:spcPts val="1400"/>
                            </a:lnSpc>
                            <a:spcAft>
                              <a:spcPts val="0"/>
                            </a:spcAft>
                          </a:pPr>
                          <a:r>
                            <a:rPr lang="de-CH" sz="1600" dirty="0">
                              <a:solidFill>
                                <a:srgbClr val="FFFFFF"/>
                              </a:solidFill>
                              <a:effectLst/>
                            </a:rPr>
                            <a:t>Profile</a:t>
                          </a:r>
                          <a:endParaRPr lang="en-US" sz="1600" b="1" dirty="0">
                            <a:solidFill>
                              <a:srgbClr val="FFFFFF"/>
                            </a:solidFill>
                            <a:effectLst/>
                            <a:latin typeface="Frutiger 45 Light" panose="020B0603020202020204" pitchFamily="34" charset="0"/>
                            <a:ea typeface="Times New Roman"/>
                            <a:cs typeface="Times New Roman"/>
                          </a:endParaRPr>
                        </a:p>
                      </a:txBody>
                      <a:tcPr marL="72000" marR="54667" marT="72000" marB="54000" anchor="ctr">
                        <a:solidFill>
                          <a:srgbClr val="DFAD22"/>
                        </a:solidFill>
                      </a:tcPr>
                    </a:tc>
                    <a:tc>
                      <a:txBody>
                        <a:bodyPr/>
                        <a:lstStyle/>
                        <a:p>
                          <a:pPr>
                            <a:lnSpc>
                              <a:spcPts val="1400"/>
                            </a:lnSpc>
                            <a:spcAft>
                              <a:spcPts val="0"/>
                            </a:spcAft>
                          </a:pPr>
                          <a:r>
                            <a:rPr lang="en-US" sz="1600" dirty="0">
                              <a:solidFill>
                                <a:srgbClr val="000000"/>
                              </a:solidFill>
                              <a:effectLst/>
                              <a:latin typeface="+mn-lt"/>
                              <a:ea typeface="+mn-ea"/>
                              <a:cs typeface="+mn-cs"/>
                            </a:rPr>
                            <a:t>Description</a:t>
                          </a:r>
                          <a:endParaRPr lang="en-US" sz="1600" dirty="0">
                            <a:solidFill>
                              <a:srgbClr val="000000"/>
                            </a:solidFill>
                            <a:effectLst/>
                            <a:latin typeface="Frutiger 45 Light" panose="020B0603020202020204" pitchFamily="34" charset="0"/>
                            <a:ea typeface="Times New Roman"/>
                            <a:cs typeface="Times New Roman"/>
                          </a:endParaRPr>
                        </a:p>
                      </a:txBody>
                      <a:tcPr marL="72000" marR="54667" marT="72000" marB="54000" anchor="ctr">
                        <a:solidFill>
                          <a:srgbClr val="EDD79D"/>
                        </a:solidFill>
                      </a:tcPr>
                    </a:tc>
                    <a:tc>
                      <a:txBody>
                        <a:bodyPr/>
                        <a:lstStyle/>
                        <a:p>
                          <a:pPr>
                            <a:lnSpc>
                              <a:spcPts val="1400"/>
                            </a:lnSpc>
                            <a:spcAft>
                              <a:spcPts val="0"/>
                            </a:spcAft>
                          </a:pPr>
                          <a:r>
                            <a:rPr lang="en-US" sz="1600" dirty="0">
                              <a:solidFill>
                                <a:srgbClr val="000000"/>
                              </a:solidFill>
                              <a:effectLst/>
                              <a:latin typeface="Frutiger 45 Light" panose="020B0603020202020204" pitchFamily="34" charset="0"/>
                              <a:ea typeface="Times New Roman"/>
                              <a:cs typeface="Times New Roman"/>
                            </a:rPr>
                            <a:t>How</a:t>
                          </a:r>
                          <a:r>
                            <a:rPr lang="en-US" sz="1600" baseline="0" dirty="0">
                              <a:solidFill>
                                <a:srgbClr val="000000"/>
                              </a:solidFill>
                              <a:effectLst/>
                              <a:latin typeface="Frutiger 45 Light" panose="020B0603020202020204" pitchFamily="34" charset="0"/>
                              <a:ea typeface="Times New Roman"/>
                              <a:cs typeface="Times New Roman"/>
                            </a:rPr>
                            <a:t> to compute</a:t>
                          </a:r>
                          <a:endParaRPr lang="en-US" sz="1600" dirty="0">
                            <a:solidFill>
                              <a:srgbClr val="000000"/>
                            </a:solidFill>
                            <a:effectLst/>
                            <a:latin typeface="Frutiger 45 Light" panose="020B0603020202020204" pitchFamily="34" charset="0"/>
                            <a:ea typeface="Times New Roman"/>
                            <a:cs typeface="Times New Roman"/>
                          </a:endParaRPr>
                        </a:p>
                      </a:txBody>
                      <a:tcPr marL="72000" marR="54667" marT="72000" marB="54000" anchor="ctr">
                        <a:solidFill>
                          <a:srgbClr val="EDD79D"/>
                        </a:solidFill>
                      </a:tcPr>
                    </a:tc>
                    <a:extLst>
                      <a:ext uri="{0D108BD9-81ED-4DB2-BD59-A6C34878D82A}">
                        <a16:rowId xmlns:a16="http://schemas.microsoft.com/office/drawing/2014/main" val="10000"/>
                      </a:ext>
                    </a:extLst>
                  </a:tr>
                  <a:tr h="872936">
                    <a:tc>
                      <a:txBody>
                        <a:bodyPr/>
                        <a:lstStyle/>
                        <a:p>
                          <a:endParaRPr lang="en-US"/>
                        </a:p>
                      </a:txBody>
                      <a:tcPr marL="72000" marR="54667" marT="72000" marB="54000">
                        <a:blipFill>
                          <a:blip r:embed="rId5"/>
                          <a:stretch>
                            <a:fillRect l="-985" t="-45455" r="-615271" b="-341958"/>
                          </a:stretch>
                        </a:blipFill>
                      </a:tcPr>
                    </a:tc>
                    <a:tc>
                      <a:txBody>
                        <a:bodyPr/>
                        <a:lstStyle/>
                        <a:p>
                          <a:pPr>
                            <a:lnSpc>
                              <a:spcPts val="1400"/>
                            </a:lnSpc>
                            <a:spcAft>
                              <a:spcPts val="0"/>
                            </a:spcAft>
                          </a:pPr>
                          <a:r>
                            <a:rPr lang="en-US" sz="1600" i="0" dirty="0">
                              <a:solidFill>
                                <a:srgbClr val="000000"/>
                              </a:solidFill>
                              <a:effectLst/>
                              <a:latin typeface="+mn-lt"/>
                              <a:ea typeface="Times New Roman"/>
                              <a:cs typeface="Times New Roman"/>
                            </a:rPr>
                            <a:t>Expected Exposure:</a:t>
                          </a:r>
                        </a:p>
                        <a:p>
                          <a:pPr>
                            <a:lnSpc>
                              <a:spcPts val="1400"/>
                            </a:lnSpc>
                            <a:spcAft>
                              <a:spcPts val="0"/>
                            </a:spcAft>
                          </a:pPr>
                          <a:endParaRPr lang="en-US" sz="1600" i="0" dirty="0">
                            <a:solidFill>
                              <a:srgbClr val="000000"/>
                            </a:solidFill>
                            <a:effectLst/>
                            <a:latin typeface="+mn-lt"/>
                            <a:ea typeface="Times New Roman"/>
                            <a:cs typeface="Times New Roman"/>
                          </a:endParaRPr>
                        </a:p>
                        <a:p>
                          <a:pPr>
                            <a:lnSpc>
                              <a:spcPts val="1400"/>
                            </a:lnSpc>
                            <a:spcAft>
                              <a:spcPts val="0"/>
                            </a:spcAft>
                          </a:pPr>
                          <a:r>
                            <a:rPr lang="en-US" sz="1600" i="0" dirty="0">
                              <a:solidFill>
                                <a:srgbClr val="000000"/>
                              </a:solidFill>
                              <a:effectLst/>
                              <a:latin typeface="+mn-lt"/>
                              <a:ea typeface="Times New Roman"/>
                              <a:cs typeface="Times New Roman"/>
                            </a:rPr>
                            <a:t>Expectation</a:t>
                          </a:r>
                          <a:r>
                            <a:rPr lang="en-US" sz="1600" i="0" baseline="0" dirty="0">
                              <a:solidFill>
                                <a:srgbClr val="000000"/>
                              </a:solidFill>
                              <a:effectLst/>
                              <a:latin typeface="+mn-lt"/>
                              <a:ea typeface="Times New Roman"/>
                              <a:cs typeface="Times New Roman"/>
                            </a:rPr>
                            <a:t> of the port</a:t>
                          </a:r>
                          <a:r>
                            <a:rPr lang="pl-PL" sz="1600" i="0" baseline="0" dirty="0">
                              <a:solidFill>
                                <a:srgbClr val="000000"/>
                              </a:solidFill>
                              <a:effectLst/>
                              <a:latin typeface="+mn-lt"/>
                              <a:ea typeface="Times New Roman"/>
                              <a:cs typeface="Times New Roman"/>
                            </a:rPr>
                            <a:t>f</a:t>
                          </a:r>
                          <a:r>
                            <a:rPr lang="en-US" sz="1600" i="0" baseline="0" dirty="0">
                              <a:solidFill>
                                <a:srgbClr val="000000"/>
                              </a:solidFill>
                              <a:effectLst/>
                              <a:latin typeface="+mn-lt"/>
                              <a:ea typeface="Times New Roman"/>
                              <a:cs typeface="Times New Roman"/>
                            </a:rPr>
                            <a:t>olio value floored at zero.</a:t>
                          </a:r>
                          <a:endParaRPr lang="en-US" sz="1600" i="0" dirty="0">
                            <a:solidFill>
                              <a:srgbClr val="000000"/>
                            </a:solidFill>
                            <a:effectLst/>
                            <a:latin typeface="+mn-lt"/>
                            <a:ea typeface="Times New Roman"/>
                            <a:cs typeface="Times New Roman"/>
                          </a:endParaRPr>
                        </a:p>
                      </a:txBody>
                      <a:tcPr marL="72000" marR="54667" marT="72000" marB="54000">
                        <a:solidFill>
                          <a:srgbClr val="EDD79D"/>
                        </a:solidFill>
                      </a:tcPr>
                    </a:tc>
                    <a:tc>
                      <a:txBody>
                        <a:bodyPr/>
                        <a:lstStyle/>
                        <a:p>
                          <a:endParaRPr lang="en-US"/>
                        </a:p>
                      </a:txBody>
                      <a:tcPr marL="72000" marR="54667" marT="72000" marB="54000">
                        <a:blipFill>
                          <a:blip r:embed="rId5"/>
                          <a:stretch>
                            <a:fillRect l="-151563" t="-45455" r="-868" b="-341958"/>
                          </a:stretch>
                        </a:blipFill>
                      </a:tcPr>
                    </a:tc>
                    <a:extLst>
                      <a:ext uri="{0D108BD9-81ED-4DB2-BD59-A6C34878D82A}">
                        <a16:rowId xmlns:a16="http://schemas.microsoft.com/office/drawing/2014/main" val="10001"/>
                      </a:ext>
                    </a:extLst>
                  </a:tr>
                  <a:tr h="844757">
                    <a:tc>
                      <a:txBody>
                        <a:bodyPr/>
                        <a:lstStyle/>
                        <a:p>
                          <a:endParaRPr lang="en-US"/>
                        </a:p>
                      </a:txBody>
                      <a:tcPr marL="72000" marR="54667" marT="72000" marB="54000">
                        <a:blipFill>
                          <a:blip r:embed="rId5"/>
                          <a:stretch>
                            <a:fillRect l="-985" t="-149640" r="-615271" b="-251799"/>
                          </a:stretch>
                        </a:blipFill>
                      </a:tcPr>
                    </a:tc>
                    <a:tc>
                      <a:txBody>
                        <a:bodyPr/>
                        <a:lstStyle/>
                        <a:p>
                          <a:pPr marL="0" lvl="0" indent="0">
                            <a:lnSpc>
                              <a:spcPts val="1400"/>
                            </a:lnSpc>
                            <a:spcAft>
                              <a:spcPts val="0"/>
                            </a:spcAft>
                            <a:buFont typeface="Frutiger 45 Light"/>
                            <a:buNone/>
                          </a:pPr>
                          <a:r>
                            <a:rPr lang="en-US" sz="1600" dirty="0">
                              <a:solidFill>
                                <a:srgbClr val="000000"/>
                              </a:solidFill>
                              <a:effectLst/>
                              <a:latin typeface="+mn-lt"/>
                              <a:ea typeface="Times New Roman"/>
                              <a:cs typeface="Times New Roman"/>
                            </a:rPr>
                            <a:t>Potential Future Exposure:</a:t>
                          </a:r>
                        </a:p>
                        <a:p>
                          <a:pPr marL="0" lvl="0" indent="0">
                            <a:lnSpc>
                              <a:spcPts val="1400"/>
                            </a:lnSpc>
                            <a:spcAft>
                              <a:spcPts val="0"/>
                            </a:spcAft>
                            <a:buFont typeface="Frutiger 45 Light"/>
                            <a:buNone/>
                          </a:pPr>
                          <a:endParaRPr lang="en-US" sz="1600" dirty="0">
                            <a:solidFill>
                              <a:srgbClr val="000000"/>
                            </a:solidFill>
                            <a:effectLst/>
                            <a:latin typeface="+mn-lt"/>
                            <a:ea typeface="Times New Roman"/>
                            <a:cs typeface="Times New Roman"/>
                          </a:endParaRPr>
                        </a:p>
                        <a:p>
                          <a:pPr marL="0" lvl="0" indent="0">
                            <a:lnSpc>
                              <a:spcPts val="1400"/>
                            </a:lnSpc>
                            <a:spcAft>
                              <a:spcPts val="0"/>
                            </a:spcAft>
                            <a:buFont typeface="Frutiger 45 Light"/>
                            <a:buNone/>
                          </a:pPr>
                          <a:r>
                            <a:rPr lang="en-US" sz="1600" dirty="0">
                              <a:solidFill>
                                <a:srgbClr val="000000"/>
                              </a:solidFill>
                              <a:effectLst/>
                              <a:latin typeface="+mn-lt"/>
                              <a:ea typeface="Times New Roman"/>
                              <a:cs typeface="Times New Roman"/>
                            </a:rPr>
                            <a:t>97.5% quantile</a:t>
                          </a:r>
                          <a:r>
                            <a:rPr lang="en-US" sz="1600" baseline="0" dirty="0">
                              <a:solidFill>
                                <a:srgbClr val="000000"/>
                              </a:solidFill>
                              <a:effectLst/>
                              <a:latin typeface="+mn-lt"/>
                              <a:ea typeface="Times New Roman"/>
                              <a:cs typeface="Times New Roman"/>
                            </a:rPr>
                            <a:t> of the portfolio value at time t</a:t>
                          </a:r>
                          <a:endParaRPr lang="en-US" sz="1600" dirty="0">
                            <a:solidFill>
                              <a:srgbClr val="000000"/>
                            </a:solidFill>
                            <a:effectLst/>
                            <a:latin typeface="+mn-lt"/>
                            <a:ea typeface="Times New Roman"/>
                            <a:cs typeface="Times New Roman"/>
                          </a:endParaRPr>
                        </a:p>
                      </a:txBody>
                      <a:tcPr marL="72000" marR="54667" marT="72000" marB="54000">
                        <a:solidFill>
                          <a:srgbClr val="EDD79D"/>
                        </a:solidFill>
                      </a:tcPr>
                    </a:tc>
                    <a:tc>
                      <a:txBody>
                        <a:bodyPr/>
                        <a:lstStyle/>
                        <a:p>
                          <a:endParaRPr lang="en-US"/>
                        </a:p>
                      </a:txBody>
                      <a:tcPr marL="72000" marR="54667" marT="72000" marB="54000">
                        <a:blipFill>
                          <a:blip r:embed="rId5"/>
                          <a:stretch>
                            <a:fillRect l="-151563" t="-149640" r="-868" b="-251799"/>
                          </a:stretch>
                        </a:blipFill>
                      </a:tcPr>
                    </a:tc>
                    <a:extLst>
                      <a:ext uri="{0D108BD9-81ED-4DB2-BD59-A6C34878D82A}">
                        <a16:rowId xmlns:a16="http://schemas.microsoft.com/office/drawing/2014/main" val="10002"/>
                      </a:ext>
                    </a:extLst>
                  </a:tr>
                  <a:tr h="858245">
                    <a:tc>
                      <a:txBody>
                        <a:bodyPr/>
                        <a:lstStyle/>
                        <a:p>
                          <a:endParaRPr lang="en-US"/>
                        </a:p>
                      </a:txBody>
                      <a:tcPr marL="72000" marR="54667" marT="72000" marB="54000">
                        <a:blipFill>
                          <a:blip r:embed="rId5"/>
                          <a:stretch>
                            <a:fillRect l="-985" t="-246099" r="-615271" b="-148227"/>
                          </a:stretch>
                        </a:blipFill>
                      </a:tcPr>
                    </a:tc>
                    <a:tc>
                      <a:txBody>
                        <a:bodyPr/>
                        <a:lstStyle/>
                        <a:p>
                          <a:endParaRPr lang="en-US"/>
                        </a:p>
                      </a:txBody>
                      <a:tcPr marL="72000" marR="54667" marT="72000" marB="54000">
                        <a:blipFill>
                          <a:blip r:embed="rId5"/>
                          <a:stretch>
                            <a:fillRect l="-30689" t="-246099" r="-86976" b="-148227"/>
                          </a:stretch>
                        </a:blipFill>
                      </a:tcPr>
                    </a:tc>
                    <a:tc>
                      <a:txBody>
                        <a:bodyPr/>
                        <a:lstStyle/>
                        <a:p>
                          <a:endParaRPr lang="en-US"/>
                        </a:p>
                      </a:txBody>
                      <a:tcPr marL="72000" marR="54667" marT="72000" marB="54000">
                        <a:blipFill>
                          <a:blip r:embed="rId5"/>
                          <a:stretch>
                            <a:fillRect l="-151563" t="-246099" r="-868" b="-148227"/>
                          </a:stretch>
                        </a:blipFill>
                      </a:tcPr>
                    </a:tc>
                    <a:extLst>
                      <a:ext uri="{0D108BD9-81ED-4DB2-BD59-A6C34878D82A}">
                        <a16:rowId xmlns:a16="http://schemas.microsoft.com/office/drawing/2014/main" val="10003"/>
                      </a:ext>
                    </a:extLst>
                  </a:tr>
                  <a:tr h="1260266">
                    <a:tc>
                      <a:txBody>
                        <a:bodyPr/>
                        <a:lstStyle/>
                        <a:p>
                          <a:endParaRPr lang="en-US"/>
                        </a:p>
                      </a:txBody>
                      <a:tcPr marL="72000" marR="54667" marT="72000" marB="54000">
                        <a:blipFill>
                          <a:blip r:embed="rId5"/>
                          <a:stretch>
                            <a:fillRect l="-985" t="-235749" r="-615271" b="-966"/>
                          </a:stretch>
                        </a:blipFill>
                      </a:tcPr>
                    </a:tc>
                    <a:tc>
                      <a:txBody>
                        <a:bodyPr/>
                        <a:lstStyle/>
                        <a:p>
                          <a:endParaRPr lang="en-US"/>
                        </a:p>
                      </a:txBody>
                      <a:tcPr marL="72000" marR="54667" marT="72000" marB="54000">
                        <a:blipFill>
                          <a:blip r:embed="rId5"/>
                          <a:stretch>
                            <a:fillRect l="-30689" t="-235749" r="-86976" b="-966"/>
                          </a:stretch>
                        </a:blipFill>
                      </a:tcPr>
                    </a:tc>
                    <a:tc>
                      <a:txBody>
                        <a:bodyPr/>
                        <a:lstStyle/>
                        <a:p>
                          <a:endParaRPr lang="en-US"/>
                        </a:p>
                      </a:txBody>
                      <a:tcPr marL="72000" marR="54667" marT="72000" marB="54000">
                        <a:blipFill>
                          <a:blip r:embed="rId5"/>
                          <a:stretch>
                            <a:fillRect l="-151563" t="-235749" r="-868" b="-966"/>
                          </a:stretch>
                        </a:blipFill>
                      </a:tcPr>
                    </a:tc>
                    <a:extLst>
                      <a:ext uri="{0D108BD9-81ED-4DB2-BD59-A6C34878D82A}">
                        <a16:rowId xmlns:a16="http://schemas.microsoft.com/office/drawing/2014/main" val="10004"/>
                      </a:ext>
                    </a:extLst>
                  </a:tr>
                </a:tbl>
              </a:graphicData>
            </a:graphic>
          </p:graphicFrame>
        </mc:Fallback>
      </mc:AlternateContent>
    </p:spTree>
    <p:custDataLst>
      <p:tags r:id="rId1"/>
    </p:custDataLst>
    <p:extLst>
      <p:ext uri="{BB962C8B-B14F-4D97-AF65-F5344CB8AC3E}">
        <p14:creationId xmlns:p14="http://schemas.microsoft.com/office/powerpoint/2010/main" val="27992626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AYOUT BODY"/>
          <p:cNvSpPr>
            <a:spLocks noGrp="1"/>
          </p:cNvSpPr>
          <p:nvPr>
            <p:ph idx="1"/>
            <p:custDataLst>
              <p:tags r:id="rId2"/>
            </p:custDataLst>
          </p:nvPr>
        </p:nvSpPr>
        <p:spPr>
          <a:xfrm>
            <a:off x="420624" y="1240222"/>
            <a:ext cx="9189720" cy="5154566"/>
          </a:xfrm>
        </p:spPr>
        <p:txBody>
          <a:bodyPr/>
          <a:lstStyle/>
          <a:p>
            <a:pPr marL="0" lvl="1" indent="0">
              <a:spcBef>
                <a:spcPts val="1400"/>
              </a:spcBef>
              <a:buClr>
                <a:schemeClr val="tx2"/>
              </a:buClr>
              <a:buSzPct val="100000"/>
              <a:buNone/>
            </a:pPr>
            <a:r>
              <a:rPr lang="en-GB" sz="1800" dirty="0">
                <a:latin typeface="Frutiger 45 Light" panose="020B0603020202020204" pitchFamily="34" charset="0"/>
              </a:rPr>
              <a:t>We can simulate the evolution of the portfolio value over time</a:t>
            </a:r>
          </a:p>
          <a:p>
            <a:pPr marL="234950" lvl="1" indent="-234950">
              <a:spcBef>
                <a:spcPts val="1400"/>
              </a:spcBef>
              <a:buClr>
                <a:schemeClr val="tx2"/>
              </a:buClr>
              <a:buSzPct val="100000"/>
              <a:buFont typeface="Symbol" pitchFamily="18" charset="2"/>
              <a:buChar char="·"/>
            </a:pPr>
            <a:endParaRPr lang="en-GB" dirty="0">
              <a:latin typeface="Frutiger 45 Light" panose="020B0603020202020204" pitchFamily="34" charset="0"/>
            </a:endParaRPr>
          </a:p>
          <a:p>
            <a:pPr marL="234950" lvl="1" indent="-234950">
              <a:spcBef>
                <a:spcPts val="1400"/>
              </a:spcBef>
              <a:buClr>
                <a:schemeClr val="tx2"/>
              </a:buClr>
              <a:buSzPct val="100000"/>
              <a:buFont typeface="Symbol" pitchFamily="18" charset="2"/>
              <a:buChar char="·"/>
            </a:pPr>
            <a:endParaRPr lang="en-GB" dirty="0">
              <a:latin typeface="Frutiger 45 Light" panose="020B0603020202020204" pitchFamily="34" charset="0"/>
            </a:endParaRPr>
          </a:p>
          <a:p>
            <a:pPr marL="234950" lvl="1" indent="-234950">
              <a:spcBef>
                <a:spcPts val="1400"/>
              </a:spcBef>
              <a:buClr>
                <a:schemeClr val="tx2"/>
              </a:buClr>
              <a:buSzPct val="100000"/>
              <a:buFont typeface="Symbol" pitchFamily="18" charset="2"/>
              <a:buChar char="·"/>
            </a:pPr>
            <a:endParaRPr lang="en-GB" dirty="0">
              <a:latin typeface="Frutiger 45 Light" panose="020B0603020202020204" pitchFamily="34" charset="0"/>
            </a:endParaRPr>
          </a:p>
          <a:p>
            <a:pPr marL="234950" lvl="1" indent="-234950">
              <a:spcBef>
                <a:spcPts val="1400"/>
              </a:spcBef>
              <a:buClr>
                <a:schemeClr val="tx2"/>
              </a:buClr>
              <a:buSzPct val="100000"/>
              <a:buFont typeface="Symbol" pitchFamily="18" charset="2"/>
              <a:buChar char="·"/>
            </a:pPr>
            <a:endParaRPr lang="en-GB" dirty="0">
              <a:latin typeface="Frutiger 45 Light" panose="020B0603020202020204" pitchFamily="34" charset="0"/>
            </a:endParaRPr>
          </a:p>
          <a:p>
            <a:pPr marL="234950" lvl="1" indent="-234950">
              <a:spcBef>
                <a:spcPts val="1400"/>
              </a:spcBef>
              <a:buClr>
                <a:schemeClr val="tx2"/>
              </a:buClr>
              <a:buSzPct val="100000"/>
              <a:buFont typeface="Symbol" pitchFamily="18" charset="2"/>
              <a:buChar char="·"/>
            </a:pPr>
            <a:endParaRPr lang="en-GB" dirty="0">
              <a:latin typeface="Frutiger 45 Light" panose="020B0603020202020204" pitchFamily="34" charset="0"/>
            </a:endParaRPr>
          </a:p>
          <a:p>
            <a:pPr marL="234950" lvl="1" indent="-234950">
              <a:spcBef>
                <a:spcPts val="1400"/>
              </a:spcBef>
              <a:buClr>
                <a:schemeClr val="tx2"/>
              </a:buClr>
              <a:buSzPct val="100000"/>
              <a:buFont typeface="Symbol" pitchFamily="18" charset="2"/>
              <a:buChar char="·"/>
            </a:pPr>
            <a:endParaRPr lang="en-GB" dirty="0">
              <a:latin typeface="Frutiger 45 Light" panose="020B0603020202020204" pitchFamily="34" charset="0"/>
            </a:endParaRPr>
          </a:p>
          <a:p>
            <a:pPr marL="234950" lvl="1" indent="-234950">
              <a:spcBef>
                <a:spcPts val="1400"/>
              </a:spcBef>
              <a:buClr>
                <a:schemeClr val="tx2"/>
              </a:buClr>
              <a:buSzPct val="100000"/>
              <a:buFont typeface="Symbol" pitchFamily="18" charset="2"/>
              <a:buChar char="·"/>
            </a:pPr>
            <a:endParaRPr lang="en-GB" dirty="0">
              <a:latin typeface="Frutiger 45 Light" panose="020B0603020202020204" pitchFamily="34" charset="0"/>
            </a:endParaRPr>
          </a:p>
          <a:p>
            <a:pPr marL="234950" lvl="1" indent="-234950">
              <a:spcBef>
                <a:spcPts val="1400"/>
              </a:spcBef>
              <a:buClr>
                <a:schemeClr val="tx2"/>
              </a:buClr>
              <a:buSzPct val="100000"/>
              <a:buFont typeface="Symbol" pitchFamily="18" charset="2"/>
              <a:buChar char="·"/>
            </a:pPr>
            <a:endParaRPr lang="en-GB" dirty="0">
              <a:latin typeface="Frutiger 45 Light" panose="020B0603020202020204" pitchFamily="34" charset="0"/>
            </a:endParaRPr>
          </a:p>
          <a:p>
            <a:endParaRPr lang="en-US" dirty="0">
              <a:latin typeface="Frutiger 45 Light" panose="020B0603020202020204" pitchFamily="34" charset="0"/>
            </a:endParaRPr>
          </a:p>
        </p:txBody>
      </p:sp>
      <p:sp>
        <p:nvSpPr>
          <p:cNvPr id="3" name="PAGE HEADING"/>
          <p:cNvSpPr>
            <a:spLocks noGrp="1"/>
          </p:cNvSpPr>
          <p:nvPr>
            <p:ph type="title"/>
            <p:custDataLst>
              <p:tags r:id="rId3"/>
            </p:custDataLst>
          </p:nvPr>
        </p:nvSpPr>
        <p:spPr/>
        <p:txBody>
          <a:bodyPr>
            <a:normAutofit/>
          </a:bodyPr>
          <a:lstStyle/>
          <a:p>
            <a:r>
              <a:rPr lang="en-US" dirty="0"/>
              <a:t>Modelling Counterparty Credit Risk</a:t>
            </a:r>
          </a:p>
        </p:txBody>
      </p:sp>
      <p:pic>
        <p:nvPicPr>
          <p:cNvPr id="5"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89444" y="2217239"/>
            <a:ext cx="7323316" cy="359540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6" name="Group 5"/>
          <p:cNvGrpSpPr/>
          <p:nvPr/>
        </p:nvGrpSpPr>
        <p:grpSpPr>
          <a:xfrm>
            <a:off x="323363" y="2401563"/>
            <a:ext cx="1863342" cy="2332948"/>
            <a:chOff x="-267405" y="1981284"/>
            <a:chExt cx="1863342" cy="2332948"/>
          </a:xfrm>
        </p:grpSpPr>
        <p:sp>
          <p:nvSpPr>
            <p:cNvPr id="7" name="TextBox 6"/>
            <p:cNvSpPr txBox="1"/>
            <p:nvPr/>
          </p:nvSpPr>
          <p:spPr>
            <a:xfrm>
              <a:off x="-267405" y="1981284"/>
              <a:ext cx="1863341" cy="741401"/>
            </a:xfrm>
            <a:prstGeom prst="rect">
              <a:avLst/>
            </a:prstGeom>
            <a:noFill/>
            <a:ln>
              <a:solidFill>
                <a:srgbClr val="C00000"/>
              </a:solidFill>
            </a:ln>
          </p:spPr>
          <p:txBody>
            <a:bodyPr wrap="square" lIns="0" tIns="0" rIns="0" bIns="0" rtlCol="0" anchor="ctr">
              <a:noAutofit/>
            </a:bodyPr>
            <a:lstStyle/>
            <a:p>
              <a:pPr algn="ctr"/>
              <a:r>
                <a:rPr lang="en-GB" sz="1300" b="1" dirty="0">
                  <a:solidFill>
                    <a:srgbClr val="C00000"/>
                  </a:solidFill>
                </a:rPr>
                <a:t>Potential Future Exposure (PFE): 97.5% quantile</a:t>
              </a:r>
            </a:p>
          </p:txBody>
        </p:sp>
        <p:sp>
          <p:nvSpPr>
            <p:cNvPr id="8" name="TextBox 7"/>
            <p:cNvSpPr txBox="1"/>
            <p:nvPr/>
          </p:nvSpPr>
          <p:spPr>
            <a:xfrm>
              <a:off x="-239971" y="3259235"/>
              <a:ext cx="1835908" cy="1054997"/>
            </a:xfrm>
            <a:prstGeom prst="rect">
              <a:avLst/>
            </a:prstGeom>
            <a:noFill/>
            <a:ln>
              <a:solidFill>
                <a:srgbClr val="3783FF"/>
              </a:solidFill>
            </a:ln>
          </p:spPr>
          <p:txBody>
            <a:bodyPr wrap="square" lIns="0" tIns="0" rIns="0" bIns="0" rtlCol="0" anchor="ctr">
              <a:noAutofit/>
            </a:bodyPr>
            <a:lstStyle/>
            <a:p>
              <a:pPr algn="ctr"/>
              <a:r>
                <a:rPr lang="en-GB" sz="1300" b="1" dirty="0">
                  <a:solidFill>
                    <a:srgbClr val="3783FF"/>
                  </a:solidFill>
                </a:rPr>
                <a:t>Expected Positive Exposure (EPE): Average with values floored at 0</a:t>
              </a:r>
            </a:p>
          </p:txBody>
        </p:sp>
      </p:grpSp>
    </p:spTree>
    <p:custDataLst>
      <p:tags r:id="rId1"/>
    </p:custDataLst>
    <p:extLst>
      <p:ext uri="{BB962C8B-B14F-4D97-AF65-F5344CB8AC3E}">
        <p14:creationId xmlns:p14="http://schemas.microsoft.com/office/powerpoint/2010/main" val="4247850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AGE HEADING"/>
          <p:cNvSpPr>
            <a:spLocks noGrp="1"/>
          </p:cNvSpPr>
          <p:nvPr>
            <p:ph type="title"/>
            <p:custDataLst>
              <p:tags r:id="rId2"/>
            </p:custDataLst>
          </p:nvPr>
        </p:nvSpPr>
        <p:spPr/>
        <p:txBody>
          <a:bodyPr>
            <a:normAutofit/>
          </a:bodyPr>
          <a:lstStyle/>
          <a:p>
            <a:r>
              <a:rPr lang="en-US" dirty="0"/>
              <a:t>Counterparty Credit Risk</a:t>
            </a:r>
            <a:r>
              <a:rPr lang="pl-PL" dirty="0"/>
              <a:t> - </a:t>
            </a:r>
            <a:r>
              <a:rPr lang="pl-PL" dirty="0" err="1"/>
              <a:t>Introduction</a:t>
            </a:r>
            <a:endParaRPr lang="en-US" dirty="0"/>
          </a:p>
        </p:txBody>
      </p:sp>
      <p:sp>
        <p:nvSpPr>
          <p:cNvPr id="21" name="TextBox 20">
            <a:extLst>
              <a:ext uri="{FF2B5EF4-FFF2-40B4-BE49-F238E27FC236}">
                <a16:creationId xmlns:a16="http://schemas.microsoft.com/office/drawing/2014/main" id="{271C409C-55F7-422B-9B51-707241FCE229}"/>
              </a:ext>
            </a:extLst>
          </p:cNvPr>
          <p:cNvSpPr txBox="1"/>
          <p:nvPr/>
        </p:nvSpPr>
        <p:spPr>
          <a:xfrm>
            <a:off x="420624" y="1641392"/>
            <a:ext cx="9189720" cy="914400"/>
          </a:xfrm>
          <a:prstGeom prst="rect">
            <a:avLst/>
          </a:prstGeom>
          <a:noFill/>
        </p:spPr>
        <p:txBody>
          <a:bodyPr wrap="square" lIns="0" tIns="0" rIns="0" bIns="0" rtlCol="0">
            <a:noAutofit/>
          </a:bodyPr>
          <a:lstStyle/>
          <a:p>
            <a:pPr>
              <a:buClr>
                <a:srgbClr val="FF0000"/>
              </a:buClr>
            </a:pPr>
            <a:r>
              <a:rPr lang="en-GB" dirty="0">
                <a:latin typeface="Frutiger 45 Light" panose="020B0603020202020204" pitchFamily="34" charset="0"/>
              </a:rPr>
              <a:t>Interest Rate Swap (IRS) is a contract</a:t>
            </a:r>
            <a:r>
              <a:rPr lang="pl-PL" dirty="0">
                <a:latin typeface="Frutiger 45 Light" panose="020B0603020202020204" pitchFamily="34" charset="0"/>
              </a:rPr>
              <a:t>, </a:t>
            </a:r>
            <a:r>
              <a:rPr lang="en-GB" dirty="0">
                <a:latin typeface="Frutiger 45 Light" panose="020B0603020202020204" pitchFamily="34" charset="0"/>
              </a:rPr>
              <a:t>in which two counterparties to agree to exchange future interest payments</a:t>
            </a:r>
            <a:r>
              <a:rPr lang="pl-PL" dirty="0">
                <a:latin typeface="Frutiger 45 Light" panose="020B0603020202020204" pitchFamily="34" charset="0"/>
              </a:rPr>
              <a:t>.</a:t>
            </a:r>
          </a:p>
          <a:p>
            <a:pPr lvl="3"/>
            <a:r>
              <a:rPr lang="pl-PL" sz="2200" dirty="0">
                <a:latin typeface="Frutiger 45 Light" panose="020B0603020202020204" pitchFamily="34" charset="0"/>
              </a:rPr>
              <a:t>			</a:t>
            </a:r>
          </a:p>
          <a:p>
            <a:endParaRPr lang="en-US" sz="2200" dirty="0">
              <a:latin typeface="Frutiger 45 Light" panose="020B0603020202020204" pitchFamily="34" charset="0"/>
            </a:endParaRPr>
          </a:p>
        </p:txBody>
      </p:sp>
      <p:sp>
        <p:nvSpPr>
          <p:cNvPr id="22" name="TextBox 21">
            <a:extLst>
              <a:ext uri="{FF2B5EF4-FFF2-40B4-BE49-F238E27FC236}">
                <a16:creationId xmlns:a16="http://schemas.microsoft.com/office/drawing/2014/main" id="{8D60233F-2F68-4007-B589-B7C7FA103B9F}"/>
              </a:ext>
            </a:extLst>
          </p:cNvPr>
          <p:cNvSpPr txBox="1"/>
          <p:nvPr/>
        </p:nvSpPr>
        <p:spPr>
          <a:xfrm>
            <a:off x="2421836" y="2342101"/>
            <a:ext cx="45719" cy="45719"/>
          </a:xfrm>
          <a:prstGeom prst="rect">
            <a:avLst/>
          </a:prstGeom>
          <a:noFill/>
        </p:spPr>
        <p:txBody>
          <a:bodyPr wrap="square" lIns="0" tIns="0" rIns="0" bIns="0" rtlCol="0">
            <a:noAutofit/>
          </a:bodyPr>
          <a:lstStyle/>
          <a:p>
            <a:endParaRPr lang="en-US" sz="1100" dirty="0">
              <a:latin typeface="+mn-lt"/>
            </a:endParaRPr>
          </a:p>
        </p:txBody>
      </p:sp>
      <mc:AlternateContent xmlns:mc="http://schemas.openxmlformats.org/markup-compatibility/2006" xmlns:a14="http://schemas.microsoft.com/office/drawing/2010/main">
        <mc:Choice Requires="a14">
          <p:sp>
            <p:nvSpPr>
              <p:cNvPr id="23" name="Rectangle 22">
                <a:extLst>
                  <a:ext uri="{FF2B5EF4-FFF2-40B4-BE49-F238E27FC236}">
                    <a16:creationId xmlns:a16="http://schemas.microsoft.com/office/drawing/2014/main" id="{FF75FA7A-07CC-4C90-83A7-2B926AF092C8}"/>
                  </a:ext>
                </a:extLst>
              </p:cNvPr>
              <p:cNvSpPr/>
              <p:nvPr/>
            </p:nvSpPr>
            <p:spPr>
              <a:xfrm>
                <a:off x="420624" y="5133490"/>
                <a:ext cx="9372600" cy="894540"/>
              </a:xfrm>
              <a:prstGeom prst="rect">
                <a:avLst/>
              </a:prstGeom>
            </p:spPr>
            <p:txBody>
              <a:bodyPr wrap="square">
                <a:spAutoFit/>
              </a:bodyPr>
              <a:lstStyle/>
              <a:p>
                <a14:m>
                  <m:oMath xmlns:m="http://schemas.openxmlformats.org/officeDocument/2006/math">
                    <m:sSub>
                      <m:sSubPr>
                        <m:ctrlPr>
                          <a:rPr lang="en-US" i="1" smtClean="0">
                            <a:latin typeface="Cambria Math" panose="02040503050406030204" pitchFamily="18" charset="0"/>
                          </a:rPr>
                        </m:ctrlPr>
                      </m:sSubPr>
                      <m:e>
                        <m:r>
                          <a:rPr lang="en-US" i="1">
                            <a:latin typeface="Cambria Math"/>
                          </a:rPr>
                          <m:t>𝑉</m:t>
                        </m:r>
                      </m:e>
                      <m:sub>
                        <m:r>
                          <a:rPr lang="pl-PL" b="0" i="1" smtClean="0">
                            <a:latin typeface="Cambria Math"/>
                          </a:rPr>
                          <m:t>𝑠𝑤𝑎𝑝</m:t>
                        </m:r>
                      </m:sub>
                    </m:sSub>
                    <m:r>
                      <a:rPr lang="en-US" i="1">
                        <a:latin typeface="Cambria Math"/>
                      </a:rPr>
                      <m:t>(</m:t>
                    </m:r>
                    <m:r>
                      <a:rPr lang="pl-PL" i="1">
                        <a:latin typeface="Cambria Math"/>
                      </a:rPr>
                      <m:t>𝑡</m:t>
                    </m:r>
                    <m:r>
                      <a:rPr lang="en-US" i="1">
                        <a:latin typeface="Cambria Math"/>
                      </a:rPr>
                      <m:t>)</m:t>
                    </m:r>
                    <m:r>
                      <a:rPr lang="pl-PL" i="1">
                        <a:latin typeface="Cambria Math"/>
                      </a:rPr>
                      <m:t>=</m:t>
                    </m:r>
                    <m:nary>
                      <m:naryPr>
                        <m:chr m:val="∑"/>
                        <m:limLoc m:val="undOvr"/>
                        <m:grow m:val="on"/>
                        <m:ctrlPr>
                          <a:rPr lang="en-US" i="1">
                            <a:latin typeface="Cambria Math" panose="02040503050406030204" pitchFamily="18" charset="0"/>
                          </a:rPr>
                        </m:ctrlPr>
                      </m:naryPr>
                      <m:sub>
                        <m:r>
                          <a:rPr lang="en-US" i="1">
                            <a:latin typeface="Cambria Math"/>
                          </a:rPr>
                          <m:t>𝑖</m:t>
                        </m:r>
                        <m:r>
                          <a:rPr lang="en-US" i="1">
                            <a:latin typeface="Cambria Math"/>
                          </a:rPr>
                          <m:t>=</m:t>
                        </m:r>
                        <m:r>
                          <a:rPr lang="en-US" i="1">
                            <a:latin typeface="Cambria Math"/>
                          </a:rPr>
                          <m:t>𝑡</m:t>
                        </m:r>
                        <m:r>
                          <a:rPr lang="en-US" i="1">
                            <a:latin typeface="Cambria Math"/>
                          </a:rPr>
                          <m:t>+1</m:t>
                        </m:r>
                      </m:sub>
                      <m:sup>
                        <m:r>
                          <a:rPr lang="en-US" i="1">
                            <a:latin typeface="Cambria Math"/>
                          </a:rPr>
                          <m:t>𝑇</m:t>
                        </m:r>
                      </m:sup>
                      <m:e>
                        <m:r>
                          <a:rPr lang="en-US" i="1">
                            <a:latin typeface="Cambria Math"/>
                          </a:rPr>
                          <m:t>𝐷𝐹</m:t>
                        </m:r>
                        <m:r>
                          <a:rPr lang="en-US" i="1">
                            <a:latin typeface="Cambria Math"/>
                          </a:rPr>
                          <m:t>(</m:t>
                        </m:r>
                        <m:r>
                          <a:rPr lang="en-US" i="1">
                            <a:latin typeface="Cambria Math"/>
                          </a:rPr>
                          <m:t>𝑖</m:t>
                        </m:r>
                        <m:r>
                          <a:rPr lang="pl-PL" b="0" i="1" smtClean="0">
                            <a:latin typeface="Cambria Math"/>
                          </a:rPr>
                          <m:t>)(</m:t>
                        </m:r>
                        <m:r>
                          <a:rPr lang="pl-PL" b="0" i="1" smtClean="0">
                            <a:latin typeface="Cambria Math"/>
                          </a:rPr>
                          <m:t>𝐾</m:t>
                        </m:r>
                        <m:r>
                          <a:rPr lang="pl-PL" b="0" i="1" smtClean="0">
                            <a:latin typeface="Cambria Math"/>
                          </a:rPr>
                          <m:t>−</m:t>
                        </m:r>
                        <m:r>
                          <a:rPr lang="pl-PL" b="0" i="1" smtClean="0">
                            <a:latin typeface="Cambria Math"/>
                          </a:rPr>
                          <m:t>𝐹</m:t>
                        </m:r>
                        <m:d>
                          <m:dPr>
                            <m:ctrlPr>
                              <a:rPr lang="pl-PL" b="0" i="1" smtClean="0">
                                <a:latin typeface="Cambria Math" panose="02040503050406030204" pitchFamily="18" charset="0"/>
                              </a:rPr>
                            </m:ctrlPr>
                          </m:dPr>
                          <m:e>
                            <m:r>
                              <a:rPr lang="pl-PL" b="0" i="1" smtClean="0">
                                <a:latin typeface="Cambria Math"/>
                              </a:rPr>
                              <m:t>𝑡</m:t>
                            </m:r>
                          </m:e>
                        </m:d>
                      </m:e>
                    </m:nary>
                    <m:r>
                      <a:rPr lang="pl-PL" b="0" i="1" smtClean="0">
                        <a:latin typeface="Cambria Math"/>
                      </a:rPr>
                      <m:t>)</m:t>
                    </m:r>
                  </m:oMath>
                </a14:m>
                <a:r>
                  <a:rPr lang="pl-PL" dirty="0">
                    <a:latin typeface="Frutiger 55 Roman" panose="020B0503040202020204" pitchFamily="34" charset="0"/>
                  </a:rPr>
                  <a:t>, </a:t>
                </a:r>
                <a:r>
                  <a:rPr lang="en-GB" dirty="0">
                    <a:latin typeface="Frutiger 55 Roman" panose="020B0503040202020204" pitchFamily="34" charset="0"/>
                  </a:rPr>
                  <a:t>where</a:t>
                </a:r>
                <a:r>
                  <a:rPr lang="pl-PL" dirty="0">
                    <a:latin typeface="Frutiger 55 Roman" panose="020B0503040202020204" pitchFamily="34" charset="0"/>
                  </a:rPr>
                  <a:t> </a:t>
                </a:r>
                <a14:m>
                  <m:oMath xmlns:m="http://schemas.openxmlformats.org/officeDocument/2006/math">
                    <m:r>
                      <a:rPr lang="en-US" i="1">
                        <a:latin typeface="Cambria Math"/>
                      </a:rPr>
                      <m:t>𝐷𝐹</m:t>
                    </m:r>
                    <m:r>
                      <a:rPr lang="en-US" i="1">
                        <a:latin typeface="Cambria Math"/>
                      </a:rPr>
                      <m:t>(</m:t>
                    </m:r>
                    <m:r>
                      <a:rPr lang="en-US" i="1">
                        <a:latin typeface="Cambria Math"/>
                      </a:rPr>
                      <m:t>𝑖</m:t>
                    </m:r>
                    <m:r>
                      <a:rPr lang="pl-PL" i="1">
                        <a:latin typeface="Cambria Math"/>
                      </a:rPr>
                      <m:t>)</m:t>
                    </m:r>
                  </m:oMath>
                </a14:m>
                <a:r>
                  <a:rPr lang="pl-PL" dirty="0">
                    <a:latin typeface="Frutiger 55 Roman" panose="020B0503040202020204" pitchFamily="34" charset="0"/>
                  </a:rPr>
                  <a:t> </a:t>
                </a:r>
                <a:r>
                  <a:rPr lang="en-GB" dirty="0">
                    <a:latin typeface="Frutiger 55 Roman" panose="020B0503040202020204" pitchFamily="34" charset="0"/>
                  </a:rPr>
                  <a:t>is a discount factor</a:t>
                </a:r>
                <a:r>
                  <a:rPr lang="pl-PL" dirty="0">
                    <a:latin typeface="Frutiger 55 Roman" panose="020B0503040202020204" pitchFamily="34" charset="0"/>
                  </a:rPr>
                  <a:t>,        </a:t>
                </a:r>
              </a:p>
              <a:p>
                <a14:m>
                  <m:oMath xmlns:m="http://schemas.openxmlformats.org/officeDocument/2006/math">
                    <m:r>
                      <a:rPr lang="pl-PL" i="1">
                        <a:latin typeface="Cambria Math"/>
                      </a:rPr>
                      <m:t>𝐹</m:t>
                    </m:r>
                    <m:d>
                      <m:dPr>
                        <m:ctrlPr>
                          <a:rPr lang="pl-PL" i="1">
                            <a:latin typeface="Cambria Math" panose="02040503050406030204" pitchFamily="18" charset="0"/>
                          </a:rPr>
                        </m:ctrlPr>
                      </m:dPr>
                      <m:e>
                        <m:r>
                          <a:rPr lang="pl-PL" i="1">
                            <a:latin typeface="Cambria Math"/>
                          </a:rPr>
                          <m:t>𝑡</m:t>
                        </m:r>
                      </m:e>
                    </m:d>
                    <m:r>
                      <a:rPr lang="pl-PL" i="1">
                        <a:latin typeface="Cambria Math"/>
                      </a:rPr>
                      <m:t> </m:t>
                    </m:r>
                  </m:oMath>
                </a14:m>
                <a:r>
                  <a:rPr lang="pl-PL" dirty="0">
                    <a:latin typeface="Frutiger 55 Roman" panose="020B0503040202020204" pitchFamily="34" charset="0"/>
                  </a:rPr>
                  <a:t>- </a:t>
                </a:r>
                <a:r>
                  <a:rPr lang="en-GB" dirty="0">
                    <a:latin typeface="Frutiger 55 Roman" panose="020B0503040202020204" pitchFamily="34" charset="0"/>
                  </a:rPr>
                  <a:t>forward swap rate </a:t>
                </a:r>
                <a:r>
                  <a:rPr lang="pl-PL" dirty="0">
                    <a:latin typeface="Frutiger 55 Roman" panose="020B0503040202020204" pitchFamily="34" charset="0"/>
                  </a:rPr>
                  <a:t>(start</a:t>
                </a:r>
                <a:r>
                  <a:rPr lang="en-GB" dirty="0">
                    <a:latin typeface="Frutiger 55 Roman" panose="020B0503040202020204" pitchFamily="34" charset="0"/>
                  </a:rPr>
                  <a:t>s</a:t>
                </a:r>
                <a:r>
                  <a:rPr lang="pl-PL" dirty="0">
                    <a:latin typeface="Frutiger 55 Roman" panose="020B0503040202020204" pitchFamily="34" charset="0"/>
                  </a:rPr>
                  <a:t> </a:t>
                </a:r>
                <a:r>
                  <a:rPr lang="en-GB" dirty="0">
                    <a:latin typeface="Frutiger 55 Roman" panose="020B0503040202020204" pitchFamily="34" charset="0"/>
                  </a:rPr>
                  <a:t>at</a:t>
                </a:r>
                <a:r>
                  <a:rPr lang="pl-PL" dirty="0">
                    <a:latin typeface="Frutiger 55 Roman" panose="020B0503040202020204" pitchFamily="34" charset="0"/>
                  </a:rPr>
                  <a:t> </a:t>
                </a:r>
                <a14:m>
                  <m:oMath xmlns:m="http://schemas.openxmlformats.org/officeDocument/2006/math">
                    <m:r>
                      <a:rPr lang="pl-PL" i="1">
                        <a:latin typeface="Cambria Math"/>
                      </a:rPr>
                      <m:t>𝑡</m:t>
                    </m:r>
                  </m:oMath>
                </a14:m>
                <a:r>
                  <a:rPr lang="pl-PL" dirty="0">
                    <a:latin typeface="Frutiger 55 Roman" panose="020B0503040202020204" pitchFamily="34" charset="0"/>
                  </a:rPr>
                  <a:t> </a:t>
                </a:r>
                <a:r>
                  <a:rPr lang="en-GB" dirty="0">
                    <a:latin typeface="Frutiger 55 Roman" panose="020B0503040202020204" pitchFamily="34" charset="0"/>
                  </a:rPr>
                  <a:t>and expires at </a:t>
                </a:r>
                <a14:m>
                  <m:oMath xmlns:m="http://schemas.openxmlformats.org/officeDocument/2006/math">
                    <m:r>
                      <a:rPr lang="en-US" i="1">
                        <a:latin typeface="Cambria Math"/>
                      </a:rPr>
                      <m:t>𝑇</m:t>
                    </m:r>
                  </m:oMath>
                </a14:m>
                <a:r>
                  <a:rPr lang="pl-PL" dirty="0">
                    <a:latin typeface="Frutiger 55 Roman" panose="020B0503040202020204" pitchFamily="34" charset="0"/>
                  </a:rPr>
                  <a:t>).</a:t>
                </a:r>
                <a:endParaRPr lang="en-US" dirty="0">
                  <a:latin typeface="Frutiger 55 Roman" panose="020B0503040202020204" pitchFamily="34" charset="0"/>
                </a:endParaRPr>
              </a:p>
            </p:txBody>
          </p:sp>
        </mc:Choice>
        <mc:Fallback xmlns="">
          <p:sp>
            <p:nvSpPr>
              <p:cNvPr id="23" name="Rectangle 22">
                <a:extLst>
                  <a:ext uri="{FF2B5EF4-FFF2-40B4-BE49-F238E27FC236}">
                    <a16:creationId xmlns:a16="http://schemas.microsoft.com/office/drawing/2014/main" id="{FF75FA7A-07CC-4C90-83A7-2B926AF092C8}"/>
                  </a:ext>
                </a:extLst>
              </p:cNvPr>
              <p:cNvSpPr>
                <a:spLocks noRot="1" noChangeAspect="1" noMove="1" noResize="1" noEditPoints="1" noAdjustHandles="1" noChangeArrowheads="1" noChangeShapeType="1" noTextEdit="1"/>
              </p:cNvSpPr>
              <p:nvPr/>
            </p:nvSpPr>
            <p:spPr>
              <a:xfrm>
                <a:off x="420624" y="5133490"/>
                <a:ext cx="9372600" cy="894540"/>
              </a:xfrm>
              <a:prstGeom prst="rect">
                <a:avLst/>
              </a:prstGeom>
              <a:blipFill>
                <a:blip r:embed="rId5"/>
                <a:stretch>
                  <a:fillRect t="-58503" b="-46939"/>
                </a:stretch>
              </a:blipFill>
            </p:spPr>
            <p:txBody>
              <a:bodyPr/>
              <a:lstStyle/>
              <a:p>
                <a:r>
                  <a:rPr lang="en-GB">
                    <a:noFill/>
                  </a:rPr>
                  <a:t> </a:t>
                </a:r>
              </a:p>
            </p:txBody>
          </p:sp>
        </mc:Fallback>
      </mc:AlternateContent>
      <p:cxnSp>
        <p:nvCxnSpPr>
          <p:cNvPr id="24" name="Straight Arrow Connector 23">
            <a:extLst>
              <a:ext uri="{FF2B5EF4-FFF2-40B4-BE49-F238E27FC236}">
                <a16:creationId xmlns:a16="http://schemas.microsoft.com/office/drawing/2014/main" id="{5C59CC53-80AC-4CB9-BF0D-9AD29CC122DC}"/>
              </a:ext>
            </a:extLst>
          </p:cNvPr>
          <p:cNvCxnSpPr/>
          <p:nvPr/>
        </p:nvCxnSpPr>
        <p:spPr>
          <a:xfrm>
            <a:off x="1126436" y="3168705"/>
            <a:ext cx="6248400" cy="0"/>
          </a:xfrm>
          <a:prstGeom prst="straightConnector1">
            <a:avLst/>
          </a:prstGeom>
          <a:ln w="19050">
            <a:solidFill>
              <a:srgbClr val="919191"/>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CC1211AB-0B63-43F5-95D0-454923E73214}"/>
              </a:ext>
            </a:extLst>
          </p:cNvPr>
          <p:cNvCxnSpPr/>
          <p:nvPr/>
        </p:nvCxnSpPr>
        <p:spPr>
          <a:xfrm flipV="1">
            <a:off x="2040836" y="2825805"/>
            <a:ext cx="0" cy="342900"/>
          </a:xfrm>
          <a:prstGeom prst="straightConnector1">
            <a:avLst/>
          </a:prstGeom>
          <a:ln w="19050">
            <a:solidFill>
              <a:srgbClr val="919191"/>
            </a:solidFill>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A03B5404-C51A-4561-9A83-391536C83C0B}"/>
              </a:ext>
            </a:extLst>
          </p:cNvPr>
          <p:cNvCxnSpPr/>
          <p:nvPr/>
        </p:nvCxnSpPr>
        <p:spPr>
          <a:xfrm flipV="1">
            <a:off x="3564836" y="2825805"/>
            <a:ext cx="0" cy="342900"/>
          </a:xfrm>
          <a:prstGeom prst="straightConnector1">
            <a:avLst/>
          </a:prstGeom>
          <a:ln w="19050">
            <a:solidFill>
              <a:srgbClr val="919191"/>
            </a:solidFill>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ED3EB55B-1EA8-4B32-B4E8-945104565940}"/>
              </a:ext>
            </a:extLst>
          </p:cNvPr>
          <p:cNvCxnSpPr/>
          <p:nvPr/>
        </p:nvCxnSpPr>
        <p:spPr>
          <a:xfrm flipV="1">
            <a:off x="3564836" y="2825805"/>
            <a:ext cx="0" cy="342900"/>
          </a:xfrm>
          <a:prstGeom prst="straightConnector1">
            <a:avLst/>
          </a:prstGeom>
          <a:ln w="19050">
            <a:solidFill>
              <a:srgbClr val="919191"/>
            </a:solidFill>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2965C50D-B6CE-44D6-BCB5-83C66AECAE46}"/>
              </a:ext>
            </a:extLst>
          </p:cNvPr>
          <p:cNvCxnSpPr/>
          <p:nvPr/>
        </p:nvCxnSpPr>
        <p:spPr>
          <a:xfrm flipV="1">
            <a:off x="6612836" y="2825805"/>
            <a:ext cx="0" cy="342900"/>
          </a:xfrm>
          <a:prstGeom prst="straightConnector1">
            <a:avLst/>
          </a:prstGeom>
          <a:ln w="19050">
            <a:solidFill>
              <a:srgbClr val="919191"/>
            </a:solidFill>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831EC034-D987-48D0-A884-96965E4B6EAE}"/>
              </a:ext>
            </a:extLst>
          </p:cNvPr>
          <p:cNvCxnSpPr/>
          <p:nvPr/>
        </p:nvCxnSpPr>
        <p:spPr>
          <a:xfrm flipH="1">
            <a:off x="2040836" y="3174503"/>
            <a:ext cx="0" cy="342900"/>
          </a:xfrm>
          <a:prstGeom prst="straightConnector1">
            <a:avLst/>
          </a:prstGeom>
          <a:ln w="19050">
            <a:solidFill>
              <a:srgbClr val="919191"/>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38627FC8-F561-4C3E-86CD-1613726E9615}"/>
              </a:ext>
            </a:extLst>
          </p:cNvPr>
          <p:cNvCxnSpPr/>
          <p:nvPr/>
        </p:nvCxnSpPr>
        <p:spPr>
          <a:xfrm flipH="1">
            <a:off x="3564836" y="3174503"/>
            <a:ext cx="0" cy="342900"/>
          </a:xfrm>
          <a:prstGeom prst="straightConnector1">
            <a:avLst/>
          </a:prstGeom>
          <a:ln w="19050">
            <a:solidFill>
              <a:srgbClr val="919191"/>
            </a:solidFill>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B46C92B1-000D-4ADB-8821-FFAD69B757C6}"/>
              </a:ext>
            </a:extLst>
          </p:cNvPr>
          <p:cNvCxnSpPr/>
          <p:nvPr/>
        </p:nvCxnSpPr>
        <p:spPr>
          <a:xfrm flipH="1">
            <a:off x="6612836" y="3174503"/>
            <a:ext cx="0" cy="342900"/>
          </a:xfrm>
          <a:prstGeom prst="straightConnector1">
            <a:avLst/>
          </a:prstGeom>
          <a:ln w="19050">
            <a:solidFill>
              <a:srgbClr val="919191"/>
            </a:solidFill>
            <a:tailEnd type="arrow"/>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51C90A73-B121-47D3-88F3-7FBEFCF68787}"/>
              </a:ext>
            </a:extLst>
          </p:cNvPr>
          <p:cNvSpPr txBox="1"/>
          <p:nvPr/>
        </p:nvSpPr>
        <p:spPr>
          <a:xfrm>
            <a:off x="540401" y="6274328"/>
            <a:ext cx="9189720" cy="492059"/>
          </a:xfrm>
          <a:prstGeom prst="rect">
            <a:avLst/>
          </a:prstGeom>
          <a:noFill/>
        </p:spPr>
        <p:txBody>
          <a:bodyPr wrap="square" lIns="0" tIns="0" rIns="0" bIns="0" rtlCol="0">
            <a:noAutofit/>
          </a:bodyPr>
          <a:lstStyle/>
          <a:p>
            <a:pPr>
              <a:buClr>
                <a:srgbClr val="FF0000"/>
              </a:buClr>
            </a:pPr>
            <a:r>
              <a:rPr lang="en-GB" dirty="0">
                <a:latin typeface="Frutiger 45 Light" panose="020B0603020202020204" pitchFamily="34" charset="0"/>
              </a:rPr>
              <a:t>Swaption is an option that gives its holder right to enter into a swap</a:t>
            </a:r>
            <a:r>
              <a:rPr lang="pl-PL" dirty="0">
                <a:latin typeface="Frutiger 45 Light" panose="020B0603020202020204" pitchFamily="34" charset="0"/>
              </a:rPr>
              <a:t>.</a:t>
            </a:r>
            <a:endParaRPr lang="en-US" dirty="0">
              <a:latin typeface="Frutiger 45 Light" panose="020B0603020202020204" pitchFamily="34" charset="0"/>
            </a:endParaRPr>
          </a:p>
        </p:txBody>
      </p:sp>
      <p:sp>
        <p:nvSpPr>
          <p:cNvPr id="33" name="TextBox 32">
            <a:extLst>
              <a:ext uri="{FF2B5EF4-FFF2-40B4-BE49-F238E27FC236}">
                <a16:creationId xmlns:a16="http://schemas.microsoft.com/office/drawing/2014/main" id="{963523DE-710B-461B-82C8-B5598A585218}"/>
              </a:ext>
            </a:extLst>
          </p:cNvPr>
          <p:cNvSpPr txBox="1"/>
          <p:nvPr/>
        </p:nvSpPr>
        <p:spPr>
          <a:xfrm>
            <a:off x="1888436" y="2540055"/>
            <a:ext cx="914400" cy="628650"/>
          </a:xfrm>
          <a:prstGeom prst="rect">
            <a:avLst/>
          </a:prstGeom>
          <a:noFill/>
        </p:spPr>
        <p:txBody>
          <a:bodyPr wrap="none" lIns="0" tIns="0" rIns="0" bIns="0" rtlCol="0">
            <a:noAutofit/>
          </a:bodyPr>
          <a:lstStyle/>
          <a:p>
            <a:r>
              <a:rPr lang="pl-PL" sz="1800" dirty="0">
                <a:latin typeface="+mn-lt"/>
              </a:rPr>
              <a:t>K%</a:t>
            </a:r>
            <a:endParaRPr lang="en-US" sz="1800" dirty="0">
              <a:latin typeface="+mn-lt"/>
            </a:endParaRPr>
          </a:p>
        </p:txBody>
      </p:sp>
      <p:sp>
        <p:nvSpPr>
          <p:cNvPr id="34" name="TextBox 33">
            <a:extLst>
              <a:ext uri="{FF2B5EF4-FFF2-40B4-BE49-F238E27FC236}">
                <a16:creationId xmlns:a16="http://schemas.microsoft.com/office/drawing/2014/main" id="{B1C4CE61-97E0-4613-8BFF-AA0F3EE261A9}"/>
              </a:ext>
            </a:extLst>
          </p:cNvPr>
          <p:cNvSpPr txBox="1"/>
          <p:nvPr/>
        </p:nvSpPr>
        <p:spPr>
          <a:xfrm>
            <a:off x="3369367" y="2540055"/>
            <a:ext cx="914400" cy="552450"/>
          </a:xfrm>
          <a:prstGeom prst="rect">
            <a:avLst/>
          </a:prstGeom>
          <a:noFill/>
        </p:spPr>
        <p:txBody>
          <a:bodyPr wrap="none" lIns="0" tIns="0" rIns="0" bIns="0" rtlCol="0">
            <a:noAutofit/>
          </a:bodyPr>
          <a:lstStyle/>
          <a:p>
            <a:r>
              <a:rPr lang="pl-PL" sz="1800" dirty="0">
                <a:latin typeface="+mn-lt"/>
              </a:rPr>
              <a:t>K%</a:t>
            </a:r>
            <a:endParaRPr lang="en-US" sz="1800" dirty="0">
              <a:latin typeface="+mn-lt"/>
            </a:endParaRPr>
          </a:p>
        </p:txBody>
      </p:sp>
      <p:sp>
        <p:nvSpPr>
          <p:cNvPr id="35" name="TextBox 34">
            <a:extLst>
              <a:ext uri="{FF2B5EF4-FFF2-40B4-BE49-F238E27FC236}">
                <a16:creationId xmlns:a16="http://schemas.microsoft.com/office/drawing/2014/main" id="{3C1D82A5-6788-4AC9-A455-B83B99036699}"/>
              </a:ext>
            </a:extLst>
          </p:cNvPr>
          <p:cNvSpPr txBox="1"/>
          <p:nvPr/>
        </p:nvSpPr>
        <p:spPr>
          <a:xfrm>
            <a:off x="6460436" y="2545853"/>
            <a:ext cx="914400" cy="634448"/>
          </a:xfrm>
          <a:prstGeom prst="rect">
            <a:avLst/>
          </a:prstGeom>
          <a:noFill/>
        </p:spPr>
        <p:txBody>
          <a:bodyPr wrap="none" lIns="0" tIns="0" rIns="0" bIns="0" rtlCol="0">
            <a:noAutofit/>
          </a:bodyPr>
          <a:lstStyle/>
          <a:p>
            <a:r>
              <a:rPr lang="pl-PL" sz="1800" dirty="0">
                <a:latin typeface="+mn-lt"/>
              </a:rPr>
              <a:t>K%</a:t>
            </a:r>
            <a:endParaRPr lang="en-US" sz="1800" dirty="0">
              <a:latin typeface="+mn-lt"/>
            </a:endParaRPr>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49CCA7B-9BB5-457F-AA96-2A90655F430D}"/>
                  </a:ext>
                </a:extLst>
              </p:cNvPr>
              <p:cNvSpPr txBox="1"/>
              <p:nvPr/>
            </p:nvSpPr>
            <p:spPr>
              <a:xfrm>
                <a:off x="1848016" y="3262299"/>
                <a:ext cx="881270" cy="260902"/>
              </a:xfrm>
              <a:prstGeom prst="rect">
                <a:avLst/>
              </a:prstGeom>
              <a:noFill/>
            </p:spPr>
            <p:txBody>
              <a:bodyPr wrap="square" lIns="0" tIns="0" rIns="0" bIns="0" rtlCol="0">
                <a:noAutofit/>
              </a:bodyPr>
              <a:lstStyle/>
              <a:p>
                <a:pPr/>
                <a14:m>
                  <m:oMathPara xmlns:m="http://schemas.openxmlformats.org/officeDocument/2006/math">
                    <m:oMathParaPr>
                      <m:jc m:val="centerGroup"/>
                    </m:oMathParaPr>
                    <m:oMath xmlns:m="http://schemas.openxmlformats.org/officeDocument/2006/math">
                      <m:sSub>
                        <m:sSubPr>
                          <m:ctrlPr>
                            <a:rPr lang="pt-BR" sz="1800" i="1" smtClean="0">
                              <a:latin typeface="Cambria Math" panose="02040503050406030204" pitchFamily="18" charset="0"/>
                            </a:rPr>
                          </m:ctrlPr>
                        </m:sSubPr>
                        <m:e>
                          <m:r>
                            <a:rPr lang="pl-PL" sz="1800" b="0" i="1" smtClean="0">
                              <a:latin typeface="Cambria Math"/>
                            </a:rPr>
                            <m:t>𝑡</m:t>
                          </m:r>
                        </m:e>
                        <m:sub>
                          <m:r>
                            <a:rPr lang="pl-PL" sz="1800" b="0" i="1" smtClean="0">
                              <a:latin typeface="Cambria Math"/>
                            </a:rPr>
                            <m:t>1</m:t>
                          </m:r>
                        </m:sub>
                      </m:sSub>
                    </m:oMath>
                  </m:oMathPara>
                </a14:m>
                <a:endParaRPr lang="en-US" sz="1800" dirty="0">
                  <a:latin typeface="+mn-lt"/>
                </a:endParaRPr>
              </a:p>
            </p:txBody>
          </p:sp>
        </mc:Choice>
        <mc:Fallback xmlns="">
          <p:sp>
            <p:nvSpPr>
              <p:cNvPr id="36" name="TextBox 35">
                <a:extLst>
                  <a:ext uri="{FF2B5EF4-FFF2-40B4-BE49-F238E27FC236}">
                    <a16:creationId xmlns:a16="http://schemas.microsoft.com/office/drawing/2014/main" id="{849CCA7B-9BB5-457F-AA96-2A90655F430D}"/>
                  </a:ext>
                </a:extLst>
              </p:cNvPr>
              <p:cNvSpPr txBox="1">
                <a:spLocks noRot="1" noChangeAspect="1" noMove="1" noResize="1" noEditPoints="1" noAdjustHandles="1" noChangeArrowheads="1" noChangeShapeType="1" noTextEdit="1"/>
              </p:cNvSpPr>
              <p:nvPr/>
            </p:nvSpPr>
            <p:spPr>
              <a:xfrm>
                <a:off x="1848016" y="3262299"/>
                <a:ext cx="881270" cy="260902"/>
              </a:xfrm>
              <a:prstGeom prst="rect">
                <a:avLst/>
              </a:prstGeom>
              <a:blipFill>
                <a:blip r:embed="rId6"/>
                <a:stretch>
                  <a:fillRect b="-2558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F545B6FE-9AFE-4038-8232-D76682A98859}"/>
                  </a:ext>
                </a:extLst>
              </p:cNvPr>
              <p:cNvSpPr txBox="1"/>
              <p:nvPr/>
            </p:nvSpPr>
            <p:spPr>
              <a:xfrm>
                <a:off x="3375993" y="3276794"/>
                <a:ext cx="907774" cy="260902"/>
              </a:xfrm>
              <a:prstGeom prst="rect">
                <a:avLst/>
              </a:prstGeom>
              <a:noFill/>
            </p:spPr>
            <p:txBody>
              <a:bodyPr wrap="square" lIns="0" tIns="0" rIns="0" bIns="0" rtlCol="0">
                <a:noAutofit/>
              </a:bodyPr>
              <a:lstStyle/>
              <a:p>
                <a:pPr/>
                <a14:m>
                  <m:oMathPara xmlns:m="http://schemas.openxmlformats.org/officeDocument/2006/math">
                    <m:oMathParaPr>
                      <m:jc m:val="centerGroup"/>
                    </m:oMathParaPr>
                    <m:oMath xmlns:m="http://schemas.openxmlformats.org/officeDocument/2006/math">
                      <m:sSub>
                        <m:sSubPr>
                          <m:ctrlPr>
                            <a:rPr lang="pt-BR" sz="1800" i="1" smtClean="0">
                              <a:latin typeface="Cambria Math" panose="02040503050406030204" pitchFamily="18" charset="0"/>
                            </a:rPr>
                          </m:ctrlPr>
                        </m:sSubPr>
                        <m:e>
                          <m:r>
                            <a:rPr lang="pl-PL" sz="1800" b="0" i="1" smtClean="0">
                              <a:latin typeface="Cambria Math"/>
                            </a:rPr>
                            <m:t>𝑡</m:t>
                          </m:r>
                        </m:e>
                        <m:sub>
                          <m:r>
                            <a:rPr lang="pl-PL" sz="1800" b="0" i="1" smtClean="0">
                              <a:latin typeface="Cambria Math"/>
                            </a:rPr>
                            <m:t>2</m:t>
                          </m:r>
                        </m:sub>
                      </m:sSub>
                    </m:oMath>
                  </m:oMathPara>
                </a14:m>
                <a:endParaRPr lang="en-US" sz="1800" dirty="0">
                  <a:latin typeface="+mn-lt"/>
                </a:endParaRPr>
              </a:p>
            </p:txBody>
          </p:sp>
        </mc:Choice>
        <mc:Fallback xmlns="">
          <p:sp>
            <p:nvSpPr>
              <p:cNvPr id="37" name="TextBox 36">
                <a:extLst>
                  <a:ext uri="{FF2B5EF4-FFF2-40B4-BE49-F238E27FC236}">
                    <a16:creationId xmlns:a16="http://schemas.microsoft.com/office/drawing/2014/main" id="{F545B6FE-9AFE-4038-8232-D76682A98859}"/>
                  </a:ext>
                </a:extLst>
              </p:cNvPr>
              <p:cNvSpPr txBox="1">
                <a:spLocks noRot="1" noChangeAspect="1" noMove="1" noResize="1" noEditPoints="1" noAdjustHandles="1" noChangeArrowheads="1" noChangeShapeType="1" noTextEdit="1"/>
              </p:cNvSpPr>
              <p:nvPr/>
            </p:nvSpPr>
            <p:spPr>
              <a:xfrm>
                <a:off x="3375993" y="3276794"/>
                <a:ext cx="907774" cy="260902"/>
              </a:xfrm>
              <a:prstGeom prst="rect">
                <a:avLst/>
              </a:prstGeom>
              <a:blipFill>
                <a:blip r:embed="rId7"/>
                <a:stretch>
                  <a:fillRect b="-2619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7C5028F3-2B0C-479C-8EDE-5668F2632256}"/>
                  </a:ext>
                </a:extLst>
              </p:cNvPr>
              <p:cNvSpPr txBox="1"/>
              <p:nvPr/>
            </p:nvSpPr>
            <p:spPr>
              <a:xfrm>
                <a:off x="6612768" y="3299157"/>
                <a:ext cx="907774" cy="260902"/>
              </a:xfrm>
              <a:prstGeom prst="rect">
                <a:avLst/>
              </a:prstGeom>
              <a:noFill/>
            </p:spPr>
            <p:txBody>
              <a:bodyPr wrap="square" lIns="0" tIns="0" rIns="0" bIns="0" rtlCol="0">
                <a:noAutofit/>
              </a:bodyPr>
              <a:lstStyle/>
              <a:p>
                <a:pPr/>
                <a14:m>
                  <m:oMathPara xmlns:m="http://schemas.openxmlformats.org/officeDocument/2006/math">
                    <m:oMathParaPr>
                      <m:jc m:val="centerGroup"/>
                    </m:oMathParaPr>
                    <m:oMath xmlns:m="http://schemas.openxmlformats.org/officeDocument/2006/math">
                      <m:sSub>
                        <m:sSubPr>
                          <m:ctrlPr>
                            <a:rPr lang="pt-BR" sz="1800" i="1" smtClean="0">
                              <a:latin typeface="Cambria Math" panose="02040503050406030204" pitchFamily="18" charset="0"/>
                            </a:rPr>
                          </m:ctrlPr>
                        </m:sSubPr>
                        <m:e>
                          <m:r>
                            <a:rPr lang="pl-PL" sz="1800" b="0" i="1" smtClean="0">
                              <a:latin typeface="Cambria Math"/>
                            </a:rPr>
                            <m:t>𝑡</m:t>
                          </m:r>
                        </m:e>
                        <m:sub>
                          <m:r>
                            <a:rPr lang="pl-PL" sz="1800" b="0" i="1" smtClean="0">
                              <a:latin typeface="Cambria Math"/>
                            </a:rPr>
                            <m:t>𝑛</m:t>
                          </m:r>
                        </m:sub>
                      </m:sSub>
                      <m:r>
                        <a:rPr lang="pl-PL" sz="1800" b="0" i="1" smtClean="0">
                          <a:latin typeface="Cambria Math"/>
                        </a:rPr>
                        <m:t>=</m:t>
                      </m:r>
                      <m:r>
                        <a:rPr lang="pl-PL" sz="1800" b="0" i="1" smtClean="0">
                          <a:latin typeface="Cambria Math"/>
                        </a:rPr>
                        <m:t>𝑇</m:t>
                      </m:r>
                    </m:oMath>
                  </m:oMathPara>
                </a14:m>
                <a:endParaRPr lang="en-US" sz="1800" dirty="0">
                  <a:latin typeface="+mn-lt"/>
                </a:endParaRPr>
              </a:p>
            </p:txBody>
          </p:sp>
        </mc:Choice>
        <mc:Fallback xmlns="">
          <p:sp>
            <p:nvSpPr>
              <p:cNvPr id="38" name="TextBox 37">
                <a:extLst>
                  <a:ext uri="{FF2B5EF4-FFF2-40B4-BE49-F238E27FC236}">
                    <a16:creationId xmlns:a16="http://schemas.microsoft.com/office/drawing/2014/main" id="{7C5028F3-2B0C-479C-8EDE-5668F2632256}"/>
                  </a:ext>
                </a:extLst>
              </p:cNvPr>
              <p:cNvSpPr txBox="1">
                <a:spLocks noRot="1" noChangeAspect="1" noMove="1" noResize="1" noEditPoints="1" noAdjustHandles="1" noChangeArrowheads="1" noChangeShapeType="1" noTextEdit="1"/>
              </p:cNvSpPr>
              <p:nvPr/>
            </p:nvSpPr>
            <p:spPr>
              <a:xfrm>
                <a:off x="6612768" y="3299157"/>
                <a:ext cx="907774" cy="260902"/>
              </a:xfrm>
              <a:prstGeom prst="rect">
                <a:avLst/>
              </a:prstGeom>
              <a:blipFill>
                <a:blip r:embed="rId8"/>
                <a:stretch>
                  <a:fillRect b="-2093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97339A4F-5A94-42C7-9FA7-FC84F079246E}"/>
                  </a:ext>
                </a:extLst>
              </p:cNvPr>
              <p:cNvSpPr txBox="1"/>
              <p:nvPr/>
            </p:nvSpPr>
            <p:spPr>
              <a:xfrm>
                <a:off x="4707836" y="3262299"/>
                <a:ext cx="907774" cy="260902"/>
              </a:xfrm>
              <a:prstGeom prst="rect">
                <a:avLst/>
              </a:prstGeom>
              <a:noFill/>
            </p:spPr>
            <p:txBody>
              <a:bodyPr wrap="square" lIns="0" tIns="0" rIns="0" bIns="0" rtlCol="0">
                <a:noAutofit/>
              </a:bodyPr>
              <a:lstStyle/>
              <a:p>
                <a:pPr/>
                <a14:m>
                  <m:oMathPara xmlns:m="http://schemas.openxmlformats.org/officeDocument/2006/math">
                    <m:oMathParaPr>
                      <m:jc m:val="centerGroup"/>
                    </m:oMathParaPr>
                    <m:oMath xmlns:m="http://schemas.openxmlformats.org/officeDocument/2006/math">
                      <m:r>
                        <a:rPr lang="pl-PL" sz="1800" i="1" smtClean="0">
                          <a:latin typeface="Cambria Math"/>
                        </a:rPr>
                        <m:t>…</m:t>
                      </m:r>
                    </m:oMath>
                  </m:oMathPara>
                </a14:m>
                <a:endParaRPr lang="en-US" sz="1800" dirty="0">
                  <a:latin typeface="+mn-lt"/>
                </a:endParaRPr>
              </a:p>
            </p:txBody>
          </p:sp>
        </mc:Choice>
        <mc:Fallback xmlns="">
          <p:sp>
            <p:nvSpPr>
              <p:cNvPr id="39" name="TextBox 38">
                <a:extLst>
                  <a:ext uri="{FF2B5EF4-FFF2-40B4-BE49-F238E27FC236}">
                    <a16:creationId xmlns:a16="http://schemas.microsoft.com/office/drawing/2014/main" id="{97339A4F-5A94-42C7-9FA7-FC84F079246E}"/>
                  </a:ext>
                </a:extLst>
              </p:cNvPr>
              <p:cNvSpPr txBox="1">
                <a:spLocks noRot="1" noChangeAspect="1" noMove="1" noResize="1" noEditPoints="1" noAdjustHandles="1" noChangeArrowheads="1" noChangeShapeType="1" noTextEdit="1"/>
              </p:cNvSpPr>
              <p:nvPr/>
            </p:nvSpPr>
            <p:spPr>
              <a:xfrm>
                <a:off x="4707836" y="3262299"/>
                <a:ext cx="907774" cy="260902"/>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41D7D251-2CE5-435F-B3B2-87F850BC69A4}"/>
                  </a:ext>
                </a:extLst>
              </p:cNvPr>
              <p:cNvSpPr txBox="1"/>
              <p:nvPr/>
            </p:nvSpPr>
            <p:spPr>
              <a:xfrm>
                <a:off x="4707836" y="2723930"/>
                <a:ext cx="907774" cy="260902"/>
              </a:xfrm>
              <a:prstGeom prst="rect">
                <a:avLst/>
              </a:prstGeom>
              <a:noFill/>
            </p:spPr>
            <p:txBody>
              <a:bodyPr wrap="square" lIns="0" tIns="0" rIns="0" bIns="0" rtlCol="0">
                <a:noAutofit/>
              </a:bodyPr>
              <a:lstStyle/>
              <a:p>
                <a:pPr/>
                <a14:m>
                  <m:oMathPara xmlns:m="http://schemas.openxmlformats.org/officeDocument/2006/math">
                    <m:oMathParaPr>
                      <m:jc m:val="centerGroup"/>
                    </m:oMathParaPr>
                    <m:oMath xmlns:m="http://schemas.openxmlformats.org/officeDocument/2006/math">
                      <m:r>
                        <a:rPr lang="pl-PL" sz="1800" i="1" smtClean="0">
                          <a:latin typeface="Cambria Math"/>
                        </a:rPr>
                        <m:t>…</m:t>
                      </m:r>
                    </m:oMath>
                  </m:oMathPara>
                </a14:m>
                <a:endParaRPr lang="en-US" sz="1800" dirty="0">
                  <a:latin typeface="+mn-lt"/>
                </a:endParaRPr>
              </a:p>
            </p:txBody>
          </p:sp>
        </mc:Choice>
        <mc:Fallback xmlns="">
          <p:sp>
            <p:nvSpPr>
              <p:cNvPr id="40" name="TextBox 39">
                <a:extLst>
                  <a:ext uri="{FF2B5EF4-FFF2-40B4-BE49-F238E27FC236}">
                    <a16:creationId xmlns:a16="http://schemas.microsoft.com/office/drawing/2014/main" id="{41D7D251-2CE5-435F-B3B2-87F850BC69A4}"/>
                  </a:ext>
                </a:extLst>
              </p:cNvPr>
              <p:cNvSpPr txBox="1">
                <a:spLocks noRot="1" noChangeAspect="1" noMove="1" noResize="1" noEditPoints="1" noAdjustHandles="1" noChangeArrowheads="1" noChangeShapeType="1" noTextEdit="1"/>
              </p:cNvSpPr>
              <p:nvPr/>
            </p:nvSpPr>
            <p:spPr>
              <a:xfrm>
                <a:off x="4707836" y="2723930"/>
                <a:ext cx="907774" cy="260902"/>
              </a:xfrm>
              <a:prstGeom prst="rect">
                <a:avLst/>
              </a:prstGeom>
              <a:blipFill>
                <a:blip r:embed="rId10"/>
                <a:stretch>
                  <a:fillRect/>
                </a:stretch>
              </a:blipFill>
            </p:spPr>
            <p:txBody>
              <a:bodyPr/>
              <a:lstStyle/>
              <a:p>
                <a:r>
                  <a:rPr lang="en-GB">
                    <a:noFill/>
                  </a:rPr>
                  <a:t> </a:t>
                </a:r>
              </a:p>
            </p:txBody>
          </p:sp>
        </mc:Fallback>
      </mc:AlternateContent>
      <p:cxnSp>
        <p:nvCxnSpPr>
          <p:cNvPr id="41" name="Straight Connector 40">
            <a:extLst>
              <a:ext uri="{FF2B5EF4-FFF2-40B4-BE49-F238E27FC236}">
                <a16:creationId xmlns:a16="http://schemas.microsoft.com/office/drawing/2014/main" id="{52B59C90-C580-4D7C-A850-3B2724ED4C81}"/>
              </a:ext>
            </a:extLst>
          </p:cNvPr>
          <p:cNvCxnSpPr/>
          <p:nvPr/>
        </p:nvCxnSpPr>
        <p:spPr>
          <a:xfrm>
            <a:off x="1126436" y="3092505"/>
            <a:ext cx="0" cy="169794"/>
          </a:xfrm>
          <a:prstGeom prst="line">
            <a:avLst/>
          </a:prstGeom>
          <a:ln w="19050">
            <a:solidFill>
              <a:srgbClr val="91919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CCBA2E3B-74C8-4A1D-9E7F-13AA60198F35}"/>
                  </a:ext>
                </a:extLst>
              </p:cNvPr>
              <p:cNvSpPr txBox="1"/>
              <p:nvPr/>
            </p:nvSpPr>
            <p:spPr>
              <a:xfrm>
                <a:off x="821636" y="3256501"/>
                <a:ext cx="881270" cy="260902"/>
              </a:xfrm>
              <a:prstGeom prst="rect">
                <a:avLst/>
              </a:prstGeom>
              <a:noFill/>
            </p:spPr>
            <p:txBody>
              <a:bodyPr wrap="square" lIns="0" tIns="0" rIns="0" bIns="0" rtlCol="0">
                <a:noAutofit/>
              </a:bodyPr>
              <a:lstStyle/>
              <a:p>
                <a:pPr/>
                <a14:m>
                  <m:oMathPara xmlns:m="http://schemas.openxmlformats.org/officeDocument/2006/math">
                    <m:oMathParaPr>
                      <m:jc m:val="centerGroup"/>
                    </m:oMathParaPr>
                    <m:oMath xmlns:m="http://schemas.openxmlformats.org/officeDocument/2006/math">
                      <m:sSub>
                        <m:sSubPr>
                          <m:ctrlPr>
                            <a:rPr lang="pt-BR" sz="1800" i="1" smtClean="0">
                              <a:latin typeface="Cambria Math" panose="02040503050406030204" pitchFamily="18" charset="0"/>
                            </a:rPr>
                          </m:ctrlPr>
                        </m:sSubPr>
                        <m:e>
                          <m:r>
                            <a:rPr lang="pl-PL" sz="1800" b="0" i="1" smtClean="0">
                              <a:latin typeface="Cambria Math"/>
                            </a:rPr>
                            <m:t>𝑡</m:t>
                          </m:r>
                        </m:e>
                        <m:sub>
                          <m:r>
                            <a:rPr lang="pl-PL" sz="1800" b="0" i="1" smtClean="0">
                              <a:latin typeface="Cambria Math"/>
                            </a:rPr>
                            <m:t>0</m:t>
                          </m:r>
                        </m:sub>
                      </m:sSub>
                    </m:oMath>
                  </m:oMathPara>
                </a14:m>
                <a:endParaRPr lang="en-US" sz="1800" dirty="0">
                  <a:latin typeface="+mn-lt"/>
                </a:endParaRPr>
              </a:p>
            </p:txBody>
          </p:sp>
        </mc:Choice>
        <mc:Fallback xmlns="">
          <p:sp>
            <p:nvSpPr>
              <p:cNvPr id="42" name="TextBox 41">
                <a:extLst>
                  <a:ext uri="{FF2B5EF4-FFF2-40B4-BE49-F238E27FC236}">
                    <a16:creationId xmlns:a16="http://schemas.microsoft.com/office/drawing/2014/main" id="{CCBA2E3B-74C8-4A1D-9E7F-13AA60198F35}"/>
                  </a:ext>
                </a:extLst>
              </p:cNvPr>
              <p:cNvSpPr txBox="1">
                <a:spLocks noRot="1" noChangeAspect="1" noMove="1" noResize="1" noEditPoints="1" noAdjustHandles="1" noChangeArrowheads="1" noChangeShapeType="1" noTextEdit="1"/>
              </p:cNvSpPr>
              <p:nvPr/>
            </p:nvSpPr>
            <p:spPr>
              <a:xfrm>
                <a:off x="821636" y="3256501"/>
                <a:ext cx="881270" cy="260902"/>
              </a:xfrm>
              <a:prstGeom prst="rect">
                <a:avLst/>
              </a:prstGeom>
              <a:blipFill>
                <a:blip r:embed="rId11"/>
                <a:stretch>
                  <a:fillRect b="-2558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B1436114-1756-4972-8D74-88CC65C1DA4E}"/>
                  </a:ext>
                </a:extLst>
              </p:cNvPr>
              <p:cNvSpPr txBox="1"/>
              <p:nvPr/>
            </p:nvSpPr>
            <p:spPr>
              <a:xfrm>
                <a:off x="1583636" y="3585736"/>
                <a:ext cx="914400" cy="628650"/>
              </a:xfrm>
              <a:prstGeom prst="rect">
                <a:avLst/>
              </a:prstGeom>
              <a:noFill/>
            </p:spPr>
            <p:txBody>
              <a:bodyPr wrap="none" lIns="0" tIns="0" rIns="0" bIns="0" rtlCol="0">
                <a:noAutofit/>
              </a:bodyPr>
              <a:lstStyle/>
              <a:p>
                <a:r>
                  <a:rPr lang="pl-PL" sz="1800" dirty="0">
                    <a:latin typeface="+mn-lt"/>
                  </a:rPr>
                  <a:t>LIBOR(</a:t>
                </a:r>
                <a14:m>
                  <m:oMath xmlns:m="http://schemas.openxmlformats.org/officeDocument/2006/math">
                    <m:sSub>
                      <m:sSubPr>
                        <m:ctrlPr>
                          <a:rPr lang="pt-BR" sz="1800" i="1">
                            <a:latin typeface="Cambria Math" panose="02040503050406030204" pitchFamily="18" charset="0"/>
                          </a:rPr>
                        </m:ctrlPr>
                      </m:sSubPr>
                      <m:e>
                        <m:r>
                          <a:rPr lang="pl-PL" sz="1800" i="1">
                            <a:latin typeface="Cambria Math"/>
                          </a:rPr>
                          <m:t>𝑡</m:t>
                        </m:r>
                      </m:e>
                      <m:sub>
                        <m:r>
                          <a:rPr lang="pl-PL" sz="1800" b="0" i="1" smtClean="0">
                            <a:latin typeface="Cambria Math"/>
                          </a:rPr>
                          <m:t>0</m:t>
                        </m:r>
                      </m:sub>
                    </m:sSub>
                  </m:oMath>
                </a14:m>
                <a:r>
                  <a:rPr lang="pl-PL" sz="1800" dirty="0">
                    <a:latin typeface="+mn-lt"/>
                  </a:rPr>
                  <a:t>,</a:t>
                </a:r>
                <a:r>
                  <a:rPr lang="pt-BR" sz="1800" dirty="0"/>
                  <a:t> </a:t>
                </a:r>
                <a14:m>
                  <m:oMath xmlns:m="http://schemas.openxmlformats.org/officeDocument/2006/math">
                    <m:sSub>
                      <m:sSubPr>
                        <m:ctrlPr>
                          <a:rPr lang="pt-BR" sz="1800" i="1" smtClean="0">
                            <a:latin typeface="Cambria Math" panose="02040503050406030204" pitchFamily="18" charset="0"/>
                          </a:rPr>
                        </m:ctrlPr>
                      </m:sSubPr>
                      <m:e>
                        <m:r>
                          <a:rPr lang="pl-PL" sz="1800" i="1">
                            <a:latin typeface="Cambria Math"/>
                          </a:rPr>
                          <m:t>𝑡</m:t>
                        </m:r>
                      </m:e>
                      <m:sub>
                        <m:r>
                          <a:rPr lang="pl-PL" sz="1800" b="0" i="1" smtClean="0">
                            <a:latin typeface="Cambria Math"/>
                          </a:rPr>
                          <m:t>1</m:t>
                        </m:r>
                      </m:sub>
                    </m:sSub>
                  </m:oMath>
                </a14:m>
                <a:r>
                  <a:rPr lang="pl-PL" sz="1800" dirty="0">
                    <a:latin typeface="+mn-lt"/>
                  </a:rPr>
                  <a:t>)</a:t>
                </a:r>
                <a:endParaRPr lang="en-US" sz="1800" dirty="0">
                  <a:latin typeface="+mn-lt"/>
                </a:endParaRPr>
              </a:p>
            </p:txBody>
          </p:sp>
        </mc:Choice>
        <mc:Fallback xmlns="">
          <p:sp>
            <p:nvSpPr>
              <p:cNvPr id="43" name="TextBox 42">
                <a:extLst>
                  <a:ext uri="{FF2B5EF4-FFF2-40B4-BE49-F238E27FC236}">
                    <a16:creationId xmlns:a16="http://schemas.microsoft.com/office/drawing/2014/main" id="{B1436114-1756-4972-8D74-88CC65C1DA4E}"/>
                  </a:ext>
                </a:extLst>
              </p:cNvPr>
              <p:cNvSpPr txBox="1">
                <a:spLocks noRot="1" noChangeAspect="1" noMove="1" noResize="1" noEditPoints="1" noAdjustHandles="1" noChangeArrowheads="1" noChangeShapeType="1" noTextEdit="1"/>
              </p:cNvSpPr>
              <p:nvPr/>
            </p:nvSpPr>
            <p:spPr>
              <a:xfrm>
                <a:off x="1583636" y="3585736"/>
                <a:ext cx="914400" cy="628650"/>
              </a:xfrm>
              <a:prstGeom prst="rect">
                <a:avLst/>
              </a:prstGeom>
              <a:blipFill>
                <a:blip r:embed="rId12"/>
                <a:stretch>
                  <a:fillRect l="-16000" t="-13592" r="-5733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686335BD-AD6A-430E-AD5C-F1FEE90054C1}"/>
                  </a:ext>
                </a:extLst>
              </p:cNvPr>
              <p:cNvSpPr txBox="1"/>
              <p:nvPr/>
            </p:nvSpPr>
            <p:spPr>
              <a:xfrm>
                <a:off x="3183836" y="3577868"/>
                <a:ext cx="914400" cy="628650"/>
              </a:xfrm>
              <a:prstGeom prst="rect">
                <a:avLst/>
              </a:prstGeom>
              <a:noFill/>
            </p:spPr>
            <p:txBody>
              <a:bodyPr wrap="none" lIns="0" tIns="0" rIns="0" bIns="0" rtlCol="0">
                <a:noAutofit/>
              </a:bodyPr>
              <a:lstStyle/>
              <a:p>
                <a:r>
                  <a:rPr lang="pl-PL" sz="1800" dirty="0">
                    <a:latin typeface="+mn-lt"/>
                  </a:rPr>
                  <a:t>LIBOR(</a:t>
                </a:r>
                <a14:m>
                  <m:oMath xmlns:m="http://schemas.openxmlformats.org/officeDocument/2006/math">
                    <m:sSub>
                      <m:sSubPr>
                        <m:ctrlPr>
                          <a:rPr lang="pt-BR" sz="1800" i="1">
                            <a:latin typeface="Cambria Math" panose="02040503050406030204" pitchFamily="18" charset="0"/>
                          </a:rPr>
                        </m:ctrlPr>
                      </m:sSubPr>
                      <m:e>
                        <m:r>
                          <a:rPr lang="pl-PL" sz="1800" i="1">
                            <a:latin typeface="Cambria Math"/>
                          </a:rPr>
                          <m:t>𝑡</m:t>
                        </m:r>
                      </m:e>
                      <m:sub>
                        <m:r>
                          <a:rPr lang="pl-PL" sz="1800" b="0" i="1" smtClean="0">
                            <a:latin typeface="Cambria Math"/>
                          </a:rPr>
                          <m:t>1</m:t>
                        </m:r>
                      </m:sub>
                    </m:sSub>
                  </m:oMath>
                </a14:m>
                <a:r>
                  <a:rPr lang="pl-PL" sz="1800" dirty="0">
                    <a:latin typeface="+mn-lt"/>
                  </a:rPr>
                  <a:t>,</a:t>
                </a:r>
                <a:r>
                  <a:rPr lang="pt-BR" sz="1800" dirty="0"/>
                  <a:t> </a:t>
                </a:r>
                <a14:m>
                  <m:oMath xmlns:m="http://schemas.openxmlformats.org/officeDocument/2006/math">
                    <m:sSub>
                      <m:sSubPr>
                        <m:ctrlPr>
                          <a:rPr lang="pt-BR" sz="1800" i="1" smtClean="0">
                            <a:latin typeface="Cambria Math" panose="02040503050406030204" pitchFamily="18" charset="0"/>
                          </a:rPr>
                        </m:ctrlPr>
                      </m:sSubPr>
                      <m:e>
                        <m:r>
                          <a:rPr lang="pl-PL" sz="1800" i="1">
                            <a:latin typeface="Cambria Math"/>
                          </a:rPr>
                          <m:t>𝑡</m:t>
                        </m:r>
                      </m:e>
                      <m:sub>
                        <m:r>
                          <a:rPr lang="pl-PL" sz="1800" b="0" i="1" smtClean="0">
                            <a:latin typeface="Cambria Math"/>
                          </a:rPr>
                          <m:t>2</m:t>
                        </m:r>
                      </m:sub>
                    </m:sSub>
                  </m:oMath>
                </a14:m>
                <a:r>
                  <a:rPr lang="pl-PL" sz="1800" dirty="0">
                    <a:latin typeface="+mn-lt"/>
                  </a:rPr>
                  <a:t>)</a:t>
                </a:r>
                <a:endParaRPr lang="en-US" sz="1800" dirty="0">
                  <a:latin typeface="+mn-lt"/>
                </a:endParaRPr>
              </a:p>
            </p:txBody>
          </p:sp>
        </mc:Choice>
        <mc:Fallback xmlns="">
          <p:sp>
            <p:nvSpPr>
              <p:cNvPr id="44" name="TextBox 43">
                <a:extLst>
                  <a:ext uri="{FF2B5EF4-FFF2-40B4-BE49-F238E27FC236}">
                    <a16:creationId xmlns:a16="http://schemas.microsoft.com/office/drawing/2014/main" id="{686335BD-AD6A-430E-AD5C-F1FEE90054C1}"/>
                  </a:ext>
                </a:extLst>
              </p:cNvPr>
              <p:cNvSpPr txBox="1">
                <a:spLocks noRot="1" noChangeAspect="1" noMove="1" noResize="1" noEditPoints="1" noAdjustHandles="1" noChangeArrowheads="1" noChangeShapeType="1" noTextEdit="1"/>
              </p:cNvSpPr>
              <p:nvPr/>
            </p:nvSpPr>
            <p:spPr>
              <a:xfrm>
                <a:off x="3183836" y="3577868"/>
                <a:ext cx="914400" cy="628650"/>
              </a:xfrm>
              <a:prstGeom prst="rect">
                <a:avLst/>
              </a:prstGeom>
              <a:blipFill>
                <a:blip r:embed="rId13"/>
                <a:stretch>
                  <a:fillRect l="-15333" t="-13592" r="-58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ACB3133C-305E-4D9D-809F-E2CD182F82ED}"/>
                  </a:ext>
                </a:extLst>
              </p:cNvPr>
              <p:cNvSpPr txBox="1"/>
              <p:nvPr/>
            </p:nvSpPr>
            <p:spPr>
              <a:xfrm>
                <a:off x="6152255" y="3595677"/>
                <a:ext cx="914400" cy="628650"/>
              </a:xfrm>
              <a:prstGeom prst="rect">
                <a:avLst/>
              </a:prstGeom>
              <a:noFill/>
            </p:spPr>
            <p:txBody>
              <a:bodyPr wrap="none" lIns="0" tIns="0" rIns="0" bIns="0" rtlCol="0">
                <a:noAutofit/>
              </a:bodyPr>
              <a:lstStyle/>
              <a:p>
                <a:r>
                  <a:rPr lang="pl-PL" sz="1800" dirty="0">
                    <a:latin typeface="+mn-lt"/>
                  </a:rPr>
                  <a:t>LIBOR(</a:t>
                </a:r>
                <a14:m>
                  <m:oMath xmlns:m="http://schemas.openxmlformats.org/officeDocument/2006/math">
                    <m:sSub>
                      <m:sSubPr>
                        <m:ctrlPr>
                          <a:rPr lang="pt-BR" sz="1800" i="1" smtClean="0">
                            <a:latin typeface="Cambria Math" panose="02040503050406030204" pitchFamily="18" charset="0"/>
                          </a:rPr>
                        </m:ctrlPr>
                      </m:sSubPr>
                      <m:e>
                        <m:r>
                          <a:rPr lang="pl-PL" sz="1800" i="1">
                            <a:latin typeface="Cambria Math"/>
                          </a:rPr>
                          <m:t>𝑡</m:t>
                        </m:r>
                      </m:e>
                      <m:sub>
                        <m:r>
                          <a:rPr lang="pl-PL" sz="1800" b="0" i="1" smtClean="0">
                            <a:latin typeface="Cambria Math"/>
                          </a:rPr>
                          <m:t>𝑛</m:t>
                        </m:r>
                        <m:r>
                          <a:rPr lang="pl-PL" sz="1800" b="0" i="1" smtClean="0">
                            <a:latin typeface="Cambria Math"/>
                          </a:rPr>
                          <m:t>−1</m:t>
                        </m:r>
                      </m:sub>
                    </m:sSub>
                  </m:oMath>
                </a14:m>
                <a:r>
                  <a:rPr lang="pl-PL" sz="1800" dirty="0">
                    <a:latin typeface="+mn-lt"/>
                  </a:rPr>
                  <a:t>,</a:t>
                </a:r>
                <a:r>
                  <a:rPr lang="pt-BR" sz="1800" dirty="0"/>
                  <a:t> </a:t>
                </a:r>
                <a14:m>
                  <m:oMath xmlns:m="http://schemas.openxmlformats.org/officeDocument/2006/math">
                    <m:sSub>
                      <m:sSubPr>
                        <m:ctrlPr>
                          <a:rPr lang="pt-BR" sz="1800" i="1" smtClean="0">
                            <a:latin typeface="Cambria Math" panose="02040503050406030204" pitchFamily="18" charset="0"/>
                          </a:rPr>
                        </m:ctrlPr>
                      </m:sSubPr>
                      <m:e>
                        <m:r>
                          <a:rPr lang="pl-PL" sz="1800" i="1">
                            <a:latin typeface="Cambria Math"/>
                          </a:rPr>
                          <m:t>𝑡</m:t>
                        </m:r>
                      </m:e>
                      <m:sub>
                        <m:r>
                          <a:rPr lang="pl-PL" sz="1800" b="0" i="1" smtClean="0">
                            <a:latin typeface="Cambria Math"/>
                          </a:rPr>
                          <m:t>𝑛</m:t>
                        </m:r>
                      </m:sub>
                    </m:sSub>
                  </m:oMath>
                </a14:m>
                <a:r>
                  <a:rPr lang="pl-PL" sz="1800" dirty="0">
                    <a:latin typeface="+mn-lt"/>
                  </a:rPr>
                  <a:t>)</a:t>
                </a:r>
                <a:endParaRPr lang="en-US" sz="1800" dirty="0">
                  <a:latin typeface="+mn-lt"/>
                </a:endParaRPr>
              </a:p>
            </p:txBody>
          </p:sp>
        </mc:Choice>
        <mc:Fallback xmlns="">
          <p:sp>
            <p:nvSpPr>
              <p:cNvPr id="45" name="TextBox 44">
                <a:extLst>
                  <a:ext uri="{FF2B5EF4-FFF2-40B4-BE49-F238E27FC236}">
                    <a16:creationId xmlns:a16="http://schemas.microsoft.com/office/drawing/2014/main" id="{ACB3133C-305E-4D9D-809F-E2CD182F82ED}"/>
                  </a:ext>
                </a:extLst>
              </p:cNvPr>
              <p:cNvSpPr txBox="1">
                <a:spLocks noRot="1" noChangeAspect="1" noMove="1" noResize="1" noEditPoints="1" noAdjustHandles="1" noChangeArrowheads="1" noChangeShapeType="1" noTextEdit="1"/>
              </p:cNvSpPr>
              <p:nvPr/>
            </p:nvSpPr>
            <p:spPr>
              <a:xfrm>
                <a:off x="6152255" y="3595677"/>
                <a:ext cx="914400" cy="628650"/>
              </a:xfrm>
              <a:prstGeom prst="rect">
                <a:avLst/>
              </a:prstGeom>
              <a:blipFill>
                <a:blip r:embed="rId14"/>
                <a:stretch>
                  <a:fillRect l="-15333" t="-13592" r="-8533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2C9A7A7C-4A8F-404A-A390-2DEDB3C56367}"/>
                  </a:ext>
                </a:extLst>
              </p:cNvPr>
              <p:cNvSpPr txBox="1"/>
              <p:nvPr/>
            </p:nvSpPr>
            <p:spPr>
              <a:xfrm>
                <a:off x="526685" y="4299375"/>
                <a:ext cx="8695945" cy="914400"/>
              </a:xfrm>
              <a:prstGeom prst="rect">
                <a:avLst/>
              </a:prstGeom>
              <a:noFill/>
            </p:spPr>
            <p:txBody>
              <a:bodyPr wrap="square" lIns="0" tIns="0" rIns="0" bIns="0" rtlCol="0">
                <a:noAutofit/>
              </a:bodyPr>
              <a:lstStyle/>
              <a:p>
                <a:r>
                  <a:rPr lang="pl-PL" dirty="0">
                    <a:latin typeface="Frutiger 55 Roman" panose="020B0503040202020204" pitchFamily="34" charset="0"/>
                  </a:rPr>
                  <a:t>K – </a:t>
                </a:r>
                <a:r>
                  <a:rPr lang="en-GB" dirty="0">
                    <a:latin typeface="Frutiger 55 Roman" panose="020B0503040202020204" pitchFamily="34" charset="0"/>
                  </a:rPr>
                  <a:t>swap rate which is set at the beginning of the contract</a:t>
                </a:r>
                <a:r>
                  <a:rPr lang="pl-PL" dirty="0">
                    <a:latin typeface="Frutiger 55 Roman" panose="020B0503040202020204" pitchFamily="34" charset="0"/>
                  </a:rPr>
                  <a:t>, </a:t>
                </a:r>
                <a:r>
                  <a:rPr lang="pl-PL" dirty="0" err="1">
                    <a:latin typeface="Frutiger 55 Roman" panose="020B0503040202020204" pitchFamily="34" charset="0"/>
                  </a:rPr>
                  <a:t>usually</a:t>
                </a:r>
                <a:r>
                  <a:rPr lang="pl-PL" dirty="0">
                    <a:latin typeface="Frutiger 55 Roman" panose="020B0503040202020204" pitchFamily="34" charset="0"/>
                  </a:rPr>
                  <a:t> </a:t>
                </a:r>
                <a:r>
                  <a:rPr lang="pl-PL" dirty="0" err="1">
                    <a:latin typeface="Frutiger 55 Roman" panose="020B0503040202020204" pitchFamily="34" charset="0"/>
                  </a:rPr>
                  <a:t>so</a:t>
                </a:r>
                <a:r>
                  <a:rPr lang="pl-PL" dirty="0">
                    <a:latin typeface="Frutiger 55 Roman" panose="020B0503040202020204" pitchFamily="34" charset="0"/>
                  </a:rPr>
                  <a:t> </a:t>
                </a:r>
                <a:r>
                  <a:rPr lang="pl-PL" dirty="0" err="1">
                    <a:latin typeface="Frutiger 55 Roman" panose="020B0503040202020204" pitchFamily="34" charset="0"/>
                  </a:rPr>
                  <a:t>that</a:t>
                </a:r>
                <a:r>
                  <a:rPr lang="pl-PL" dirty="0">
                    <a:latin typeface="Frutiger 55 Roman" panose="020B0503040202020204" pitchFamily="34" charset="0"/>
                  </a:rPr>
                  <a:t> the </a:t>
                </a:r>
                <a:r>
                  <a:rPr lang="pl-PL" dirty="0" err="1">
                    <a:latin typeface="Frutiger 55 Roman" panose="020B0503040202020204" pitchFamily="34" charset="0"/>
                  </a:rPr>
                  <a:t>initial</a:t>
                </a:r>
                <a:r>
                  <a:rPr lang="pl-PL" dirty="0">
                    <a:latin typeface="Frutiger 55 Roman" panose="020B0503040202020204" pitchFamily="34" charset="0"/>
                  </a:rPr>
                  <a:t> </a:t>
                </a:r>
                <a:r>
                  <a:rPr lang="pl-PL" dirty="0" err="1">
                    <a:latin typeface="Frutiger 55 Roman" panose="020B0503040202020204" pitchFamily="34" charset="0"/>
                  </a:rPr>
                  <a:t>value</a:t>
                </a:r>
                <a:r>
                  <a:rPr lang="pl-PL" dirty="0">
                    <a:latin typeface="Frutiger 55 Roman" panose="020B0503040202020204" pitchFamily="34" charset="0"/>
                  </a:rPr>
                  <a:t> of the </a:t>
                </a:r>
                <a:r>
                  <a:rPr lang="pl-PL" dirty="0" err="1">
                    <a:latin typeface="Frutiger 55 Roman" panose="020B0503040202020204" pitchFamily="34" charset="0"/>
                  </a:rPr>
                  <a:t>contract</a:t>
                </a:r>
                <a:r>
                  <a:rPr lang="pl-PL" dirty="0">
                    <a:latin typeface="Frutiger 55 Roman" panose="020B0503040202020204" pitchFamily="34" charset="0"/>
                  </a:rPr>
                  <a:t> </a:t>
                </a:r>
                <a:r>
                  <a:rPr lang="pl-PL" dirty="0" err="1">
                    <a:latin typeface="Frutiger 55 Roman" panose="020B0503040202020204" pitchFamily="34" charset="0"/>
                  </a:rPr>
                  <a:t>is</a:t>
                </a:r>
                <a:r>
                  <a:rPr lang="pl-PL" dirty="0">
                    <a:latin typeface="Frutiger 55 Roman" panose="020B0503040202020204" pitchFamily="34" charset="0"/>
                  </a:rPr>
                  <a:t> zero: </a:t>
                </a:r>
                <a14:m>
                  <m:oMath xmlns:m="http://schemas.openxmlformats.org/officeDocument/2006/math">
                    <m:sSub>
                      <m:sSubPr>
                        <m:ctrlPr>
                          <a:rPr lang="en-US" i="1" smtClean="0">
                            <a:latin typeface="Cambria Math" panose="02040503050406030204" pitchFamily="18" charset="0"/>
                          </a:rPr>
                        </m:ctrlPr>
                      </m:sSubPr>
                      <m:e>
                        <m:r>
                          <a:rPr lang="en-US">
                            <a:latin typeface="Cambria Math" panose="02040503050406030204" pitchFamily="18" charset="0"/>
                          </a:rPr>
                          <m:t>𝑉</m:t>
                        </m:r>
                      </m:e>
                      <m:sub>
                        <m:r>
                          <a:rPr lang="pl-PL">
                            <a:latin typeface="Cambria Math" panose="02040503050406030204" pitchFamily="18" charset="0"/>
                          </a:rPr>
                          <m:t>𝑠𝑤𝑎𝑝</m:t>
                        </m:r>
                      </m:sub>
                    </m:sSub>
                    <m:d>
                      <m:dPr>
                        <m:ctrlPr>
                          <a:rPr lang="en-US" i="1">
                            <a:latin typeface="Cambria Math" panose="02040503050406030204" pitchFamily="18" charset="0"/>
                          </a:rPr>
                        </m:ctrlPr>
                      </m:dPr>
                      <m:e>
                        <m:r>
                          <a:rPr lang="pl-PL">
                            <a:latin typeface="Cambria Math" panose="02040503050406030204" pitchFamily="18" charset="0"/>
                          </a:rPr>
                          <m:t>0</m:t>
                        </m:r>
                      </m:e>
                    </m:d>
                    <m:r>
                      <a:rPr lang="pl-PL">
                        <a:latin typeface="Cambria Math" panose="02040503050406030204" pitchFamily="18" charset="0"/>
                      </a:rPr>
                      <m:t>=0.</m:t>
                    </m:r>
                  </m:oMath>
                </a14:m>
                <a:r>
                  <a:rPr lang="pl-PL" dirty="0">
                    <a:latin typeface="Frutiger 55 Roman" panose="020B0503040202020204" pitchFamily="34" charset="0"/>
                  </a:rPr>
                  <a:t> </a:t>
                </a:r>
                <a:endParaRPr lang="en-US" dirty="0">
                  <a:latin typeface="Frutiger 55 Roman" panose="020B0503040202020204" pitchFamily="34" charset="0"/>
                </a:endParaRPr>
              </a:p>
            </p:txBody>
          </p:sp>
        </mc:Choice>
        <mc:Fallback xmlns="">
          <p:sp>
            <p:nvSpPr>
              <p:cNvPr id="46" name="TextBox 45">
                <a:extLst>
                  <a:ext uri="{FF2B5EF4-FFF2-40B4-BE49-F238E27FC236}">
                    <a16:creationId xmlns:a16="http://schemas.microsoft.com/office/drawing/2014/main" id="{2C9A7A7C-4A8F-404A-A390-2DEDB3C56367}"/>
                  </a:ext>
                </a:extLst>
              </p:cNvPr>
              <p:cNvSpPr txBox="1">
                <a:spLocks noRot="1" noChangeAspect="1" noMove="1" noResize="1" noEditPoints="1" noAdjustHandles="1" noChangeArrowheads="1" noChangeShapeType="1" noTextEdit="1"/>
              </p:cNvSpPr>
              <p:nvPr/>
            </p:nvSpPr>
            <p:spPr>
              <a:xfrm>
                <a:off x="526685" y="4299375"/>
                <a:ext cx="8695945" cy="914400"/>
              </a:xfrm>
              <a:prstGeom prst="rect">
                <a:avLst/>
              </a:prstGeom>
              <a:blipFill>
                <a:blip r:embed="rId15"/>
                <a:stretch>
                  <a:fillRect l="-1612" t="-9333"/>
                </a:stretch>
              </a:blipFill>
            </p:spPr>
            <p:txBody>
              <a:bodyPr/>
              <a:lstStyle/>
              <a:p>
                <a:r>
                  <a:rPr lang="en-GB">
                    <a:noFill/>
                  </a:rPr>
                  <a:t> </a:t>
                </a:r>
              </a:p>
            </p:txBody>
          </p:sp>
        </mc:Fallback>
      </mc:AlternateContent>
      <p:sp>
        <p:nvSpPr>
          <p:cNvPr id="47" name="TextBox 46">
            <a:extLst>
              <a:ext uri="{FF2B5EF4-FFF2-40B4-BE49-F238E27FC236}">
                <a16:creationId xmlns:a16="http://schemas.microsoft.com/office/drawing/2014/main" id="{A580B682-8037-4E02-BED2-DA55AA6E561C}"/>
              </a:ext>
            </a:extLst>
          </p:cNvPr>
          <p:cNvSpPr txBox="1"/>
          <p:nvPr>
            <p:custDataLst>
              <p:tags r:id="rId3"/>
            </p:custDataLst>
          </p:nvPr>
        </p:nvSpPr>
        <p:spPr>
          <a:xfrm>
            <a:off x="420624" y="1120775"/>
            <a:ext cx="9189720" cy="274320"/>
          </a:xfrm>
          <a:prstGeom prst="rect">
            <a:avLst/>
          </a:prstGeom>
          <a:noFill/>
        </p:spPr>
        <p:txBody>
          <a:bodyPr vert="horz" wrap="square" lIns="0" tIns="0" rIns="0" bIns="0" rtlCol="0" anchor="t">
            <a:noAutofit/>
          </a:bodyPr>
          <a:lstStyle/>
          <a:p>
            <a:pPr eaLnBrk="1">
              <a:spcBef>
                <a:spcPts val="0"/>
              </a:spcBef>
              <a:spcAft>
                <a:spcPts val="600"/>
              </a:spcAft>
            </a:pPr>
            <a:r>
              <a:rPr lang="pl-PL" sz="2000" kern="0" dirty="0" err="1">
                <a:solidFill>
                  <a:srgbClr val="464749"/>
                </a:solidFill>
                <a:latin typeface="Frutiger 45 Light" panose="020B0603020202020204" pitchFamily="34" charset="0"/>
              </a:rPr>
              <a:t>Example</a:t>
            </a:r>
            <a:r>
              <a:rPr lang="pl-PL" sz="2000" kern="0" dirty="0">
                <a:solidFill>
                  <a:srgbClr val="464749"/>
                </a:solidFill>
                <a:latin typeface="Frutiger 45 Light" panose="020B0603020202020204" pitchFamily="34" charset="0"/>
              </a:rPr>
              <a:t> (</a:t>
            </a:r>
            <a:r>
              <a:rPr lang="pl-PL" sz="2000" kern="0" dirty="0" err="1">
                <a:solidFill>
                  <a:srgbClr val="464749"/>
                </a:solidFill>
                <a:latin typeface="Frutiger 45 Light" panose="020B0603020202020204" pitchFamily="34" charset="0"/>
              </a:rPr>
              <a:t>interest-rate</a:t>
            </a:r>
            <a:r>
              <a:rPr lang="pl-PL" sz="2000" kern="0" dirty="0">
                <a:solidFill>
                  <a:srgbClr val="464749"/>
                </a:solidFill>
                <a:latin typeface="Frutiger 45 Light" panose="020B0603020202020204" pitchFamily="34" charset="0"/>
              </a:rPr>
              <a:t> </a:t>
            </a:r>
            <a:r>
              <a:rPr lang="pl-PL" sz="2000" kern="0" dirty="0" err="1">
                <a:solidFill>
                  <a:srgbClr val="464749"/>
                </a:solidFill>
                <a:latin typeface="Frutiger 45 Light" panose="020B0603020202020204" pitchFamily="34" charset="0"/>
              </a:rPr>
              <a:t>swap</a:t>
            </a:r>
            <a:r>
              <a:rPr lang="pl-PL" sz="2000" kern="0" dirty="0">
                <a:solidFill>
                  <a:srgbClr val="464749"/>
                </a:solidFill>
                <a:latin typeface="Frutiger 45 Light" panose="020B0603020202020204" pitchFamily="34" charset="0"/>
              </a:rPr>
              <a:t>)</a:t>
            </a:r>
            <a:endParaRPr lang="en-US" sz="2000" kern="0" dirty="0">
              <a:solidFill>
                <a:srgbClr val="464749"/>
              </a:solidFill>
              <a:latin typeface="Frutiger 45 Light" panose="020B0603020202020204" pitchFamily="34" charset="0"/>
            </a:endParaRPr>
          </a:p>
        </p:txBody>
      </p:sp>
    </p:spTree>
    <p:custDataLst>
      <p:tags r:id="rId1"/>
    </p:custDataLst>
    <p:extLst>
      <p:ext uri="{BB962C8B-B14F-4D97-AF65-F5344CB8AC3E}">
        <p14:creationId xmlns:p14="http://schemas.microsoft.com/office/powerpoint/2010/main" val="3286033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randombar(horizontal)">
                                      <p:cBhvr>
                                        <p:cTn id="7" dur="500"/>
                                        <p:tgtEl>
                                          <p:spTgt spid="46"/>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randombar(horizontal)">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randombar(horizontal)">
                                      <p:cBhvr>
                                        <p:cTn id="1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32" grpId="0"/>
      <p:bldP spid="4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AGE HEADING"/>
          <p:cNvSpPr>
            <a:spLocks noGrp="1"/>
          </p:cNvSpPr>
          <p:nvPr>
            <p:ph type="title"/>
            <p:custDataLst>
              <p:tags r:id="rId2"/>
            </p:custDataLst>
          </p:nvPr>
        </p:nvSpPr>
        <p:spPr/>
        <p:txBody>
          <a:bodyPr>
            <a:normAutofit/>
          </a:bodyPr>
          <a:lstStyle/>
          <a:p>
            <a:r>
              <a:rPr lang="en-US" dirty="0"/>
              <a:t>Counterparty Credit Risk</a:t>
            </a:r>
            <a:r>
              <a:rPr lang="pl-PL" dirty="0"/>
              <a:t> - </a:t>
            </a:r>
            <a:r>
              <a:rPr lang="pl-PL" dirty="0" err="1"/>
              <a:t>Introduction</a:t>
            </a:r>
            <a:endParaRPr lang="en-US" dirty="0"/>
          </a:p>
        </p:txBody>
      </p:sp>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FBB868FE-2AE6-4D55-8F36-DA9D68047E7F}"/>
                  </a:ext>
                </a:extLst>
              </p:cNvPr>
              <p:cNvSpPr txBox="1"/>
              <p:nvPr/>
            </p:nvSpPr>
            <p:spPr>
              <a:xfrm>
                <a:off x="420624" y="1797094"/>
                <a:ext cx="9447777" cy="4897180"/>
              </a:xfrm>
              <a:prstGeom prst="rect">
                <a:avLst/>
              </a:prstGeom>
              <a:noFill/>
            </p:spPr>
            <p:txBody>
              <a:bodyPr wrap="square" lIns="0" tIns="0" rIns="0" bIns="0" rtlCol="0">
                <a:noAutofit/>
              </a:bodyPr>
              <a:lstStyle/>
              <a:p>
                <a:r>
                  <a:rPr lang="en-GB" dirty="0">
                    <a:latin typeface="Frutiger 45 Light" panose="020B0603020202020204" pitchFamily="34" charset="0"/>
                  </a:rPr>
                  <a:t>For an interest rate swap the expected exposure is</a:t>
                </a:r>
                <a:r>
                  <a:rPr lang="pl-PL" dirty="0">
                    <a:latin typeface="Frutiger 45 Light" panose="020B0603020202020204" pitchFamily="34" charset="0"/>
                  </a:rPr>
                  <a:t>:</a:t>
                </a:r>
              </a:p>
              <a:p>
                <a14:m>
                  <m:oMath xmlns:m="http://schemas.openxmlformats.org/officeDocument/2006/math">
                    <m:r>
                      <a:rPr lang="pl-PL" b="0" i="1" smtClean="0">
                        <a:latin typeface="Cambria Math" panose="02040503050406030204" pitchFamily="18" charset="0"/>
                      </a:rPr>
                      <m:t>                           </m:t>
                    </m:r>
                    <m:r>
                      <a:rPr lang="en-US" i="1">
                        <a:latin typeface="Cambria Math"/>
                      </a:rPr>
                      <m:t>𝔼</m:t>
                    </m:r>
                    <m:r>
                      <a:rPr lang="en-US" i="1">
                        <a:latin typeface="Cambria Math"/>
                      </a:rPr>
                      <m:t>(</m:t>
                    </m:r>
                    <m:r>
                      <a:rPr lang="en-US" i="1">
                        <a:latin typeface="Cambria Math"/>
                      </a:rPr>
                      <m:t>𝑚𝑎𝑥</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a:rPr>
                              <m:t>𝑉</m:t>
                            </m:r>
                          </m:e>
                          <m:sub>
                            <m:r>
                              <a:rPr lang="en-US" i="1">
                                <a:latin typeface="Cambria Math"/>
                              </a:rPr>
                              <m:t>𝑋</m:t>
                            </m:r>
                          </m:sub>
                        </m:sSub>
                        <m:d>
                          <m:dPr>
                            <m:ctrlPr>
                              <a:rPr lang="en-US" i="1">
                                <a:latin typeface="Cambria Math" panose="02040503050406030204" pitchFamily="18" charset="0"/>
                              </a:rPr>
                            </m:ctrlPr>
                          </m:dPr>
                          <m:e>
                            <m:r>
                              <a:rPr lang="en-US" i="1">
                                <a:latin typeface="Cambria Math"/>
                              </a:rPr>
                              <m:t>𝑡</m:t>
                            </m:r>
                          </m:e>
                        </m:d>
                        <m:r>
                          <a:rPr lang="en-US" i="1">
                            <a:latin typeface="Cambria Math"/>
                          </a:rPr>
                          <m:t>,0</m:t>
                        </m:r>
                      </m:e>
                    </m:d>
                    <m:r>
                      <a:rPr lang="pl-PL" b="0" i="1" smtClean="0">
                        <a:latin typeface="Cambria Math"/>
                      </a:rPr>
                      <m:t>)</m:t>
                    </m:r>
                  </m:oMath>
                </a14:m>
                <a:r>
                  <a:rPr lang="pl-PL" dirty="0">
                    <a:latin typeface="Frutiger 45 Light" panose="020B0603020202020204" pitchFamily="34" charset="0"/>
                  </a:rPr>
                  <a:t> =</a:t>
                </a:r>
                <a14:m>
                  <m:oMath xmlns:m="http://schemas.openxmlformats.org/officeDocument/2006/math">
                    <m:r>
                      <a:rPr lang="pl-PL" b="0" i="0" smtClean="0">
                        <a:latin typeface="Cambria Math" panose="02040503050406030204" pitchFamily="18" charset="0"/>
                      </a:rPr>
                      <m:t> </m:t>
                    </m:r>
                    <m:r>
                      <a:rPr lang="en-US" i="1">
                        <a:latin typeface="Cambria Math"/>
                      </a:rPr>
                      <m:t>𝔼</m:t>
                    </m:r>
                    <m:r>
                      <a:rPr lang="pl-PL" i="1">
                        <a:latin typeface="Cambria Math"/>
                      </a:rPr>
                      <m:t>(</m:t>
                    </m:r>
                    <m:r>
                      <a:rPr lang="en-US" i="1">
                        <a:latin typeface="Cambria Math"/>
                      </a:rPr>
                      <m:t>𝑚𝑎𝑥</m:t>
                    </m:r>
                    <m:r>
                      <a:rPr lang="pl-PL" b="0" i="1" smtClean="0">
                        <a:latin typeface="Cambria Math"/>
                      </a:rPr>
                      <m:t> </m:t>
                    </m:r>
                    <m:r>
                      <a:rPr lang="en-US" i="1">
                        <a:latin typeface="Cambria Math"/>
                      </a:rPr>
                      <m:t>(</m:t>
                    </m:r>
                    <m:nary>
                      <m:naryPr>
                        <m:chr m:val="∑"/>
                        <m:limLoc m:val="undOvr"/>
                        <m:grow m:val="on"/>
                        <m:ctrlPr>
                          <a:rPr lang="en-US" i="1">
                            <a:latin typeface="Cambria Math" panose="02040503050406030204" pitchFamily="18" charset="0"/>
                          </a:rPr>
                        </m:ctrlPr>
                      </m:naryPr>
                      <m:sub>
                        <m:r>
                          <a:rPr lang="en-US" i="1">
                            <a:latin typeface="Cambria Math"/>
                          </a:rPr>
                          <m:t>𝑖</m:t>
                        </m:r>
                        <m:r>
                          <a:rPr lang="en-US" i="1">
                            <a:latin typeface="Cambria Math"/>
                          </a:rPr>
                          <m:t>=</m:t>
                        </m:r>
                        <m:r>
                          <a:rPr lang="en-US" i="1">
                            <a:latin typeface="Cambria Math"/>
                          </a:rPr>
                          <m:t>𝑡</m:t>
                        </m:r>
                        <m:r>
                          <a:rPr lang="en-US" i="1">
                            <a:latin typeface="Cambria Math"/>
                          </a:rPr>
                          <m:t>+1</m:t>
                        </m:r>
                      </m:sub>
                      <m:sup>
                        <m:r>
                          <a:rPr lang="en-US" i="1">
                            <a:latin typeface="Cambria Math"/>
                          </a:rPr>
                          <m:t>𝑇</m:t>
                        </m:r>
                      </m:sup>
                      <m:e>
                        <m:r>
                          <a:rPr lang="en-US" i="1">
                            <a:latin typeface="Cambria Math"/>
                          </a:rPr>
                          <m:t>𝐷𝐹</m:t>
                        </m:r>
                        <m:r>
                          <a:rPr lang="en-US" i="1">
                            <a:latin typeface="Cambria Math"/>
                          </a:rPr>
                          <m:t>(</m:t>
                        </m:r>
                        <m:r>
                          <a:rPr lang="en-US" i="1">
                            <a:latin typeface="Cambria Math"/>
                          </a:rPr>
                          <m:t>𝑖</m:t>
                        </m:r>
                      </m:e>
                    </m:nary>
                    <m:r>
                      <a:rPr lang="en-US" i="1">
                        <a:latin typeface="Cambria Math"/>
                      </a:rPr>
                      <m:t>)</m:t>
                    </m:r>
                    <m:r>
                      <a:rPr lang="pl-PL" b="0" i="1" smtClean="0">
                        <a:latin typeface="Cambria Math"/>
                      </a:rPr>
                      <m:t>(</m:t>
                    </m:r>
                    <m:r>
                      <a:rPr lang="pl-PL" b="0" i="1" smtClean="0">
                        <a:latin typeface="Cambria Math"/>
                      </a:rPr>
                      <m:t>𝐾</m:t>
                    </m:r>
                    <m:r>
                      <a:rPr lang="pl-PL" b="0" i="1" smtClean="0">
                        <a:latin typeface="Cambria Math"/>
                      </a:rPr>
                      <m:t>−</m:t>
                    </m:r>
                    <m:r>
                      <a:rPr lang="pl-PL" i="1" smtClean="0">
                        <a:latin typeface="Cambria Math"/>
                      </a:rPr>
                      <m:t>𝐹</m:t>
                    </m:r>
                    <m:d>
                      <m:dPr>
                        <m:ctrlPr>
                          <a:rPr lang="pl-PL" b="0" i="1" smtClean="0">
                            <a:latin typeface="Cambria Math" panose="02040503050406030204" pitchFamily="18" charset="0"/>
                          </a:rPr>
                        </m:ctrlPr>
                      </m:dPr>
                      <m:e>
                        <m:r>
                          <a:rPr lang="pl-PL" b="0" i="1" smtClean="0">
                            <a:latin typeface="Cambria Math"/>
                          </a:rPr>
                          <m:t>𝑡</m:t>
                        </m:r>
                      </m:e>
                    </m:d>
                    <m:r>
                      <a:rPr lang="pl-PL" b="0" i="1" smtClean="0">
                        <a:latin typeface="Cambria Math"/>
                      </a:rPr>
                      <m:t>),0</m:t>
                    </m:r>
                    <m:r>
                      <a:rPr lang="pl-PL" i="1">
                        <a:latin typeface="Cambria Math"/>
                      </a:rPr>
                      <m:t>)</m:t>
                    </m:r>
                    <m:r>
                      <a:rPr lang="pl-PL" b="0" i="1" smtClean="0">
                        <a:latin typeface="Cambria Math"/>
                      </a:rPr>
                      <m:t>)</m:t>
                    </m:r>
                  </m:oMath>
                </a14:m>
                <a:r>
                  <a:rPr lang="pl-PL" dirty="0">
                    <a:latin typeface="Frutiger 45 Light" panose="020B0603020202020204" pitchFamily="34" charset="0"/>
                  </a:rPr>
                  <a:t> </a:t>
                </a:r>
              </a:p>
              <a:p>
                <a:endParaRPr lang="pl-PL" dirty="0">
                  <a:latin typeface="Frutiger 45 Light" panose="020B0603020202020204" pitchFamily="34" charset="0"/>
                </a:endParaRPr>
              </a:p>
              <a:p>
                <a:r>
                  <a:rPr lang="pl-PL" dirty="0">
                    <a:latin typeface="Frutiger 45 Light" panose="020B0603020202020204" pitchFamily="34" charset="0"/>
                  </a:rPr>
                  <a:t>	                    </a:t>
                </a:r>
                <a:r>
                  <a:rPr lang="en-GB" dirty="0">
                    <a:latin typeface="Frutiger 45 Light" panose="020B0603020202020204" pitchFamily="34" charset="0"/>
                  </a:rPr>
                  <a:t>price of the swaption on the remaining part of the swap</a:t>
                </a:r>
                <a:endParaRPr lang="pl-PL" dirty="0">
                  <a:latin typeface="Frutiger 45 Light" panose="020B0603020202020204" pitchFamily="34" charset="0"/>
                </a:endParaRPr>
              </a:p>
              <a:p>
                <a:pPr>
                  <a:spcBef>
                    <a:spcPts val="400"/>
                  </a:spcBef>
                </a:pPr>
                <a:endParaRPr lang="pl-PL" dirty="0">
                  <a:latin typeface="Frutiger 45 Light" panose="020B0603020202020204" pitchFamily="34" charset="0"/>
                </a:endParaRPr>
              </a:p>
              <a:p>
                <a:pPr>
                  <a:spcBef>
                    <a:spcPts val="400"/>
                  </a:spcBef>
                </a:pPr>
                <a:r>
                  <a:rPr lang="en-GB" dirty="0">
                    <a:latin typeface="Frutiger 45 Light" panose="020B0603020202020204" pitchFamily="34" charset="0"/>
                  </a:rPr>
                  <a:t>Calculation of the expected exposure profile for an interest rate swap can be </a:t>
                </a:r>
                <a:r>
                  <a:rPr lang="pl-PL" dirty="0" err="1">
                    <a:latin typeface="Frutiger 45 Light" panose="020B0603020202020204" pitchFamily="34" charset="0"/>
                  </a:rPr>
                  <a:t>brought</a:t>
                </a:r>
                <a:r>
                  <a:rPr lang="pl-PL" dirty="0">
                    <a:latin typeface="Frutiger 45 Light" panose="020B0603020202020204" pitchFamily="34" charset="0"/>
                  </a:rPr>
                  <a:t> down to </a:t>
                </a:r>
                <a:r>
                  <a:rPr lang="pl-PL" dirty="0" err="1">
                    <a:latin typeface="Frutiger 45 Light" panose="020B0603020202020204" pitchFamily="34" charset="0"/>
                  </a:rPr>
                  <a:t>calculation</a:t>
                </a:r>
                <a:r>
                  <a:rPr lang="pl-PL" dirty="0">
                    <a:latin typeface="Frutiger 45 Light" panose="020B0603020202020204" pitchFamily="34" charset="0"/>
                  </a:rPr>
                  <a:t> of the </a:t>
                </a:r>
                <a:r>
                  <a:rPr lang="pl-PL" dirty="0" err="1">
                    <a:latin typeface="Frutiger 45 Light" panose="020B0603020202020204" pitchFamily="34" charset="0"/>
                  </a:rPr>
                  <a:t>prices</a:t>
                </a:r>
                <a:r>
                  <a:rPr lang="pl-PL" dirty="0">
                    <a:latin typeface="Frutiger 45 Light" panose="020B0603020202020204" pitchFamily="34" charset="0"/>
                  </a:rPr>
                  <a:t> of </a:t>
                </a:r>
                <a:r>
                  <a:rPr lang="pl-PL" dirty="0" err="1">
                    <a:latin typeface="Frutiger 45 Light" panose="020B0603020202020204" pitchFamily="34" charset="0"/>
                  </a:rPr>
                  <a:t>relevant</a:t>
                </a:r>
                <a:r>
                  <a:rPr lang="pl-PL" dirty="0">
                    <a:latin typeface="Frutiger 45 Light" panose="020B0603020202020204" pitchFamily="34" charset="0"/>
                  </a:rPr>
                  <a:t> </a:t>
                </a:r>
                <a:r>
                  <a:rPr lang="pl-PL" dirty="0" err="1">
                    <a:latin typeface="Frutiger 45 Light" panose="020B0603020202020204" pitchFamily="34" charset="0"/>
                  </a:rPr>
                  <a:t>swaptions</a:t>
                </a:r>
                <a:r>
                  <a:rPr lang="pl-PL" dirty="0">
                    <a:latin typeface="Frutiger 45 Light" panose="020B0603020202020204" pitchFamily="34" charset="0"/>
                  </a:rPr>
                  <a:t>. To </a:t>
                </a:r>
                <a:r>
                  <a:rPr lang="pl-PL" dirty="0" err="1">
                    <a:latin typeface="Frutiger 45 Light" panose="020B0603020202020204" pitchFamily="34" charset="0"/>
                  </a:rPr>
                  <a:t>calculate</a:t>
                </a:r>
                <a:r>
                  <a:rPr lang="pl-PL" dirty="0">
                    <a:latin typeface="Frutiger 45 Light" panose="020B0603020202020204" pitchFamily="34" charset="0"/>
                  </a:rPr>
                  <a:t> </a:t>
                </a:r>
                <a:r>
                  <a:rPr lang="pl-PL" dirty="0" err="1">
                    <a:latin typeface="Frutiger 45 Light" panose="020B0603020202020204" pitchFamily="34" charset="0"/>
                  </a:rPr>
                  <a:t>them</a:t>
                </a:r>
                <a:r>
                  <a:rPr lang="pl-PL" dirty="0">
                    <a:latin typeface="Frutiger 45 Light" panose="020B0603020202020204" pitchFamily="34" charset="0"/>
                  </a:rPr>
                  <a:t> we </a:t>
                </a:r>
                <a:r>
                  <a:rPr lang="pl-PL" dirty="0" err="1">
                    <a:latin typeface="Frutiger 45 Light" panose="020B0603020202020204" pitchFamily="34" charset="0"/>
                  </a:rPr>
                  <a:t>would</a:t>
                </a:r>
                <a:r>
                  <a:rPr lang="pl-PL" dirty="0">
                    <a:latin typeface="Frutiger 45 Light" panose="020B0603020202020204" pitchFamily="34" charset="0"/>
                  </a:rPr>
                  <a:t> </a:t>
                </a:r>
                <a:r>
                  <a:rPr lang="pl-PL" dirty="0" err="1">
                    <a:latin typeface="Frutiger 45 Light" panose="020B0603020202020204" pitchFamily="34" charset="0"/>
                  </a:rPr>
                  <a:t>need</a:t>
                </a:r>
                <a:r>
                  <a:rPr lang="pl-PL" dirty="0">
                    <a:latin typeface="Frutiger 45 Light" panose="020B0603020202020204" pitchFamily="34" charset="0"/>
                  </a:rPr>
                  <a:t> to </a:t>
                </a:r>
                <a:r>
                  <a:rPr lang="pl-PL" dirty="0" err="1">
                    <a:latin typeface="Frutiger 45 Light" panose="020B0603020202020204" pitchFamily="34" charset="0"/>
                  </a:rPr>
                  <a:t>choose</a:t>
                </a:r>
                <a:r>
                  <a:rPr lang="pl-PL" dirty="0">
                    <a:latin typeface="Frutiger 45 Light" panose="020B0603020202020204" pitchFamily="34" charset="0"/>
                  </a:rPr>
                  <a:t> a model and </a:t>
                </a:r>
                <a:r>
                  <a:rPr lang="pl-PL" dirty="0" err="1">
                    <a:latin typeface="Frutiger 45 Light" panose="020B0603020202020204" pitchFamily="34" charset="0"/>
                  </a:rPr>
                  <a:t>know</a:t>
                </a:r>
                <a:r>
                  <a:rPr lang="pl-PL" dirty="0">
                    <a:latin typeface="Frutiger 45 Light" panose="020B0603020202020204" pitchFamily="34" charset="0"/>
                  </a:rPr>
                  <a:t> </a:t>
                </a:r>
                <a:r>
                  <a:rPr lang="pl-PL" dirty="0" err="1">
                    <a:latin typeface="Frutiger 45 Light" panose="020B0603020202020204" pitchFamily="34" charset="0"/>
                  </a:rPr>
                  <a:t>volatility</a:t>
                </a:r>
                <a:r>
                  <a:rPr lang="pl-PL" dirty="0">
                    <a:latin typeface="Frutiger 45 Light" panose="020B0603020202020204" pitchFamily="34" charset="0"/>
                  </a:rPr>
                  <a:t> of the </a:t>
                </a:r>
                <a:r>
                  <a:rPr lang="pl-PL" dirty="0" err="1">
                    <a:latin typeface="Frutiger 45 Light" panose="020B0603020202020204" pitchFamily="34" charset="0"/>
                  </a:rPr>
                  <a:t>forward</a:t>
                </a:r>
                <a:r>
                  <a:rPr lang="pl-PL" dirty="0">
                    <a:latin typeface="Frutiger 45 Light" panose="020B0603020202020204" pitchFamily="34" charset="0"/>
                  </a:rPr>
                  <a:t> </a:t>
                </a:r>
                <a:r>
                  <a:rPr lang="pl-PL" dirty="0" err="1">
                    <a:latin typeface="Frutiger 45 Light" panose="020B0603020202020204" pitchFamily="34" charset="0"/>
                  </a:rPr>
                  <a:t>rates</a:t>
                </a:r>
                <a:r>
                  <a:rPr lang="pl-PL" dirty="0">
                    <a:latin typeface="Frutiger 45 Light" panose="020B0603020202020204" pitchFamily="34" charset="0"/>
                  </a:rPr>
                  <a:t>.</a:t>
                </a:r>
              </a:p>
              <a:p>
                <a:pPr algn="ctr"/>
                <a:endParaRPr lang="pl-PL" dirty="0">
                  <a:latin typeface="Frutiger 45 Light" panose="020B0603020202020204" pitchFamily="34" charset="0"/>
                </a:endParaRPr>
              </a:p>
              <a:p>
                <a:pPr algn="ctr"/>
                <a:endParaRPr lang="pl-PL" u="sng" dirty="0">
                  <a:solidFill>
                    <a:srgbClr val="FF0000"/>
                  </a:solidFill>
                  <a:latin typeface="Frutiger 45 Light" panose="020B0603020202020204" pitchFamily="34" charset="0"/>
                </a:endParaRPr>
              </a:p>
              <a:p>
                <a:pPr algn="ctr"/>
                <a:r>
                  <a:rPr lang="pl-PL" b="1" dirty="0" err="1">
                    <a:latin typeface="Frutiger 45 Light" panose="020B0603020202020204" pitchFamily="34" charset="0"/>
                  </a:rPr>
                  <a:t>Even</a:t>
                </a:r>
                <a:r>
                  <a:rPr lang="pl-PL" b="1" dirty="0">
                    <a:latin typeface="Frutiger 45 Light" panose="020B0603020202020204" pitchFamily="34" charset="0"/>
                  </a:rPr>
                  <a:t> for the </a:t>
                </a:r>
                <a:r>
                  <a:rPr lang="pl-PL" b="1" dirty="0" err="1">
                    <a:latin typeface="Frutiger 45 Light" panose="020B0603020202020204" pitchFamily="34" charset="0"/>
                  </a:rPr>
                  <a:t>simplest</a:t>
                </a:r>
                <a:r>
                  <a:rPr lang="pl-PL" b="1" dirty="0">
                    <a:latin typeface="Frutiger 45 Light" panose="020B0603020202020204" pitchFamily="34" charset="0"/>
                  </a:rPr>
                  <a:t> products </a:t>
                </a:r>
                <a:r>
                  <a:rPr lang="pl-PL" b="1" dirty="0" err="1">
                    <a:latin typeface="Frutiger 45 Light" panose="020B0603020202020204" pitchFamily="34" charset="0"/>
                  </a:rPr>
                  <a:t>calculation</a:t>
                </a:r>
                <a:r>
                  <a:rPr lang="pl-PL" b="1" dirty="0">
                    <a:latin typeface="Frutiger 45 Light" panose="020B0603020202020204" pitchFamily="34" charset="0"/>
                  </a:rPr>
                  <a:t> of the </a:t>
                </a:r>
                <a:r>
                  <a:rPr lang="pl-PL" b="1" dirty="0" err="1">
                    <a:latin typeface="Frutiger 45 Light" panose="020B0603020202020204" pitchFamily="34" charset="0"/>
                  </a:rPr>
                  <a:t>expected</a:t>
                </a:r>
                <a:r>
                  <a:rPr lang="pl-PL" b="1" dirty="0">
                    <a:latin typeface="Frutiger 45 Light" panose="020B0603020202020204" pitchFamily="34" charset="0"/>
                  </a:rPr>
                  <a:t> </a:t>
                </a:r>
                <a:r>
                  <a:rPr lang="pl-PL" b="1" dirty="0" err="1">
                    <a:latin typeface="Frutiger 45 Light" panose="020B0603020202020204" pitchFamily="34" charset="0"/>
                  </a:rPr>
                  <a:t>exposure</a:t>
                </a:r>
                <a:r>
                  <a:rPr lang="pl-PL" b="1" dirty="0">
                    <a:latin typeface="Frutiger 45 Light" panose="020B0603020202020204" pitchFamily="34" charset="0"/>
                  </a:rPr>
                  <a:t> </a:t>
                </a:r>
              </a:p>
              <a:p>
                <a:pPr algn="ctr"/>
                <a:r>
                  <a:rPr lang="pl-PL" b="1" dirty="0" err="1">
                    <a:latin typeface="Frutiger 45 Light" panose="020B0603020202020204" pitchFamily="34" charset="0"/>
                  </a:rPr>
                  <a:t>gives</a:t>
                </a:r>
                <a:r>
                  <a:rPr lang="pl-PL" b="1" dirty="0">
                    <a:latin typeface="Frutiger 45 Light" panose="020B0603020202020204" pitchFamily="34" charset="0"/>
                  </a:rPr>
                  <a:t> </a:t>
                </a:r>
                <a:r>
                  <a:rPr lang="pl-PL" b="1" dirty="0" err="1">
                    <a:latin typeface="Frutiger 45 Light" panose="020B0603020202020204" pitchFamily="34" charset="0"/>
                  </a:rPr>
                  <a:t>rise</a:t>
                </a:r>
                <a:r>
                  <a:rPr lang="pl-PL" b="1" dirty="0">
                    <a:latin typeface="Frutiger 45 Light" panose="020B0603020202020204" pitchFamily="34" charset="0"/>
                  </a:rPr>
                  <a:t> to model </a:t>
                </a:r>
                <a:r>
                  <a:rPr lang="pl-PL" b="1" dirty="0" err="1">
                    <a:latin typeface="Frutiger 45 Light" panose="020B0603020202020204" pitchFamily="34" charset="0"/>
                  </a:rPr>
                  <a:t>risk</a:t>
                </a:r>
                <a:r>
                  <a:rPr lang="pl-PL" b="1" dirty="0">
                    <a:latin typeface="Frutiger 45 Light" panose="020B0603020202020204" pitchFamily="34" charset="0"/>
                  </a:rPr>
                  <a:t>!</a:t>
                </a:r>
              </a:p>
            </p:txBody>
          </p:sp>
        </mc:Choice>
        <mc:Fallback xmlns="">
          <p:sp>
            <p:nvSpPr>
              <p:cNvPr id="73" name="TextBox 72">
                <a:extLst>
                  <a:ext uri="{FF2B5EF4-FFF2-40B4-BE49-F238E27FC236}">
                    <a16:creationId xmlns:a16="http://schemas.microsoft.com/office/drawing/2014/main" id="{FBB868FE-2AE6-4D55-8F36-DA9D68047E7F}"/>
                  </a:ext>
                </a:extLst>
              </p:cNvPr>
              <p:cNvSpPr txBox="1">
                <a:spLocks noRot="1" noChangeAspect="1" noMove="1" noResize="1" noEditPoints="1" noAdjustHandles="1" noChangeArrowheads="1" noChangeShapeType="1" noTextEdit="1"/>
              </p:cNvSpPr>
              <p:nvPr/>
            </p:nvSpPr>
            <p:spPr>
              <a:xfrm>
                <a:off x="420624" y="1797094"/>
                <a:ext cx="9447777" cy="4897180"/>
              </a:xfrm>
              <a:prstGeom prst="rect">
                <a:avLst/>
              </a:prstGeom>
              <a:blipFill>
                <a:blip r:embed="rId5"/>
                <a:stretch>
                  <a:fillRect l="-1484" t="-2117"/>
                </a:stretch>
              </a:blipFill>
            </p:spPr>
            <p:txBody>
              <a:bodyPr/>
              <a:lstStyle/>
              <a:p>
                <a:r>
                  <a:rPr lang="en-GB">
                    <a:noFill/>
                  </a:rPr>
                  <a:t> </a:t>
                </a:r>
              </a:p>
            </p:txBody>
          </p:sp>
        </mc:Fallback>
      </mc:AlternateContent>
      <p:pic>
        <p:nvPicPr>
          <p:cNvPr id="74" name="Picture 2">
            <a:extLst>
              <a:ext uri="{FF2B5EF4-FFF2-40B4-BE49-F238E27FC236}">
                <a16:creationId xmlns:a16="http://schemas.microsoft.com/office/drawing/2014/main" id="{937CB68B-057D-42F9-B468-93D9A8C3C8D0}"/>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698578" y="1665073"/>
            <a:ext cx="7620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5" name="Right Brace 74">
            <a:extLst>
              <a:ext uri="{FF2B5EF4-FFF2-40B4-BE49-F238E27FC236}">
                <a16:creationId xmlns:a16="http://schemas.microsoft.com/office/drawing/2014/main" id="{1DAE5984-6B5C-4DA0-8146-A60B13BAA67D}"/>
              </a:ext>
            </a:extLst>
          </p:cNvPr>
          <p:cNvSpPr/>
          <p:nvPr/>
        </p:nvSpPr>
        <p:spPr>
          <a:xfrm rot="5400000">
            <a:off x="5340330" y="963732"/>
            <a:ext cx="533400" cy="3821658"/>
          </a:xfrm>
          <a:prstGeom prst="rightBrace">
            <a:avLst/>
          </a:prstGeom>
          <a:ln w="19050">
            <a:solidFill>
              <a:srgbClr val="91919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6" name="Down Arrow 14">
            <a:extLst>
              <a:ext uri="{FF2B5EF4-FFF2-40B4-BE49-F238E27FC236}">
                <a16:creationId xmlns:a16="http://schemas.microsoft.com/office/drawing/2014/main" id="{DB3283CA-15A1-4236-B013-28AA92DB1793}"/>
              </a:ext>
            </a:extLst>
          </p:cNvPr>
          <p:cNvSpPr/>
          <p:nvPr/>
        </p:nvSpPr>
        <p:spPr>
          <a:xfrm>
            <a:off x="4417541" y="4889602"/>
            <a:ext cx="685800" cy="533400"/>
          </a:xfrm>
          <a:prstGeom prst="downArrow">
            <a:avLst/>
          </a:prstGeom>
          <a:noFill/>
          <a:ln w="19050">
            <a:solidFill>
              <a:srgbClr val="91919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100" dirty="0">
              <a:solidFill>
                <a:schemeClr val="tx1"/>
              </a:solidFill>
            </a:endParaRPr>
          </a:p>
        </p:txBody>
      </p:sp>
      <p:sp>
        <p:nvSpPr>
          <p:cNvPr id="8" name="TextBox 7">
            <a:extLst>
              <a:ext uri="{FF2B5EF4-FFF2-40B4-BE49-F238E27FC236}">
                <a16:creationId xmlns:a16="http://schemas.microsoft.com/office/drawing/2014/main" id="{F9D9A632-096B-4399-AFEF-CEDBF66FD3FD}"/>
              </a:ext>
            </a:extLst>
          </p:cNvPr>
          <p:cNvSpPr txBox="1"/>
          <p:nvPr>
            <p:custDataLst>
              <p:tags r:id="rId3"/>
            </p:custDataLst>
          </p:nvPr>
        </p:nvSpPr>
        <p:spPr>
          <a:xfrm>
            <a:off x="420624" y="1120775"/>
            <a:ext cx="9189720" cy="274320"/>
          </a:xfrm>
          <a:prstGeom prst="rect">
            <a:avLst/>
          </a:prstGeom>
          <a:noFill/>
        </p:spPr>
        <p:txBody>
          <a:bodyPr vert="horz" wrap="square" lIns="0" tIns="0" rIns="0" bIns="0" rtlCol="0" anchor="t">
            <a:noAutofit/>
          </a:bodyPr>
          <a:lstStyle/>
          <a:p>
            <a:pPr eaLnBrk="1">
              <a:spcBef>
                <a:spcPts val="0"/>
              </a:spcBef>
              <a:spcAft>
                <a:spcPts val="600"/>
              </a:spcAft>
            </a:pPr>
            <a:r>
              <a:rPr lang="pl-PL" sz="2000" kern="0" dirty="0" err="1">
                <a:solidFill>
                  <a:srgbClr val="464749"/>
                </a:solidFill>
                <a:latin typeface="Frutiger 45 Light" panose="020B0603020202020204" pitchFamily="34" charset="0"/>
              </a:rPr>
              <a:t>Example</a:t>
            </a:r>
            <a:r>
              <a:rPr lang="pl-PL" sz="2000" kern="0" dirty="0">
                <a:solidFill>
                  <a:srgbClr val="464749"/>
                </a:solidFill>
                <a:latin typeface="Frutiger 45 Light" panose="020B0603020202020204" pitchFamily="34" charset="0"/>
              </a:rPr>
              <a:t> (</a:t>
            </a:r>
            <a:r>
              <a:rPr lang="pl-PL" sz="2000" kern="0" dirty="0" err="1">
                <a:solidFill>
                  <a:srgbClr val="464749"/>
                </a:solidFill>
                <a:latin typeface="Frutiger 45 Light" panose="020B0603020202020204" pitchFamily="34" charset="0"/>
              </a:rPr>
              <a:t>interest-rate</a:t>
            </a:r>
            <a:r>
              <a:rPr lang="pl-PL" sz="2000" kern="0" dirty="0">
                <a:solidFill>
                  <a:srgbClr val="464749"/>
                </a:solidFill>
                <a:latin typeface="Frutiger 45 Light" panose="020B0603020202020204" pitchFamily="34" charset="0"/>
              </a:rPr>
              <a:t> </a:t>
            </a:r>
            <a:r>
              <a:rPr lang="pl-PL" sz="2000" kern="0" dirty="0" err="1">
                <a:solidFill>
                  <a:srgbClr val="464749"/>
                </a:solidFill>
                <a:latin typeface="Frutiger 45 Light" panose="020B0603020202020204" pitchFamily="34" charset="0"/>
              </a:rPr>
              <a:t>swap</a:t>
            </a:r>
            <a:r>
              <a:rPr lang="pl-PL" sz="2000" kern="0" dirty="0">
                <a:solidFill>
                  <a:srgbClr val="464749"/>
                </a:solidFill>
                <a:latin typeface="Frutiger 45 Light" panose="020B0603020202020204" pitchFamily="34" charset="0"/>
              </a:rPr>
              <a:t>) – </a:t>
            </a:r>
            <a:r>
              <a:rPr lang="pl-PL" sz="2000" kern="0" dirty="0" err="1">
                <a:solidFill>
                  <a:srgbClr val="464749"/>
                </a:solidFill>
                <a:latin typeface="Frutiger 45 Light" panose="020B0603020202020204" pitchFamily="34" charset="0"/>
              </a:rPr>
              <a:t>cnt’d</a:t>
            </a:r>
            <a:endParaRPr lang="en-US" sz="2000" kern="0" dirty="0">
              <a:solidFill>
                <a:srgbClr val="464749"/>
              </a:solidFill>
              <a:latin typeface="Frutiger 45 Light" panose="020B0603020202020204" pitchFamily="34" charset="0"/>
            </a:endParaRPr>
          </a:p>
        </p:txBody>
      </p:sp>
    </p:spTree>
    <p:custDataLst>
      <p:tags r:id="rId1"/>
    </p:custDataLst>
    <p:extLst>
      <p:ext uri="{BB962C8B-B14F-4D97-AF65-F5344CB8AC3E}">
        <p14:creationId xmlns:p14="http://schemas.microsoft.com/office/powerpoint/2010/main" val="1810520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3">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 grpId="0" animBg="1"/>
      <p:bldP spid="7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AGE HEADING"/>
          <p:cNvSpPr>
            <a:spLocks noGrp="1"/>
          </p:cNvSpPr>
          <p:nvPr>
            <p:ph type="title"/>
            <p:custDataLst>
              <p:tags r:id="rId2"/>
            </p:custDataLst>
          </p:nvPr>
        </p:nvSpPr>
        <p:spPr/>
        <p:txBody>
          <a:bodyPr>
            <a:normAutofit/>
          </a:bodyPr>
          <a:lstStyle/>
          <a:p>
            <a:r>
              <a:rPr lang="en-US" dirty="0"/>
              <a:t>Counterparty Credit Risk</a:t>
            </a:r>
            <a:r>
              <a:rPr lang="pl-PL" dirty="0"/>
              <a:t> - </a:t>
            </a:r>
            <a:r>
              <a:rPr lang="pl-PL" dirty="0" err="1"/>
              <a:t>Introduction</a:t>
            </a:r>
            <a:endParaRPr lang="en-US" dirty="0"/>
          </a:p>
        </p:txBody>
      </p:sp>
      <p:sp>
        <p:nvSpPr>
          <p:cNvPr id="28" name="TextBox 27">
            <a:extLst>
              <a:ext uri="{FF2B5EF4-FFF2-40B4-BE49-F238E27FC236}">
                <a16:creationId xmlns:a16="http://schemas.microsoft.com/office/drawing/2014/main" id="{1CC8CB73-B531-47CA-9609-BE5D6D527342}"/>
              </a:ext>
            </a:extLst>
          </p:cNvPr>
          <p:cNvSpPr txBox="1"/>
          <p:nvPr/>
        </p:nvSpPr>
        <p:spPr>
          <a:xfrm>
            <a:off x="571500" y="5669465"/>
            <a:ext cx="8915400" cy="1225129"/>
          </a:xfrm>
          <a:prstGeom prst="rect">
            <a:avLst/>
          </a:prstGeom>
          <a:noFill/>
        </p:spPr>
        <p:txBody>
          <a:bodyPr wrap="none" lIns="0" tIns="0" rIns="0" bIns="0" rtlCol="0">
            <a:noAutofit/>
          </a:bodyPr>
          <a:lstStyle/>
          <a:p>
            <a:r>
              <a:rPr lang="en-GB" dirty="0">
                <a:latin typeface="Frutiger 45 Light" panose="020B0603020202020204" pitchFamily="34" charset="0"/>
              </a:rPr>
              <a:t>The shape of the profile is the results of combination of two effects </a:t>
            </a:r>
            <a:r>
              <a:rPr lang="pl-PL" dirty="0">
                <a:latin typeface="Frutiger 45 Light" panose="020B0603020202020204" pitchFamily="34" charset="0"/>
              </a:rPr>
              <a:t>:</a:t>
            </a:r>
          </a:p>
          <a:p>
            <a:pPr marL="342900" indent="-342900">
              <a:buClr>
                <a:srgbClr val="FF0000"/>
              </a:buClr>
              <a:buFont typeface="Arial" panose="020B0604020202020204" pitchFamily="34" charset="0"/>
              <a:buChar char="•"/>
            </a:pPr>
            <a:r>
              <a:rPr lang="en-GB" dirty="0">
                <a:latin typeface="Frutiger 45 Light" panose="020B0603020202020204" pitchFamily="34" charset="0"/>
              </a:rPr>
              <a:t>Increasing uncertainty regarding the future cashflows</a:t>
            </a:r>
            <a:r>
              <a:rPr lang="en-US" dirty="0">
                <a:latin typeface="Frutiger 45 Light" panose="020B0603020202020204" pitchFamily="34" charset="0"/>
              </a:rPr>
              <a:t>,</a:t>
            </a:r>
            <a:endParaRPr lang="en-GB" dirty="0">
              <a:latin typeface="Frutiger 45 Light" panose="020B0603020202020204" pitchFamily="34" charset="0"/>
            </a:endParaRPr>
          </a:p>
          <a:p>
            <a:pPr marL="342900" indent="-342900">
              <a:buClr>
                <a:srgbClr val="FF0000"/>
              </a:buClr>
              <a:buFont typeface="Arial" panose="020B0604020202020204" pitchFamily="34" charset="0"/>
              <a:buChar char="•"/>
            </a:pPr>
            <a:r>
              <a:rPr lang="en-GB" dirty="0">
                <a:latin typeface="Frutiger 45 Light" panose="020B0603020202020204" pitchFamily="34" charset="0"/>
              </a:rPr>
              <a:t>Number of future cashflows, decreasing in time</a:t>
            </a:r>
            <a:r>
              <a:rPr lang="en-US" dirty="0">
                <a:latin typeface="Frutiger 45 Light" panose="020B0603020202020204" pitchFamily="34" charset="0"/>
              </a:rPr>
              <a:t>.</a:t>
            </a:r>
          </a:p>
        </p:txBody>
      </p:sp>
      <p:sp>
        <p:nvSpPr>
          <p:cNvPr id="29" name="Rectangle 28">
            <a:extLst>
              <a:ext uri="{FF2B5EF4-FFF2-40B4-BE49-F238E27FC236}">
                <a16:creationId xmlns:a16="http://schemas.microsoft.com/office/drawing/2014/main" id="{7396D8DB-6B8B-461B-AE18-859CB53AC391}"/>
              </a:ext>
            </a:extLst>
          </p:cNvPr>
          <p:cNvSpPr/>
          <p:nvPr/>
        </p:nvSpPr>
        <p:spPr>
          <a:xfrm>
            <a:off x="320884" y="1574038"/>
            <a:ext cx="9289460" cy="646331"/>
          </a:xfrm>
          <a:prstGeom prst="rect">
            <a:avLst/>
          </a:prstGeom>
        </p:spPr>
        <p:txBody>
          <a:bodyPr wrap="square">
            <a:spAutoFit/>
          </a:bodyPr>
          <a:lstStyle/>
          <a:p>
            <a:r>
              <a:rPr lang="en-US" dirty="0">
                <a:latin typeface="Frutiger 45 Light" panose="020B0603020202020204" pitchFamily="34" charset="0"/>
              </a:rPr>
              <a:t>For an at-the-money 10Y swap</a:t>
            </a:r>
            <a:r>
              <a:rPr lang="pl-PL" dirty="0">
                <a:latin typeface="Frutiger 45 Light" panose="020B0603020202020204" pitchFamily="34" charset="0"/>
              </a:rPr>
              <a:t>, </a:t>
            </a:r>
            <a:r>
              <a:rPr lang="en-GB" dirty="0">
                <a:latin typeface="Frutiger 45 Light" panose="020B0603020202020204" pitchFamily="34" charset="0"/>
              </a:rPr>
              <a:t>where we receive fixed payments the EE profile looks as follows</a:t>
            </a:r>
            <a:r>
              <a:rPr lang="pl-PL" dirty="0">
                <a:latin typeface="Frutiger 45 Light" panose="020B0603020202020204" pitchFamily="34" charset="0"/>
              </a:rPr>
              <a:t>:</a:t>
            </a:r>
          </a:p>
        </p:txBody>
      </p:sp>
      <p:pic>
        <p:nvPicPr>
          <p:cNvPr id="2" name="Picture 1">
            <a:extLst>
              <a:ext uri="{FF2B5EF4-FFF2-40B4-BE49-F238E27FC236}">
                <a16:creationId xmlns:a16="http://schemas.microsoft.com/office/drawing/2014/main" id="{9E75A81F-C08A-45F9-8900-608DA7EB9CCF}"/>
              </a:ext>
            </a:extLst>
          </p:cNvPr>
          <p:cNvPicPr>
            <a:picLocks noChangeAspect="1"/>
          </p:cNvPicPr>
          <p:nvPr/>
        </p:nvPicPr>
        <p:blipFill>
          <a:blip r:embed="rId5"/>
          <a:stretch>
            <a:fillRect/>
          </a:stretch>
        </p:blipFill>
        <p:spPr>
          <a:xfrm>
            <a:off x="420624" y="2220369"/>
            <a:ext cx="8266176" cy="3222997"/>
          </a:xfrm>
          <a:prstGeom prst="rect">
            <a:avLst/>
          </a:prstGeom>
        </p:spPr>
      </p:pic>
      <p:sp>
        <p:nvSpPr>
          <p:cNvPr id="6" name="TextBox 5">
            <a:extLst>
              <a:ext uri="{FF2B5EF4-FFF2-40B4-BE49-F238E27FC236}">
                <a16:creationId xmlns:a16="http://schemas.microsoft.com/office/drawing/2014/main" id="{DCFE7F04-9448-4B24-BE7D-B518DD57BE36}"/>
              </a:ext>
            </a:extLst>
          </p:cNvPr>
          <p:cNvSpPr txBox="1"/>
          <p:nvPr>
            <p:custDataLst>
              <p:tags r:id="rId3"/>
            </p:custDataLst>
          </p:nvPr>
        </p:nvSpPr>
        <p:spPr>
          <a:xfrm>
            <a:off x="420624" y="1120775"/>
            <a:ext cx="9189720" cy="274320"/>
          </a:xfrm>
          <a:prstGeom prst="rect">
            <a:avLst/>
          </a:prstGeom>
          <a:noFill/>
        </p:spPr>
        <p:txBody>
          <a:bodyPr vert="horz" wrap="square" lIns="0" tIns="0" rIns="0" bIns="0" rtlCol="0" anchor="t">
            <a:noAutofit/>
          </a:bodyPr>
          <a:lstStyle/>
          <a:p>
            <a:pPr eaLnBrk="1">
              <a:spcBef>
                <a:spcPts val="0"/>
              </a:spcBef>
              <a:spcAft>
                <a:spcPts val="600"/>
              </a:spcAft>
            </a:pPr>
            <a:r>
              <a:rPr lang="pl-PL" sz="2000" kern="0" dirty="0" err="1">
                <a:solidFill>
                  <a:srgbClr val="464749"/>
                </a:solidFill>
                <a:latin typeface="Frutiger 45 Light" panose="020B0603020202020204" pitchFamily="34" charset="0"/>
              </a:rPr>
              <a:t>Example</a:t>
            </a:r>
            <a:r>
              <a:rPr lang="pl-PL" sz="2000" kern="0" dirty="0">
                <a:solidFill>
                  <a:srgbClr val="464749"/>
                </a:solidFill>
                <a:latin typeface="Frutiger 45 Light" panose="020B0603020202020204" pitchFamily="34" charset="0"/>
              </a:rPr>
              <a:t> </a:t>
            </a:r>
            <a:r>
              <a:rPr lang="pl-PL" sz="2000" kern="0" dirty="0" err="1">
                <a:solidFill>
                  <a:srgbClr val="464749"/>
                </a:solidFill>
                <a:latin typeface="Frutiger 45 Light" panose="020B0603020202020204" pitchFamily="34" charset="0"/>
              </a:rPr>
              <a:t>exposure</a:t>
            </a:r>
            <a:r>
              <a:rPr lang="pl-PL" sz="2000" kern="0" dirty="0">
                <a:solidFill>
                  <a:srgbClr val="464749"/>
                </a:solidFill>
                <a:latin typeface="Frutiger 45 Light" panose="020B0603020202020204" pitchFamily="34" charset="0"/>
              </a:rPr>
              <a:t> profile of </a:t>
            </a:r>
            <a:r>
              <a:rPr lang="pl-PL" sz="2000" kern="0" dirty="0" err="1">
                <a:solidFill>
                  <a:srgbClr val="464749"/>
                </a:solidFill>
                <a:latin typeface="Frutiger 45 Light" panose="020B0603020202020204" pitchFamily="34" charset="0"/>
              </a:rPr>
              <a:t>an</a:t>
            </a:r>
            <a:r>
              <a:rPr lang="pl-PL" sz="2000" kern="0" dirty="0">
                <a:solidFill>
                  <a:srgbClr val="464749"/>
                </a:solidFill>
                <a:latin typeface="Frutiger 45 Light" panose="020B0603020202020204" pitchFamily="34" charset="0"/>
              </a:rPr>
              <a:t> </a:t>
            </a:r>
            <a:r>
              <a:rPr lang="pl-PL" sz="2000" kern="0" dirty="0" err="1">
                <a:solidFill>
                  <a:srgbClr val="464749"/>
                </a:solidFill>
                <a:latin typeface="Frutiger 45 Light" panose="020B0603020202020204" pitchFamily="34" charset="0"/>
              </a:rPr>
              <a:t>at</a:t>
            </a:r>
            <a:r>
              <a:rPr lang="pl-PL" sz="2000" kern="0" dirty="0">
                <a:solidFill>
                  <a:srgbClr val="464749"/>
                </a:solidFill>
                <a:latin typeface="Frutiger 45 Light" panose="020B0603020202020204" pitchFamily="34" charset="0"/>
              </a:rPr>
              <a:t>-the-</a:t>
            </a:r>
            <a:r>
              <a:rPr lang="pl-PL" sz="2000" kern="0" dirty="0" err="1">
                <a:solidFill>
                  <a:srgbClr val="464749"/>
                </a:solidFill>
                <a:latin typeface="Frutiger 45 Light" panose="020B0603020202020204" pitchFamily="34" charset="0"/>
              </a:rPr>
              <a:t>money</a:t>
            </a:r>
            <a:r>
              <a:rPr lang="pl-PL" sz="2000" kern="0" dirty="0">
                <a:solidFill>
                  <a:srgbClr val="464749"/>
                </a:solidFill>
                <a:latin typeface="Frutiger 45 Light" panose="020B0603020202020204" pitchFamily="34" charset="0"/>
              </a:rPr>
              <a:t> </a:t>
            </a:r>
            <a:r>
              <a:rPr lang="pl-PL" sz="2000" kern="0" dirty="0" err="1">
                <a:solidFill>
                  <a:srgbClr val="464749"/>
                </a:solidFill>
                <a:latin typeface="Frutiger 45 Light" panose="020B0603020202020204" pitchFamily="34" charset="0"/>
              </a:rPr>
              <a:t>interest-rate</a:t>
            </a:r>
            <a:r>
              <a:rPr lang="pl-PL" sz="2000" kern="0" dirty="0">
                <a:solidFill>
                  <a:srgbClr val="464749"/>
                </a:solidFill>
                <a:latin typeface="Frutiger 45 Light" panose="020B0603020202020204" pitchFamily="34" charset="0"/>
              </a:rPr>
              <a:t> </a:t>
            </a:r>
            <a:r>
              <a:rPr lang="pl-PL" sz="2000" kern="0" dirty="0" err="1">
                <a:solidFill>
                  <a:srgbClr val="464749"/>
                </a:solidFill>
                <a:latin typeface="Frutiger 45 Light" panose="020B0603020202020204" pitchFamily="34" charset="0"/>
              </a:rPr>
              <a:t>swap</a:t>
            </a:r>
            <a:endParaRPr lang="en-US" sz="2000" kern="0" dirty="0">
              <a:solidFill>
                <a:srgbClr val="464749"/>
              </a:solidFill>
              <a:latin typeface="Frutiger 45 Light" panose="020B0603020202020204" pitchFamily="34" charset="0"/>
            </a:endParaRPr>
          </a:p>
        </p:txBody>
      </p:sp>
    </p:spTree>
    <p:custDataLst>
      <p:tags r:id="rId1"/>
    </p:custDataLst>
    <p:extLst>
      <p:ext uri="{BB962C8B-B14F-4D97-AF65-F5344CB8AC3E}">
        <p14:creationId xmlns:p14="http://schemas.microsoft.com/office/powerpoint/2010/main" val="1748523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animEffect transition="in" filter="randombar(horizontal)">
                                      <p:cBhvr>
                                        <p:cTn id="7" dur="500"/>
                                        <p:tgtEl>
                                          <p:spTgt spid="2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8">
                                            <p:txEl>
                                              <p:pRg st="1" end="1"/>
                                            </p:txEl>
                                          </p:spTgt>
                                        </p:tgtEl>
                                        <p:attrNameLst>
                                          <p:attrName>style.visibility</p:attrName>
                                        </p:attrNameLst>
                                      </p:cBhvr>
                                      <p:to>
                                        <p:strVal val="visible"/>
                                      </p:to>
                                    </p:set>
                                    <p:animEffect transition="in" filter="randombar(horizontal)">
                                      <p:cBhvr>
                                        <p:cTn id="12" dur="500"/>
                                        <p:tgtEl>
                                          <p:spTgt spid="2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28">
                                            <p:txEl>
                                              <p:pRg st="2" end="2"/>
                                            </p:txEl>
                                          </p:spTgt>
                                        </p:tgtEl>
                                        <p:attrNameLst>
                                          <p:attrName>style.visibility</p:attrName>
                                        </p:attrNameLst>
                                      </p:cBhvr>
                                      <p:to>
                                        <p:strVal val="visible"/>
                                      </p:to>
                                    </p:set>
                                    <p:animEffect transition="in" filter="randombar(horizontal)">
                                      <p:cBhvr>
                                        <p:cTn id="17" dur="500"/>
                                        <p:tgtEl>
                                          <p:spTgt spid="2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AGE HEADING"/>
          <p:cNvSpPr>
            <a:spLocks noGrp="1"/>
          </p:cNvSpPr>
          <p:nvPr>
            <p:ph type="title"/>
            <p:custDataLst>
              <p:tags r:id="rId2"/>
            </p:custDataLst>
          </p:nvPr>
        </p:nvSpPr>
        <p:spPr/>
        <p:txBody>
          <a:bodyPr>
            <a:normAutofit/>
          </a:bodyPr>
          <a:lstStyle/>
          <a:p>
            <a:r>
              <a:rPr lang="en-US" dirty="0"/>
              <a:t>Counterparty Credit Risk</a:t>
            </a:r>
            <a:r>
              <a:rPr lang="pl-PL" dirty="0"/>
              <a:t> - </a:t>
            </a:r>
            <a:r>
              <a:rPr lang="pl-PL" dirty="0" err="1"/>
              <a:t>Introduction</a:t>
            </a:r>
            <a:endParaRPr lang="en-US" dirty="0"/>
          </a:p>
        </p:txBody>
      </p:sp>
      <p:sp>
        <p:nvSpPr>
          <p:cNvPr id="26" name="TextBox 25">
            <a:extLst>
              <a:ext uri="{FF2B5EF4-FFF2-40B4-BE49-F238E27FC236}">
                <a16:creationId xmlns:a16="http://schemas.microsoft.com/office/drawing/2014/main" id="{6E4F9F60-F5E1-4EC0-AA42-C0EF94581AB0}"/>
              </a:ext>
            </a:extLst>
          </p:cNvPr>
          <p:cNvSpPr txBox="1"/>
          <p:nvPr/>
        </p:nvSpPr>
        <p:spPr>
          <a:xfrm>
            <a:off x="420624" y="6023477"/>
            <a:ext cx="9414492" cy="914400"/>
          </a:xfrm>
          <a:prstGeom prst="rect">
            <a:avLst/>
          </a:prstGeom>
          <a:noFill/>
        </p:spPr>
        <p:txBody>
          <a:bodyPr wrap="none" lIns="0" tIns="0" rIns="0" bIns="0" rtlCol="0">
            <a:noAutofit/>
          </a:bodyPr>
          <a:lstStyle/>
          <a:p>
            <a:pPr marL="342900" indent="-342900">
              <a:spcBef>
                <a:spcPts val="800"/>
              </a:spcBef>
              <a:buClr>
                <a:srgbClr val="FF0000"/>
              </a:buClr>
              <a:buFont typeface="Arial" panose="020B0604020202020204" pitchFamily="34" charset="0"/>
              <a:buChar char="•"/>
            </a:pPr>
            <a:r>
              <a:rPr lang="en-GB" dirty="0">
                <a:latin typeface="Frutiger 45 Light" panose="020B0603020202020204" pitchFamily="34" charset="0"/>
              </a:rPr>
              <a:t>Until the expiry of the option its value is at least the intrinsic value.</a:t>
            </a:r>
            <a:endParaRPr lang="pl-PL" dirty="0">
              <a:latin typeface="Frutiger 45 Light" panose="020B0603020202020204" pitchFamily="34" charset="0"/>
            </a:endParaRPr>
          </a:p>
          <a:p>
            <a:pPr marL="342900" indent="-342900">
              <a:buClr>
                <a:srgbClr val="FF0000"/>
              </a:buClr>
              <a:buFont typeface="Arial" panose="020B0604020202020204" pitchFamily="34" charset="0"/>
              <a:buChar char="•"/>
            </a:pPr>
            <a:r>
              <a:rPr lang="en-US" dirty="0">
                <a:latin typeface="Frutiger 45 Light" panose="020B0603020202020204" pitchFamily="34" charset="0"/>
              </a:rPr>
              <a:t>After the expiry in some of the scenarios the option will not be exercised.</a:t>
            </a:r>
            <a:endParaRPr lang="en-US" sz="2000" dirty="0">
              <a:latin typeface="Frutiger 45 Light" panose="020B0603020202020204" pitchFamily="34" charset="0"/>
            </a:endParaRPr>
          </a:p>
        </p:txBody>
      </p:sp>
      <p:sp>
        <p:nvSpPr>
          <p:cNvPr id="27" name="TextBox 26">
            <a:extLst>
              <a:ext uri="{FF2B5EF4-FFF2-40B4-BE49-F238E27FC236}">
                <a16:creationId xmlns:a16="http://schemas.microsoft.com/office/drawing/2014/main" id="{71E4DE32-1DD8-499A-90D4-E5BF5999455A}"/>
              </a:ext>
            </a:extLst>
          </p:cNvPr>
          <p:cNvSpPr txBox="1"/>
          <p:nvPr/>
        </p:nvSpPr>
        <p:spPr>
          <a:xfrm>
            <a:off x="420624" y="1652717"/>
            <a:ext cx="4913376" cy="914400"/>
          </a:xfrm>
          <a:prstGeom prst="rect">
            <a:avLst/>
          </a:prstGeom>
          <a:noFill/>
        </p:spPr>
        <p:txBody>
          <a:bodyPr wrap="none" lIns="0" tIns="0" rIns="0" bIns="0" rtlCol="0">
            <a:noAutofit/>
          </a:bodyPr>
          <a:lstStyle/>
          <a:p>
            <a:r>
              <a:rPr lang="en-US" dirty="0">
                <a:latin typeface="Frutiger 45 Light" panose="020B0603020202020204" pitchFamily="34" charset="0"/>
              </a:rPr>
              <a:t>Exposure profile of a 2Yx10Y swaption </a:t>
            </a:r>
          </a:p>
          <a:p>
            <a:r>
              <a:rPr lang="en-GB" dirty="0">
                <a:latin typeface="Frutiger 45 Light" panose="020B0603020202020204" pitchFamily="34" charset="0"/>
              </a:rPr>
              <a:t>and the underlying</a:t>
            </a:r>
            <a:r>
              <a:rPr lang="pl-PL" dirty="0">
                <a:latin typeface="Frutiger 45 Light" panose="020B0603020202020204" pitchFamily="34" charset="0"/>
              </a:rPr>
              <a:t> </a:t>
            </a:r>
            <a:r>
              <a:rPr lang="pl-PL" dirty="0" err="1">
                <a:latin typeface="Frutiger 45 Light" panose="020B0603020202020204" pitchFamily="34" charset="0"/>
              </a:rPr>
              <a:t>forward</a:t>
            </a:r>
            <a:r>
              <a:rPr lang="pl-PL" dirty="0">
                <a:latin typeface="Frutiger 45 Light" panose="020B0603020202020204" pitchFamily="34" charset="0"/>
              </a:rPr>
              <a:t> </a:t>
            </a:r>
            <a:r>
              <a:rPr lang="pl-PL" dirty="0" err="1">
                <a:latin typeface="Frutiger 45 Light" panose="020B0603020202020204" pitchFamily="34" charset="0"/>
              </a:rPr>
              <a:t>swap</a:t>
            </a:r>
            <a:r>
              <a:rPr lang="pl-PL" dirty="0">
                <a:latin typeface="Frutiger 45 Light" panose="020B0603020202020204" pitchFamily="34" charset="0"/>
              </a:rPr>
              <a:t>:</a:t>
            </a:r>
            <a:endParaRPr lang="en-US" dirty="0">
              <a:latin typeface="Frutiger 45 Light" panose="020B0603020202020204" pitchFamily="34" charset="0"/>
            </a:endParaRPr>
          </a:p>
        </p:txBody>
      </p:sp>
      <p:pic>
        <p:nvPicPr>
          <p:cNvPr id="37" name="Picture 36">
            <a:extLst>
              <a:ext uri="{FF2B5EF4-FFF2-40B4-BE49-F238E27FC236}">
                <a16:creationId xmlns:a16="http://schemas.microsoft.com/office/drawing/2014/main" id="{14892CBF-657C-474D-9E3B-C444BC0D62D8}"/>
              </a:ext>
            </a:extLst>
          </p:cNvPr>
          <p:cNvPicPr>
            <a:picLocks noChangeAspect="1"/>
          </p:cNvPicPr>
          <p:nvPr/>
        </p:nvPicPr>
        <p:blipFill>
          <a:blip r:embed="rId5"/>
          <a:stretch>
            <a:fillRect/>
          </a:stretch>
        </p:blipFill>
        <p:spPr>
          <a:xfrm>
            <a:off x="800100" y="2645737"/>
            <a:ext cx="7195324" cy="3121781"/>
          </a:xfrm>
          <a:prstGeom prst="rect">
            <a:avLst/>
          </a:prstGeom>
        </p:spPr>
      </p:pic>
      <p:pic>
        <p:nvPicPr>
          <p:cNvPr id="38" name="Picture 3">
            <a:extLst>
              <a:ext uri="{FF2B5EF4-FFF2-40B4-BE49-F238E27FC236}">
                <a16:creationId xmlns:a16="http://schemas.microsoft.com/office/drawing/2014/main" id="{AE783F58-2963-4141-8B45-49A03455A38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29166" y="1721715"/>
            <a:ext cx="3418858" cy="20494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9" name="TextBox 38">
            <a:extLst>
              <a:ext uri="{FF2B5EF4-FFF2-40B4-BE49-F238E27FC236}">
                <a16:creationId xmlns:a16="http://schemas.microsoft.com/office/drawing/2014/main" id="{4FBAA1CE-03A3-4E0E-BCF3-1BE1172FC7C9}"/>
              </a:ext>
            </a:extLst>
          </p:cNvPr>
          <p:cNvSpPr txBox="1"/>
          <p:nvPr/>
        </p:nvSpPr>
        <p:spPr>
          <a:xfrm>
            <a:off x="9017903" y="3046791"/>
            <a:ext cx="914400" cy="914400"/>
          </a:xfrm>
          <a:prstGeom prst="rect">
            <a:avLst/>
          </a:prstGeom>
          <a:noFill/>
        </p:spPr>
        <p:txBody>
          <a:bodyPr wrap="none" lIns="0" tIns="0" rIns="0" bIns="0" rtlCol="0">
            <a:noAutofit/>
          </a:bodyPr>
          <a:lstStyle/>
          <a:p>
            <a:r>
              <a:rPr lang="pl-PL" sz="1400" dirty="0">
                <a:latin typeface="+mn-lt"/>
              </a:rPr>
              <a:t>t</a:t>
            </a:r>
            <a:endParaRPr lang="en-US" sz="1400" dirty="0">
              <a:latin typeface="+mn-lt"/>
            </a:endParaRPr>
          </a:p>
        </p:txBody>
      </p:sp>
      <p:sp>
        <p:nvSpPr>
          <p:cNvPr id="40" name="TextBox 39">
            <a:extLst>
              <a:ext uri="{FF2B5EF4-FFF2-40B4-BE49-F238E27FC236}">
                <a16:creationId xmlns:a16="http://schemas.microsoft.com/office/drawing/2014/main" id="{835E7840-9524-49F9-B664-EDCB1D442B9E}"/>
              </a:ext>
            </a:extLst>
          </p:cNvPr>
          <p:cNvSpPr txBox="1"/>
          <p:nvPr/>
        </p:nvSpPr>
        <p:spPr>
          <a:xfrm>
            <a:off x="9465204" y="2405449"/>
            <a:ext cx="914400" cy="914400"/>
          </a:xfrm>
          <a:prstGeom prst="rect">
            <a:avLst/>
          </a:prstGeom>
          <a:noFill/>
        </p:spPr>
        <p:txBody>
          <a:bodyPr wrap="none" lIns="0" tIns="0" rIns="0" bIns="0" rtlCol="0">
            <a:noAutofit/>
          </a:bodyPr>
          <a:lstStyle/>
          <a:p>
            <a:r>
              <a:rPr lang="en-GB" sz="1400" dirty="0">
                <a:latin typeface="+mn-lt"/>
              </a:rPr>
              <a:t>time</a:t>
            </a:r>
            <a:endParaRPr lang="pl-PL" sz="1400" dirty="0">
              <a:latin typeface="+mn-lt"/>
            </a:endParaRPr>
          </a:p>
          <a:p>
            <a:endParaRPr lang="en-US" sz="1600" dirty="0">
              <a:latin typeface="+mn-lt"/>
            </a:endParaRPr>
          </a:p>
        </p:txBody>
      </p:sp>
      <p:sp>
        <p:nvSpPr>
          <p:cNvPr id="41" name="TextBox 40">
            <a:extLst>
              <a:ext uri="{FF2B5EF4-FFF2-40B4-BE49-F238E27FC236}">
                <a16:creationId xmlns:a16="http://schemas.microsoft.com/office/drawing/2014/main" id="{B1904498-FEBF-495C-8EF7-5B5787A0B089}"/>
              </a:ext>
            </a:extLst>
          </p:cNvPr>
          <p:cNvSpPr txBox="1"/>
          <p:nvPr/>
        </p:nvSpPr>
        <p:spPr>
          <a:xfrm>
            <a:off x="6493685" y="1765156"/>
            <a:ext cx="685800" cy="2431107"/>
          </a:xfrm>
          <a:prstGeom prst="rect">
            <a:avLst/>
          </a:prstGeom>
          <a:noFill/>
        </p:spPr>
        <p:txBody>
          <a:bodyPr wrap="none" lIns="0" tIns="0" rIns="0" bIns="0" rtlCol="0">
            <a:noAutofit/>
          </a:bodyPr>
          <a:lstStyle/>
          <a:p>
            <a:pPr algn="ctr">
              <a:spcBef>
                <a:spcPts val="800"/>
              </a:spcBef>
            </a:pPr>
            <a:r>
              <a:rPr lang="en-GB" sz="1400" dirty="0">
                <a:latin typeface="+mn-lt"/>
              </a:rPr>
              <a:t>swap value</a:t>
            </a:r>
            <a:endParaRPr lang="en-US" sz="1400" dirty="0">
              <a:latin typeface="+mn-lt"/>
            </a:endParaRPr>
          </a:p>
        </p:txBody>
      </p:sp>
      <p:sp>
        <p:nvSpPr>
          <p:cNvPr id="42" name="Oval 41">
            <a:extLst>
              <a:ext uri="{FF2B5EF4-FFF2-40B4-BE49-F238E27FC236}">
                <a16:creationId xmlns:a16="http://schemas.microsoft.com/office/drawing/2014/main" id="{E26F2453-ACB8-4153-BDEA-19C8910BEB48}"/>
              </a:ext>
            </a:extLst>
          </p:cNvPr>
          <p:cNvSpPr/>
          <p:nvPr/>
        </p:nvSpPr>
        <p:spPr>
          <a:xfrm>
            <a:off x="4495295" y="3366930"/>
            <a:ext cx="381000" cy="838200"/>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100" dirty="0">
              <a:solidFill>
                <a:schemeClr val="tx1"/>
              </a:solidFill>
            </a:endParaRPr>
          </a:p>
        </p:txBody>
      </p:sp>
      <p:cxnSp>
        <p:nvCxnSpPr>
          <p:cNvPr id="43" name="Curved Connector 14">
            <a:extLst>
              <a:ext uri="{FF2B5EF4-FFF2-40B4-BE49-F238E27FC236}">
                <a16:creationId xmlns:a16="http://schemas.microsoft.com/office/drawing/2014/main" id="{1CFFBA3C-5C02-4E9D-86C7-7502B5895FDE}"/>
              </a:ext>
            </a:extLst>
          </p:cNvPr>
          <p:cNvCxnSpPr>
            <a:stCxn id="42" idx="0"/>
          </p:cNvCxnSpPr>
          <p:nvPr/>
        </p:nvCxnSpPr>
        <p:spPr>
          <a:xfrm rot="5400000" flipH="1" flipV="1">
            <a:off x="5200145" y="2166780"/>
            <a:ext cx="685800" cy="1714500"/>
          </a:xfrm>
          <a:prstGeom prst="curvedConnector2">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44" name="Oval 43">
            <a:extLst>
              <a:ext uri="{FF2B5EF4-FFF2-40B4-BE49-F238E27FC236}">
                <a16:creationId xmlns:a16="http://schemas.microsoft.com/office/drawing/2014/main" id="{F9485139-F20F-4E4D-B437-8F7B353D7BAF}"/>
              </a:ext>
            </a:extLst>
          </p:cNvPr>
          <p:cNvSpPr/>
          <p:nvPr/>
        </p:nvSpPr>
        <p:spPr>
          <a:xfrm>
            <a:off x="7768371" y="3045187"/>
            <a:ext cx="182499" cy="120162"/>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100" dirty="0">
              <a:solidFill>
                <a:schemeClr val="tx1"/>
              </a:solidFill>
            </a:endParaRPr>
          </a:p>
        </p:txBody>
      </p:sp>
      <p:sp>
        <p:nvSpPr>
          <p:cNvPr id="46" name="TextBox 45">
            <a:extLst>
              <a:ext uri="{FF2B5EF4-FFF2-40B4-BE49-F238E27FC236}">
                <a16:creationId xmlns:a16="http://schemas.microsoft.com/office/drawing/2014/main" id="{F4A5F8D4-CF33-4E1A-9030-0A24C88D66F9}"/>
              </a:ext>
            </a:extLst>
          </p:cNvPr>
          <p:cNvSpPr txBox="1"/>
          <p:nvPr/>
        </p:nvSpPr>
        <p:spPr>
          <a:xfrm>
            <a:off x="7195324" y="3421308"/>
            <a:ext cx="1676400" cy="914400"/>
          </a:xfrm>
          <a:prstGeom prst="rect">
            <a:avLst/>
          </a:prstGeom>
          <a:noFill/>
        </p:spPr>
        <p:txBody>
          <a:bodyPr wrap="none" lIns="0" tIns="0" rIns="0" bIns="0" rtlCol="0">
            <a:noAutofit/>
          </a:bodyPr>
          <a:lstStyle/>
          <a:p>
            <a:pPr algn="ctr">
              <a:spcBef>
                <a:spcPts val="300"/>
              </a:spcBef>
            </a:pPr>
            <a:r>
              <a:rPr lang="en-US" sz="1400" dirty="0">
                <a:latin typeface="+mn-lt"/>
              </a:rPr>
              <a:t>option expiry</a:t>
            </a:r>
          </a:p>
        </p:txBody>
      </p:sp>
      <p:sp>
        <p:nvSpPr>
          <p:cNvPr id="47" name="TextBox 46">
            <a:extLst>
              <a:ext uri="{FF2B5EF4-FFF2-40B4-BE49-F238E27FC236}">
                <a16:creationId xmlns:a16="http://schemas.microsoft.com/office/drawing/2014/main" id="{88C4AF4A-2E26-4139-9D70-73A26079EE04}"/>
              </a:ext>
            </a:extLst>
          </p:cNvPr>
          <p:cNvSpPr txBox="1"/>
          <p:nvPr/>
        </p:nvSpPr>
        <p:spPr>
          <a:xfrm>
            <a:off x="6763024" y="3442208"/>
            <a:ext cx="914400" cy="914400"/>
          </a:xfrm>
          <a:prstGeom prst="rect">
            <a:avLst/>
          </a:prstGeom>
          <a:noFill/>
        </p:spPr>
        <p:txBody>
          <a:bodyPr wrap="none" lIns="0" tIns="0" rIns="0" bIns="0" rtlCol="0">
            <a:noAutofit/>
          </a:bodyPr>
          <a:lstStyle/>
          <a:p>
            <a:r>
              <a:rPr lang="pl-PL" sz="1400" dirty="0">
                <a:latin typeface="+mn-lt"/>
              </a:rPr>
              <a:t>0</a:t>
            </a:r>
            <a:endParaRPr lang="en-US" sz="1400" dirty="0">
              <a:latin typeface="+mn-lt"/>
            </a:endParaRPr>
          </a:p>
        </p:txBody>
      </p:sp>
      <p:sp>
        <p:nvSpPr>
          <p:cNvPr id="48" name="Oval 47">
            <a:extLst>
              <a:ext uri="{FF2B5EF4-FFF2-40B4-BE49-F238E27FC236}">
                <a16:creationId xmlns:a16="http://schemas.microsoft.com/office/drawing/2014/main" id="{B383BF68-1C37-4B8E-9B12-E941A1848F6D}"/>
              </a:ext>
            </a:extLst>
          </p:cNvPr>
          <p:cNvSpPr/>
          <p:nvPr/>
        </p:nvSpPr>
        <p:spPr>
          <a:xfrm>
            <a:off x="8951689" y="2109917"/>
            <a:ext cx="182499" cy="120162"/>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100" dirty="0">
              <a:solidFill>
                <a:schemeClr val="tx1"/>
              </a:solidFill>
            </a:endParaRPr>
          </a:p>
        </p:txBody>
      </p:sp>
      <p:sp>
        <p:nvSpPr>
          <p:cNvPr id="16" name="TextBox 15">
            <a:extLst>
              <a:ext uri="{FF2B5EF4-FFF2-40B4-BE49-F238E27FC236}">
                <a16:creationId xmlns:a16="http://schemas.microsoft.com/office/drawing/2014/main" id="{A5B1CCF3-7D2D-4B91-8B5C-601996CA7B89}"/>
              </a:ext>
            </a:extLst>
          </p:cNvPr>
          <p:cNvSpPr txBox="1"/>
          <p:nvPr>
            <p:custDataLst>
              <p:tags r:id="rId3"/>
            </p:custDataLst>
          </p:nvPr>
        </p:nvSpPr>
        <p:spPr>
          <a:xfrm>
            <a:off x="420624" y="1120775"/>
            <a:ext cx="9189720" cy="274320"/>
          </a:xfrm>
          <a:prstGeom prst="rect">
            <a:avLst/>
          </a:prstGeom>
          <a:noFill/>
        </p:spPr>
        <p:txBody>
          <a:bodyPr vert="horz" wrap="square" lIns="0" tIns="0" rIns="0" bIns="0" rtlCol="0" anchor="t">
            <a:noAutofit/>
          </a:bodyPr>
          <a:lstStyle/>
          <a:p>
            <a:pPr eaLnBrk="1">
              <a:spcBef>
                <a:spcPts val="0"/>
              </a:spcBef>
              <a:spcAft>
                <a:spcPts val="600"/>
              </a:spcAft>
            </a:pPr>
            <a:r>
              <a:rPr lang="pl-PL" sz="2000" kern="0" dirty="0" err="1">
                <a:solidFill>
                  <a:srgbClr val="464749"/>
                </a:solidFill>
                <a:latin typeface="Frutiger 45 Light" panose="020B0603020202020204" pitchFamily="34" charset="0"/>
              </a:rPr>
              <a:t>Example</a:t>
            </a:r>
            <a:r>
              <a:rPr lang="pl-PL" sz="2000" kern="0" dirty="0">
                <a:solidFill>
                  <a:srgbClr val="464749"/>
                </a:solidFill>
                <a:latin typeface="Frutiger 45 Light" panose="020B0603020202020204" pitchFamily="34" charset="0"/>
              </a:rPr>
              <a:t> </a:t>
            </a:r>
            <a:r>
              <a:rPr lang="pl-PL" sz="2000" kern="0" dirty="0" err="1">
                <a:solidFill>
                  <a:srgbClr val="464749"/>
                </a:solidFill>
                <a:latin typeface="Frutiger 45 Light" panose="020B0603020202020204" pitchFamily="34" charset="0"/>
              </a:rPr>
              <a:t>expected</a:t>
            </a:r>
            <a:r>
              <a:rPr lang="pl-PL" sz="2000" kern="0" dirty="0">
                <a:solidFill>
                  <a:srgbClr val="464749"/>
                </a:solidFill>
                <a:latin typeface="Frutiger 45 Light" panose="020B0603020202020204" pitchFamily="34" charset="0"/>
              </a:rPr>
              <a:t> </a:t>
            </a:r>
            <a:r>
              <a:rPr lang="pl-PL" sz="2000" kern="0" dirty="0" err="1">
                <a:solidFill>
                  <a:srgbClr val="464749"/>
                </a:solidFill>
                <a:latin typeface="Frutiger 45 Light" panose="020B0603020202020204" pitchFamily="34" charset="0"/>
              </a:rPr>
              <a:t>exposure</a:t>
            </a:r>
            <a:r>
              <a:rPr lang="pl-PL" sz="2000" kern="0" dirty="0">
                <a:solidFill>
                  <a:srgbClr val="464749"/>
                </a:solidFill>
                <a:latin typeface="Frutiger 45 Light" panose="020B0603020202020204" pitchFamily="34" charset="0"/>
              </a:rPr>
              <a:t> profile of </a:t>
            </a:r>
            <a:r>
              <a:rPr lang="pl-PL" sz="2000" kern="0" dirty="0" err="1">
                <a:solidFill>
                  <a:srgbClr val="464749"/>
                </a:solidFill>
                <a:latin typeface="Frutiger 45 Light" panose="020B0603020202020204" pitchFamily="34" charset="0"/>
              </a:rPr>
              <a:t>an</a:t>
            </a:r>
            <a:r>
              <a:rPr lang="pl-PL" sz="2000" kern="0" dirty="0">
                <a:solidFill>
                  <a:srgbClr val="464749"/>
                </a:solidFill>
                <a:latin typeface="Frutiger 45 Light" panose="020B0603020202020204" pitchFamily="34" charset="0"/>
              </a:rPr>
              <a:t> </a:t>
            </a:r>
            <a:r>
              <a:rPr lang="pl-PL" sz="2000" kern="0" dirty="0" err="1">
                <a:solidFill>
                  <a:srgbClr val="464749"/>
                </a:solidFill>
                <a:latin typeface="Frutiger 45 Light" panose="020B0603020202020204" pitchFamily="34" charset="0"/>
              </a:rPr>
              <a:t>at</a:t>
            </a:r>
            <a:r>
              <a:rPr lang="pl-PL" sz="2000" kern="0" dirty="0">
                <a:solidFill>
                  <a:srgbClr val="464749"/>
                </a:solidFill>
                <a:latin typeface="Frutiger 45 Light" panose="020B0603020202020204" pitchFamily="34" charset="0"/>
              </a:rPr>
              <a:t>-the-</a:t>
            </a:r>
            <a:r>
              <a:rPr lang="pl-PL" sz="2000" kern="0" dirty="0" err="1">
                <a:solidFill>
                  <a:srgbClr val="464749"/>
                </a:solidFill>
                <a:latin typeface="Frutiger 45 Light" panose="020B0603020202020204" pitchFamily="34" charset="0"/>
              </a:rPr>
              <a:t>money</a:t>
            </a:r>
            <a:r>
              <a:rPr lang="pl-PL" sz="2000" kern="0" dirty="0">
                <a:solidFill>
                  <a:srgbClr val="464749"/>
                </a:solidFill>
                <a:latin typeface="Frutiger 45 Light" panose="020B0603020202020204" pitchFamily="34" charset="0"/>
              </a:rPr>
              <a:t> </a:t>
            </a:r>
            <a:r>
              <a:rPr lang="pl-PL" sz="2000" kern="0" dirty="0" err="1">
                <a:solidFill>
                  <a:srgbClr val="464749"/>
                </a:solidFill>
                <a:latin typeface="Frutiger 45 Light" panose="020B0603020202020204" pitchFamily="34" charset="0"/>
              </a:rPr>
              <a:t>interest-rate</a:t>
            </a:r>
            <a:r>
              <a:rPr lang="pl-PL" sz="2000" kern="0" dirty="0">
                <a:solidFill>
                  <a:srgbClr val="464749"/>
                </a:solidFill>
                <a:latin typeface="Frutiger 45 Light" panose="020B0603020202020204" pitchFamily="34" charset="0"/>
              </a:rPr>
              <a:t> </a:t>
            </a:r>
            <a:r>
              <a:rPr lang="pl-PL" sz="2000" kern="0" dirty="0" err="1">
                <a:solidFill>
                  <a:srgbClr val="464749"/>
                </a:solidFill>
                <a:latin typeface="Frutiger 45 Light" panose="020B0603020202020204" pitchFamily="34" charset="0"/>
              </a:rPr>
              <a:t>swaption</a:t>
            </a:r>
            <a:endParaRPr lang="en-US" sz="2000" kern="0" dirty="0">
              <a:solidFill>
                <a:srgbClr val="464749"/>
              </a:solidFill>
              <a:latin typeface="Frutiger 45 Light" panose="020B0603020202020204" pitchFamily="34" charset="0"/>
            </a:endParaRPr>
          </a:p>
        </p:txBody>
      </p:sp>
    </p:spTree>
    <p:custDataLst>
      <p:tags r:id="rId1"/>
    </p:custDataLst>
    <p:extLst>
      <p:ext uri="{BB962C8B-B14F-4D97-AF65-F5344CB8AC3E}">
        <p14:creationId xmlns:p14="http://schemas.microsoft.com/office/powerpoint/2010/main" val="112763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6">
                                            <p:txEl>
                                              <p:pRg st="0" end="0"/>
                                            </p:txEl>
                                          </p:spTgt>
                                        </p:tgtEl>
                                        <p:attrNameLst>
                                          <p:attrName>style.visibility</p:attrName>
                                        </p:attrNameLst>
                                      </p:cBhvr>
                                      <p:to>
                                        <p:strVal val="visible"/>
                                      </p:to>
                                    </p:set>
                                    <p:animEffect transition="in" filter="randombar(horizontal)">
                                      <p:cBhvr>
                                        <p:cTn id="7" dur="500"/>
                                        <p:tgtEl>
                                          <p:spTgt spid="2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6">
                                            <p:txEl>
                                              <p:pRg st="1" end="1"/>
                                            </p:txEl>
                                          </p:spTgt>
                                        </p:tgtEl>
                                        <p:attrNameLst>
                                          <p:attrName>style.visibility</p:attrName>
                                        </p:attrNameLst>
                                      </p:cBhvr>
                                      <p:to>
                                        <p:strVal val="visible"/>
                                      </p:to>
                                    </p:set>
                                    <p:animEffect transition="in" filter="randombar(horizontal)">
                                      <p:cBhvr>
                                        <p:cTn id="12" dur="500"/>
                                        <p:tgtEl>
                                          <p:spTgt spid="26">
                                            <p:txEl>
                                              <p:pRg st="1" end="1"/>
                                            </p:txEl>
                                          </p:spTgt>
                                        </p:tgtEl>
                                      </p:cBhvr>
                                    </p:animEffect>
                                  </p:childTnLst>
                                </p:cTn>
                              </p:par>
                              <p:par>
                                <p:cTn id="13" presetID="14" presetClass="entr" presetSubtype="10" fill="hold" nodeType="withEffect">
                                  <p:stCondLst>
                                    <p:cond delay="0"/>
                                  </p:stCondLst>
                                  <p:childTnLst>
                                    <p:set>
                                      <p:cBhvr>
                                        <p:cTn id="14" dur="1" fill="hold">
                                          <p:stCondLst>
                                            <p:cond delay="0"/>
                                          </p:stCondLst>
                                        </p:cTn>
                                        <p:tgtEl>
                                          <p:spTgt spid="38"/>
                                        </p:tgtEl>
                                        <p:attrNameLst>
                                          <p:attrName>style.visibility</p:attrName>
                                        </p:attrNameLst>
                                      </p:cBhvr>
                                      <p:to>
                                        <p:strVal val="visible"/>
                                      </p:to>
                                    </p:set>
                                    <p:animEffect transition="in" filter="randombar(horizontal)">
                                      <p:cBhvr>
                                        <p:cTn id="15" dur="500"/>
                                        <p:tgtEl>
                                          <p:spTgt spid="38"/>
                                        </p:tgtEl>
                                      </p:cBhvr>
                                    </p:animEffect>
                                  </p:childTnLst>
                                </p:cTn>
                              </p:par>
                              <p:par>
                                <p:cTn id="16" presetID="14" presetClass="entr" presetSubtype="10" fill="hold" grpId="0" nodeType="withEffect">
                                  <p:stCondLst>
                                    <p:cond delay="0"/>
                                  </p:stCondLst>
                                  <p:childTnLst>
                                    <p:set>
                                      <p:cBhvr>
                                        <p:cTn id="17" dur="1" fill="hold">
                                          <p:stCondLst>
                                            <p:cond delay="0"/>
                                          </p:stCondLst>
                                        </p:cTn>
                                        <p:tgtEl>
                                          <p:spTgt spid="42"/>
                                        </p:tgtEl>
                                        <p:attrNameLst>
                                          <p:attrName>style.visibility</p:attrName>
                                        </p:attrNameLst>
                                      </p:cBhvr>
                                      <p:to>
                                        <p:strVal val="visible"/>
                                      </p:to>
                                    </p:set>
                                    <p:animEffect transition="in" filter="randombar(horizontal)">
                                      <p:cBhvr>
                                        <p:cTn id="18" dur="500"/>
                                        <p:tgtEl>
                                          <p:spTgt spid="42"/>
                                        </p:tgtEl>
                                      </p:cBhvr>
                                    </p:animEffect>
                                  </p:childTnLst>
                                </p:cTn>
                              </p:par>
                              <p:par>
                                <p:cTn id="19" presetID="14" presetClass="entr" presetSubtype="10" fill="hold" nodeType="withEffect">
                                  <p:stCondLst>
                                    <p:cond delay="0"/>
                                  </p:stCondLst>
                                  <p:childTnLst>
                                    <p:set>
                                      <p:cBhvr>
                                        <p:cTn id="20" dur="1" fill="hold">
                                          <p:stCondLst>
                                            <p:cond delay="0"/>
                                          </p:stCondLst>
                                        </p:cTn>
                                        <p:tgtEl>
                                          <p:spTgt spid="43"/>
                                        </p:tgtEl>
                                        <p:attrNameLst>
                                          <p:attrName>style.visibility</p:attrName>
                                        </p:attrNameLst>
                                      </p:cBhvr>
                                      <p:to>
                                        <p:strVal val="visible"/>
                                      </p:to>
                                    </p:set>
                                    <p:animEffect transition="in" filter="randombar(horizontal)">
                                      <p:cBhvr>
                                        <p:cTn id="21" dur="500"/>
                                        <p:tgtEl>
                                          <p:spTgt spid="43"/>
                                        </p:tgtEl>
                                      </p:cBhvr>
                                    </p:animEffect>
                                  </p:childTnLst>
                                </p:cTn>
                              </p:par>
                              <p:par>
                                <p:cTn id="22" presetID="14" presetClass="entr" presetSubtype="10" fill="hold" grpId="0" nodeType="withEffect">
                                  <p:stCondLst>
                                    <p:cond delay="0"/>
                                  </p:stCondLst>
                                  <p:childTnLst>
                                    <p:set>
                                      <p:cBhvr>
                                        <p:cTn id="23" dur="1" fill="hold">
                                          <p:stCondLst>
                                            <p:cond delay="0"/>
                                          </p:stCondLst>
                                        </p:cTn>
                                        <p:tgtEl>
                                          <p:spTgt spid="41"/>
                                        </p:tgtEl>
                                        <p:attrNameLst>
                                          <p:attrName>style.visibility</p:attrName>
                                        </p:attrNameLst>
                                      </p:cBhvr>
                                      <p:to>
                                        <p:strVal val="visible"/>
                                      </p:to>
                                    </p:set>
                                    <p:animEffect transition="in" filter="randombar(horizontal)">
                                      <p:cBhvr>
                                        <p:cTn id="24" dur="500"/>
                                        <p:tgtEl>
                                          <p:spTgt spid="41"/>
                                        </p:tgtEl>
                                      </p:cBhvr>
                                    </p:animEffect>
                                  </p:childTnLst>
                                </p:cTn>
                              </p:par>
                              <p:par>
                                <p:cTn id="25" presetID="14" presetClass="entr" presetSubtype="10" fill="hold" grpId="0" nodeType="withEffect">
                                  <p:stCondLst>
                                    <p:cond delay="0"/>
                                  </p:stCondLst>
                                  <p:childTnLst>
                                    <p:set>
                                      <p:cBhvr>
                                        <p:cTn id="26" dur="1" fill="hold">
                                          <p:stCondLst>
                                            <p:cond delay="0"/>
                                          </p:stCondLst>
                                        </p:cTn>
                                        <p:tgtEl>
                                          <p:spTgt spid="39"/>
                                        </p:tgtEl>
                                        <p:attrNameLst>
                                          <p:attrName>style.visibility</p:attrName>
                                        </p:attrNameLst>
                                      </p:cBhvr>
                                      <p:to>
                                        <p:strVal val="visible"/>
                                      </p:to>
                                    </p:set>
                                    <p:animEffect transition="in" filter="randombar(horizontal)">
                                      <p:cBhvr>
                                        <p:cTn id="27" dur="500"/>
                                        <p:tgtEl>
                                          <p:spTgt spid="39"/>
                                        </p:tgtEl>
                                      </p:cBhvr>
                                    </p:animEffect>
                                  </p:childTnLst>
                                </p:cTn>
                              </p:par>
                              <p:par>
                                <p:cTn id="28" presetID="14" presetClass="entr" presetSubtype="10" fill="hold" grpId="0" nodeType="withEffect">
                                  <p:stCondLst>
                                    <p:cond delay="0"/>
                                  </p:stCondLst>
                                  <p:childTnLst>
                                    <p:set>
                                      <p:cBhvr>
                                        <p:cTn id="29" dur="1" fill="hold">
                                          <p:stCondLst>
                                            <p:cond delay="0"/>
                                          </p:stCondLst>
                                        </p:cTn>
                                        <p:tgtEl>
                                          <p:spTgt spid="40"/>
                                        </p:tgtEl>
                                        <p:attrNameLst>
                                          <p:attrName>style.visibility</p:attrName>
                                        </p:attrNameLst>
                                      </p:cBhvr>
                                      <p:to>
                                        <p:strVal val="visible"/>
                                      </p:to>
                                    </p:set>
                                    <p:animEffect transition="in" filter="randombar(horizontal)">
                                      <p:cBhvr>
                                        <p:cTn id="30" dur="500"/>
                                        <p:tgtEl>
                                          <p:spTgt spid="40"/>
                                        </p:tgtEl>
                                      </p:cBhvr>
                                    </p:animEffect>
                                  </p:childTnLst>
                                </p:cTn>
                              </p:par>
                              <p:par>
                                <p:cTn id="31" presetID="14" presetClass="entr" presetSubtype="10" fill="hold" grpId="0" nodeType="withEffect">
                                  <p:stCondLst>
                                    <p:cond delay="0"/>
                                  </p:stCondLst>
                                  <p:childTnLst>
                                    <p:set>
                                      <p:cBhvr>
                                        <p:cTn id="32" dur="1" fill="hold">
                                          <p:stCondLst>
                                            <p:cond delay="0"/>
                                          </p:stCondLst>
                                        </p:cTn>
                                        <p:tgtEl>
                                          <p:spTgt spid="44"/>
                                        </p:tgtEl>
                                        <p:attrNameLst>
                                          <p:attrName>style.visibility</p:attrName>
                                        </p:attrNameLst>
                                      </p:cBhvr>
                                      <p:to>
                                        <p:strVal val="visible"/>
                                      </p:to>
                                    </p:set>
                                    <p:animEffect transition="in" filter="randombar(horizontal)">
                                      <p:cBhvr>
                                        <p:cTn id="33" dur="500"/>
                                        <p:tgtEl>
                                          <p:spTgt spid="44"/>
                                        </p:tgtEl>
                                      </p:cBhvr>
                                    </p:animEffect>
                                  </p:childTnLst>
                                </p:cTn>
                              </p:par>
                              <p:par>
                                <p:cTn id="34" presetID="14" presetClass="entr" presetSubtype="10" fill="hold" grpId="0" nodeType="withEffect">
                                  <p:stCondLst>
                                    <p:cond delay="0"/>
                                  </p:stCondLst>
                                  <p:childTnLst>
                                    <p:set>
                                      <p:cBhvr>
                                        <p:cTn id="35" dur="1" fill="hold">
                                          <p:stCondLst>
                                            <p:cond delay="0"/>
                                          </p:stCondLst>
                                        </p:cTn>
                                        <p:tgtEl>
                                          <p:spTgt spid="47"/>
                                        </p:tgtEl>
                                        <p:attrNameLst>
                                          <p:attrName>style.visibility</p:attrName>
                                        </p:attrNameLst>
                                      </p:cBhvr>
                                      <p:to>
                                        <p:strVal val="visible"/>
                                      </p:to>
                                    </p:set>
                                    <p:animEffect transition="in" filter="randombar(horizontal)">
                                      <p:cBhvr>
                                        <p:cTn id="36" dur="500"/>
                                        <p:tgtEl>
                                          <p:spTgt spid="47"/>
                                        </p:tgtEl>
                                      </p:cBhvr>
                                    </p:animEffect>
                                  </p:childTnLst>
                                </p:cTn>
                              </p:par>
                              <p:par>
                                <p:cTn id="37" presetID="14" presetClass="entr" presetSubtype="10" fill="hold" grpId="0" nodeType="withEffect">
                                  <p:stCondLst>
                                    <p:cond delay="0"/>
                                  </p:stCondLst>
                                  <p:childTnLst>
                                    <p:set>
                                      <p:cBhvr>
                                        <p:cTn id="38" dur="1" fill="hold">
                                          <p:stCondLst>
                                            <p:cond delay="0"/>
                                          </p:stCondLst>
                                        </p:cTn>
                                        <p:tgtEl>
                                          <p:spTgt spid="46"/>
                                        </p:tgtEl>
                                        <p:attrNameLst>
                                          <p:attrName>style.visibility</p:attrName>
                                        </p:attrNameLst>
                                      </p:cBhvr>
                                      <p:to>
                                        <p:strVal val="visible"/>
                                      </p:to>
                                    </p:set>
                                    <p:animEffect transition="in" filter="randombar(horizontal)">
                                      <p:cBhvr>
                                        <p:cTn id="39" dur="500"/>
                                        <p:tgtEl>
                                          <p:spTgt spid="46"/>
                                        </p:tgtEl>
                                      </p:cBhvr>
                                    </p:animEffect>
                                  </p:childTnLst>
                                </p:cTn>
                              </p:par>
                              <p:par>
                                <p:cTn id="40" presetID="14" presetClass="entr" presetSubtype="10" fill="hold" grpId="0" nodeType="withEffect">
                                  <p:stCondLst>
                                    <p:cond delay="0"/>
                                  </p:stCondLst>
                                  <p:childTnLst>
                                    <p:set>
                                      <p:cBhvr>
                                        <p:cTn id="41" dur="1" fill="hold">
                                          <p:stCondLst>
                                            <p:cond delay="0"/>
                                          </p:stCondLst>
                                        </p:cTn>
                                        <p:tgtEl>
                                          <p:spTgt spid="48"/>
                                        </p:tgtEl>
                                        <p:attrNameLst>
                                          <p:attrName>style.visibility</p:attrName>
                                        </p:attrNameLst>
                                      </p:cBhvr>
                                      <p:to>
                                        <p:strVal val="visible"/>
                                      </p:to>
                                    </p:set>
                                    <p:animEffect transition="in" filter="randombar(horizontal)">
                                      <p:cBhvr>
                                        <p:cTn id="42"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40" grpId="0"/>
      <p:bldP spid="41" grpId="0"/>
      <p:bldP spid="42" grpId="0" animBg="1"/>
      <p:bldP spid="44" grpId="0" animBg="1"/>
      <p:bldP spid="46" grpId="0"/>
      <p:bldP spid="47" grpId="0"/>
      <p:bldP spid="4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DIVIDER TITLE"/>
          <p:cNvSpPr>
            <a:spLocks noGrp="1"/>
          </p:cNvSpPr>
          <p:nvPr>
            <p:ph type="subTitle" idx="1"/>
            <p:custDataLst>
              <p:tags r:id="rId2"/>
            </p:custDataLst>
          </p:nvPr>
        </p:nvSpPr>
        <p:spPr/>
        <p:txBody>
          <a:bodyPr/>
          <a:lstStyle/>
          <a:p>
            <a:r>
              <a:rPr lang="pl-PL" dirty="0"/>
              <a:t>Monte Carlo </a:t>
            </a:r>
            <a:r>
              <a:rPr lang="pl-PL" dirty="0" err="1"/>
              <a:t>Simulations</a:t>
            </a:r>
            <a:endParaRPr lang="en-US" dirty="0"/>
          </a:p>
        </p:txBody>
      </p:sp>
      <p:sp>
        <p:nvSpPr>
          <p:cNvPr id="16" name="DIVIDER NUMBER"/>
          <p:cNvSpPr>
            <a:spLocks noGrp="1"/>
          </p:cNvSpPr>
          <p:nvPr>
            <p:ph type="ctrTitle"/>
            <p:custDataLst>
              <p:tags r:id="rId3"/>
            </p:custDataLst>
          </p:nvPr>
        </p:nvSpPr>
        <p:spPr/>
        <p:txBody>
          <a:bodyPr/>
          <a:lstStyle/>
          <a:p>
            <a:r>
              <a:rPr lang="en-US" dirty="0"/>
              <a:t>Section 2</a:t>
            </a:r>
          </a:p>
        </p:txBody>
      </p:sp>
    </p:spTree>
    <p:custDataLst>
      <p:tags r:id="rId1"/>
    </p:custDataLst>
    <p:extLst>
      <p:ext uri="{BB962C8B-B14F-4D97-AF65-F5344CB8AC3E}">
        <p14:creationId xmlns:p14="http://schemas.microsoft.com/office/powerpoint/2010/main" val="25218217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AGE HEADING"/>
          <p:cNvSpPr>
            <a:spLocks noGrp="1"/>
          </p:cNvSpPr>
          <p:nvPr>
            <p:ph type="title"/>
            <p:custDataLst>
              <p:tags r:id="rId2"/>
            </p:custDataLst>
          </p:nvPr>
        </p:nvSpPr>
        <p:spPr/>
        <p:txBody>
          <a:bodyPr>
            <a:normAutofit/>
          </a:bodyPr>
          <a:lstStyle/>
          <a:p>
            <a:r>
              <a:rPr lang="pl-PL" dirty="0"/>
              <a:t>Monte Carlo </a:t>
            </a:r>
            <a:r>
              <a:rPr lang="pl-PL" dirty="0" err="1"/>
              <a:t>Simulations</a:t>
            </a:r>
            <a:endParaRPr lang="en-US" dirty="0"/>
          </a:p>
        </p:txBody>
      </p:sp>
      <p:sp>
        <p:nvSpPr>
          <p:cNvPr id="21" name="LAYOUT HEADER">
            <a:extLst>
              <a:ext uri="{FF2B5EF4-FFF2-40B4-BE49-F238E27FC236}">
                <a16:creationId xmlns:a16="http://schemas.microsoft.com/office/drawing/2014/main" id="{355DAEDE-6A76-4099-A0CD-336FBD5F1390}"/>
              </a:ext>
            </a:extLst>
          </p:cNvPr>
          <p:cNvSpPr txBox="1">
            <a:spLocks noChangeArrowheads="1"/>
          </p:cNvSpPr>
          <p:nvPr>
            <p:custDataLst>
              <p:tags r:id="rId3"/>
            </p:custDataLst>
          </p:nvPr>
        </p:nvSpPr>
        <p:spPr bwMode="gray">
          <a:xfrm>
            <a:off x="415439" y="1605680"/>
            <a:ext cx="9189719" cy="609600"/>
          </a:xfrm>
          <a:prstGeom prst="rect">
            <a:avLst/>
          </a:prstGeom>
          <a:noFill/>
          <a:ln w="19050" algn="ctr">
            <a:no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17961" dir="2700000" algn="ctr" rotWithShape="0">
                    <a:srgbClr val="999999"/>
                  </a:outerShdw>
                </a:effectLst>
              </a14:hiddenEffects>
            </a:ext>
          </a:extLst>
        </p:spPr>
        <p:txBody>
          <a:bodyPr lIns="0" tIns="0" rIns="0" bIns="38100"/>
          <a:lstStyle>
            <a:lvl1pPr>
              <a:defRPr sz="1100">
                <a:solidFill>
                  <a:schemeClr val="tx1"/>
                </a:solidFill>
                <a:latin typeface="Frutiger 45 Light" pitchFamily="34" charset="0"/>
                <a:ea typeface="Arial Unicode MS" pitchFamily="34" charset="-128"/>
                <a:cs typeface="Arial Unicode MS" pitchFamily="34" charset="-128"/>
              </a:defRPr>
            </a:lvl1pPr>
            <a:lvl2pPr marL="742950" indent="-285750">
              <a:defRPr sz="1100">
                <a:solidFill>
                  <a:schemeClr val="tx1"/>
                </a:solidFill>
                <a:latin typeface="Frutiger 45 Light" pitchFamily="34" charset="0"/>
                <a:ea typeface="Arial Unicode MS" pitchFamily="34" charset="-128"/>
                <a:cs typeface="Arial Unicode MS" pitchFamily="34" charset="-128"/>
              </a:defRPr>
            </a:lvl2pPr>
            <a:lvl3pPr marL="1143000" indent="-228600">
              <a:defRPr sz="1100">
                <a:solidFill>
                  <a:schemeClr val="tx1"/>
                </a:solidFill>
                <a:latin typeface="Frutiger 45 Light" pitchFamily="34" charset="0"/>
                <a:ea typeface="Arial Unicode MS" pitchFamily="34" charset="-128"/>
                <a:cs typeface="Arial Unicode MS" pitchFamily="34" charset="-128"/>
              </a:defRPr>
            </a:lvl3pPr>
            <a:lvl4pPr marL="1600200" indent="-228600">
              <a:defRPr sz="1100">
                <a:solidFill>
                  <a:schemeClr val="tx1"/>
                </a:solidFill>
                <a:latin typeface="Frutiger 45 Light" pitchFamily="34" charset="0"/>
                <a:ea typeface="Arial Unicode MS" pitchFamily="34" charset="-128"/>
                <a:cs typeface="Arial Unicode MS" pitchFamily="34" charset="-128"/>
              </a:defRPr>
            </a:lvl4pPr>
            <a:lvl5pPr marL="2057400" indent="-228600">
              <a:defRPr sz="1100">
                <a:solidFill>
                  <a:schemeClr val="tx1"/>
                </a:solidFill>
                <a:latin typeface="Frutiger 45 Light" pitchFamily="34" charset="0"/>
                <a:ea typeface="Arial Unicode MS" pitchFamily="34" charset="-128"/>
                <a:cs typeface="Arial Unicode MS" pitchFamily="34" charset="-128"/>
              </a:defRPr>
            </a:lvl5pPr>
            <a:lvl6pPr marL="2514600" indent="-228600" eaLnBrk="0" fontAlgn="base" hangingPunct="0">
              <a:spcBef>
                <a:spcPct val="50000"/>
              </a:spcBef>
              <a:spcAft>
                <a:spcPct val="0"/>
              </a:spcAft>
              <a:defRPr sz="1100">
                <a:solidFill>
                  <a:schemeClr val="tx1"/>
                </a:solidFill>
                <a:latin typeface="Frutiger 45 Light" pitchFamily="34" charset="0"/>
                <a:ea typeface="Arial Unicode MS" pitchFamily="34" charset="-128"/>
                <a:cs typeface="Arial Unicode MS" pitchFamily="34" charset="-128"/>
              </a:defRPr>
            </a:lvl6pPr>
            <a:lvl7pPr marL="2971800" indent="-228600" eaLnBrk="0" fontAlgn="base" hangingPunct="0">
              <a:spcBef>
                <a:spcPct val="50000"/>
              </a:spcBef>
              <a:spcAft>
                <a:spcPct val="0"/>
              </a:spcAft>
              <a:defRPr sz="1100">
                <a:solidFill>
                  <a:schemeClr val="tx1"/>
                </a:solidFill>
                <a:latin typeface="Frutiger 45 Light" pitchFamily="34" charset="0"/>
                <a:ea typeface="Arial Unicode MS" pitchFamily="34" charset="-128"/>
                <a:cs typeface="Arial Unicode MS" pitchFamily="34" charset="-128"/>
              </a:defRPr>
            </a:lvl7pPr>
            <a:lvl8pPr marL="3429000" indent="-228600" eaLnBrk="0" fontAlgn="base" hangingPunct="0">
              <a:spcBef>
                <a:spcPct val="50000"/>
              </a:spcBef>
              <a:spcAft>
                <a:spcPct val="0"/>
              </a:spcAft>
              <a:defRPr sz="1100">
                <a:solidFill>
                  <a:schemeClr val="tx1"/>
                </a:solidFill>
                <a:latin typeface="Frutiger 45 Light" pitchFamily="34" charset="0"/>
                <a:ea typeface="Arial Unicode MS" pitchFamily="34" charset="-128"/>
                <a:cs typeface="Arial Unicode MS" pitchFamily="34" charset="-128"/>
              </a:defRPr>
            </a:lvl8pPr>
            <a:lvl9pPr marL="3886200" indent="-228600" eaLnBrk="0" fontAlgn="base" hangingPunct="0">
              <a:spcBef>
                <a:spcPct val="50000"/>
              </a:spcBef>
              <a:spcAft>
                <a:spcPct val="0"/>
              </a:spcAft>
              <a:defRPr sz="1100">
                <a:solidFill>
                  <a:schemeClr val="tx1"/>
                </a:solidFill>
                <a:latin typeface="Frutiger 45 Light" pitchFamily="34" charset="0"/>
                <a:ea typeface="Arial Unicode MS" pitchFamily="34" charset="-128"/>
                <a:cs typeface="Arial Unicode MS" pitchFamily="34" charset="-128"/>
              </a:defRPr>
            </a:lvl9pPr>
          </a:lstStyle>
          <a:p>
            <a:r>
              <a:rPr lang="pl-PL" altLang="zh-TW" sz="1800" dirty="0"/>
              <a:t>Monte Carlo </a:t>
            </a:r>
            <a:r>
              <a:rPr lang="pl-PL" altLang="zh-TW" sz="1800" dirty="0" err="1"/>
              <a:t>methods</a:t>
            </a:r>
            <a:r>
              <a:rPr lang="pl-PL" altLang="zh-TW" sz="1800" dirty="0"/>
              <a:t> – a </a:t>
            </a:r>
            <a:r>
              <a:rPr lang="pl-PL" altLang="zh-TW" sz="1800" dirty="0" err="1"/>
              <a:t>class</a:t>
            </a:r>
            <a:r>
              <a:rPr lang="pl-PL" altLang="zh-TW" sz="1800" dirty="0"/>
              <a:t> of </a:t>
            </a:r>
            <a:r>
              <a:rPr lang="pl-PL" altLang="zh-TW" sz="1800" dirty="0" err="1"/>
              <a:t>algorithms</a:t>
            </a:r>
            <a:r>
              <a:rPr lang="pl-PL" altLang="zh-TW" sz="1800" dirty="0"/>
              <a:t> </a:t>
            </a:r>
            <a:r>
              <a:rPr lang="pl-PL" altLang="zh-TW" sz="1800" dirty="0" err="1"/>
              <a:t>that</a:t>
            </a:r>
            <a:r>
              <a:rPr lang="pl-PL" altLang="zh-TW" sz="1800" dirty="0"/>
              <a:t> </a:t>
            </a:r>
            <a:r>
              <a:rPr lang="pl-PL" altLang="zh-TW" sz="1800" dirty="0" err="1"/>
              <a:t>rely</a:t>
            </a:r>
            <a:r>
              <a:rPr lang="pl-PL" altLang="zh-TW" sz="1800" dirty="0"/>
              <a:t> on </a:t>
            </a:r>
            <a:r>
              <a:rPr lang="pl-PL" altLang="zh-TW" sz="1800" dirty="0" err="1"/>
              <a:t>repeated</a:t>
            </a:r>
            <a:r>
              <a:rPr lang="pl-PL" altLang="zh-TW" sz="1800" dirty="0"/>
              <a:t> </a:t>
            </a:r>
            <a:r>
              <a:rPr lang="pl-PL" altLang="zh-TW" sz="1800" dirty="0" err="1"/>
              <a:t>random</a:t>
            </a:r>
            <a:r>
              <a:rPr lang="pl-PL" altLang="zh-TW" sz="1800" dirty="0"/>
              <a:t> </a:t>
            </a:r>
            <a:r>
              <a:rPr lang="pl-PL" altLang="zh-TW" sz="1800" dirty="0" err="1"/>
              <a:t>sampling</a:t>
            </a:r>
            <a:r>
              <a:rPr lang="pl-PL" altLang="zh-TW" sz="1800" dirty="0"/>
              <a:t>				to </a:t>
            </a:r>
            <a:r>
              <a:rPr lang="pl-PL" altLang="zh-TW" sz="1800" dirty="0" err="1"/>
              <a:t>obtain</a:t>
            </a:r>
            <a:r>
              <a:rPr lang="pl-PL" altLang="zh-TW" sz="1800" dirty="0"/>
              <a:t> </a:t>
            </a:r>
            <a:r>
              <a:rPr lang="pl-PL" altLang="zh-TW" sz="1800" dirty="0" err="1"/>
              <a:t>numerical</a:t>
            </a:r>
            <a:r>
              <a:rPr lang="pl-PL" altLang="zh-TW" sz="1800" dirty="0"/>
              <a:t> </a:t>
            </a:r>
            <a:r>
              <a:rPr lang="pl-PL" altLang="zh-TW" sz="1800" dirty="0" err="1"/>
              <a:t>results</a:t>
            </a:r>
            <a:r>
              <a:rPr lang="pl-PL" altLang="zh-TW" sz="1800" dirty="0"/>
              <a:t>.</a:t>
            </a:r>
            <a:endParaRPr lang="pl-PL" altLang="zh-TW" sz="1800" dirty="0">
              <a:solidFill>
                <a:srgbClr val="E60000"/>
              </a:solidFill>
            </a:endParaRPr>
          </a:p>
          <a:p>
            <a:r>
              <a:rPr lang="pl-PL" sz="1800" dirty="0" err="1"/>
              <a:t>Some</a:t>
            </a:r>
            <a:r>
              <a:rPr lang="pl-PL" sz="1800" dirty="0"/>
              <a:t> </a:t>
            </a:r>
            <a:r>
              <a:rPr lang="pl-PL" sz="1800" dirty="0" err="1"/>
              <a:t>famous</a:t>
            </a:r>
            <a:r>
              <a:rPr lang="pl-PL" sz="1800" dirty="0"/>
              <a:t> </a:t>
            </a:r>
            <a:r>
              <a:rPr lang="pl-PL" sz="1800" dirty="0" err="1"/>
              <a:t>examples</a:t>
            </a:r>
            <a:r>
              <a:rPr lang="pl-PL" sz="1800" dirty="0"/>
              <a:t>:</a:t>
            </a:r>
          </a:p>
          <a:p>
            <a:endParaRPr lang="pl-PL" sz="2400" dirty="0"/>
          </a:p>
          <a:p>
            <a:pPr algn="ctr"/>
            <a:endParaRPr lang="pl-PL" sz="2400" u="sng" dirty="0">
              <a:solidFill>
                <a:srgbClr val="FF0000"/>
              </a:solidFill>
            </a:endParaRPr>
          </a:p>
          <a:p>
            <a:pPr algn="ctr"/>
            <a:endParaRPr lang="pl-PL" sz="2400" u="sng" dirty="0">
              <a:solidFill>
                <a:srgbClr val="FF0000"/>
              </a:solidFill>
            </a:endParaRPr>
          </a:p>
          <a:p>
            <a:pPr algn="ctr"/>
            <a:endParaRPr lang="pl-PL" sz="2400" u="sng" dirty="0">
              <a:solidFill>
                <a:srgbClr val="FF0000"/>
              </a:solidFill>
            </a:endParaRPr>
          </a:p>
          <a:p>
            <a:pPr algn="ctr"/>
            <a:endParaRPr lang="pl-PL" sz="2400" u="sng" dirty="0">
              <a:solidFill>
                <a:srgbClr val="FF0000"/>
              </a:solidFill>
            </a:endParaRPr>
          </a:p>
          <a:p>
            <a:endParaRPr lang="en-GB" altLang="zh-TW" sz="2400" i="1" dirty="0">
              <a:solidFill>
                <a:srgbClr val="E60000"/>
              </a:solidFill>
            </a:endParaRPr>
          </a:p>
          <a:p>
            <a:endParaRPr lang="en-GB" altLang="zh-TW" sz="2400" i="1" dirty="0">
              <a:solidFill>
                <a:srgbClr val="E60000"/>
              </a:solidFill>
            </a:endParaRP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3FC410E3-6BDD-4206-85BA-7FBE9014B0E8}"/>
                  </a:ext>
                </a:extLst>
              </p:cNvPr>
              <p:cNvSpPr txBox="1"/>
              <p:nvPr/>
            </p:nvSpPr>
            <p:spPr>
              <a:xfrm>
                <a:off x="436453" y="2765067"/>
                <a:ext cx="4186348" cy="431800"/>
              </a:xfrm>
              <a:prstGeom prst="rect">
                <a:avLst/>
              </a:prstGeom>
              <a:noFill/>
            </p:spPr>
            <p:txBody>
              <a:bodyPr wrap="square" lIns="0" tIns="0" rIns="0" bIns="0" rtlCol="0">
                <a:noAutofit/>
              </a:bodyPr>
              <a:lstStyle/>
              <a:p>
                <a:pPr marL="171450" lvl="0" indent="-171450">
                  <a:spcBef>
                    <a:spcPts val="600"/>
                  </a:spcBef>
                  <a:buClr>
                    <a:srgbClr val="FF0000"/>
                  </a:buClr>
                  <a:buFont typeface="Arial" panose="020B0604020202020204" pitchFamily="34" charset="0"/>
                  <a:buChar char="•"/>
                </a:pPr>
                <a:r>
                  <a:rPr lang="pl-PL" dirty="0">
                    <a:latin typeface="Frutiger 45 Light" panose="020B0603020202020204" pitchFamily="34" charset="0"/>
                  </a:rPr>
                  <a:t> </a:t>
                </a:r>
                <a:r>
                  <a:rPr lang="pl-PL" dirty="0" err="1">
                    <a:latin typeface="Frutiger 45 Light" panose="020B0603020202020204" pitchFamily="34" charset="0"/>
                  </a:rPr>
                  <a:t>approximation</a:t>
                </a:r>
                <a:r>
                  <a:rPr lang="pl-PL" dirty="0">
                    <a:latin typeface="Frutiger 45 Light" panose="020B0603020202020204" pitchFamily="34" charset="0"/>
                  </a:rPr>
                  <a:t> of </a:t>
                </a:r>
                <a14:m>
                  <m:oMath xmlns:m="http://schemas.openxmlformats.org/officeDocument/2006/math">
                    <m:r>
                      <a:rPr lang="el-GR" i="1" smtClean="0">
                        <a:latin typeface="Cambria Math" panose="02040503050406030204" pitchFamily="18" charset="0"/>
                      </a:rPr>
                      <m:t>𝜋</m:t>
                    </m:r>
                  </m:oMath>
                </a14:m>
                <a:endParaRPr lang="en-US" dirty="0">
                  <a:latin typeface="Frutiger 45 Light" panose="020B0603020202020204" pitchFamily="34" charset="0"/>
                </a:endParaRPr>
              </a:p>
            </p:txBody>
          </p:sp>
        </mc:Choice>
        <mc:Fallback xmlns="">
          <p:sp>
            <p:nvSpPr>
              <p:cNvPr id="26" name="TextBox 25">
                <a:extLst>
                  <a:ext uri="{FF2B5EF4-FFF2-40B4-BE49-F238E27FC236}">
                    <a16:creationId xmlns:a16="http://schemas.microsoft.com/office/drawing/2014/main" id="{3FC410E3-6BDD-4206-85BA-7FBE9014B0E8}"/>
                  </a:ext>
                </a:extLst>
              </p:cNvPr>
              <p:cNvSpPr txBox="1">
                <a:spLocks noRot="1" noChangeAspect="1" noMove="1" noResize="1" noEditPoints="1" noAdjustHandles="1" noChangeArrowheads="1" noChangeShapeType="1" noTextEdit="1"/>
              </p:cNvSpPr>
              <p:nvPr/>
            </p:nvSpPr>
            <p:spPr>
              <a:xfrm>
                <a:off x="436453" y="2765067"/>
                <a:ext cx="4186348" cy="431800"/>
              </a:xfrm>
              <a:prstGeom prst="rect">
                <a:avLst/>
              </a:prstGeom>
              <a:blipFill>
                <a:blip r:embed="rId8"/>
                <a:stretch>
                  <a:fillRect l="-3207" t="-18571"/>
                </a:stretch>
              </a:blipFill>
            </p:spPr>
            <p:txBody>
              <a:bodyPr/>
              <a:lstStyle/>
              <a:p>
                <a:r>
                  <a:rPr lang="en-GB">
                    <a:noFill/>
                  </a:rPr>
                  <a:t> </a:t>
                </a:r>
              </a:p>
            </p:txBody>
          </p:sp>
        </mc:Fallback>
      </mc:AlternateContent>
      <p:sp>
        <p:nvSpPr>
          <p:cNvPr id="27" name="TextBox 26">
            <a:extLst>
              <a:ext uri="{FF2B5EF4-FFF2-40B4-BE49-F238E27FC236}">
                <a16:creationId xmlns:a16="http://schemas.microsoft.com/office/drawing/2014/main" id="{585DA44E-6D16-4896-BCDE-742C2B9E2D07}"/>
              </a:ext>
            </a:extLst>
          </p:cNvPr>
          <p:cNvSpPr txBox="1"/>
          <p:nvPr/>
        </p:nvSpPr>
        <p:spPr>
          <a:xfrm>
            <a:off x="5065971" y="2775566"/>
            <a:ext cx="4186348" cy="431800"/>
          </a:xfrm>
          <a:prstGeom prst="rect">
            <a:avLst/>
          </a:prstGeom>
          <a:noFill/>
        </p:spPr>
        <p:txBody>
          <a:bodyPr wrap="square" lIns="0" tIns="0" rIns="0" bIns="0" rtlCol="0">
            <a:noAutofit/>
          </a:bodyPr>
          <a:lstStyle/>
          <a:p>
            <a:pPr marL="171450" lvl="0" indent="-171450">
              <a:spcBef>
                <a:spcPts val="600"/>
              </a:spcBef>
              <a:buClr>
                <a:srgbClr val="FF0000"/>
              </a:buClr>
              <a:buFont typeface="Arial" panose="020B0604020202020204" pitchFamily="34" charset="0"/>
              <a:buChar char="•"/>
            </a:pPr>
            <a:r>
              <a:rPr lang="pl-PL" dirty="0">
                <a:latin typeface="Frutiger 45 Light" panose="020B0603020202020204" pitchFamily="34" charset="0"/>
              </a:rPr>
              <a:t> </a:t>
            </a:r>
            <a:r>
              <a:rPr lang="pl-PL" dirty="0" err="1">
                <a:latin typeface="Frutiger 45 Light" panose="020B0603020202020204" pitchFamily="34" charset="0"/>
              </a:rPr>
              <a:t>approximation</a:t>
            </a:r>
            <a:r>
              <a:rPr lang="pl-PL" dirty="0">
                <a:latin typeface="Frutiger 45 Light" panose="020B0603020202020204" pitchFamily="34" charset="0"/>
              </a:rPr>
              <a:t> of the </a:t>
            </a:r>
            <a:r>
              <a:rPr lang="pl-PL" dirty="0" err="1">
                <a:latin typeface="Frutiger 45 Light" panose="020B0603020202020204" pitchFamily="34" charset="0"/>
              </a:rPr>
              <a:t>value</a:t>
            </a:r>
            <a:r>
              <a:rPr lang="pl-PL" dirty="0">
                <a:latin typeface="Frutiger 45 Light" panose="020B0603020202020204" pitchFamily="34" charset="0"/>
              </a:rPr>
              <a:t> of </a:t>
            </a:r>
            <a:r>
              <a:rPr lang="pl-PL" dirty="0" err="1">
                <a:latin typeface="Frutiger 45 Light" panose="020B0603020202020204" pitchFamily="34" charset="0"/>
              </a:rPr>
              <a:t>an</a:t>
            </a:r>
            <a:r>
              <a:rPr lang="pl-PL" dirty="0">
                <a:latin typeface="Frutiger 45 Light" panose="020B0603020202020204" pitchFamily="34" charset="0"/>
              </a:rPr>
              <a:t> </a:t>
            </a:r>
            <a:r>
              <a:rPr lang="pl-PL" dirty="0" err="1">
                <a:latin typeface="Frutiger 45 Light" panose="020B0603020202020204" pitchFamily="34" charset="0"/>
              </a:rPr>
              <a:t>integral</a:t>
            </a:r>
            <a:endParaRPr lang="en-US" dirty="0">
              <a:latin typeface="Frutiger 45 Light" panose="020B0603020202020204" pitchFamily="34" charset="0"/>
            </a:endParaRPr>
          </a:p>
        </p:txBody>
      </p:sp>
      <p:sp>
        <p:nvSpPr>
          <p:cNvPr id="29" name="Oval 28">
            <a:extLst>
              <a:ext uri="{FF2B5EF4-FFF2-40B4-BE49-F238E27FC236}">
                <a16:creationId xmlns:a16="http://schemas.microsoft.com/office/drawing/2014/main" id="{B70546FA-08B5-4852-AE7E-D7935AC79323}"/>
              </a:ext>
            </a:extLst>
          </p:cNvPr>
          <p:cNvSpPr/>
          <p:nvPr/>
        </p:nvSpPr>
        <p:spPr>
          <a:xfrm>
            <a:off x="1774408" y="3947237"/>
            <a:ext cx="1485900" cy="1435100"/>
          </a:xfrm>
          <a:prstGeom prst="ellipse">
            <a:avLst/>
          </a:prstGeom>
          <a:solidFill>
            <a:schemeClr val="bg1"/>
          </a:solidFill>
          <a:ln w="19050">
            <a:solidFill>
              <a:srgbClr val="7B7D8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GB" dirty="0">
              <a:solidFill>
                <a:schemeClr val="tx1"/>
              </a:solidFill>
            </a:endParaRPr>
          </a:p>
        </p:txBody>
      </p:sp>
      <p:sp>
        <p:nvSpPr>
          <p:cNvPr id="30" name="Rectangle 29">
            <a:extLst>
              <a:ext uri="{FF2B5EF4-FFF2-40B4-BE49-F238E27FC236}">
                <a16:creationId xmlns:a16="http://schemas.microsoft.com/office/drawing/2014/main" id="{280ED8EB-8E5B-4104-8073-1AD1AC5DDCD5}"/>
              </a:ext>
            </a:extLst>
          </p:cNvPr>
          <p:cNvSpPr/>
          <p:nvPr/>
        </p:nvSpPr>
        <p:spPr>
          <a:xfrm>
            <a:off x="1774408" y="3947237"/>
            <a:ext cx="1485900" cy="1435100"/>
          </a:xfrm>
          <a:prstGeom prst="rect">
            <a:avLst/>
          </a:prstGeom>
          <a:noFill/>
          <a:ln w="19050">
            <a:solidFill>
              <a:srgbClr val="7B7D8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GB" dirty="0">
              <a:solidFill>
                <a:schemeClr val="tx1"/>
              </a:solidFill>
            </a:endParaRPr>
          </a:p>
        </p:txBody>
      </p:sp>
      <p:pic>
        <p:nvPicPr>
          <p:cNvPr id="32" name="Picture 31">
            <a:extLst>
              <a:ext uri="{FF2B5EF4-FFF2-40B4-BE49-F238E27FC236}">
                <a16:creationId xmlns:a16="http://schemas.microsoft.com/office/drawing/2014/main" id="{83296023-6C45-47FB-B012-09B6ECE027DB}"/>
              </a:ext>
            </a:extLst>
          </p:cNvPr>
          <p:cNvPicPr>
            <a:picLocks noChangeAspect="1"/>
          </p:cNvPicPr>
          <p:nvPr/>
        </p:nvPicPr>
        <p:blipFill>
          <a:blip r:embed="rId9"/>
          <a:stretch>
            <a:fillRect/>
          </a:stretch>
        </p:blipFill>
        <p:spPr>
          <a:xfrm>
            <a:off x="1920458" y="3978987"/>
            <a:ext cx="114300" cy="95250"/>
          </a:xfrm>
          <a:prstGeom prst="rect">
            <a:avLst/>
          </a:prstGeom>
        </p:spPr>
      </p:pic>
      <p:pic>
        <p:nvPicPr>
          <p:cNvPr id="33" name="Picture 32">
            <a:extLst>
              <a:ext uri="{FF2B5EF4-FFF2-40B4-BE49-F238E27FC236}">
                <a16:creationId xmlns:a16="http://schemas.microsoft.com/office/drawing/2014/main" id="{6AD384B0-6E9E-4DB2-B2D7-82F53F821737}"/>
              </a:ext>
            </a:extLst>
          </p:cNvPr>
          <p:cNvPicPr>
            <a:picLocks noChangeAspect="1"/>
          </p:cNvPicPr>
          <p:nvPr/>
        </p:nvPicPr>
        <p:blipFill>
          <a:blip r:embed="rId9"/>
          <a:stretch>
            <a:fillRect/>
          </a:stretch>
        </p:blipFill>
        <p:spPr>
          <a:xfrm>
            <a:off x="1806158" y="4026612"/>
            <a:ext cx="114300" cy="95250"/>
          </a:xfrm>
          <a:prstGeom prst="rect">
            <a:avLst/>
          </a:prstGeom>
        </p:spPr>
      </p:pic>
      <p:pic>
        <p:nvPicPr>
          <p:cNvPr id="34" name="Picture 33">
            <a:extLst>
              <a:ext uri="{FF2B5EF4-FFF2-40B4-BE49-F238E27FC236}">
                <a16:creationId xmlns:a16="http://schemas.microsoft.com/office/drawing/2014/main" id="{BFE420E3-5086-4C56-83CB-1FE7A48473E9}"/>
              </a:ext>
            </a:extLst>
          </p:cNvPr>
          <p:cNvPicPr>
            <a:picLocks noChangeAspect="1"/>
          </p:cNvPicPr>
          <p:nvPr/>
        </p:nvPicPr>
        <p:blipFill>
          <a:blip r:embed="rId9"/>
          <a:stretch>
            <a:fillRect/>
          </a:stretch>
        </p:blipFill>
        <p:spPr>
          <a:xfrm>
            <a:off x="2987258" y="3975812"/>
            <a:ext cx="114300" cy="95250"/>
          </a:xfrm>
          <a:prstGeom prst="rect">
            <a:avLst/>
          </a:prstGeom>
        </p:spPr>
      </p:pic>
      <p:pic>
        <p:nvPicPr>
          <p:cNvPr id="35" name="Picture 34">
            <a:extLst>
              <a:ext uri="{FF2B5EF4-FFF2-40B4-BE49-F238E27FC236}">
                <a16:creationId xmlns:a16="http://schemas.microsoft.com/office/drawing/2014/main" id="{37FE5288-E481-442E-8D82-2B6D0C3396BF}"/>
              </a:ext>
            </a:extLst>
          </p:cNvPr>
          <p:cNvPicPr>
            <a:picLocks noChangeAspect="1"/>
          </p:cNvPicPr>
          <p:nvPr/>
        </p:nvPicPr>
        <p:blipFill>
          <a:blip r:embed="rId9"/>
          <a:stretch>
            <a:fillRect/>
          </a:stretch>
        </p:blipFill>
        <p:spPr>
          <a:xfrm>
            <a:off x="1890295" y="5185175"/>
            <a:ext cx="114300" cy="95250"/>
          </a:xfrm>
          <a:prstGeom prst="rect">
            <a:avLst/>
          </a:prstGeom>
        </p:spPr>
      </p:pic>
      <p:pic>
        <p:nvPicPr>
          <p:cNvPr id="36" name="Picture 35">
            <a:extLst>
              <a:ext uri="{FF2B5EF4-FFF2-40B4-BE49-F238E27FC236}">
                <a16:creationId xmlns:a16="http://schemas.microsoft.com/office/drawing/2014/main" id="{D074791F-4FE5-4649-B162-55C445CC03EF}"/>
              </a:ext>
            </a:extLst>
          </p:cNvPr>
          <p:cNvPicPr>
            <a:picLocks noChangeAspect="1"/>
          </p:cNvPicPr>
          <p:nvPr/>
        </p:nvPicPr>
        <p:blipFill>
          <a:blip r:embed="rId10"/>
          <a:stretch>
            <a:fillRect/>
          </a:stretch>
        </p:blipFill>
        <p:spPr>
          <a:xfrm>
            <a:off x="3101558" y="4121862"/>
            <a:ext cx="66675" cy="76200"/>
          </a:xfrm>
          <a:prstGeom prst="rect">
            <a:avLst/>
          </a:prstGeom>
        </p:spPr>
      </p:pic>
      <p:pic>
        <p:nvPicPr>
          <p:cNvPr id="37" name="Picture 36">
            <a:extLst>
              <a:ext uri="{FF2B5EF4-FFF2-40B4-BE49-F238E27FC236}">
                <a16:creationId xmlns:a16="http://schemas.microsoft.com/office/drawing/2014/main" id="{56855DAE-EC1C-42BD-B641-419DE3F7BCB5}"/>
              </a:ext>
            </a:extLst>
          </p:cNvPr>
          <p:cNvPicPr>
            <a:picLocks noChangeAspect="1"/>
          </p:cNvPicPr>
          <p:nvPr/>
        </p:nvPicPr>
        <p:blipFill>
          <a:blip r:embed="rId10"/>
          <a:stretch>
            <a:fillRect/>
          </a:stretch>
        </p:blipFill>
        <p:spPr>
          <a:xfrm>
            <a:off x="3080920" y="4058362"/>
            <a:ext cx="66675" cy="76200"/>
          </a:xfrm>
          <a:prstGeom prst="rect">
            <a:avLst/>
          </a:prstGeom>
        </p:spPr>
      </p:pic>
      <p:pic>
        <p:nvPicPr>
          <p:cNvPr id="38" name="Picture 37">
            <a:extLst>
              <a:ext uri="{FF2B5EF4-FFF2-40B4-BE49-F238E27FC236}">
                <a16:creationId xmlns:a16="http://schemas.microsoft.com/office/drawing/2014/main" id="{ACA71DFE-379A-49D8-9C60-22AA01A4AE76}"/>
              </a:ext>
            </a:extLst>
          </p:cNvPr>
          <p:cNvPicPr>
            <a:picLocks noChangeAspect="1"/>
          </p:cNvPicPr>
          <p:nvPr/>
        </p:nvPicPr>
        <p:blipFill>
          <a:blip r:embed="rId10"/>
          <a:stretch>
            <a:fillRect/>
          </a:stretch>
        </p:blipFill>
        <p:spPr>
          <a:xfrm>
            <a:off x="2987258" y="5293437"/>
            <a:ext cx="66675" cy="76200"/>
          </a:xfrm>
          <a:prstGeom prst="rect">
            <a:avLst/>
          </a:prstGeom>
        </p:spPr>
      </p:pic>
      <p:pic>
        <p:nvPicPr>
          <p:cNvPr id="40" name="Picture 39">
            <a:extLst>
              <a:ext uri="{FF2B5EF4-FFF2-40B4-BE49-F238E27FC236}">
                <a16:creationId xmlns:a16="http://schemas.microsoft.com/office/drawing/2014/main" id="{FA0075B1-DFFE-41EA-875D-371963F4E2A5}"/>
              </a:ext>
            </a:extLst>
          </p:cNvPr>
          <p:cNvPicPr>
            <a:picLocks noChangeAspect="1"/>
          </p:cNvPicPr>
          <p:nvPr/>
        </p:nvPicPr>
        <p:blipFill>
          <a:blip r:embed="rId10"/>
          <a:stretch>
            <a:fillRect/>
          </a:stretch>
        </p:blipFill>
        <p:spPr>
          <a:xfrm>
            <a:off x="3168233" y="5014037"/>
            <a:ext cx="66675" cy="76200"/>
          </a:xfrm>
          <a:prstGeom prst="rect">
            <a:avLst/>
          </a:prstGeom>
        </p:spPr>
      </p:pic>
      <p:pic>
        <p:nvPicPr>
          <p:cNvPr id="41" name="Picture 40">
            <a:extLst>
              <a:ext uri="{FF2B5EF4-FFF2-40B4-BE49-F238E27FC236}">
                <a16:creationId xmlns:a16="http://schemas.microsoft.com/office/drawing/2014/main" id="{6C89CFB3-10A6-4953-9355-7F35A072214B}"/>
              </a:ext>
            </a:extLst>
          </p:cNvPr>
          <p:cNvPicPr>
            <a:picLocks noChangeAspect="1"/>
          </p:cNvPicPr>
          <p:nvPr/>
        </p:nvPicPr>
        <p:blipFill>
          <a:blip r:embed="rId10"/>
          <a:stretch>
            <a:fillRect/>
          </a:stretch>
        </p:blipFill>
        <p:spPr>
          <a:xfrm>
            <a:off x="1796633" y="5042456"/>
            <a:ext cx="66675" cy="76200"/>
          </a:xfrm>
          <a:prstGeom prst="rect">
            <a:avLst/>
          </a:prstGeom>
        </p:spPr>
      </p:pic>
      <p:pic>
        <p:nvPicPr>
          <p:cNvPr id="42" name="Picture 41">
            <a:extLst>
              <a:ext uri="{FF2B5EF4-FFF2-40B4-BE49-F238E27FC236}">
                <a16:creationId xmlns:a16="http://schemas.microsoft.com/office/drawing/2014/main" id="{8841820B-7193-462C-8189-1BFFE2ECDCA1}"/>
              </a:ext>
            </a:extLst>
          </p:cNvPr>
          <p:cNvPicPr>
            <a:picLocks noChangeAspect="1"/>
          </p:cNvPicPr>
          <p:nvPr/>
        </p:nvPicPr>
        <p:blipFill>
          <a:blip r:embed="rId10"/>
          <a:stretch>
            <a:fillRect/>
          </a:stretch>
        </p:blipFill>
        <p:spPr>
          <a:xfrm>
            <a:off x="1823620" y="5245656"/>
            <a:ext cx="66675" cy="76200"/>
          </a:xfrm>
          <a:prstGeom prst="rect">
            <a:avLst/>
          </a:prstGeom>
        </p:spPr>
      </p:pic>
      <p:pic>
        <p:nvPicPr>
          <p:cNvPr id="43" name="Picture 42">
            <a:extLst>
              <a:ext uri="{FF2B5EF4-FFF2-40B4-BE49-F238E27FC236}">
                <a16:creationId xmlns:a16="http://schemas.microsoft.com/office/drawing/2014/main" id="{6527FB40-4380-48BE-9681-BFDE33F91B14}"/>
              </a:ext>
            </a:extLst>
          </p:cNvPr>
          <p:cNvPicPr>
            <a:picLocks noChangeAspect="1"/>
          </p:cNvPicPr>
          <p:nvPr/>
        </p:nvPicPr>
        <p:blipFill>
          <a:blip r:embed="rId11"/>
          <a:stretch>
            <a:fillRect/>
          </a:stretch>
        </p:blipFill>
        <p:spPr>
          <a:xfrm>
            <a:off x="1947445" y="4217112"/>
            <a:ext cx="85725" cy="95250"/>
          </a:xfrm>
          <a:prstGeom prst="rect">
            <a:avLst/>
          </a:prstGeom>
        </p:spPr>
      </p:pic>
      <p:pic>
        <p:nvPicPr>
          <p:cNvPr id="44" name="Picture 43">
            <a:extLst>
              <a:ext uri="{FF2B5EF4-FFF2-40B4-BE49-F238E27FC236}">
                <a16:creationId xmlns:a16="http://schemas.microsoft.com/office/drawing/2014/main" id="{4EC49506-EC24-47CF-848A-E180076B5DF8}"/>
              </a:ext>
            </a:extLst>
          </p:cNvPr>
          <p:cNvPicPr>
            <a:picLocks noChangeAspect="1"/>
          </p:cNvPicPr>
          <p:nvPr/>
        </p:nvPicPr>
        <p:blipFill>
          <a:blip r:embed="rId11"/>
          <a:stretch>
            <a:fillRect/>
          </a:stretch>
        </p:blipFill>
        <p:spPr>
          <a:xfrm>
            <a:off x="2099845" y="4369512"/>
            <a:ext cx="85725" cy="95250"/>
          </a:xfrm>
          <a:prstGeom prst="rect">
            <a:avLst/>
          </a:prstGeom>
        </p:spPr>
      </p:pic>
      <p:pic>
        <p:nvPicPr>
          <p:cNvPr id="45" name="Picture 44">
            <a:extLst>
              <a:ext uri="{FF2B5EF4-FFF2-40B4-BE49-F238E27FC236}">
                <a16:creationId xmlns:a16="http://schemas.microsoft.com/office/drawing/2014/main" id="{FAB57CEB-AAEA-4819-89B8-80C45D625255}"/>
              </a:ext>
            </a:extLst>
          </p:cNvPr>
          <p:cNvPicPr>
            <a:picLocks noChangeAspect="1"/>
          </p:cNvPicPr>
          <p:nvPr/>
        </p:nvPicPr>
        <p:blipFill>
          <a:blip r:embed="rId11"/>
          <a:stretch>
            <a:fillRect/>
          </a:stretch>
        </p:blipFill>
        <p:spPr>
          <a:xfrm>
            <a:off x="1977608" y="4799724"/>
            <a:ext cx="85725" cy="95250"/>
          </a:xfrm>
          <a:prstGeom prst="rect">
            <a:avLst/>
          </a:prstGeom>
        </p:spPr>
      </p:pic>
      <p:pic>
        <p:nvPicPr>
          <p:cNvPr id="46" name="Picture 45">
            <a:extLst>
              <a:ext uri="{FF2B5EF4-FFF2-40B4-BE49-F238E27FC236}">
                <a16:creationId xmlns:a16="http://schemas.microsoft.com/office/drawing/2014/main" id="{398A7053-EC49-4A99-AB47-7B9A41654BE2}"/>
              </a:ext>
            </a:extLst>
          </p:cNvPr>
          <p:cNvPicPr>
            <a:picLocks noChangeAspect="1"/>
          </p:cNvPicPr>
          <p:nvPr/>
        </p:nvPicPr>
        <p:blipFill>
          <a:blip r:embed="rId11"/>
          <a:stretch>
            <a:fillRect/>
          </a:stretch>
        </p:blipFill>
        <p:spPr>
          <a:xfrm>
            <a:off x="1961732" y="4582081"/>
            <a:ext cx="85725" cy="95250"/>
          </a:xfrm>
          <a:prstGeom prst="rect">
            <a:avLst/>
          </a:prstGeom>
        </p:spPr>
      </p:pic>
      <p:pic>
        <p:nvPicPr>
          <p:cNvPr id="47" name="Picture 46">
            <a:extLst>
              <a:ext uri="{FF2B5EF4-FFF2-40B4-BE49-F238E27FC236}">
                <a16:creationId xmlns:a16="http://schemas.microsoft.com/office/drawing/2014/main" id="{DA3DB2B0-1886-4BFE-AF28-F83639C2CD7A}"/>
              </a:ext>
            </a:extLst>
          </p:cNvPr>
          <p:cNvPicPr>
            <a:picLocks noChangeAspect="1"/>
          </p:cNvPicPr>
          <p:nvPr/>
        </p:nvPicPr>
        <p:blipFill>
          <a:blip r:embed="rId11"/>
          <a:stretch>
            <a:fillRect/>
          </a:stretch>
        </p:blipFill>
        <p:spPr>
          <a:xfrm>
            <a:off x="2231388" y="4918787"/>
            <a:ext cx="85725" cy="95250"/>
          </a:xfrm>
          <a:prstGeom prst="rect">
            <a:avLst/>
          </a:prstGeom>
        </p:spPr>
      </p:pic>
      <p:pic>
        <p:nvPicPr>
          <p:cNvPr id="48" name="Picture 47">
            <a:extLst>
              <a:ext uri="{FF2B5EF4-FFF2-40B4-BE49-F238E27FC236}">
                <a16:creationId xmlns:a16="http://schemas.microsoft.com/office/drawing/2014/main" id="{ACBCA0FF-2800-4541-B889-FAA7BFE2D7F1}"/>
              </a:ext>
            </a:extLst>
          </p:cNvPr>
          <p:cNvPicPr>
            <a:picLocks noChangeAspect="1"/>
          </p:cNvPicPr>
          <p:nvPr/>
        </p:nvPicPr>
        <p:blipFill>
          <a:blip r:embed="rId11"/>
          <a:stretch>
            <a:fillRect/>
          </a:stretch>
        </p:blipFill>
        <p:spPr>
          <a:xfrm>
            <a:off x="2472908" y="5071031"/>
            <a:ext cx="85725" cy="95250"/>
          </a:xfrm>
          <a:prstGeom prst="rect">
            <a:avLst/>
          </a:prstGeom>
        </p:spPr>
      </p:pic>
      <p:pic>
        <p:nvPicPr>
          <p:cNvPr id="49" name="Picture 48">
            <a:extLst>
              <a:ext uri="{FF2B5EF4-FFF2-40B4-BE49-F238E27FC236}">
                <a16:creationId xmlns:a16="http://schemas.microsoft.com/office/drawing/2014/main" id="{D9607C46-2E8D-4E8C-B368-2B17239CB102}"/>
              </a:ext>
            </a:extLst>
          </p:cNvPr>
          <p:cNvPicPr>
            <a:picLocks noChangeAspect="1"/>
          </p:cNvPicPr>
          <p:nvPr/>
        </p:nvPicPr>
        <p:blipFill>
          <a:blip r:embed="rId11"/>
          <a:stretch>
            <a:fillRect/>
          </a:stretch>
        </p:blipFill>
        <p:spPr>
          <a:xfrm>
            <a:off x="2383788" y="5071187"/>
            <a:ext cx="85725" cy="95250"/>
          </a:xfrm>
          <a:prstGeom prst="rect">
            <a:avLst/>
          </a:prstGeom>
        </p:spPr>
      </p:pic>
      <p:pic>
        <p:nvPicPr>
          <p:cNvPr id="50" name="Picture 49">
            <a:extLst>
              <a:ext uri="{FF2B5EF4-FFF2-40B4-BE49-F238E27FC236}">
                <a16:creationId xmlns:a16="http://schemas.microsoft.com/office/drawing/2014/main" id="{0AE9F19F-F8B3-40B1-BB4A-C0E34C5C26FC}"/>
              </a:ext>
            </a:extLst>
          </p:cNvPr>
          <p:cNvPicPr>
            <a:picLocks noChangeAspect="1"/>
          </p:cNvPicPr>
          <p:nvPr/>
        </p:nvPicPr>
        <p:blipFill>
          <a:blip r:embed="rId11"/>
          <a:stretch>
            <a:fillRect/>
          </a:stretch>
        </p:blipFill>
        <p:spPr>
          <a:xfrm>
            <a:off x="2628703" y="5055000"/>
            <a:ext cx="85725" cy="95250"/>
          </a:xfrm>
          <a:prstGeom prst="rect">
            <a:avLst/>
          </a:prstGeom>
        </p:spPr>
      </p:pic>
      <p:pic>
        <p:nvPicPr>
          <p:cNvPr id="51" name="Picture 50">
            <a:extLst>
              <a:ext uri="{FF2B5EF4-FFF2-40B4-BE49-F238E27FC236}">
                <a16:creationId xmlns:a16="http://schemas.microsoft.com/office/drawing/2014/main" id="{12714DCB-B6A8-4311-AEF3-C7152163F4CB}"/>
              </a:ext>
            </a:extLst>
          </p:cNvPr>
          <p:cNvPicPr>
            <a:picLocks noChangeAspect="1"/>
          </p:cNvPicPr>
          <p:nvPr/>
        </p:nvPicPr>
        <p:blipFill>
          <a:blip r:embed="rId11"/>
          <a:stretch>
            <a:fillRect/>
          </a:stretch>
        </p:blipFill>
        <p:spPr>
          <a:xfrm>
            <a:off x="2340925" y="4585256"/>
            <a:ext cx="85725" cy="95250"/>
          </a:xfrm>
          <a:prstGeom prst="rect">
            <a:avLst/>
          </a:prstGeom>
        </p:spPr>
      </p:pic>
      <p:pic>
        <p:nvPicPr>
          <p:cNvPr id="52" name="Picture 51">
            <a:extLst>
              <a:ext uri="{FF2B5EF4-FFF2-40B4-BE49-F238E27FC236}">
                <a16:creationId xmlns:a16="http://schemas.microsoft.com/office/drawing/2014/main" id="{B347B340-6277-4317-B7E8-338F546978C2}"/>
              </a:ext>
            </a:extLst>
          </p:cNvPr>
          <p:cNvPicPr>
            <a:picLocks noChangeAspect="1"/>
          </p:cNvPicPr>
          <p:nvPr/>
        </p:nvPicPr>
        <p:blipFill>
          <a:blip r:embed="rId11"/>
          <a:stretch>
            <a:fillRect/>
          </a:stretch>
        </p:blipFill>
        <p:spPr>
          <a:xfrm>
            <a:off x="2472908" y="4726699"/>
            <a:ext cx="85725" cy="95250"/>
          </a:xfrm>
          <a:prstGeom prst="rect">
            <a:avLst/>
          </a:prstGeom>
        </p:spPr>
      </p:pic>
      <p:pic>
        <p:nvPicPr>
          <p:cNvPr id="53" name="Picture 52">
            <a:extLst>
              <a:ext uri="{FF2B5EF4-FFF2-40B4-BE49-F238E27FC236}">
                <a16:creationId xmlns:a16="http://schemas.microsoft.com/office/drawing/2014/main" id="{2DC50C92-97E3-4AFC-BB09-28EA75EBC64E}"/>
              </a:ext>
            </a:extLst>
          </p:cNvPr>
          <p:cNvPicPr>
            <a:picLocks noChangeAspect="1"/>
          </p:cNvPicPr>
          <p:nvPr/>
        </p:nvPicPr>
        <p:blipFill>
          <a:blip r:embed="rId11"/>
          <a:stretch>
            <a:fillRect/>
          </a:stretch>
        </p:blipFill>
        <p:spPr>
          <a:xfrm>
            <a:off x="2625308" y="4879099"/>
            <a:ext cx="85725" cy="95250"/>
          </a:xfrm>
          <a:prstGeom prst="rect">
            <a:avLst/>
          </a:prstGeom>
        </p:spPr>
      </p:pic>
      <p:pic>
        <p:nvPicPr>
          <p:cNvPr id="54" name="Picture 53">
            <a:extLst>
              <a:ext uri="{FF2B5EF4-FFF2-40B4-BE49-F238E27FC236}">
                <a16:creationId xmlns:a16="http://schemas.microsoft.com/office/drawing/2014/main" id="{9974BB13-CDAC-4739-900E-43DDAFF0D51A}"/>
              </a:ext>
            </a:extLst>
          </p:cNvPr>
          <p:cNvPicPr>
            <a:picLocks noChangeAspect="1"/>
          </p:cNvPicPr>
          <p:nvPr/>
        </p:nvPicPr>
        <p:blipFill>
          <a:blip r:embed="rId11"/>
          <a:stretch>
            <a:fillRect/>
          </a:stretch>
        </p:blipFill>
        <p:spPr>
          <a:xfrm>
            <a:off x="2718970" y="4774324"/>
            <a:ext cx="85725" cy="95250"/>
          </a:xfrm>
          <a:prstGeom prst="rect">
            <a:avLst/>
          </a:prstGeom>
        </p:spPr>
      </p:pic>
      <p:pic>
        <p:nvPicPr>
          <p:cNvPr id="55" name="Picture 54">
            <a:extLst>
              <a:ext uri="{FF2B5EF4-FFF2-40B4-BE49-F238E27FC236}">
                <a16:creationId xmlns:a16="http://schemas.microsoft.com/office/drawing/2014/main" id="{1A28618F-BD27-4609-9B46-CE34E37AD21D}"/>
              </a:ext>
            </a:extLst>
          </p:cNvPr>
          <p:cNvPicPr>
            <a:picLocks noChangeAspect="1"/>
          </p:cNvPicPr>
          <p:nvPr/>
        </p:nvPicPr>
        <p:blipFill>
          <a:blip r:embed="rId11"/>
          <a:stretch>
            <a:fillRect/>
          </a:stretch>
        </p:blipFill>
        <p:spPr>
          <a:xfrm>
            <a:off x="2871370" y="4926724"/>
            <a:ext cx="85725" cy="95250"/>
          </a:xfrm>
          <a:prstGeom prst="rect">
            <a:avLst/>
          </a:prstGeom>
        </p:spPr>
      </p:pic>
      <p:pic>
        <p:nvPicPr>
          <p:cNvPr id="56" name="Picture 55">
            <a:extLst>
              <a:ext uri="{FF2B5EF4-FFF2-40B4-BE49-F238E27FC236}">
                <a16:creationId xmlns:a16="http://schemas.microsoft.com/office/drawing/2014/main" id="{AF136DF7-D95A-4913-B69A-E662EF6F90CE}"/>
              </a:ext>
            </a:extLst>
          </p:cNvPr>
          <p:cNvPicPr>
            <a:picLocks noChangeAspect="1"/>
          </p:cNvPicPr>
          <p:nvPr/>
        </p:nvPicPr>
        <p:blipFill>
          <a:blip r:embed="rId11"/>
          <a:stretch>
            <a:fillRect/>
          </a:stretch>
        </p:blipFill>
        <p:spPr>
          <a:xfrm>
            <a:off x="2288758" y="4039312"/>
            <a:ext cx="85725" cy="95250"/>
          </a:xfrm>
          <a:prstGeom prst="rect">
            <a:avLst/>
          </a:prstGeom>
        </p:spPr>
      </p:pic>
      <p:pic>
        <p:nvPicPr>
          <p:cNvPr id="57" name="Picture 56">
            <a:extLst>
              <a:ext uri="{FF2B5EF4-FFF2-40B4-BE49-F238E27FC236}">
                <a16:creationId xmlns:a16="http://schemas.microsoft.com/office/drawing/2014/main" id="{C43245BB-A35C-4277-8DEE-4FEDEA8C5FB8}"/>
              </a:ext>
            </a:extLst>
          </p:cNvPr>
          <p:cNvPicPr>
            <a:picLocks noChangeAspect="1"/>
          </p:cNvPicPr>
          <p:nvPr/>
        </p:nvPicPr>
        <p:blipFill>
          <a:blip r:embed="rId11"/>
          <a:stretch>
            <a:fillRect/>
          </a:stretch>
        </p:blipFill>
        <p:spPr>
          <a:xfrm>
            <a:off x="2642770" y="4229968"/>
            <a:ext cx="85725" cy="95250"/>
          </a:xfrm>
          <a:prstGeom prst="rect">
            <a:avLst/>
          </a:prstGeom>
        </p:spPr>
      </p:pic>
      <p:pic>
        <p:nvPicPr>
          <p:cNvPr id="58" name="Picture 57">
            <a:extLst>
              <a:ext uri="{FF2B5EF4-FFF2-40B4-BE49-F238E27FC236}">
                <a16:creationId xmlns:a16="http://schemas.microsoft.com/office/drawing/2014/main" id="{9BD46822-9F25-47C9-9B3D-3CFCFD7B81DA}"/>
              </a:ext>
            </a:extLst>
          </p:cNvPr>
          <p:cNvPicPr>
            <a:picLocks noChangeAspect="1"/>
          </p:cNvPicPr>
          <p:nvPr/>
        </p:nvPicPr>
        <p:blipFill>
          <a:blip r:embed="rId11"/>
          <a:stretch>
            <a:fillRect/>
          </a:stretch>
        </p:blipFill>
        <p:spPr>
          <a:xfrm>
            <a:off x="2164931" y="4675743"/>
            <a:ext cx="85725" cy="95250"/>
          </a:xfrm>
          <a:prstGeom prst="rect">
            <a:avLst/>
          </a:prstGeom>
        </p:spPr>
      </p:pic>
      <p:pic>
        <p:nvPicPr>
          <p:cNvPr id="59" name="Picture 58">
            <a:extLst>
              <a:ext uri="{FF2B5EF4-FFF2-40B4-BE49-F238E27FC236}">
                <a16:creationId xmlns:a16="http://schemas.microsoft.com/office/drawing/2014/main" id="{3DDC22EC-5674-4C7C-B61B-0853FF3E8D57}"/>
              </a:ext>
            </a:extLst>
          </p:cNvPr>
          <p:cNvPicPr>
            <a:picLocks noChangeAspect="1"/>
          </p:cNvPicPr>
          <p:nvPr/>
        </p:nvPicPr>
        <p:blipFill>
          <a:blip r:embed="rId11"/>
          <a:stretch>
            <a:fillRect/>
          </a:stretch>
        </p:blipFill>
        <p:spPr>
          <a:xfrm>
            <a:off x="2317331" y="4828143"/>
            <a:ext cx="85725" cy="95250"/>
          </a:xfrm>
          <a:prstGeom prst="rect">
            <a:avLst/>
          </a:prstGeom>
        </p:spPr>
      </p:pic>
      <p:pic>
        <p:nvPicPr>
          <p:cNvPr id="60" name="Picture 59">
            <a:extLst>
              <a:ext uri="{FF2B5EF4-FFF2-40B4-BE49-F238E27FC236}">
                <a16:creationId xmlns:a16="http://schemas.microsoft.com/office/drawing/2014/main" id="{2E08BE2F-668B-4AEB-8B47-7D80934485F7}"/>
              </a:ext>
            </a:extLst>
          </p:cNvPr>
          <p:cNvPicPr>
            <a:picLocks noChangeAspect="1"/>
          </p:cNvPicPr>
          <p:nvPr/>
        </p:nvPicPr>
        <p:blipFill>
          <a:blip r:embed="rId11"/>
          <a:stretch>
            <a:fillRect/>
          </a:stretch>
        </p:blipFill>
        <p:spPr>
          <a:xfrm>
            <a:off x="3001545" y="4615574"/>
            <a:ext cx="85725" cy="95250"/>
          </a:xfrm>
          <a:prstGeom prst="rect">
            <a:avLst/>
          </a:prstGeom>
        </p:spPr>
      </p:pic>
      <p:pic>
        <p:nvPicPr>
          <p:cNvPr id="61" name="Picture 60">
            <a:extLst>
              <a:ext uri="{FF2B5EF4-FFF2-40B4-BE49-F238E27FC236}">
                <a16:creationId xmlns:a16="http://schemas.microsoft.com/office/drawing/2014/main" id="{BADB8D24-446D-44B0-9B18-F1928E325116}"/>
              </a:ext>
            </a:extLst>
          </p:cNvPr>
          <p:cNvPicPr>
            <a:picLocks noChangeAspect="1"/>
          </p:cNvPicPr>
          <p:nvPr/>
        </p:nvPicPr>
        <p:blipFill>
          <a:blip r:embed="rId11"/>
          <a:stretch>
            <a:fillRect/>
          </a:stretch>
        </p:blipFill>
        <p:spPr>
          <a:xfrm>
            <a:off x="2668170" y="4438724"/>
            <a:ext cx="85725" cy="95250"/>
          </a:xfrm>
          <a:prstGeom prst="rect">
            <a:avLst/>
          </a:prstGeom>
        </p:spPr>
      </p:pic>
      <p:pic>
        <p:nvPicPr>
          <p:cNvPr id="62" name="Picture 61">
            <a:extLst>
              <a:ext uri="{FF2B5EF4-FFF2-40B4-BE49-F238E27FC236}">
                <a16:creationId xmlns:a16="http://schemas.microsoft.com/office/drawing/2014/main" id="{B6A59554-7F0F-4C63-A254-3F199168708C}"/>
              </a:ext>
            </a:extLst>
          </p:cNvPr>
          <p:cNvPicPr>
            <a:picLocks noChangeAspect="1"/>
          </p:cNvPicPr>
          <p:nvPr/>
        </p:nvPicPr>
        <p:blipFill>
          <a:blip r:embed="rId11"/>
          <a:stretch>
            <a:fillRect/>
          </a:stretch>
        </p:blipFill>
        <p:spPr>
          <a:xfrm>
            <a:off x="2374483" y="4288238"/>
            <a:ext cx="85725" cy="95250"/>
          </a:xfrm>
          <a:prstGeom prst="rect">
            <a:avLst/>
          </a:prstGeom>
        </p:spPr>
      </p:pic>
      <p:pic>
        <p:nvPicPr>
          <p:cNvPr id="63" name="Picture 62">
            <a:extLst>
              <a:ext uri="{FF2B5EF4-FFF2-40B4-BE49-F238E27FC236}">
                <a16:creationId xmlns:a16="http://schemas.microsoft.com/office/drawing/2014/main" id="{48C38D6A-A30B-4115-858E-D7C2B6020A1D}"/>
              </a:ext>
            </a:extLst>
          </p:cNvPr>
          <p:cNvPicPr>
            <a:picLocks noChangeAspect="1"/>
          </p:cNvPicPr>
          <p:nvPr/>
        </p:nvPicPr>
        <p:blipFill>
          <a:blip r:embed="rId11"/>
          <a:stretch>
            <a:fillRect/>
          </a:stretch>
        </p:blipFill>
        <p:spPr>
          <a:xfrm>
            <a:off x="2120482" y="5165969"/>
            <a:ext cx="85725" cy="95250"/>
          </a:xfrm>
          <a:prstGeom prst="rect">
            <a:avLst/>
          </a:prstGeom>
        </p:spPr>
      </p:pic>
      <p:pic>
        <p:nvPicPr>
          <p:cNvPr id="64" name="Picture 63">
            <a:extLst>
              <a:ext uri="{FF2B5EF4-FFF2-40B4-BE49-F238E27FC236}">
                <a16:creationId xmlns:a16="http://schemas.microsoft.com/office/drawing/2014/main" id="{5F8F07E4-5C91-4A01-B70D-B67371C53594}"/>
              </a:ext>
            </a:extLst>
          </p:cNvPr>
          <p:cNvPicPr>
            <a:picLocks noChangeAspect="1"/>
          </p:cNvPicPr>
          <p:nvPr/>
        </p:nvPicPr>
        <p:blipFill>
          <a:blip r:embed="rId11"/>
          <a:stretch>
            <a:fillRect/>
          </a:stretch>
        </p:blipFill>
        <p:spPr>
          <a:xfrm>
            <a:off x="2793364" y="4796471"/>
            <a:ext cx="85725" cy="95250"/>
          </a:xfrm>
          <a:prstGeom prst="rect">
            <a:avLst/>
          </a:prstGeom>
        </p:spPr>
      </p:pic>
      <p:pic>
        <p:nvPicPr>
          <p:cNvPr id="65" name="Picture 64">
            <a:extLst>
              <a:ext uri="{FF2B5EF4-FFF2-40B4-BE49-F238E27FC236}">
                <a16:creationId xmlns:a16="http://schemas.microsoft.com/office/drawing/2014/main" id="{73EBB750-7DE7-4EE9-9A50-299DA9F150DD}"/>
              </a:ext>
            </a:extLst>
          </p:cNvPr>
          <p:cNvPicPr>
            <a:picLocks noChangeAspect="1"/>
          </p:cNvPicPr>
          <p:nvPr/>
        </p:nvPicPr>
        <p:blipFill>
          <a:blip r:embed="rId11"/>
          <a:stretch>
            <a:fillRect/>
          </a:stretch>
        </p:blipFill>
        <p:spPr>
          <a:xfrm>
            <a:off x="2539583" y="5267881"/>
            <a:ext cx="85725" cy="95250"/>
          </a:xfrm>
          <a:prstGeom prst="rect">
            <a:avLst/>
          </a:prstGeom>
        </p:spPr>
      </p:pic>
      <p:pic>
        <p:nvPicPr>
          <p:cNvPr id="66" name="Picture 65">
            <a:extLst>
              <a:ext uri="{FF2B5EF4-FFF2-40B4-BE49-F238E27FC236}">
                <a16:creationId xmlns:a16="http://schemas.microsoft.com/office/drawing/2014/main" id="{37637C4A-DEB3-4E6F-9A5E-9A8C5C9B2109}"/>
              </a:ext>
            </a:extLst>
          </p:cNvPr>
          <p:cNvPicPr>
            <a:picLocks noChangeAspect="1"/>
          </p:cNvPicPr>
          <p:nvPr/>
        </p:nvPicPr>
        <p:blipFill>
          <a:blip r:embed="rId11"/>
          <a:stretch>
            <a:fillRect/>
          </a:stretch>
        </p:blipFill>
        <p:spPr>
          <a:xfrm>
            <a:off x="2552283" y="4010177"/>
            <a:ext cx="85725" cy="95250"/>
          </a:xfrm>
          <a:prstGeom prst="rect">
            <a:avLst/>
          </a:prstGeom>
        </p:spPr>
      </p:pic>
      <p:pic>
        <p:nvPicPr>
          <p:cNvPr id="67" name="Picture 66">
            <a:extLst>
              <a:ext uri="{FF2B5EF4-FFF2-40B4-BE49-F238E27FC236}">
                <a16:creationId xmlns:a16="http://schemas.microsoft.com/office/drawing/2014/main" id="{B94930E3-EA85-447D-84A1-5CCD651F00A6}"/>
              </a:ext>
            </a:extLst>
          </p:cNvPr>
          <p:cNvPicPr>
            <a:picLocks noChangeAspect="1"/>
          </p:cNvPicPr>
          <p:nvPr/>
        </p:nvPicPr>
        <p:blipFill>
          <a:blip r:embed="rId11"/>
          <a:stretch>
            <a:fillRect/>
          </a:stretch>
        </p:blipFill>
        <p:spPr>
          <a:xfrm>
            <a:off x="2704683" y="4162577"/>
            <a:ext cx="85725" cy="95250"/>
          </a:xfrm>
          <a:prstGeom prst="rect">
            <a:avLst/>
          </a:prstGeom>
        </p:spPr>
      </p:pic>
      <p:pic>
        <p:nvPicPr>
          <p:cNvPr id="68" name="Picture 67">
            <a:extLst>
              <a:ext uri="{FF2B5EF4-FFF2-40B4-BE49-F238E27FC236}">
                <a16:creationId xmlns:a16="http://schemas.microsoft.com/office/drawing/2014/main" id="{715877BF-757B-4BC7-911A-2485CB0E6AE1}"/>
              </a:ext>
            </a:extLst>
          </p:cNvPr>
          <p:cNvPicPr>
            <a:picLocks noChangeAspect="1"/>
          </p:cNvPicPr>
          <p:nvPr/>
        </p:nvPicPr>
        <p:blipFill>
          <a:blip r:embed="rId11"/>
          <a:stretch>
            <a:fillRect/>
          </a:stretch>
        </p:blipFill>
        <p:spPr>
          <a:xfrm>
            <a:off x="2257801" y="4135915"/>
            <a:ext cx="85725" cy="95250"/>
          </a:xfrm>
          <a:prstGeom prst="rect">
            <a:avLst/>
          </a:prstGeom>
        </p:spPr>
      </p:pic>
      <p:pic>
        <p:nvPicPr>
          <p:cNvPr id="69" name="Picture 68">
            <a:extLst>
              <a:ext uri="{FF2B5EF4-FFF2-40B4-BE49-F238E27FC236}">
                <a16:creationId xmlns:a16="http://schemas.microsoft.com/office/drawing/2014/main" id="{E69B9CB6-408E-4E62-A2DA-0FDF67E412DF}"/>
              </a:ext>
            </a:extLst>
          </p:cNvPr>
          <p:cNvPicPr>
            <a:picLocks noChangeAspect="1"/>
          </p:cNvPicPr>
          <p:nvPr/>
        </p:nvPicPr>
        <p:blipFill>
          <a:blip r:embed="rId11"/>
          <a:stretch>
            <a:fillRect/>
          </a:stretch>
        </p:blipFill>
        <p:spPr>
          <a:xfrm>
            <a:off x="2892801" y="4240613"/>
            <a:ext cx="85725" cy="95250"/>
          </a:xfrm>
          <a:prstGeom prst="rect">
            <a:avLst/>
          </a:prstGeom>
        </p:spPr>
      </p:pic>
      <p:pic>
        <p:nvPicPr>
          <p:cNvPr id="70" name="Picture 69">
            <a:extLst>
              <a:ext uri="{FF2B5EF4-FFF2-40B4-BE49-F238E27FC236}">
                <a16:creationId xmlns:a16="http://schemas.microsoft.com/office/drawing/2014/main" id="{7F9530B1-0146-466C-85C2-4235D66B66FC}"/>
              </a:ext>
            </a:extLst>
          </p:cNvPr>
          <p:cNvPicPr>
            <a:picLocks noChangeAspect="1"/>
          </p:cNvPicPr>
          <p:nvPr/>
        </p:nvPicPr>
        <p:blipFill>
          <a:blip r:embed="rId11"/>
          <a:stretch>
            <a:fillRect/>
          </a:stretch>
        </p:blipFill>
        <p:spPr>
          <a:xfrm>
            <a:off x="3045201" y="4393013"/>
            <a:ext cx="85725" cy="95250"/>
          </a:xfrm>
          <a:prstGeom prst="rect">
            <a:avLst/>
          </a:prstGeom>
        </p:spPr>
      </p:pic>
      <p:pic>
        <p:nvPicPr>
          <p:cNvPr id="71" name="Picture 70">
            <a:extLst>
              <a:ext uri="{FF2B5EF4-FFF2-40B4-BE49-F238E27FC236}">
                <a16:creationId xmlns:a16="http://schemas.microsoft.com/office/drawing/2014/main" id="{98AD290B-702A-4930-95EC-2D870CBD8F71}"/>
              </a:ext>
            </a:extLst>
          </p:cNvPr>
          <p:cNvPicPr>
            <a:picLocks noChangeAspect="1"/>
          </p:cNvPicPr>
          <p:nvPr/>
        </p:nvPicPr>
        <p:blipFill>
          <a:blip r:embed="rId11"/>
          <a:stretch>
            <a:fillRect/>
          </a:stretch>
        </p:blipFill>
        <p:spPr>
          <a:xfrm>
            <a:off x="2585840" y="4558899"/>
            <a:ext cx="85725" cy="95250"/>
          </a:xfrm>
          <a:prstGeom prst="rect">
            <a:avLst/>
          </a:prstGeom>
        </p:spPr>
      </p:pic>
      <p:pic>
        <p:nvPicPr>
          <p:cNvPr id="72" name="Picture 71">
            <a:extLst>
              <a:ext uri="{FF2B5EF4-FFF2-40B4-BE49-F238E27FC236}">
                <a16:creationId xmlns:a16="http://schemas.microsoft.com/office/drawing/2014/main" id="{53C1E326-3932-4E5C-99E9-27A679FABE26}"/>
              </a:ext>
            </a:extLst>
          </p:cNvPr>
          <p:cNvPicPr>
            <a:picLocks noChangeAspect="1"/>
          </p:cNvPicPr>
          <p:nvPr/>
        </p:nvPicPr>
        <p:blipFill>
          <a:blip r:embed="rId11"/>
          <a:stretch>
            <a:fillRect/>
          </a:stretch>
        </p:blipFill>
        <p:spPr>
          <a:xfrm>
            <a:off x="1963319" y="4405868"/>
            <a:ext cx="85725" cy="95250"/>
          </a:xfrm>
          <a:prstGeom prst="rect">
            <a:avLst/>
          </a:prstGeom>
        </p:spPr>
      </p:pic>
      <p:pic>
        <p:nvPicPr>
          <p:cNvPr id="73" name="Picture 72">
            <a:extLst>
              <a:ext uri="{FF2B5EF4-FFF2-40B4-BE49-F238E27FC236}">
                <a16:creationId xmlns:a16="http://schemas.microsoft.com/office/drawing/2014/main" id="{6BB75DEA-522E-4961-A1C1-115B857FE308}"/>
              </a:ext>
            </a:extLst>
          </p:cNvPr>
          <p:cNvPicPr>
            <a:picLocks noChangeAspect="1"/>
          </p:cNvPicPr>
          <p:nvPr/>
        </p:nvPicPr>
        <p:blipFill>
          <a:blip r:embed="rId11"/>
          <a:stretch>
            <a:fillRect/>
          </a:stretch>
        </p:blipFill>
        <p:spPr>
          <a:xfrm>
            <a:off x="2828507" y="4495406"/>
            <a:ext cx="85725" cy="95250"/>
          </a:xfrm>
          <a:prstGeom prst="rect">
            <a:avLst/>
          </a:prstGeom>
        </p:spPr>
      </p:pic>
      <mc:AlternateContent xmlns:mc="http://schemas.openxmlformats.org/markup-compatibility/2006" xmlns:a14="http://schemas.microsoft.com/office/drawing/2010/main">
        <mc:Choice Requires="a14">
          <p:sp>
            <p:nvSpPr>
              <p:cNvPr id="74" name="LAYOUT HEADER">
                <a:extLst>
                  <a:ext uri="{FF2B5EF4-FFF2-40B4-BE49-F238E27FC236}">
                    <a16:creationId xmlns:a16="http://schemas.microsoft.com/office/drawing/2014/main" id="{5AD409AB-3923-41D1-B89C-14F141E73C1B}"/>
                  </a:ext>
                </a:extLst>
              </p:cNvPr>
              <p:cNvSpPr txBox="1">
                <a:spLocks noChangeArrowheads="1"/>
              </p:cNvSpPr>
              <p:nvPr>
                <p:custDataLst>
                  <p:tags r:id="rId4"/>
                </p:custDataLst>
              </p:nvPr>
            </p:nvSpPr>
            <p:spPr bwMode="gray">
              <a:xfrm>
                <a:off x="436453" y="6139216"/>
                <a:ext cx="4202176" cy="609600"/>
              </a:xfrm>
              <a:prstGeom prst="rect">
                <a:avLst/>
              </a:prstGeom>
              <a:noFill/>
              <a:ln w="19050" algn="ctr">
                <a:noFill/>
                <a:miter lim="800000"/>
                <a:headEnd/>
                <a:tailEnd/>
              </a:ln>
              <a:effectLst/>
              <a:extLst>
                <a:ext uri="{909E8E84-426E-40DD-AFC4-6F175D3DCCD1}">
                  <a14:hiddenFill>
                    <a:solidFill>
                      <a:srgbClr val="FFFFFF"/>
                    </a:solidFill>
                  </a14:hiddenFill>
                </a:ext>
                <a:ext uri="{AF507438-7753-43E0-B8FC-AC1667EBCBE1}">
                  <a14:hiddenEffects>
                    <a:effectLst>
                      <a:outerShdw dist="17961" dir="2700000" algn="ctr" rotWithShape="0">
                        <a:srgbClr val="999999"/>
                      </a:outerShdw>
                    </a:effectLst>
                  </a14:hiddenEffects>
                </a:ext>
              </a:extLst>
            </p:spPr>
            <p:txBody>
              <a:bodyPr lIns="0" tIns="0" rIns="0" bIns="38100"/>
              <a:lstStyle>
                <a:lvl1pPr>
                  <a:defRPr sz="1100">
                    <a:solidFill>
                      <a:schemeClr val="tx1"/>
                    </a:solidFill>
                    <a:latin typeface="Frutiger 45 Light" pitchFamily="34" charset="0"/>
                    <a:ea typeface="Arial Unicode MS" pitchFamily="34" charset="-128"/>
                    <a:cs typeface="Arial Unicode MS" pitchFamily="34" charset="-128"/>
                  </a:defRPr>
                </a:lvl1pPr>
                <a:lvl2pPr marL="742950" indent="-285750">
                  <a:defRPr sz="1100">
                    <a:solidFill>
                      <a:schemeClr val="tx1"/>
                    </a:solidFill>
                    <a:latin typeface="Frutiger 45 Light" pitchFamily="34" charset="0"/>
                    <a:ea typeface="Arial Unicode MS" pitchFamily="34" charset="-128"/>
                    <a:cs typeface="Arial Unicode MS" pitchFamily="34" charset="-128"/>
                  </a:defRPr>
                </a:lvl2pPr>
                <a:lvl3pPr marL="1143000" indent="-228600">
                  <a:defRPr sz="1100">
                    <a:solidFill>
                      <a:schemeClr val="tx1"/>
                    </a:solidFill>
                    <a:latin typeface="Frutiger 45 Light" pitchFamily="34" charset="0"/>
                    <a:ea typeface="Arial Unicode MS" pitchFamily="34" charset="-128"/>
                    <a:cs typeface="Arial Unicode MS" pitchFamily="34" charset="-128"/>
                  </a:defRPr>
                </a:lvl3pPr>
                <a:lvl4pPr marL="1600200" indent="-228600">
                  <a:defRPr sz="1100">
                    <a:solidFill>
                      <a:schemeClr val="tx1"/>
                    </a:solidFill>
                    <a:latin typeface="Frutiger 45 Light" pitchFamily="34" charset="0"/>
                    <a:ea typeface="Arial Unicode MS" pitchFamily="34" charset="-128"/>
                    <a:cs typeface="Arial Unicode MS" pitchFamily="34" charset="-128"/>
                  </a:defRPr>
                </a:lvl4pPr>
                <a:lvl5pPr marL="2057400" indent="-228600">
                  <a:defRPr sz="1100">
                    <a:solidFill>
                      <a:schemeClr val="tx1"/>
                    </a:solidFill>
                    <a:latin typeface="Frutiger 45 Light" pitchFamily="34" charset="0"/>
                    <a:ea typeface="Arial Unicode MS" pitchFamily="34" charset="-128"/>
                    <a:cs typeface="Arial Unicode MS" pitchFamily="34" charset="-128"/>
                  </a:defRPr>
                </a:lvl5pPr>
                <a:lvl6pPr marL="2514600" indent="-228600" eaLnBrk="0" fontAlgn="base" hangingPunct="0">
                  <a:spcBef>
                    <a:spcPct val="50000"/>
                  </a:spcBef>
                  <a:spcAft>
                    <a:spcPct val="0"/>
                  </a:spcAft>
                  <a:defRPr sz="1100">
                    <a:solidFill>
                      <a:schemeClr val="tx1"/>
                    </a:solidFill>
                    <a:latin typeface="Frutiger 45 Light" pitchFamily="34" charset="0"/>
                    <a:ea typeface="Arial Unicode MS" pitchFamily="34" charset="-128"/>
                    <a:cs typeface="Arial Unicode MS" pitchFamily="34" charset="-128"/>
                  </a:defRPr>
                </a:lvl6pPr>
                <a:lvl7pPr marL="2971800" indent="-228600" eaLnBrk="0" fontAlgn="base" hangingPunct="0">
                  <a:spcBef>
                    <a:spcPct val="50000"/>
                  </a:spcBef>
                  <a:spcAft>
                    <a:spcPct val="0"/>
                  </a:spcAft>
                  <a:defRPr sz="1100">
                    <a:solidFill>
                      <a:schemeClr val="tx1"/>
                    </a:solidFill>
                    <a:latin typeface="Frutiger 45 Light" pitchFamily="34" charset="0"/>
                    <a:ea typeface="Arial Unicode MS" pitchFamily="34" charset="-128"/>
                    <a:cs typeface="Arial Unicode MS" pitchFamily="34" charset="-128"/>
                  </a:defRPr>
                </a:lvl7pPr>
                <a:lvl8pPr marL="3429000" indent="-228600" eaLnBrk="0" fontAlgn="base" hangingPunct="0">
                  <a:spcBef>
                    <a:spcPct val="50000"/>
                  </a:spcBef>
                  <a:spcAft>
                    <a:spcPct val="0"/>
                  </a:spcAft>
                  <a:defRPr sz="1100">
                    <a:solidFill>
                      <a:schemeClr val="tx1"/>
                    </a:solidFill>
                    <a:latin typeface="Frutiger 45 Light" pitchFamily="34" charset="0"/>
                    <a:ea typeface="Arial Unicode MS" pitchFamily="34" charset="-128"/>
                    <a:cs typeface="Arial Unicode MS" pitchFamily="34" charset="-128"/>
                  </a:defRPr>
                </a:lvl8pPr>
                <a:lvl9pPr marL="3886200" indent="-228600" eaLnBrk="0" fontAlgn="base" hangingPunct="0">
                  <a:spcBef>
                    <a:spcPct val="50000"/>
                  </a:spcBef>
                  <a:spcAft>
                    <a:spcPct val="0"/>
                  </a:spcAft>
                  <a:defRPr sz="1100">
                    <a:solidFill>
                      <a:schemeClr val="tx1"/>
                    </a:solidFill>
                    <a:latin typeface="Frutiger 45 Light" pitchFamily="34" charset="0"/>
                    <a:ea typeface="Arial Unicode MS" pitchFamily="34" charset="-128"/>
                    <a:cs typeface="Arial Unicode MS" pitchFamily="34" charset="-128"/>
                  </a:defRPr>
                </a:lvl9pPr>
              </a:lstStyle>
              <a:p>
                <a:pPr/>
                <a14:m>
                  <m:oMathPara xmlns:m="http://schemas.openxmlformats.org/officeDocument/2006/math">
                    <m:oMathParaPr>
                      <m:jc m:val="centerGroup"/>
                    </m:oMathParaPr>
                    <m:oMath xmlns:m="http://schemas.openxmlformats.org/officeDocument/2006/math">
                      <m:r>
                        <a:rPr lang="el-GR" sz="1600" i="1" smtClean="0">
                          <a:latin typeface="Cambria Math" panose="02040503050406030204" pitchFamily="18" charset="0"/>
                        </a:rPr>
                        <m:t>𝜋</m:t>
                      </m:r>
                      <m:r>
                        <a:rPr lang="pl-PL" sz="1600" i="1">
                          <a:latin typeface="Cambria Math" panose="02040503050406030204" pitchFamily="18" charset="0"/>
                          <a:ea typeface="Cambria Math" panose="02040503050406030204" pitchFamily="18" charset="0"/>
                        </a:rPr>
                        <m:t>≈</m:t>
                      </m:r>
                      <m:r>
                        <a:rPr lang="pl-PL" sz="1600" b="0" i="1" smtClean="0">
                          <a:latin typeface="Cambria Math" panose="02040503050406030204" pitchFamily="18" charset="0"/>
                          <a:ea typeface="Cambria Math" panose="02040503050406030204" pitchFamily="18" charset="0"/>
                        </a:rPr>
                        <m:t>4∗</m:t>
                      </m:r>
                      <m:f>
                        <m:fPr>
                          <m:ctrlPr>
                            <a:rPr lang="pl-PL" sz="1600" i="1" smtClean="0">
                              <a:latin typeface="Cambria Math" panose="02040503050406030204" pitchFamily="18" charset="0"/>
                            </a:rPr>
                          </m:ctrlPr>
                        </m:fPr>
                        <m:num>
                          <m:r>
                            <a:rPr lang="pl-PL" sz="1600" b="0" i="1" smtClean="0">
                              <a:latin typeface="Cambria Math" panose="02040503050406030204" pitchFamily="18" charset="0"/>
                            </a:rPr>
                            <m:t>𝑛𝑢𝑚𝑏𝑒𝑟</m:t>
                          </m:r>
                          <m:r>
                            <a:rPr lang="pl-PL" sz="1600" b="0" i="1" smtClean="0">
                              <a:latin typeface="Cambria Math" panose="02040503050406030204" pitchFamily="18" charset="0"/>
                            </a:rPr>
                            <m:t> </m:t>
                          </m:r>
                          <m:r>
                            <a:rPr lang="pl-PL" sz="1600" b="0" i="1" smtClean="0">
                              <a:latin typeface="Cambria Math" panose="02040503050406030204" pitchFamily="18" charset="0"/>
                            </a:rPr>
                            <m:t>𝑜𝑓</m:t>
                          </m:r>
                          <m:r>
                            <a:rPr lang="pl-PL" sz="1600" b="0" i="1" smtClean="0">
                              <a:latin typeface="Cambria Math" panose="02040503050406030204" pitchFamily="18" charset="0"/>
                            </a:rPr>
                            <m:t> </m:t>
                          </m:r>
                          <m:r>
                            <a:rPr lang="pl-PL" sz="1600" b="0" i="1" smtClean="0">
                              <a:latin typeface="Cambria Math" panose="02040503050406030204" pitchFamily="18" charset="0"/>
                            </a:rPr>
                            <m:t>𝑑𝑜𝑡𝑠</m:t>
                          </m:r>
                          <m:r>
                            <a:rPr lang="pl-PL" sz="1600" b="0" i="1" smtClean="0">
                              <a:latin typeface="Cambria Math" panose="02040503050406030204" pitchFamily="18" charset="0"/>
                            </a:rPr>
                            <m:t> </m:t>
                          </m:r>
                          <m:r>
                            <a:rPr lang="pl-PL" sz="1600" b="0" i="1" smtClean="0">
                              <a:latin typeface="Cambria Math" panose="02040503050406030204" pitchFamily="18" charset="0"/>
                            </a:rPr>
                            <m:t>𝑓𝑎𝑙𝑙𝑖𝑛𝑔</m:t>
                          </m:r>
                          <m:r>
                            <a:rPr lang="pl-PL" sz="1600" b="0" i="1" smtClean="0">
                              <a:latin typeface="Cambria Math" panose="02040503050406030204" pitchFamily="18" charset="0"/>
                            </a:rPr>
                            <m:t> </m:t>
                          </m:r>
                          <m:r>
                            <a:rPr lang="pl-PL" sz="1600" b="0" i="1" smtClean="0">
                              <a:latin typeface="Cambria Math" panose="02040503050406030204" pitchFamily="18" charset="0"/>
                            </a:rPr>
                            <m:t>𝑖𝑛</m:t>
                          </m:r>
                          <m:r>
                            <a:rPr lang="pl-PL" sz="1600" b="0" i="1" smtClean="0">
                              <a:latin typeface="Cambria Math" panose="02040503050406030204" pitchFamily="18" charset="0"/>
                            </a:rPr>
                            <m:t> </m:t>
                          </m:r>
                          <m:r>
                            <a:rPr lang="pl-PL" sz="1600" b="0" i="1" smtClean="0">
                              <a:latin typeface="Cambria Math" panose="02040503050406030204" pitchFamily="18" charset="0"/>
                            </a:rPr>
                            <m:t>𝑡h𝑒</m:t>
                          </m:r>
                          <m:r>
                            <a:rPr lang="pl-PL" sz="1600" b="0" i="1" smtClean="0">
                              <a:latin typeface="Cambria Math" panose="02040503050406030204" pitchFamily="18" charset="0"/>
                            </a:rPr>
                            <m:t> </m:t>
                          </m:r>
                          <m:r>
                            <a:rPr lang="pl-PL" sz="1600" b="0" i="1" smtClean="0">
                              <a:latin typeface="Cambria Math" panose="02040503050406030204" pitchFamily="18" charset="0"/>
                            </a:rPr>
                            <m:t>𝑐𝑖𝑟𝑐𝑙𝑒</m:t>
                          </m:r>
                        </m:num>
                        <m:den>
                          <m:r>
                            <a:rPr lang="pl-PL" sz="1600" b="0" i="1" smtClean="0">
                              <a:latin typeface="Cambria Math" panose="02040503050406030204" pitchFamily="18" charset="0"/>
                            </a:rPr>
                            <m:t>𝑡𝑜𝑡𝑎𝑙</m:t>
                          </m:r>
                          <m:r>
                            <a:rPr lang="pl-PL" sz="1600" b="0" i="1" smtClean="0">
                              <a:latin typeface="Cambria Math" panose="02040503050406030204" pitchFamily="18" charset="0"/>
                            </a:rPr>
                            <m:t> </m:t>
                          </m:r>
                          <m:r>
                            <a:rPr lang="pl-PL" sz="1600" b="0" i="1" smtClean="0">
                              <a:latin typeface="Cambria Math" panose="02040503050406030204" pitchFamily="18" charset="0"/>
                            </a:rPr>
                            <m:t>𝑛𝑢𝑚𝑏𝑒𝑟</m:t>
                          </m:r>
                          <m:r>
                            <a:rPr lang="pl-PL" sz="1600" b="0" i="1" smtClean="0">
                              <a:latin typeface="Cambria Math" panose="02040503050406030204" pitchFamily="18" charset="0"/>
                            </a:rPr>
                            <m:t> </m:t>
                          </m:r>
                          <m:r>
                            <a:rPr lang="pl-PL" sz="1600" b="0" i="1" smtClean="0">
                              <a:latin typeface="Cambria Math" panose="02040503050406030204" pitchFamily="18" charset="0"/>
                            </a:rPr>
                            <m:t>𝑜𝑓</m:t>
                          </m:r>
                          <m:r>
                            <a:rPr lang="pl-PL" sz="1600" b="0" i="1" smtClean="0">
                              <a:latin typeface="Cambria Math" panose="02040503050406030204" pitchFamily="18" charset="0"/>
                            </a:rPr>
                            <m:t> </m:t>
                          </m:r>
                          <m:r>
                            <a:rPr lang="pl-PL" sz="1600" b="0" i="1" smtClean="0">
                              <a:latin typeface="Cambria Math" panose="02040503050406030204" pitchFamily="18" charset="0"/>
                            </a:rPr>
                            <m:t>𝑑𝑜𝑡𝑠</m:t>
                          </m:r>
                        </m:den>
                      </m:f>
                    </m:oMath>
                  </m:oMathPara>
                </a14:m>
                <a:endParaRPr lang="pl-PL" sz="1600" dirty="0">
                  <a:latin typeface="Frutiger 55 Roman" panose="020B0503040202020204" pitchFamily="34" charset="0"/>
                </a:endParaRPr>
              </a:p>
              <a:p>
                <a:pPr algn="ctr"/>
                <a:endParaRPr lang="pl-PL" sz="2400" u="sng" dirty="0">
                  <a:solidFill>
                    <a:srgbClr val="FF0000"/>
                  </a:solidFill>
                  <a:latin typeface="Frutiger 55 Roman" panose="020B0503040202020204" pitchFamily="34" charset="0"/>
                </a:endParaRPr>
              </a:p>
              <a:p>
                <a:pPr algn="ctr"/>
                <a:endParaRPr lang="pl-PL" sz="2400" u="sng" dirty="0">
                  <a:solidFill>
                    <a:srgbClr val="FF0000"/>
                  </a:solidFill>
                  <a:latin typeface="Frutiger 55 Roman" panose="020B0503040202020204" pitchFamily="34" charset="0"/>
                </a:endParaRPr>
              </a:p>
              <a:p>
                <a:pPr algn="ctr"/>
                <a:endParaRPr lang="pl-PL" sz="2400" u="sng" dirty="0">
                  <a:solidFill>
                    <a:srgbClr val="FF0000"/>
                  </a:solidFill>
                  <a:latin typeface="Frutiger 55 Roman" panose="020B0503040202020204" pitchFamily="34" charset="0"/>
                </a:endParaRPr>
              </a:p>
              <a:p>
                <a:pPr algn="ctr"/>
                <a:endParaRPr lang="pl-PL" sz="2400" u="sng" dirty="0">
                  <a:solidFill>
                    <a:srgbClr val="FF0000"/>
                  </a:solidFill>
                  <a:latin typeface="Frutiger 55 Roman" panose="020B0503040202020204" pitchFamily="34" charset="0"/>
                </a:endParaRPr>
              </a:p>
              <a:p>
                <a:endParaRPr lang="en-GB" altLang="zh-TW" sz="2400" i="1" dirty="0">
                  <a:solidFill>
                    <a:srgbClr val="E60000"/>
                  </a:solidFill>
                  <a:latin typeface="Frutiger 55 Roman" panose="020B0503040202020204" pitchFamily="34" charset="0"/>
                </a:endParaRPr>
              </a:p>
              <a:p>
                <a:endParaRPr lang="en-GB" altLang="zh-TW" sz="2400" i="1" dirty="0">
                  <a:solidFill>
                    <a:srgbClr val="E60000"/>
                  </a:solidFill>
                  <a:latin typeface="Frutiger 55 Roman" panose="020B0503040202020204" pitchFamily="34" charset="0"/>
                </a:endParaRPr>
              </a:p>
            </p:txBody>
          </p:sp>
        </mc:Choice>
        <mc:Fallback xmlns="">
          <p:sp>
            <p:nvSpPr>
              <p:cNvPr id="74" name="LAYOUT HEADER">
                <a:extLst>
                  <a:ext uri="{FF2B5EF4-FFF2-40B4-BE49-F238E27FC236}">
                    <a16:creationId xmlns:a16="http://schemas.microsoft.com/office/drawing/2014/main" id="{5AD409AB-3923-41D1-B89C-14F141E73C1B}"/>
                  </a:ext>
                </a:extLst>
              </p:cNvPr>
              <p:cNvSpPr txBox="1">
                <a:spLocks noRot="1" noChangeAspect="1" noMove="1" noResize="1" noEditPoints="1" noAdjustHandles="1" noChangeArrowheads="1" noChangeShapeType="1" noTextEdit="1"/>
              </p:cNvSpPr>
              <p:nvPr>
                <p:custDataLst>
                  <p:tags r:id="rId12"/>
                </p:custDataLst>
              </p:nvPr>
            </p:nvSpPr>
            <p:spPr bwMode="gray">
              <a:xfrm>
                <a:off x="436453" y="6139216"/>
                <a:ext cx="4202176" cy="609600"/>
              </a:xfrm>
              <a:prstGeom prst="rect">
                <a:avLst/>
              </a:prstGeom>
              <a:blipFill>
                <a:blip r:embed="rId13"/>
                <a:stretch>
                  <a:fillRect/>
                </a:stretch>
              </a:blipFill>
              <a:ln w="19050" algn="ctr">
                <a:no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17961" dir="2700000" algn="ctr" rotWithShape="0">
                        <a:srgbClr val="999999"/>
                      </a:outerShdw>
                    </a:effectLst>
                  </a14:hiddenEffects>
                </a:ext>
              </a:ex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5" name="LAYOUT HEADER">
                <a:extLst>
                  <a:ext uri="{FF2B5EF4-FFF2-40B4-BE49-F238E27FC236}">
                    <a16:creationId xmlns:a16="http://schemas.microsoft.com/office/drawing/2014/main" id="{69B34FC5-CFD1-4051-88AE-F99699E1C03D}"/>
                  </a:ext>
                </a:extLst>
              </p:cNvPr>
              <p:cNvSpPr txBox="1">
                <a:spLocks noChangeArrowheads="1"/>
              </p:cNvSpPr>
              <p:nvPr>
                <p:custDataLst>
                  <p:tags r:id="rId5"/>
                </p:custDataLst>
              </p:nvPr>
            </p:nvSpPr>
            <p:spPr bwMode="gray">
              <a:xfrm>
                <a:off x="4622801" y="6018851"/>
                <a:ext cx="5234632" cy="609600"/>
              </a:xfrm>
              <a:prstGeom prst="rect">
                <a:avLst/>
              </a:prstGeom>
              <a:noFill/>
              <a:ln w="19050" algn="ctr">
                <a:noFill/>
                <a:miter lim="800000"/>
                <a:headEnd/>
                <a:tailEnd/>
              </a:ln>
              <a:effectLst/>
              <a:extLst>
                <a:ext uri="{909E8E84-426E-40DD-AFC4-6F175D3DCCD1}">
                  <a14:hiddenFill>
                    <a:solidFill>
                      <a:srgbClr val="FFFFFF"/>
                    </a:solidFill>
                  </a14:hiddenFill>
                </a:ext>
                <a:ext uri="{AF507438-7753-43E0-B8FC-AC1667EBCBE1}">
                  <a14:hiddenEffects>
                    <a:effectLst>
                      <a:outerShdw dist="17961" dir="2700000" algn="ctr" rotWithShape="0">
                        <a:srgbClr val="999999"/>
                      </a:outerShdw>
                    </a:effectLst>
                  </a14:hiddenEffects>
                </a:ext>
              </a:extLst>
            </p:spPr>
            <p:txBody>
              <a:bodyPr lIns="0" tIns="0" rIns="0" bIns="38100"/>
              <a:lstStyle>
                <a:lvl1pPr>
                  <a:defRPr sz="1100">
                    <a:solidFill>
                      <a:schemeClr val="tx1"/>
                    </a:solidFill>
                    <a:latin typeface="Frutiger 45 Light" pitchFamily="34" charset="0"/>
                    <a:ea typeface="Arial Unicode MS" pitchFamily="34" charset="-128"/>
                    <a:cs typeface="Arial Unicode MS" pitchFamily="34" charset="-128"/>
                  </a:defRPr>
                </a:lvl1pPr>
                <a:lvl2pPr marL="742950" indent="-285750">
                  <a:defRPr sz="1100">
                    <a:solidFill>
                      <a:schemeClr val="tx1"/>
                    </a:solidFill>
                    <a:latin typeface="Frutiger 45 Light" pitchFamily="34" charset="0"/>
                    <a:ea typeface="Arial Unicode MS" pitchFamily="34" charset="-128"/>
                    <a:cs typeface="Arial Unicode MS" pitchFamily="34" charset="-128"/>
                  </a:defRPr>
                </a:lvl2pPr>
                <a:lvl3pPr marL="1143000" indent="-228600">
                  <a:defRPr sz="1100">
                    <a:solidFill>
                      <a:schemeClr val="tx1"/>
                    </a:solidFill>
                    <a:latin typeface="Frutiger 45 Light" pitchFamily="34" charset="0"/>
                    <a:ea typeface="Arial Unicode MS" pitchFamily="34" charset="-128"/>
                    <a:cs typeface="Arial Unicode MS" pitchFamily="34" charset="-128"/>
                  </a:defRPr>
                </a:lvl3pPr>
                <a:lvl4pPr marL="1600200" indent="-228600">
                  <a:defRPr sz="1100">
                    <a:solidFill>
                      <a:schemeClr val="tx1"/>
                    </a:solidFill>
                    <a:latin typeface="Frutiger 45 Light" pitchFamily="34" charset="0"/>
                    <a:ea typeface="Arial Unicode MS" pitchFamily="34" charset="-128"/>
                    <a:cs typeface="Arial Unicode MS" pitchFamily="34" charset="-128"/>
                  </a:defRPr>
                </a:lvl4pPr>
                <a:lvl5pPr marL="2057400" indent="-228600">
                  <a:defRPr sz="1100">
                    <a:solidFill>
                      <a:schemeClr val="tx1"/>
                    </a:solidFill>
                    <a:latin typeface="Frutiger 45 Light" pitchFamily="34" charset="0"/>
                    <a:ea typeface="Arial Unicode MS" pitchFamily="34" charset="-128"/>
                    <a:cs typeface="Arial Unicode MS" pitchFamily="34" charset="-128"/>
                  </a:defRPr>
                </a:lvl5pPr>
                <a:lvl6pPr marL="2514600" indent="-228600" eaLnBrk="0" fontAlgn="base" hangingPunct="0">
                  <a:spcBef>
                    <a:spcPct val="50000"/>
                  </a:spcBef>
                  <a:spcAft>
                    <a:spcPct val="0"/>
                  </a:spcAft>
                  <a:defRPr sz="1100">
                    <a:solidFill>
                      <a:schemeClr val="tx1"/>
                    </a:solidFill>
                    <a:latin typeface="Frutiger 45 Light" pitchFamily="34" charset="0"/>
                    <a:ea typeface="Arial Unicode MS" pitchFamily="34" charset="-128"/>
                    <a:cs typeface="Arial Unicode MS" pitchFamily="34" charset="-128"/>
                  </a:defRPr>
                </a:lvl6pPr>
                <a:lvl7pPr marL="2971800" indent="-228600" eaLnBrk="0" fontAlgn="base" hangingPunct="0">
                  <a:spcBef>
                    <a:spcPct val="50000"/>
                  </a:spcBef>
                  <a:spcAft>
                    <a:spcPct val="0"/>
                  </a:spcAft>
                  <a:defRPr sz="1100">
                    <a:solidFill>
                      <a:schemeClr val="tx1"/>
                    </a:solidFill>
                    <a:latin typeface="Frutiger 45 Light" pitchFamily="34" charset="0"/>
                    <a:ea typeface="Arial Unicode MS" pitchFamily="34" charset="-128"/>
                    <a:cs typeface="Arial Unicode MS" pitchFamily="34" charset="-128"/>
                  </a:defRPr>
                </a:lvl7pPr>
                <a:lvl8pPr marL="3429000" indent="-228600" eaLnBrk="0" fontAlgn="base" hangingPunct="0">
                  <a:spcBef>
                    <a:spcPct val="50000"/>
                  </a:spcBef>
                  <a:spcAft>
                    <a:spcPct val="0"/>
                  </a:spcAft>
                  <a:defRPr sz="1100">
                    <a:solidFill>
                      <a:schemeClr val="tx1"/>
                    </a:solidFill>
                    <a:latin typeface="Frutiger 45 Light" pitchFamily="34" charset="0"/>
                    <a:ea typeface="Arial Unicode MS" pitchFamily="34" charset="-128"/>
                    <a:cs typeface="Arial Unicode MS" pitchFamily="34" charset="-128"/>
                  </a:defRPr>
                </a:lvl8pPr>
                <a:lvl9pPr marL="3886200" indent="-228600" eaLnBrk="0" fontAlgn="base" hangingPunct="0">
                  <a:spcBef>
                    <a:spcPct val="50000"/>
                  </a:spcBef>
                  <a:spcAft>
                    <a:spcPct val="0"/>
                  </a:spcAft>
                  <a:defRPr sz="1100">
                    <a:solidFill>
                      <a:schemeClr val="tx1"/>
                    </a:solidFill>
                    <a:latin typeface="Frutiger 45 Light" pitchFamily="34" charset="0"/>
                    <a:ea typeface="Arial Unicode MS" pitchFamily="34" charset="-128"/>
                    <a:cs typeface="Arial Unicode MS" pitchFamily="34" charset="-128"/>
                  </a:defRPr>
                </a:lvl9pPr>
              </a:lstStyle>
              <a:p>
                <a:pPr/>
                <a14:m>
                  <m:oMathPara xmlns:m="http://schemas.openxmlformats.org/officeDocument/2006/math">
                    <m:oMathParaPr>
                      <m:jc m:val="centerGroup"/>
                    </m:oMathParaPr>
                    <m:oMath xmlns:m="http://schemas.openxmlformats.org/officeDocument/2006/math">
                      <m:nary>
                        <m:naryPr>
                          <m:limLoc m:val="undOvr"/>
                          <m:ctrlPr>
                            <a:rPr lang="pl-PL" sz="1600" i="1" smtClean="0">
                              <a:latin typeface="Cambria Math" panose="02040503050406030204" pitchFamily="18" charset="0"/>
                            </a:rPr>
                          </m:ctrlPr>
                        </m:naryPr>
                        <m:sub>
                          <m:r>
                            <m:rPr>
                              <m:brk m:alnAt="24"/>
                            </m:rPr>
                            <a:rPr lang="pl-PL" sz="1600" b="0" i="1" smtClean="0">
                              <a:latin typeface="Cambria Math" panose="02040503050406030204" pitchFamily="18" charset="0"/>
                            </a:rPr>
                            <m:t>𝑎</m:t>
                          </m:r>
                        </m:sub>
                        <m:sup>
                          <m:r>
                            <a:rPr lang="pl-PL" sz="1600" b="0" i="1" smtClean="0">
                              <a:latin typeface="Cambria Math" panose="02040503050406030204" pitchFamily="18" charset="0"/>
                            </a:rPr>
                            <m:t>𝑏</m:t>
                          </m:r>
                        </m:sup>
                        <m:e>
                          <m:r>
                            <a:rPr lang="pl-PL" sz="1600" b="0" i="1" smtClean="0">
                              <a:latin typeface="Cambria Math" panose="02040503050406030204" pitchFamily="18" charset="0"/>
                            </a:rPr>
                            <m:t>𝑓</m:t>
                          </m:r>
                          <m:d>
                            <m:dPr>
                              <m:ctrlPr>
                                <a:rPr lang="pl-PL" sz="1600" b="0" i="1" smtClean="0">
                                  <a:latin typeface="Cambria Math" panose="02040503050406030204" pitchFamily="18" charset="0"/>
                                </a:rPr>
                              </m:ctrlPr>
                            </m:dPr>
                            <m:e>
                              <m:r>
                                <a:rPr lang="pl-PL" sz="1600" b="0" i="1" smtClean="0">
                                  <a:latin typeface="Cambria Math" panose="02040503050406030204" pitchFamily="18" charset="0"/>
                                </a:rPr>
                                <m:t>𝑥</m:t>
                              </m:r>
                            </m:e>
                          </m:d>
                          <m:r>
                            <a:rPr lang="pl-PL" sz="1600" b="0" i="1" smtClean="0">
                              <a:latin typeface="Cambria Math" panose="02040503050406030204" pitchFamily="18" charset="0"/>
                            </a:rPr>
                            <m:t>𝑑𝑥</m:t>
                          </m:r>
                        </m:e>
                      </m:nary>
                      <m:r>
                        <a:rPr lang="pl-PL" sz="1600" i="1" smtClean="0">
                          <a:latin typeface="Cambria Math" panose="02040503050406030204" pitchFamily="18" charset="0"/>
                          <a:ea typeface="Cambria Math" panose="02040503050406030204" pitchFamily="18" charset="0"/>
                        </a:rPr>
                        <m:t>≈</m:t>
                      </m:r>
                      <m:d>
                        <m:dPr>
                          <m:ctrlPr>
                            <a:rPr lang="pl-PL" sz="1600" b="0" i="1" smtClean="0">
                              <a:latin typeface="Cambria Math" panose="02040503050406030204" pitchFamily="18" charset="0"/>
                              <a:ea typeface="Cambria Math" panose="02040503050406030204" pitchFamily="18" charset="0"/>
                            </a:rPr>
                          </m:ctrlPr>
                        </m:dPr>
                        <m:e>
                          <m:r>
                            <a:rPr lang="pl-PL" sz="1600" b="0" i="1" smtClean="0">
                              <a:latin typeface="Cambria Math" panose="02040503050406030204" pitchFamily="18" charset="0"/>
                              <a:ea typeface="Cambria Math" panose="02040503050406030204" pitchFamily="18" charset="0"/>
                            </a:rPr>
                            <m:t>𝑏</m:t>
                          </m:r>
                          <m:r>
                            <a:rPr lang="pl-PL" sz="1600" b="0" i="1" smtClean="0">
                              <a:latin typeface="Cambria Math" panose="02040503050406030204" pitchFamily="18" charset="0"/>
                              <a:ea typeface="Cambria Math" panose="02040503050406030204" pitchFamily="18" charset="0"/>
                            </a:rPr>
                            <m:t>−</m:t>
                          </m:r>
                          <m:r>
                            <a:rPr lang="pl-PL" sz="1600" b="0" i="1" smtClean="0">
                              <a:latin typeface="Cambria Math" panose="02040503050406030204" pitchFamily="18" charset="0"/>
                              <a:ea typeface="Cambria Math" panose="02040503050406030204" pitchFamily="18" charset="0"/>
                            </a:rPr>
                            <m:t>𝑎</m:t>
                          </m:r>
                        </m:e>
                      </m:d>
                      <m:r>
                        <a:rPr lang="pl-PL" sz="1600" b="0" i="1" smtClean="0">
                          <a:latin typeface="Cambria Math" panose="02040503050406030204" pitchFamily="18" charset="0"/>
                          <a:ea typeface="Cambria Math" panose="02040503050406030204" pitchFamily="18" charset="0"/>
                        </a:rPr>
                        <m:t>∗</m:t>
                      </m:r>
                      <m:r>
                        <a:rPr lang="pl-PL" sz="1600" b="0" i="1" smtClean="0">
                          <a:latin typeface="Cambria Math" panose="02040503050406030204" pitchFamily="18" charset="0"/>
                          <a:ea typeface="Cambria Math" panose="02040503050406030204" pitchFamily="18" charset="0"/>
                        </a:rPr>
                        <m:t>h</m:t>
                      </m:r>
                      <m:r>
                        <a:rPr lang="pl-PL" sz="1600" b="0" i="1" smtClean="0">
                          <a:latin typeface="Cambria Math" panose="02040503050406030204" pitchFamily="18" charset="0"/>
                          <a:ea typeface="Cambria Math" panose="02040503050406030204" pitchFamily="18" charset="0"/>
                        </a:rPr>
                        <m:t>∗</m:t>
                      </m:r>
                      <m:f>
                        <m:fPr>
                          <m:ctrlPr>
                            <a:rPr lang="pl-PL" sz="1600" i="1" smtClean="0">
                              <a:latin typeface="Cambria Math" panose="02040503050406030204" pitchFamily="18" charset="0"/>
                            </a:rPr>
                          </m:ctrlPr>
                        </m:fPr>
                        <m:num>
                          <m:r>
                            <a:rPr lang="pl-PL" sz="1600" b="0" i="1" smtClean="0">
                              <a:latin typeface="Cambria Math" panose="02040503050406030204" pitchFamily="18" charset="0"/>
                            </a:rPr>
                            <m:t>𝑛𝑢𝑚</m:t>
                          </m:r>
                          <m:r>
                            <a:rPr lang="pl-PL" sz="1600" b="0" i="1" smtClean="0">
                              <a:latin typeface="Cambria Math" panose="02040503050406030204" pitchFamily="18" charset="0"/>
                            </a:rPr>
                            <m:t>. </m:t>
                          </m:r>
                          <m:r>
                            <a:rPr lang="pl-PL" sz="1600" b="0" i="1" smtClean="0">
                              <a:latin typeface="Cambria Math" panose="02040503050406030204" pitchFamily="18" charset="0"/>
                            </a:rPr>
                            <m:t>𝑜𝑓</m:t>
                          </m:r>
                          <m:r>
                            <a:rPr lang="pl-PL" sz="1600" b="0" i="1" smtClean="0">
                              <a:latin typeface="Cambria Math" panose="02040503050406030204" pitchFamily="18" charset="0"/>
                            </a:rPr>
                            <m:t> </m:t>
                          </m:r>
                          <m:r>
                            <a:rPr lang="pl-PL" sz="1600" b="0" i="1" smtClean="0">
                              <a:latin typeface="Cambria Math" panose="02040503050406030204" pitchFamily="18" charset="0"/>
                            </a:rPr>
                            <m:t>𝑑𝑜𝑡𝑠</m:t>
                          </m:r>
                          <m:r>
                            <a:rPr lang="pl-PL" sz="1600" b="0" i="1" smtClean="0">
                              <a:latin typeface="Cambria Math" panose="02040503050406030204" pitchFamily="18" charset="0"/>
                            </a:rPr>
                            <m:t> </m:t>
                          </m:r>
                          <m:r>
                            <a:rPr lang="pl-PL" sz="1600" b="0" i="1" smtClean="0">
                              <a:latin typeface="Cambria Math" panose="02040503050406030204" pitchFamily="18" charset="0"/>
                            </a:rPr>
                            <m:t>𝑏𝑒𝑙𝑜𝑤</m:t>
                          </m:r>
                          <m:r>
                            <a:rPr lang="pl-PL" sz="1600" b="0" i="1" smtClean="0">
                              <a:latin typeface="Cambria Math" panose="02040503050406030204" pitchFamily="18" charset="0"/>
                            </a:rPr>
                            <m:t> </m:t>
                          </m:r>
                          <m:r>
                            <a:rPr lang="pl-PL" sz="1600" b="0" i="1" smtClean="0">
                              <a:latin typeface="Cambria Math" panose="02040503050406030204" pitchFamily="18" charset="0"/>
                            </a:rPr>
                            <m:t>𝑡h𝑒</m:t>
                          </m:r>
                          <m:r>
                            <a:rPr lang="pl-PL" sz="1600" b="0" i="1" smtClean="0">
                              <a:latin typeface="Cambria Math" panose="02040503050406030204" pitchFamily="18" charset="0"/>
                            </a:rPr>
                            <m:t> </m:t>
                          </m:r>
                          <m:r>
                            <a:rPr lang="pl-PL" sz="1600" b="0" i="1" smtClean="0">
                              <a:latin typeface="Cambria Math" panose="02040503050406030204" pitchFamily="18" charset="0"/>
                            </a:rPr>
                            <m:t>𝑔𝑟𝑎𝑝h</m:t>
                          </m:r>
                        </m:num>
                        <m:den>
                          <m:r>
                            <a:rPr lang="pl-PL" sz="1600" b="0" i="1" smtClean="0">
                              <a:latin typeface="Cambria Math" panose="02040503050406030204" pitchFamily="18" charset="0"/>
                            </a:rPr>
                            <m:t>𝑡𝑜𝑡𝑎𝑙</m:t>
                          </m:r>
                          <m:r>
                            <a:rPr lang="pl-PL" sz="1600" b="0" i="1" smtClean="0">
                              <a:latin typeface="Cambria Math" panose="02040503050406030204" pitchFamily="18" charset="0"/>
                            </a:rPr>
                            <m:t> </m:t>
                          </m:r>
                          <m:r>
                            <a:rPr lang="pl-PL" sz="1600" b="0" i="1" smtClean="0">
                              <a:latin typeface="Cambria Math" panose="02040503050406030204" pitchFamily="18" charset="0"/>
                            </a:rPr>
                            <m:t>𝑛𝑢𝑚𝑏𝑒𝑟</m:t>
                          </m:r>
                          <m:r>
                            <a:rPr lang="pl-PL" sz="1600" b="0" i="1" smtClean="0">
                              <a:latin typeface="Cambria Math" panose="02040503050406030204" pitchFamily="18" charset="0"/>
                            </a:rPr>
                            <m:t> </m:t>
                          </m:r>
                          <m:r>
                            <a:rPr lang="pl-PL" sz="1600" b="0" i="1" smtClean="0">
                              <a:latin typeface="Cambria Math" panose="02040503050406030204" pitchFamily="18" charset="0"/>
                            </a:rPr>
                            <m:t>𝑜𝑓</m:t>
                          </m:r>
                          <m:r>
                            <a:rPr lang="pl-PL" sz="1600" b="0" i="1" smtClean="0">
                              <a:latin typeface="Cambria Math" panose="02040503050406030204" pitchFamily="18" charset="0"/>
                            </a:rPr>
                            <m:t> </m:t>
                          </m:r>
                          <m:r>
                            <a:rPr lang="pl-PL" sz="1600" b="0" i="1" smtClean="0">
                              <a:latin typeface="Cambria Math" panose="02040503050406030204" pitchFamily="18" charset="0"/>
                            </a:rPr>
                            <m:t>𝑑𝑜𝑡𝑠</m:t>
                          </m:r>
                        </m:den>
                      </m:f>
                    </m:oMath>
                  </m:oMathPara>
                </a14:m>
                <a:endParaRPr lang="pl-PL" sz="1600" dirty="0">
                  <a:latin typeface="Frutiger 55 Roman" panose="020B0503040202020204" pitchFamily="34" charset="0"/>
                </a:endParaRPr>
              </a:p>
              <a:p>
                <a:pPr algn="ctr"/>
                <a:endParaRPr lang="pl-PL" sz="2400" u="sng" dirty="0">
                  <a:solidFill>
                    <a:srgbClr val="FF0000"/>
                  </a:solidFill>
                  <a:latin typeface="Frutiger 55 Roman" panose="020B0503040202020204" pitchFamily="34" charset="0"/>
                </a:endParaRPr>
              </a:p>
              <a:p>
                <a:pPr algn="ctr"/>
                <a:endParaRPr lang="pl-PL" sz="2400" u="sng" dirty="0">
                  <a:solidFill>
                    <a:srgbClr val="FF0000"/>
                  </a:solidFill>
                  <a:latin typeface="Frutiger 55 Roman" panose="020B0503040202020204" pitchFamily="34" charset="0"/>
                </a:endParaRPr>
              </a:p>
              <a:p>
                <a:pPr algn="ctr"/>
                <a:endParaRPr lang="pl-PL" sz="2400" u="sng" dirty="0">
                  <a:solidFill>
                    <a:srgbClr val="FF0000"/>
                  </a:solidFill>
                  <a:latin typeface="Frutiger 55 Roman" panose="020B0503040202020204" pitchFamily="34" charset="0"/>
                </a:endParaRPr>
              </a:p>
              <a:p>
                <a:pPr algn="ctr"/>
                <a:endParaRPr lang="pl-PL" sz="2400" u="sng" dirty="0">
                  <a:solidFill>
                    <a:srgbClr val="FF0000"/>
                  </a:solidFill>
                  <a:latin typeface="Frutiger 55 Roman" panose="020B0503040202020204" pitchFamily="34" charset="0"/>
                </a:endParaRPr>
              </a:p>
              <a:p>
                <a:endParaRPr lang="en-GB" altLang="zh-TW" sz="2400" i="1" dirty="0">
                  <a:solidFill>
                    <a:srgbClr val="E60000"/>
                  </a:solidFill>
                  <a:latin typeface="Frutiger 55 Roman" panose="020B0503040202020204" pitchFamily="34" charset="0"/>
                </a:endParaRPr>
              </a:p>
              <a:p>
                <a:endParaRPr lang="en-GB" altLang="zh-TW" sz="2400" i="1" dirty="0">
                  <a:solidFill>
                    <a:srgbClr val="E60000"/>
                  </a:solidFill>
                  <a:latin typeface="Frutiger 55 Roman" panose="020B0503040202020204" pitchFamily="34" charset="0"/>
                </a:endParaRPr>
              </a:p>
            </p:txBody>
          </p:sp>
        </mc:Choice>
        <mc:Fallback xmlns="">
          <p:sp>
            <p:nvSpPr>
              <p:cNvPr id="75" name="LAYOUT HEADER">
                <a:extLst>
                  <a:ext uri="{FF2B5EF4-FFF2-40B4-BE49-F238E27FC236}">
                    <a16:creationId xmlns:a16="http://schemas.microsoft.com/office/drawing/2014/main" id="{69B34FC5-CFD1-4051-88AE-F99699E1C03D}"/>
                  </a:ext>
                </a:extLst>
              </p:cNvPr>
              <p:cNvSpPr txBox="1">
                <a:spLocks noRot="1" noChangeAspect="1" noMove="1" noResize="1" noEditPoints="1" noAdjustHandles="1" noChangeArrowheads="1" noChangeShapeType="1" noTextEdit="1"/>
              </p:cNvSpPr>
              <p:nvPr>
                <p:custDataLst>
                  <p:tags r:id="rId14"/>
                </p:custDataLst>
              </p:nvPr>
            </p:nvSpPr>
            <p:spPr bwMode="gray">
              <a:xfrm>
                <a:off x="4622801" y="6018851"/>
                <a:ext cx="5234632" cy="609600"/>
              </a:xfrm>
              <a:prstGeom prst="rect">
                <a:avLst/>
              </a:prstGeom>
              <a:blipFill>
                <a:blip r:embed="rId15"/>
                <a:stretch>
                  <a:fillRect b="-23000"/>
                </a:stretch>
              </a:blipFill>
              <a:ln w="19050" algn="ctr">
                <a:no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17961" dir="2700000" algn="ctr" rotWithShape="0">
                        <a:srgbClr val="999999"/>
                      </a:outerShdw>
                    </a:effectLst>
                  </a14:hiddenEffects>
                </a:ext>
              </a:extLst>
            </p:spPr>
            <p:txBody>
              <a:bodyPr/>
              <a:lstStyle/>
              <a:p>
                <a:r>
                  <a:rPr lang="en-GB">
                    <a:noFill/>
                  </a:rPr>
                  <a:t> </a:t>
                </a:r>
              </a:p>
            </p:txBody>
          </p:sp>
        </mc:Fallback>
      </mc:AlternateContent>
      <p:cxnSp>
        <p:nvCxnSpPr>
          <p:cNvPr id="79" name="Straight Arrow Connector 78">
            <a:extLst>
              <a:ext uri="{FF2B5EF4-FFF2-40B4-BE49-F238E27FC236}">
                <a16:creationId xmlns:a16="http://schemas.microsoft.com/office/drawing/2014/main" id="{4757B7C7-CE2B-4ACA-94DC-70360524462A}"/>
              </a:ext>
            </a:extLst>
          </p:cNvPr>
          <p:cNvCxnSpPr>
            <a:cxnSpLocks/>
          </p:cNvCxnSpPr>
          <p:nvPr/>
        </p:nvCxnSpPr>
        <p:spPr>
          <a:xfrm flipH="1" flipV="1">
            <a:off x="5442289" y="3486778"/>
            <a:ext cx="6879" cy="1852547"/>
          </a:xfrm>
          <a:prstGeom prst="straightConnector1">
            <a:avLst/>
          </a:prstGeom>
          <a:ln w="19050">
            <a:solidFill>
              <a:srgbClr val="7B7D80"/>
            </a:solidFill>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E6592F49-EF0D-45D8-A977-4B344F7983DD}"/>
              </a:ext>
            </a:extLst>
          </p:cNvPr>
          <p:cNvCxnSpPr>
            <a:cxnSpLocks/>
          </p:cNvCxnSpPr>
          <p:nvPr/>
        </p:nvCxnSpPr>
        <p:spPr>
          <a:xfrm flipV="1">
            <a:off x="5442289" y="5313771"/>
            <a:ext cx="3225520" cy="25626"/>
          </a:xfrm>
          <a:prstGeom prst="straightConnector1">
            <a:avLst/>
          </a:prstGeom>
          <a:ln w="19050">
            <a:solidFill>
              <a:srgbClr val="7B7D80"/>
            </a:solidFill>
            <a:tailEnd type="triangle"/>
          </a:ln>
        </p:spPr>
        <p:style>
          <a:lnRef idx="1">
            <a:schemeClr val="accent1"/>
          </a:lnRef>
          <a:fillRef idx="0">
            <a:schemeClr val="accent1"/>
          </a:fillRef>
          <a:effectRef idx="0">
            <a:schemeClr val="accent1"/>
          </a:effectRef>
          <a:fontRef idx="minor">
            <a:schemeClr val="tx1"/>
          </a:fontRef>
        </p:style>
      </p:cxnSp>
      <p:sp>
        <p:nvSpPr>
          <p:cNvPr id="84" name="Freeform: Shape 83">
            <a:extLst>
              <a:ext uri="{FF2B5EF4-FFF2-40B4-BE49-F238E27FC236}">
                <a16:creationId xmlns:a16="http://schemas.microsoft.com/office/drawing/2014/main" id="{F2F9F01E-044E-41E5-9979-62E804D6E1E2}"/>
              </a:ext>
            </a:extLst>
          </p:cNvPr>
          <p:cNvSpPr/>
          <p:nvPr/>
        </p:nvSpPr>
        <p:spPr>
          <a:xfrm>
            <a:off x="5442289" y="3940273"/>
            <a:ext cx="3135085" cy="1218300"/>
          </a:xfrm>
          <a:custGeom>
            <a:avLst/>
            <a:gdLst>
              <a:gd name="connsiteX0" fmla="*/ 0 w 3135085"/>
              <a:gd name="connsiteY0" fmla="*/ 1218300 h 1218300"/>
              <a:gd name="connsiteX1" fmla="*/ 552659 w 3135085"/>
              <a:gd name="connsiteY1" fmla="*/ 2449 h 1218300"/>
              <a:gd name="connsiteX2" fmla="*/ 1105318 w 3135085"/>
              <a:gd name="connsiteY2" fmla="*/ 886704 h 1218300"/>
              <a:gd name="connsiteX3" fmla="*/ 1627833 w 3135085"/>
              <a:gd name="connsiteY3" fmla="*/ 253658 h 1218300"/>
              <a:gd name="connsiteX4" fmla="*/ 1909186 w 3135085"/>
              <a:gd name="connsiteY4" fmla="*/ 545060 h 1218300"/>
              <a:gd name="connsiteX5" fmla="*/ 2592474 w 3135085"/>
              <a:gd name="connsiteY5" fmla="*/ 263706 h 1218300"/>
              <a:gd name="connsiteX6" fmla="*/ 3135085 w 3135085"/>
              <a:gd name="connsiteY6" fmla="*/ 524963 h 121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35085" h="1218300">
                <a:moveTo>
                  <a:pt x="0" y="1218300"/>
                </a:moveTo>
                <a:cubicBezTo>
                  <a:pt x="184219" y="638007"/>
                  <a:pt x="368439" y="57715"/>
                  <a:pt x="552659" y="2449"/>
                </a:cubicBezTo>
                <a:cubicBezTo>
                  <a:pt x="736879" y="-52817"/>
                  <a:pt x="926122" y="844836"/>
                  <a:pt x="1105318" y="886704"/>
                </a:cubicBezTo>
                <a:cubicBezTo>
                  <a:pt x="1284514" y="928572"/>
                  <a:pt x="1493855" y="310599"/>
                  <a:pt x="1627833" y="253658"/>
                </a:cubicBezTo>
                <a:cubicBezTo>
                  <a:pt x="1761811" y="196717"/>
                  <a:pt x="1748413" y="543385"/>
                  <a:pt x="1909186" y="545060"/>
                </a:cubicBezTo>
                <a:cubicBezTo>
                  <a:pt x="2069959" y="546735"/>
                  <a:pt x="2388158" y="267055"/>
                  <a:pt x="2592474" y="263706"/>
                </a:cubicBezTo>
                <a:cubicBezTo>
                  <a:pt x="2796790" y="260357"/>
                  <a:pt x="2960914" y="384286"/>
                  <a:pt x="3135085" y="524963"/>
                </a:cubicBezTo>
              </a:path>
            </a:pathLst>
          </a:custGeom>
          <a:noFill/>
          <a:ln w="19050">
            <a:solidFill>
              <a:srgbClr val="7B7D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03D5CBB4-C6E7-47FA-A484-1936D158B331}"/>
                  </a:ext>
                </a:extLst>
              </p:cNvPr>
              <p:cNvSpPr txBox="1"/>
              <p:nvPr/>
            </p:nvSpPr>
            <p:spPr>
              <a:xfrm>
                <a:off x="8459964" y="4179173"/>
                <a:ext cx="873887" cy="274320"/>
              </a:xfrm>
              <a:prstGeom prst="rect">
                <a:avLst/>
              </a:prstGeom>
              <a:noFill/>
            </p:spPr>
            <p:txBody>
              <a:bodyPr wrap="none" lIns="0" tIns="0" rIns="0" bIns="0" rtlCol="0">
                <a:noAutofit/>
              </a:bodyPr>
              <a:lstStyle/>
              <a:p>
                <a:pPr/>
                <a14:m>
                  <m:oMathPara xmlns:m="http://schemas.openxmlformats.org/officeDocument/2006/math">
                    <m:oMathParaPr>
                      <m:jc m:val="centerGroup"/>
                    </m:oMathParaPr>
                    <m:oMath xmlns:m="http://schemas.openxmlformats.org/officeDocument/2006/math">
                      <m:r>
                        <a:rPr lang="pl-PL" sz="1400" b="0" i="1" smtClean="0">
                          <a:latin typeface="Cambria Math" panose="02040503050406030204" pitchFamily="18" charset="0"/>
                        </a:rPr>
                        <m:t>𝑓</m:t>
                      </m:r>
                      <m:r>
                        <a:rPr lang="pl-PL" sz="1400" b="0" i="1" smtClean="0">
                          <a:latin typeface="Cambria Math" panose="02040503050406030204" pitchFamily="18" charset="0"/>
                        </a:rPr>
                        <m:t>(</m:t>
                      </m:r>
                      <m:r>
                        <a:rPr lang="pl-PL" sz="1400" b="0" i="1" smtClean="0">
                          <a:latin typeface="Cambria Math" panose="02040503050406030204" pitchFamily="18" charset="0"/>
                        </a:rPr>
                        <m:t>𝑥</m:t>
                      </m:r>
                      <m:r>
                        <a:rPr lang="pl-PL" sz="1400" b="0" i="1" smtClean="0">
                          <a:latin typeface="Cambria Math" panose="02040503050406030204" pitchFamily="18" charset="0"/>
                        </a:rPr>
                        <m:t>)</m:t>
                      </m:r>
                    </m:oMath>
                  </m:oMathPara>
                </a14:m>
                <a:endParaRPr lang="en-GB" sz="1400" dirty="0"/>
              </a:p>
            </p:txBody>
          </p:sp>
        </mc:Choice>
        <mc:Fallback xmlns="">
          <p:sp>
            <p:nvSpPr>
              <p:cNvPr id="86" name="TextBox 85">
                <a:extLst>
                  <a:ext uri="{FF2B5EF4-FFF2-40B4-BE49-F238E27FC236}">
                    <a16:creationId xmlns:a16="http://schemas.microsoft.com/office/drawing/2014/main" id="{03D5CBB4-C6E7-47FA-A484-1936D158B331}"/>
                  </a:ext>
                </a:extLst>
              </p:cNvPr>
              <p:cNvSpPr txBox="1">
                <a:spLocks noRot="1" noChangeAspect="1" noMove="1" noResize="1" noEditPoints="1" noAdjustHandles="1" noChangeArrowheads="1" noChangeShapeType="1" noTextEdit="1"/>
              </p:cNvSpPr>
              <p:nvPr/>
            </p:nvSpPr>
            <p:spPr>
              <a:xfrm>
                <a:off x="8459964" y="4179173"/>
                <a:ext cx="873887" cy="274320"/>
              </a:xfrm>
              <a:prstGeom prst="rect">
                <a:avLst/>
              </a:prstGeom>
              <a:blipFill>
                <a:blip r:embed="rId16"/>
                <a:stretch>
                  <a:fillRect b="-4444"/>
                </a:stretch>
              </a:blipFill>
            </p:spPr>
            <p:txBody>
              <a:bodyPr/>
              <a:lstStyle/>
              <a:p>
                <a:r>
                  <a:rPr lang="en-GB">
                    <a:noFill/>
                  </a:rPr>
                  <a:t> </a:t>
                </a:r>
              </a:p>
            </p:txBody>
          </p:sp>
        </mc:Fallback>
      </mc:AlternateContent>
      <p:cxnSp>
        <p:nvCxnSpPr>
          <p:cNvPr id="90" name="Straight Connector 89">
            <a:extLst>
              <a:ext uri="{FF2B5EF4-FFF2-40B4-BE49-F238E27FC236}">
                <a16:creationId xmlns:a16="http://schemas.microsoft.com/office/drawing/2014/main" id="{1317F10F-9B9A-4B0E-87C8-F50090917649}"/>
              </a:ext>
            </a:extLst>
          </p:cNvPr>
          <p:cNvCxnSpPr>
            <a:cxnSpLocks/>
          </p:cNvCxnSpPr>
          <p:nvPr/>
        </p:nvCxnSpPr>
        <p:spPr>
          <a:xfrm>
            <a:off x="5693497" y="3771900"/>
            <a:ext cx="0" cy="1658327"/>
          </a:xfrm>
          <a:prstGeom prst="line">
            <a:avLst/>
          </a:prstGeom>
          <a:ln w="19050">
            <a:solidFill>
              <a:srgbClr val="7B7D80"/>
            </a:solidFill>
            <a:prstDash val="dash"/>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DC99D3F2-4085-43CD-8963-5F6D21606D51}"/>
              </a:ext>
            </a:extLst>
          </p:cNvPr>
          <p:cNvCxnSpPr>
            <a:cxnSpLocks/>
          </p:cNvCxnSpPr>
          <p:nvPr/>
        </p:nvCxnSpPr>
        <p:spPr>
          <a:xfrm>
            <a:off x="8046486" y="3747319"/>
            <a:ext cx="0" cy="1658327"/>
          </a:xfrm>
          <a:prstGeom prst="line">
            <a:avLst/>
          </a:prstGeom>
          <a:ln w="19050">
            <a:solidFill>
              <a:srgbClr val="7B7D80"/>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73E01CCC-808B-4EA4-A2C4-6976318118EF}"/>
                  </a:ext>
                </a:extLst>
              </p:cNvPr>
              <p:cNvSpPr txBox="1"/>
              <p:nvPr/>
            </p:nvSpPr>
            <p:spPr>
              <a:xfrm>
                <a:off x="5256553" y="5460158"/>
                <a:ext cx="873887" cy="274320"/>
              </a:xfrm>
              <a:prstGeom prst="rect">
                <a:avLst/>
              </a:prstGeom>
              <a:noFill/>
            </p:spPr>
            <p:txBody>
              <a:bodyPr wrap="none" lIns="0" tIns="0" rIns="0" bIns="0" rtlCol="0">
                <a:noAutofit/>
              </a:bodyPr>
              <a:lstStyle/>
              <a:p>
                <a:pPr/>
                <a14:m>
                  <m:oMathPara xmlns:m="http://schemas.openxmlformats.org/officeDocument/2006/math">
                    <m:oMathParaPr>
                      <m:jc m:val="centerGroup"/>
                    </m:oMathParaPr>
                    <m:oMath xmlns:m="http://schemas.openxmlformats.org/officeDocument/2006/math">
                      <m:r>
                        <a:rPr lang="pl-PL" sz="1400" b="0" i="1" smtClean="0">
                          <a:latin typeface="Cambria Math" panose="02040503050406030204" pitchFamily="18" charset="0"/>
                        </a:rPr>
                        <m:t>𝑎</m:t>
                      </m:r>
                    </m:oMath>
                  </m:oMathPara>
                </a14:m>
                <a:endParaRPr lang="en-GB" sz="1400" dirty="0"/>
              </a:p>
            </p:txBody>
          </p:sp>
        </mc:Choice>
        <mc:Fallback xmlns="">
          <p:sp>
            <p:nvSpPr>
              <p:cNvPr id="94" name="TextBox 93">
                <a:extLst>
                  <a:ext uri="{FF2B5EF4-FFF2-40B4-BE49-F238E27FC236}">
                    <a16:creationId xmlns:a16="http://schemas.microsoft.com/office/drawing/2014/main" id="{73E01CCC-808B-4EA4-A2C4-6976318118EF}"/>
                  </a:ext>
                </a:extLst>
              </p:cNvPr>
              <p:cNvSpPr txBox="1">
                <a:spLocks noRot="1" noChangeAspect="1" noMove="1" noResize="1" noEditPoints="1" noAdjustHandles="1" noChangeArrowheads="1" noChangeShapeType="1" noTextEdit="1"/>
              </p:cNvSpPr>
              <p:nvPr/>
            </p:nvSpPr>
            <p:spPr>
              <a:xfrm>
                <a:off x="5256553" y="5460158"/>
                <a:ext cx="873887" cy="274320"/>
              </a:xfrm>
              <a:prstGeom prst="rect">
                <a:avLst/>
              </a:prstGeom>
              <a:blipFill>
                <a:blip r:embed="rId1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E6ABA40E-8469-4E62-B66F-1EC22B77620D}"/>
                  </a:ext>
                </a:extLst>
              </p:cNvPr>
              <p:cNvSpPr txBox="1"/>
              <p:nvPr/>
            </p:nvSpPr>
            <p:spPr>
              <a:xfrm>
                <a:off x="7586077" y="5451552"/>
                <a:ext cx="873887" cy="274320"/>
              </a:xfrm>
              <a:prstGeom prst="rect">
                <a:avLst/>
              </a:prstGeom>
              <a:noFill/>
            </p:spPr>
            <p:txBody>
              <a:bodyPr wrap="none" lIns="0" tIns="0" rIns="0" bIns="0" rtlCol="0">
                <a:noAutofit/>
              </a:bodyPr>
              <a:lstStyle/>
              <a:p>
                <a:pPr/>
                <a14:m>
                  <m:oMathPara xmlns:m="http://schemas.openxmlformats.org/officeDocument/2006/math">
                    <m:oMathParaPr>
                      <m:jc m:val="centerGroup"/>
                    </m:oMathParaPr>
                    <m:oMath xmlns:m="http://schemas.openxmlformats.org/officeDocument/2006/math">
                      <m:r>
                        <a:rPr lang="pl-PL" sz="1400" b="0" i="1" smtClean="0">
                          <a:latin typeface="Cambria Math" panose="02040503050406030204" pitchFamily="18" charset="0"/>
                        </a:rPr>
                        <m:t>𝑏</m:t>
                      </m:r>
                    </m:oMath>
                  </m:oMathPara>
                </a14:m>
                <a:endParaRPr lang="en-GB" sz="1400" dirty="0"/>
              </a:p>
            </p:txBody>
          </p:sp>
        </mc:Choice>
        <mc:Fallback xmlns="">
          <p:sp>
            <p:nvSpPr>
              <p:cNvPr id="95" name="TextBox 94">
                <a:extLst>
                  <a:ext uri="{FF2B5EF4-FFF2-40B4-BE49-F238E27FC236}">
                    <a16:creationId xmlns:a16="http://schemas.microsoft.com/office/drawing/2014/main" id="{E6ABA40E-8469-4E62-B66F-1EC22B77620D}"/>
                  </a:ext>
                </a:extLst>
              </p:cNvPr>
              <p:cNvSpPr txBox="1">
                <a:spLocks noRot="1" noChangeAspect="1" noMove="1" noResize="1" noEditPoints="1" noAdjustHandles="1" noChangeArrowheads="1" noChangeShapeType="1" noTextEdit="1"/>
              </p:cNvSpPr>
              <p:nvPr/>
            </p:nvSpPr>
            <p:spPr>
              <a:xfrm>
                <a:off x="7586077" y="5451552"/>
                <a:ext cx="873887" cy="274320"/>
              </a:xfrm>
              <a:prstGeom prst="rect">
                <a:avLst/>
              </a:prstGeom>
              <a:blipFill>
                <a:blip r:embed="rId18"/>
                <a:stretch>
                  <a:fillRect/>
                </a:stretch>
              </a:blipFill>
            </p:spPr>
            <p:txBody>
              <a:bodyPr/>
              <a:lstStyle/>
              <a:p>
                <a:r>
                  <a:rPr lang="en-GB">
                    <a:noFill/>
                  </a:rPr>
                  <a:t> </a:t>
                </a:r>
              </a:p>
            </p:txBody>
          </p:sp>
        </mc:Fallback>
      </mc:AlternateContent>
      <p:pic>
        <p:nvPicPr>
          <p:cNvPr id="96" name="Picture 95">
            <a:extLst>
              <a:ext uri="{FF2B5EF4-FFF2-40B4-BE49-F238E27FC236}">
                <a16:creationId xmlns:a16="http://schemas.microsoft.com/office/drawing/2014/main" id="{E9BDDEA0-E78E-4243-B139-E7B8703796DF}"/>
              </a:ext>
            </a:extLst>
          </p:cNvPr>
          <p:cNvPicPr>
            <a:picLocks noChangeAspect="1"/>
          </p:cNvPicPr>
          <p:nvPr/>
        </p:nvPicPr>
        <p:blipFill>
          <a:blip r:embed="rId11"/>
          <a:stretch>
            <a:fillRect/>
          </a:stretch>
        </p:blipFill>
        <p:spPr>
          <a:xfrm>
            <a:off x="5858981" y="4358367"/>
            <a:ext cx="85725" cy="95250"/>
          </a:xfrm>
          <a:prstGeom prst="rect">
            <a:avLst/>
          </a:prstGeom>
        </p:spPr>
      </p:pic>
      <p:pic>
        <p:nvPicPr>
          <p:cNvPr id="97" name="Picture 96">
            <a:extLst>
              <a:ext uri="{FF2B5EF4-FFF2-40B4-BE49-F238E27FC236}">
                <a16:creationId xmlns:a16="http://schemas.microsoft.com/office/drawing/2014/main" id="{F47C6C37-EA19-47F0-B675-92D2C8DB9FC8}"/>
              </a:ext>
            </a:extLst>
          </p:cNvPr>
          <p:cNvPicPr>
            <a:picLocks noChangeAspect="1"/>
          </p:cNvPicPr>
          <p:nvPr/>
        </p:nvPicPr>
        <p:blipFill>
          <a:blip r:embed="rId11"/>
          <a:stretch>
            <a:fillRect/>
          </a:stretch>
        </p:blipFill>
        <p:spPr>
          <a:xfrm>
            <a:off x="6011381" y="4510767"/>
            <a:ext cx="85725" cy="95250"/>
          </a:xfrm>
          <a:prstGeom prst="rect">
            <a:avLst/>
          </a:prstGeom>
        </p:spPr>
      </p:pic>
      <p:pic>
        <p:nvPicPr>
          <p:cNvPr id="98" name="Picture 97">
            <a:extLst>
              <a:ext uri="{FF2B5EF4-FFF2-40B4-BE49-F238E27FC236}">
                <a16:creationId xmlns:a16="http://schemas.microsoft.com/office/drawing/2014/main" id="{01AF6966-5B02-46C8-8797-31AC6424099E}"/>
              </a:ext>
            </a:extLst>
          </p:cNvPr>
          <p:cNvPicPr>
            <a:picLocks noChangeAspect="1"/>
          </p:cNvPicPr>
          <p:nvPr/>
        </p:nvPicPr>
        <p:blipFill>
          <a:blip r:embed="rId11"/>
          <a:stretch>
            <a:fillRect/>
          </a:stretch>
        </p:blipFill>
        <p:spPr>
          <a:xfrm>
            <a:off x="5802582" y="4701584"/>
            <a:ext cx="85725" cy="95250"/>
          </a:xfrm>
          <a:prstGeom prst="rect">
            <a:avLst/>
          </a:prstGeom>
        </p:spPr>
      </p:pic>
      <p:pic>
        <p:nvPicPr>
          <p:cNvPr id="99" name="Picture 98">
            <a:extLst>
              <a:ext uri="{FF2B5EF4-FFF2-40B4-BE49-F238E27FC236}">
                <a16:creationId xmlns:a16="http://schemas.microsoft.com/office/drawing/2014/main" id="{5559FC44-C325-4BE1-809A-6E4A64A6203E}"/>
              </a:ext>
            </a:extLst>
          </p:cNvPr>
          <p:cNvPicPr>
            <a:picLocks noChangeAspect="1"/>
          </p:cNvPicPr>
          <p:nvPr/>
        </p:nvPicPr>
        <p:blipFill>
          <a:blip r:embed="rId11"/>
          <a:stretch>
            <a:fillRect/>
          </a:stretch>
        </p:blipFill>
        <p:spPr>
          <a:xfrm>
            <a:off x="5954982" y="4853984"/>
            <a:ext cx="85725" cy="95250"/>
          </a:xfrm>
          <a:prstGeom prst="rect">
            <a:avLst/>
          </a:prstGeom>
        </p:spPr>
      </p:pic>
      <p:pic>
        <p:nvPicPr>
          <p:cNvPr id="100" name="Picture 99">
            <a:extLst>
              <a:ext uri="{FF2B5EF4-FFF2-40B4-BE49-F238E27FC236}">
                <a16:creationId xmlns:a16="http://schemas.microsoft.com/office/drawing/2014/main" id="{33689F45-CBCF-4D1C-923F-22EC527D3EDB}"/>
              </a:ext>
            </a:extLst>
          </p:cNvPr>
          <p:cNvPicPr>
            <a:picLocks noChangeAspect="1"/>
          </p:cNvPicPr>
          <p:nvPr/>
        </p:nvPicPr>
        <p:blipFill>
          <a:blip r:embed="rId11"/>
          <a:stretch>
            <a:fillRect/>
          </a:stretch>
        </p:blipFill>
        <p:spPr>
          <a:xfrm>
            <a:off x="5904740" y="4112325"/>
            <a:ext cx="85725" cy="95250"/>
          </a:xfrm>
          <a:prstGeom prst="rect">
            <a:avLst/>
          </a:prstGeom>
        </p:spPr>
      </p:pic>
      <p:pic>
        <p:nvPicPr>
          <p:cNvPr id="101" name="Picture 100">
            <a:extLst>
              <a:ext uri="{FF2B5EF4-FFF2-40B4-BE49-F238E27FC236}">
                <a16:creationId xmlns:a16="http://schemas.microsoft.com/office/drawing/2014/main" id="{02DD4924-A87D-4217-BC3D-22712F0D2BEA}"/>
              </a:ext>
            </a:extLst>
          </p:cNvPr>
          <p:cNvPicPr>
            <a:picLocks noChangeAspect="1"/>
          </p:cNvPicPr>
          <p:nvPr/>
        </p:nvPicPr>
        <p:blipFill>
          <a:blip r:embed="rId11"/>
          <a:stretch>
            <a:fillRect/>
          </a:stretch>
        </p:blipFill>
        <p:spPr>
          <a:xfrm>
            <a:off x="5762911" y="5137550"/>
            <a:ext cx="85725" cy="95250"/>
          </a:xfrm>
          <a:prstGeom prst="rect">
            <a:avLst/>
          </a:prstGeom>
        </p:spPr>
      </p:pic>
      <p:pic>
        <p:nvPicPr>
          <p:cNvPr id="102" name="Picture 101">
            <a:extLst>
              <a:ext uri="{FF2B5EF4-FFF2-40B4-BE49-F238E27FC236}">
                <a16:creationId xmlns:a16="http://schemas.microsoft.com/office/drawing/2014/main" id="{A337F524-46D9-43D8-9740-DC7934E3B692}"/>
              </a:ext>
            </a:extLst>
          </p:cNvPr>
          <p:cNvPicPr>
            <a:picLocks noChangeAspect="1"/>
          </p:cNvPicPr>
          <p:nvPr/>
        </p:nvPicPr>
        <p:blipFill>
          <a:blip r:embed="rId11"/>
          <a:stretch>
            <a:fillRect/>
          </a:stretch>
        </p:blipFill>
        <p:spPr>
          <a:xfrm>
            <a:off x="6002851" y="4739420"/>
            <a:ext cx="85725" cy="95250"/>
          </a:xfrm>
          <a:prstGeom prst="rect">
            <a:avLst/>
          </a:prstGeom>
        </p:spPr>
      </p:pic>
      <p:pic>
        <p:nvPicPr>
          <p:cNvPr id="103" name="Picture 102">
            <a:extLst>
              <a:ext uri="{FF2B5EF4-FFF2-40B4-BE49-F238E27FC236}">
                <a16:creationId xmlns:a16="http://schemas.microsoft.com/office/drawing/2014/main" id="{219EA34D-96F8-4A8E-857F-670FE5FFBFC2}"/>
              </a:ext>
            </a:extLst>
          </p:cNvPr>
          <p:cNvPicPr>
            <a:picLocks noChangeAspect="1"/>
          </p:cNvPicPr>
          <p:nvPr/>
        </p:nvPicPr>
        <p:blipFill>
          <a:blip r:embed="rId11"/>
          <a:stretch>
            <a:fillRect/>
          </a:stretch>
        </p:blipFill>
        <p:spPr>
          <a:xfrm>
            <a:off x="6054243" y="5052137"/>
            <a:ext cx="85725" cy="95250"/>
          </a:xfrm>
          <a:prstGeom prst="rect">
            <a:avLst/>
          </a:prstGeom>
        </p:spPr>
      </p:pic>
      <p:pic>
        <p:nvPicPr>
          <p:cNvPr id="104" name="Picture 103">
            <a:extLst>
              <a:ext uri="{FF2B5EF4-FFF2-40B4-BE49-F238E27FC236}">
                <a16:creationId xmlns:a16="http://schemas.microsoft.com/office/drawing/2014/main" id="{BE96D58F-6153-4010-B4BC-A4DCDFD19043}"/>
              </a:ext>
            </a:extLst>
          </p:cNvPr>
          <p:cNvPicPr>
            <a:picLocks noChangeAspect="1"/>
          </p:cNvPicPr>
          <p:nvPr/>
        </p:nvPicPr>
        <p:blipFill>
          <a:blip r:embed="rId11"/>
          <a:stretch>
            <a:fillRect/>
          </a:stretch>
        </p:blipFill>
        <p:spPr>
          <a:xfrm>
            <a:off x="6206643" y="5204537"/>
            <a:ext cx="85725" cy="95250"/>
          </a:xfrm>
          <a:prstGeom prst="rect">
            <a:avLst/>
          </a:prstGeom>
        </p:spPr>
      </p:pic>
      <p:pic>
        <p:nvPicPr>
          <p:cNvPr id="105" name="Picture 104">
            <a:extLst>
              <a:ext uri="{FF2B5EF4-FFF2-40B4-BE49-F238E27FC236}">
                <a16:creationId xmlns:a16="http://schemas.microsoft.com/office/drawing/2014/main" id="{4E5EEDEF-C1FC-44CA-8D33-10D0C7A84A8C}"/>
              </a:ext>
            </a:extLst>
          </p:cNvPr>
          <p:cNvPicPr>
            <a:picLocks noChangeAspect="1"/>
          </p:cNvPicPr>
          <p:nvPr/>
        </p:nvPicPr>
        <p:blipFill>
          <a:blip r:embed="rId11"/>
          <a:stretch>
            <a:fillRect/>
          </a:stretch>
        </p:blipFill>
        <p:spPr>
          <a:xfrm>
            <a:off x="6268294" y="4792371"/>
            <a:ext cx="85725" cy="95250"/>
          </a:xfrm>
          <a:prstGeom prst="rect">
            <a:avLst/>
          </a:prstGeom>
        </p:spPr>
      </p:pic>
      <p:pic>
        <p:nvPicPr>
          <p:cNvPr id="106" name="Picture 105">
            <a:extLst>
              <a:ext uri="{FF2B5EF4-FFF2-40B4-BE49-F238E27FC236}">
                <a16:creationId xmlns:a16="http://schemas.microsoft.com/office/drawing/2014/main" id="{A85E95D9-6FAB-4EF3-B5E0-391F10D90E76}"/>
              </a:ext>
            </a:extLst>
          </p:cNvPr>
          <p:cNvPicPr>
            <a:picLocks noChangeAspect="1"/>
          </p:cNvPicPr>
          <p:nvPr/>
        </p:nvPicPr>
        <p:blipFill>
          <a:blip r:embed="rId11"/>
          <a:stretch>
            <a:fillRect/>
          </a:stretch>
        </p:blipFill>
        <p:spPr>
          <a:xfrm>
            <a:off x="6420694" y="4944771"/>
            <a:ext cx="85725" cy="95250"/>
          </a:xfrm>
          <a:prstGeom prst="rect">
            <a:avLst/>
          </a:prstGeom>
        </p:spPr>
      </p:pic>
      <p:pic>
        <p:nvPicPr>
          <p:cNvPr id="107" name="Picture 106">
            <a:extLst>
              <a:ext uri="{FF2B5EF4-FFF2-40B4-BE49-F238E27FC236}">
                <a16:creationId xmlns:a16="http://schemas.microsoft.com/office/drawing/2014/main" id="{F40AFA85-D142-4C90-BFD2-D53374F4BCA6}"/>
              </a:ext>
            </a:extLst>
          </p:cNvPr>
          <p:cNvPicPr>
            <a:picLocks noChangeAspect="1"/>
          </p:cNvPicPr>
          <p:nvPr/>
        </p:nvPicPr>
        <p:blipFill>
          <a:blip r:embed="rId11"/>
          <a:stretch>
            <a:fillRect/>
          </a:stretch>
        </p:blipFill>
        <p:spPr>
          <a:xfrm>
            <a:off x="6364903" y="4985306"/>
            <a:ext cx="85725" cy="95250"/>
          </a:xfrm>
          <a:prstGeom prst="rect">
            <a:avLst/>
          </a:prstGeom>
        </p:spPr>
      </p:pic>
      <p:pic>
        <p:nvPicPr>
          <p:cNvPr id="108" name="Picture 107">
            <a:extLst>
              <a:ext uri="{FF2B5EF4-FFF2-40B4-BE49-F238E27FC236}">
                <a16:creationId xmlns:a16="http://schemas.microsoft.com/office/drawing/2014/main" id="{83DCCC12-8AD8-44D0-AEEB-5A77A90B792D}"/>
              </a:ext>
            </a:extLst>
          </p:cNvPr>
          <p:cNvPicPr>
            <a:picLocks noChangeAspect="1"/>
          </p:cNvPicPr>
          <p:nvPr/>
        </p:nvPicPr>
        <p:blipFill>
          <a:blip r:embed="rId11"/>
          <a:stretch>
            <a:fillRect/>
          </a:stretch>
        </p:blipFill>
        <p:spPr>
          <a:xfrm>
            <a:off x="6517303" y="5137706"/>
            <a:ext cx="85725" cy="95250"/>
          </a:xfrm>
          <a:prstGeom prst="rect">
            <a:avLst/>
          </a:prstGeom>
        </p:spPr>
      </p:pic>
      <p:pic>
        <p:nvPicPr>
          <p:cNvPr id="109" name="Picture 108">
            <a:extLst>
              <a:ext uri="{FF2B5EF4-FFF2-40B4-BE49-F238E27FC236}">
                <a16:creationId xmlns:a16="http://schemas.microsoft.com/office/drawing/2014/main" id="{B695F964-692F-4342-869D-2A3E594D352F}"/>
              </a:ext>
            </a:extLst>
          </p:cNvPr>
          <p:cNvPicPr>
            <a:picLocks noChangeAspect="1"/>
          </p:cNvPicPr>
          <p:nvPr/>
        </p:nvPicPr>
        <p:blipFill>
          <a:blip r:embed="rId11"/>
          <a:stretch>
            <a:fillRect/>
          </a:stretch>
        </p:blipFill>
        <p:spPr>
          <a:xfrm>
            <a:off x="6603702" y="5097760"/>
            <a:ext cx="85725" cy="95250"/>
          </a:xfrm>
          <a:prstGeom prst="rect">
            <a:avLst/>
          </a:prstGeom>
        </p:spPr>
      </p:pic>
      <p:pic>
        <p:nvPicPr>
          <p:cNvPr id="110" name="Picture 109">
            <a:extLst>
              <a:ext uri="{FF2B5EF4-FFF2-40B4-BE49-F238E27FC236}">
                <a16:creationId xmlns:a16="http://schemas.microsoft.com/office/drawing/2014/main" id="{AC8BD941-8B1C-4198-8DDC-D7660E00AFE4}"/>
              </a:ext>
            </a:extLst>
          </p:cNvPr>
          <p:cNvPicPr>
            <a:picLocks noChangeAspect="1"/>
          </p:cNvPicPr>
          <p:nvPr/>
        </p:nvPicPr>
        <p:blipFill>
          <a:blip r:embed="rId11"/>
          <a:stretch>
            <a:fillRect/>
          </a:stretch>
        </p:blipFill>
        <p:spPr>
          <a:xfrm>
            <a:off x="6801215" y="4787045"/>
            <a:ext cx="85725" cy="95250"/>
          </a:xfrm>
          <a:prstGeom prst="rect">
            <a:avLst/>
          </a:prstGeom>
        </p:spPr>
      </p:pic>
      <p:pic>
        <p:nvPicPr>
          <p:cNvPr id="111" name="Picture 110">
            <a:extLst>
              <a:ext uri="{FF2B5EF4-FFF2-40B4-BE49-F238E27FC236}">
                <a16:creationId xmlns:a16="http://schemas.microsoft.com/office/drawing/2014/main" id="{24653680-AAFE-4982-8E0B-01129494875C}"/>
              </a:ext>
            </a:extLst>
          </p:cNvPr>
          <p:cNvPicPr>
            <a:picLocks noChangeAspect="1"/>
          </p:cNvPicPr>
          <p:nvPr/>
        </p:nvPicPr>
        <p:blipFill>
          <a:blip r:embed="rId11"/>
          <a:stretch>
            <a:fillRect/>
          </a:stretch>
        </p:blipFill>
        <p:spPr>
          <a:xfrm>
            <a:off x="6953615" y="4939445"/>
            <a:ext cx="85725" cy="95250"/>
          </a:xfrm>
          <a:prstGeom prst="rect">
            <a:avLst/>
          </a:prstGeom>
        </p:spPr>
      </p:pic>
      <p:pic>
        <p:nvPicPr>
          <p:cNvPr id="112" name="Picture 111">
            <a:extLst>
              <a:ext uri="{FF2B5EF4-FFF2-40B4-BE49-F238E27FC236}">
                <a16:creationId xmlns:a16="http://schemas.microsoft.com/office/drawing/2014/main" id="{2BEA91B0-27AA-417F-95CB-7E11B8836135}"/>
              </a:ext>
            </a:extLst>
          </p:cNvPr>
          <p:cNvPicPr>
            <a:picLocks noChangeAspect="1"/>
          </p:cNvPicPr>
          <p:nvPr/>
        </p:nvPicPr>
        <p:blipFill>
          <a:blip r:embed="rId11"/>
          <a:stretch>
            <a:fillRect/>
          </a:stretch>
        </p:blipFill>
        <p:spPr>
          <a:xfrm>
            <a:off x="6872984" y="5118656"/>
            <a:ext cx="85725" cy="95250"/>
          </a:xfrm>
          <a:prstGeom prst="rect">
            <a:avLst/>
          </a:prstGeom>
        </p:spPr>
      </p:pic>
      <p:pic>
        <p:nvPicPr>
          <p:cNvPr id="113" name="Picture 112">
            <a:extLst>
              <a:ext uri="{FF2B5EF4-FFF2-40B4-BE49-F238E27FC236}">
                <a16:creationId xmlns:a16="http://schemas.microsoft.com/office/drawing/2014/main" id="{CE6113C5-087E-4688-A506-7250F75E3C52}"/>
              </a:ext>
            </a:extLst>
          </p:cNvPr>
          <p:cNvPicPr>
            <a:picLocks noChangeAspect="1"/>
          </p:cNvPicPr>
          <p:nvPr/>
        </p:nvPicPr>
        <p:blipFill>
          <a:blip r:embed="rId11"/>
          <a:stretch>
            <a:fillRect/>
          </a:stretch>
        </p:blipFill>
        <p:spPr>
          <a:xfrm>
            <a:off x="7146478" y="5039902"/>
            <a:ext cx="85725" cy="95250"/>
          </a:xfrm>
          <a:prstGeom prst="rect">
            <a:avLst/>
          </a:prstGeom>
        </p:spPr>
      </p:pic>
      <p:pic>
        <p:nvPicPr>
          <p:cNvPr id="114" name="Picture 113">
            <a:extLst>
              <a:ext uri="{FF2B5EF4-FFF2-40B4-BE49-F238E27FC236}">
                <a16:creationId xmlns:a16="http://schemas.microsoft.com/office/drawing/2014/main" id="{5F39510B-0285-4A28-991A-D5A215E6A5ED}"/>
              </a:ext>
            </a:extLst>
          </p:cNvPr>
          <p:cNvPicPr>
            <a:picLocks noChangeAspect="1"/>
          </p:cNvPicPr>
          <p:nvPr/>
        </p:nvPicPr>
        <p:blipFill>
          <a:blip r:embed="rId11"/>
          <a:stretch>
            <a:fillRect/>
          </a:stretch>
        </p:blipFill>
        <p:spPr>
          <a:xfrm>
            <a:off x="7022578" y="4608827"/>
            <a:ext cx="85725" cy="95250"/>
          </a:xfrm>
          <a:prstGeom prst="rect">
            <a:avLst/>
          </a:prstGeom>
        </p:spPr>
      </p:pic>
      <p:pic>
        <p:nvPicPr>
          <p:cNvPr id="115" name="Picture 114">
            <a:extLst>
              <a:ext uri="{FF2B5EF4-FFF2-40B4-BE49-F238E27FC236}">
                <a16:creationId xmlns:a16="http://schemas.microsoft.com/office/drawing/2014/main" id="{1BF2145E-54D7-40C6-A040-9E7E8C225C09}"/>
              </a:ext>
            </a:extLst>
          </p:cNvPr>
          <p:cNvPicPr>
            <a:picLocks noChangeAspect="1"/>
          </p:cNvPicPr>
          <p:nvPr/>
        </p:nvPicPr>
        <p:blipFill>
          <a:blip r:embed="rId11"/>
          <a:stretch>
            <a:fillRect/>
          </a:stretch>
        </p:blipFill>
        <p:spPr>
          <a:xfrm>
            <a:off x="7174978" y="4761227"/>
            <a:ext cx="85725" cy="95250"/>
          </a:xfrm>
          <a:prstGeom prst="rect">
            <a:avLst/>
          </a:prstGeom>
        </p:spPr>
      </p:pic>
      <p:pic>
        <p:nvPicPr>
          <p:cNvPr id="116" name="Picture 115">
            <a:extLst>
              <a:ext uri="{FF2B5EF4-FFF2-40B4-BE49-F238E27FC236}">
                <a16:creationId xmlns:a16="http://schemas.microsoft.com/office/drawing/2014/main" id="{B8AF48EA-B9FB-4DBD-8180-23D7B0186E71}"/>
              </a:ext>
            </a:extLst>
          </p:cNvPr>
          <p:cNvPicPr>
            <a:picLocks noChangeAspect="1"/>
          </p:cNvPicPr>
          <p:nvPr/>
        </p:nvPicPr>
        <p:blipFill>
          <a:blip r:embed="rId11"/>
          <a:stretch>
            <a:fillRect/>
          </a:stretch>
        </p:blipFill>
        <p:spPr>
          <a:xfrm>
            <a:off x="7043713" y="4358367"/>
            <a:ext cx="85725" cy="95250"/>
          </a:xfrm>
          <a:prstGeom prst="rect">
            <a:avLst/>
          </a:prstGeom>
        </p:spPr>
      </p:pic>
      <p:pic>
        <p:nvPicPr>
          <p:cNvPr id="117" name="Picture 116">
            <a:extLst>
              <a:ext uri="{FF2B5EF4-FFF2-40B4-BE49-F238E27FC236}">
                <a16:creationId xmlns:a16="http://schemas.microsoft.com/office/drawing/2014/main" id="{23E4DBEF-2B17-46B4-98BD-1337EBDD812D}"/>
              </a:ext>
            </a:extLst>
          </p:cNvPr>
          <p:cNvPicPr>
            <a:picLocks noChangeAspect="1"/>
          </p:cNvPicPr>
          <p:nvPr/>
        </p:nvPicPr>
        <p:blipFill>
          <a:blip r:embed="rId11"/>
          <a:stretch>
            <a:fillRect/>
          </a:stretch>
        </p:blipFill>
        <p:spPr>
          <a:xfrm>
            <a:off x="7327631" y="4844096"/>
            <a:ext cx="85725" cy="95250"/>
          </a:xfrm>
          <a:prstGeom prst="rect">
            <a:avLst/>
          </a:prstGeom>
        </p:spPr>
      </p:pic>
      <p:pic>
        <p:nvPicPr>
          <p:cNvPr id="118" name="Picture 117">
            <a:extLst>
              <a:ext uri="{FF2B5EF4-FFF2-40B4-BE49-F238E27FC236}">
                <a16:creationId xmlns:a16="http://schemas.microsoft.com/office/drawing/2014/main" id="{76DD1679-39E7-434A-83A2-7FC472CB386E}"/>
              </a:ext>
            </a:extLst>
          </p:cNvPr>
          <p:cNvPicPr>
            <a:picLocks noChangeAspect="1"/>
          </p:cNvPicPr>
          <p:nvPr/>
        </p:nvPicPr>
        <p:blipFill>
          <a:blip r:embed="rId11"/>
          <a:stretch>
            <a:fillRect/>
          </a:stretch>
        </p:blipFill>
        <p:spPr>
          <a:xfrm>
            <a:off x="7278764" y="5021974"/>
            <a:ext cx="85725" cy="95250"/>
          </a:xfrm>
          <a:prstGeom prst="rect">
            <a:avLst/>
          </a:prstGeom>
        </p:spPr>
      </p:pic>
      <p:pic>
        <p:nvPicPr>
          <p:cNvPr id="119" name="Picture 118">
            <a:extLst>
              <a:ext uri="{FF2B5EF4-FFF2-40B4-BE49-F238E27FC236}">
                <a16:creationId xmlns:a16="http://schemas.microsoft.com/office/drawing/2014/main" id="{6CC54B7F-6EAB-4C4F-8E5D-1CA248401F00}"/>
              </a:ext>
            </a:extLst>
          </p:cNvPr>
          <p:cNvPicPr>
            <a:picLocks noChangeAspect="1"/>
          </p:cNvPicPr>
          <p:nvPr/>
        </p:nvPicPr>
        <p:blipFill>
          <a:blip r:embed="rId11"/>
          <a:stretch>
            <a:fillRect/>
          </a:stretch>
        </p:blipFill>
        <p:spPr>
          <a:xfrm>
            <a:off x="7361891" y="5172936"/>
            <a:ext cx="85725" cy="95250"/>
          </a:xfrm>
          <a:prstGeom prst="rect">
            <a:avLst/>
          </a:prstGeom>
        </p:spPr>
      </p:pic>
      <p:pic>
        <p:nvPicPr>
          <p:cNvPr id="120" name="Picture 119">
            <a:extLst>
              <a:ext uri="{FF2B5EF4-FFF2-40B4-BE49-F238E27FC236}">
                <a16:creationId xmlns:a16="http://schemas.microsoft.com/office/drawing/2014/main" id="{254A2A5D-5B97-49B3-8FC5-CC98ABCA9041}"/>
              </a:ext>
            </a:extLst>
          </p:cNvPr>
          <p:cNvPicPr>
            <a:picLocks noChangeAspect="1"/>
          </p:cNvPicPr>
          <p:nvPr/>
        </p:nvPicPr>
        <p:blipFill>
          <a:blip r:embed="rId11"/>
          <a:stretch>
            <a:fillRect/>
          </a:stretch>
        </p:blipFill>
        <p:spPr>
          <a:xfrm>
            <a:off x="7595429" y="4783428"/>
            <a:ext cx="85725" cy="95250"/>
          </a:xfrm>
          <a:prstGeom prst="rect">
            <a:avLst/>
          </a:prstGeom>
        </p:spPr>
      </p:pic>
      <p:pic>
        <p:nvPicPr>
          <p:cNvPr id="121" name="Picture 120">
            <a:extLst>
              <a:ext uri="{FF2B5EF4-FFF2-40B4-BE49-F238E27FC236}">
                <a16:creationId xmlns:a16="http://schemas.microsoft.com/office/drawing/2014/main" id="{AD4CA1D2-3359-4D9E-8AB0-536BB9E3DD1B}"/>
              </a:ext>
            </a:extLst>
          </p:cNvPr>
          <p:cNvPicPr>
            <a:picLocks noChangeAspect="1"/>
          </p:cNvPicPr>
          <p:nvPr/>
        </p:nvPicPr>
        <p:blipFill>
          <a:blip r:embed="rId11"/>
          <a:stretch>
            <a:fillRect/>
          </a:stretch>
        </p:blipFill>
        <p:spPr>
          <a:xfrm>
            <a:off x="7260703" y="4510767"/>
            <a:ext cx="85725" cy="95250"/>
          </a:xfrm>
          <a:prstGeom prst="rect">
            <a:avLst/>
          </a:prstGeom>
        </p:spPr>
      </p:pic>
      <p:pic>
        <p:nvPicPr>
          <p:cNvPr id="122" name="Picture 121">
            <a:extLst>
              <a:ext uri="{FF2B5EF4-FFF2-40B4-BE49-F238E27FC236}">
                <a16:creationId xmlns:a16="http://schemas.microsoft.com/office/drawing/2014/main" id="{767FE8E9-90BC-43CD-B277-4B01631FB67D}"/>
              </a:ext>
            </a:extLst>
          </p:cNvPr>
          <p:cNvPicPr>
            <a:picLocks noChangeAspect="1"/>
          </p:cNvPicPr>
          <p:nvPr/>
        </p:nvPicPr>
        <p:blipFill>
          <a:blip r:embed="rId11"/>
          <a:stretch>
            <a:fillRect/>
          </a:stretch>
        </p:blipFill>
        <p:spPr>
          <a:xfrm>
            <a:off x="7413103" y="4663167"/>
            <a:ext cx="85725" cy="95250"/>
          </a:xfrm>
          <a:prstGeom prst="rect">
            <a:avLst/>
          </a:prstGeom>
        </p:spPr>
      </p:pic>
      <p:pic>
        <p:nvPicPr>
          <p:cNvPr id="123" name="Picture 122">
            <a:extLst>
              <a:ext uri="{FF2B5EF4-FFF2-40B4-BE49-F238E27FC236}">
                <a16:creationId xmlns:a16="http://schemas.microsoft.com/office/drawing/2014/main" id="{C927D6A6-03D9-48AD-9189-3070AA21697C}"/>
              </a:ext>
            </a:extLst>
          </p:cNvPr>
          <p:cNvPicPr>
            <a:picLocks noChangeAspect="1"/>
          </p:cNvPicPr>
          <p:nvPr/>
        </p:nvPicPr>
        <p:blipFill>
          <a:blip r:embed="rId11"/>
          <a:stretch>
            <a:fillRect/>
          </a:stretch>
        </p:blipFill>
        <p:spPr>
          <a:xfrm>
            <a:off x="7565683" y="5025167"/>
            <a:ext cx="85725" cy="95250"/>
          </a:xfrm>
          <a:prstGeom prst="rect">
            <a:avLst/>
          </a:prstGeom>
        </p:spPr>
      </p:pic>
      <p:pic>
        <p:nvPicPr>
          <p:cNvPr id="124" name="Picture 123">
            <a:extLst>
              <a:ext uri="{FF2B5EF4-FFF2-40B4-BE49-F238E27FC236}">
                <a16:creationId xmlns:a16="http://schemas.microsoft.com/office/drawing/2014/main" id="{D2000DBD-B349-4F47-850D-B03067E689ED}"/>
              </a:ext>
            </a:extLst>
          </p:cNvPr>
          <p:cNvPicPr>
            <a:picLocks noChangeAspect="1"/>
          </p:cNvPicPr>
          <p:nvPr/>
        </p:nvPicPr>
        <p:blipFill>
          <a:blip r:embed="rId11"/>
          <a:stretch>
            <a:fillRect/>
          </a:stretch>
        </p:blipFill>
        <p:spPr>
          <a:xfrm>
            <a:off x="7851223" y="5047300"/>
            <a:ext cx="85725" cy="95250"/>
          </a:xfrm>
          <a:prstGeom prst="rect">
            <a:avLst/>
          </a:prstGeom>
        </p:spPr>
      </p:pic>
      <p:pic>
        <p:nvPicPr>
          <p:cNvPr id="125" name="Picture 124">
            <a:extLst>
              <a:ext uri="{FF2B5EF4-FFF2-40B4-BE49-F238E27FC236}">
                <a16:creationId xmlns:a16="http://schemas.microsoft.com/office/drawing/2014/main" id="{969D96CC-0E40-44B5-9DCD-652B97349A7B}"/>
              </a:ext>
            </a:extLst>
          </p:cNvPr>
          <p:cNvPicPr>
            <a:picLocks noChangeAspect="1"/>
          </p:cNvPicPr>
          <p:nvPr/>
        </p:nvPicPr>
        <p:blipFill>
          <a:blip r:embed="rId11"/>
          <a:stretch>
            <a:fillRect/>
          </a:stretch>
        </p:blipFill>
        <p:spPr>
          <a:xfrm>
            <a:off x="7515599" y="4584476"/>
            <a:ext cx="85725" cy="95250"/>
          </a:xfrm>
          <a:prstGeom prst="rect">
            <a:avLst/>
          </a:prstGeom>
        </p:spPr>
      </p:pic>
      <p:pic>
        <p:nvPicPr>
          <p:cNvPr id="126" name="Picture 125">
            <a:extLst>
              <a:ext uri="{FF2B5EF4-FFF2-40B4-BE49-F238E27FC236}">
                <a16:creationId xmlns:a16="http://schemas.microsoft.com/office/drawing/2014/main" id="{28922FD0-2A35-451D-8792-76BD64C866F6}"/>
              </a:ext>
            </a:extLst>
          </p:cNvPr>
          <p:cNvPicPr>
            <a:picLocks noChangeAspect="1"/>
          </p:cNvPicPr>
          <p:nvPr/>
        </p:nvPicPr>
        <p:blipFill>
          <a:blip r:embed="rId11"/>
          <a:stretch>
            <a:fillRect/>
          </a:stretch>
        </p:blipFill>
        <p:spPr>
          <a:xfrm>
            <a:off x="7706656" y="4417318"/>
            <a:ext cx="85725" cy="95250"/>
          </a:xfrm>
          <a:prstGeom prst="rect">
            <a:avLst/>
          </a:prstGeom>
        </p:spPr>
      </p:pic>
      <p:pic>
        <p:nvPicPr>
          <p:cNvPr id="127" name="Picture 126">
            <a:extLst>
              <a:ext uri="{FF2B5EF4-FFF2-40B4-BE49-F238E27FC236}">
                <a16:creationId xmlns:a16="http://schemas.microsoft.com/office/drawing/2014/main" id="{3ECE14C7-B086-4421-8A96-370F6A8B5FFD}"/>
              </a:ext>
            </a:extLst>
          </p:cNvPr>
          <p:cNvPicPr>
            <a:picLocks noChangeAspect="1"/>
          </p:cNvPicPr>
          <p:nvPr/>
        </p:nvPicPr>
        <p:blipFill>
          <a:blip r:embed="rId11"/>
          <a:stretch>
            <a:fillRect/>
          </a:stretch>
        </p:blipFill>
        <p:spPr>
          <a:xfrm>
            <a:off x="7876968" y="4257827"/>
            <a:ext cx="85725" cy="95250"/>
          </a:xfrm>
          <a:prstGeom prst="rect">
            <a:avLst/>
          </a:prstGeom>
        </p:spPr>
      </p:pic>
      <p:pic>
        <p:nvPicPr>
          <p:cNvPr id="128" name="Picture 127">
            <a:extLst>
              <a:ext uri="{FF2B5EF4-FFF2-40B4-BE49-F238E27FC236}">
                <a16:creationId xmlns:a16="http://schemas.microsoft.com/office/drawing/2014/main" id="{0D9FBACC-E2EC-458A-917D-A5E495D47355}"/>
              </a:ext>
            </a:extLst>
          </p:cNvPr>
          <p:cNvPicPr>
            <a:picLocks noChangeAspect="1"/>
          </p:cNvPicPr>
          <p:nvPr/>
        </p:nvPicPr>
        <p:blipFill>
          <a:blip r:embed="rId11"/>
          <a:stretch>
            <a:fillRect/>
          </a:stretch>
        </p:blipFill>
        <p:spPr>
          <a:xfrm>
            <a:off x="7798307" y="4752099"/>
            <a:ext cx="85725" cy="95250"/>
          </a:xfrm>
          <a:prstGeom prst="rect">
            <a:avLst/>
          </a:prstGeom>
        </p:spPr>
      </p:pic>
      <p:pic>
        <p:nvPicPr>
          <p:cNvPr id="129" name="Picture 128">
            <a:extLst>
              <a:ext uri="{FF2B5EF4-FFF2-40B4-BE49-F238E27FC236}">
                <a16:creationId xmlns:a16="http://schemas.microsoft.com/office/drawing/2014/main" id="{E2BBE494-A396-4894-BAD8-E199E962D3DB}"/>
              </a:ext>
            </a:extLst>
          </p:cNvPr>
          <p:cNvPicPr>
            <a:picLocks noChangeAspect="1"/>
          </p:cNvPicPr>
          <p:nvPr/>
        </p:nvPicPr>
        <p:blipFill>
          <a:blip r:embed="rId9"/>
          <a:stretch>
            <a:fillRect/>
          </a:stretch>
        </p:blipFill>
        <p:spPr>
          <a:xfrm>
            <a:off x="5700377" y="3960071"/>
            <a:ext cx="114300" cy="95250"/>
          </a:xfrm>
          <a:prstGeom prst="rect">
            <a:avLst/>
          </a:prstGeom>
        </p:spPr>
      </p:pic>
      <p:pic>
        <p:nvPicPr>
          <p:cNvPr id="130" name="Picture 129">
            <a:extLst>
              <a:ext uri="{FF2B5EF4-FFF2-40B4-BE49-F238E27FC236}">
                <a16:creationId xmlns:a16="http://schemas.microsoft.com/office/drawing/2014/main" id="{7FF0F9AF-36EE-471E-9C72-A12BBA131519}"/>
              </a:ext>
            </a:extLst>
          </p:cNvPr>
          <p:cNvPicPr>
            <a:picLocks noChangeAspect="1"/>
          </p:cNvPicPr>
          <p:nvPr/>
        </p:nvPicPr>
        <p:blipFill>
          <a:blip r:embed="rId9"/>
          <a:stretch>
            <a:fillRect/>
          </a:stretch>
        </p:blipFill>
        <p:spPr>
          <a:xfrm>
            <a:off x="6545878" y="4174600"/>
            <a:ext cx="114300" cy="95250"/>
          </a:xfrm>
          <a:prstGeom prst="rect">
            <a:avLst/>
          </a:prstGeom>
        </p:spPr>
      </p:pic>
      <p:pic>
        <p:nvPicPr>
          <p:cNvPr id="131" name="Picture 130">
            <a:extLst>
              <a:ext uri="{FF2B5EF4-FFF2-40B4-BE49-F238E27FC236}">
                <a16:creationId xmlns:a16="http://schemas.microsoft.com/office/drawing/2014/main" id="{D202EBBC-FDCE-4A8D-A4EA-3ACF00AEF1D4}"/>
              </a:ext>
            </a:extLst>
          </p:cNvPr>
          <p:cNvPicPr>
            <a:picLocks noChangeAspect="1"/>
          </p:cNvPicPr>
          <p:nvPr/>
        </p:nvPicPr>
        <p:blipFill>
          <a:blip r:embed="rId9"/>
          <a:stretch>
            <a:fillRect/>
          </a:stretch>
        </p:blipFill>
        <p:spPr>
          <a:xfrm>
            <a:off x="6105226" y="3914875"/>
            <a:ext cx="114300" cy="95250"/>
          </a:xfrm>
          <a:prstGeom prst="rect">
            <a:avLst/>
          </a:prstGeom>
        </p:spPr>
      </p:pic>
      <p:pic>
        <p:nvPicPr>
          <p:cNvPr id="132" name="Picture 131">
            <a:extLst>
              <a:ext uri="{FF2B5EF4-FFF2-40B4-BE49-F238E27FC236}">
                <a16:creationId xmlns:a16="http://schemas.microsoft.com/office/drawing/2014/main" id="{7F37FCF0-5AD3-4FBE-AA2F-FF94A3B0E110}"/>
              </a:ext>
            </a:extLst>
          </p:cNvPr>
          <p:cNvPicPr>
            <a:picLocks noChangeAspect="1"/>
          </p:cNvPicPr>
          <p:nvPr/>
        </p:nvPicPr>
        <p:blipFill>
          <a:blip r:embed="rId9"/>
          <a:stretch>
            <a:fillRect/>
          </a:stretch>
        </p:blipFill>
        <p:spPr>
          <a:xfrm>
            <a:off x="6175621" y="3912446"/>
            <a:ext cx="114300" cy="95250"/>
          </a:xfrm>
          <a:prstGeom prst="rect">
            <a:avLst/>
          </a:prstGeom>
        </p:spPr>
      </p:pic>
      <p:pic>
        <p:nvPicPr>
          <p:cNvPr id="133" name="Picture 132">
            <a:extLst>
              <a:ext uri="{FF2B5EF4-FFF2-40B4-BE49-F238E27FC236}">
                <a16:creationId xmlns:a16="http://schemas.microsoft.com/office/drawing/2014/main" id="{EE447F1C-54A0-47D0-8173-4466792B0DB9}"/>
              </a:ext>
            </a:extLst>
          </p:cNvPr>
          <p:cNvPicPr>
            <a:picLocks noChangeAspect="1"/>
          </p:cNvPicPr>
          <p:nvPr/>
        </p:nvPicPr>
        <p:blipFill>
          <a:blip r:embed="rId9"/>
          <a:stretch>
            <a:fillRect/>
          </a:stretch>
        </p:blipFill>
        <p:spPr>
          <a:xfrm>
            <a:off x="6328021" y="4064846"/>
            <a:ext cx="114300" cy="95250"/>
          </a:xfrm>
          <a:prstGeom prst="rect">
            <a:avLst/>
          </a:prstGeom>
        </p:spPr>
      </p:pic>
      <p:pic>
        <p:nvPicPr>
          <p:cNvPr id="134" name="Picture 133">
            <a:extLst>
              <a:ext uri="{FF2B5EF4-FFF2-40B4-BE49-F238E27FC236}">
                <a16:creationId xmlns:a16="http://schemas.microsoft.com/office/drawing/2014/main" id="{40610E52-DFC7-4E45-B328-05E0651B1815}"/>
              </a:ext>
            </a:extLst>
          </p:cNvPr>
          <p:cNvPicPr>
            <a:picLocks noChangeAspect="1"/>
          </p:cNvPicPr>
          <p:nvPr/>
        </p:nvPicPr>
        <p:blipFill>
          <a:blip r:embed="rId9"/>
          <a:stretch>
            <a:fillRect/>
          </a:stretch>
        </p:blipFill>
        <p:spPr>
          <a:xfrm>
            <a:off x="6460210" y="4325932"/>
            <a:ext cx="114300" cy="95250"/>
          </a:xfrm>
          <a:prstGeom prst="rect">
            <a:avLst/>
          </a:prstGeom>
        </p:spPr>
      </p:pic>
      <p:pic>
        <p:nvPicPr>
          <p:cNvPr id="135" name="Picture 134">
            <a:extLst>
              <a:ext uri="{FF2B5EF4-FFF2-40B4-BE49-F238E27FC236}">
                <a16:creationId xmlns:a16="http://schemas.microsoft.com/office/drawing/2014/main" id="{A5DBA130-1A7A-4B32-8657-E6565BAC53B7}"/>
              </a:ext>
            </a:extLst>
          </p:cNvPr>
          <p:cNvPicPr>
            <a:picLocks noChangeAspect="1"/>
          </p:cNvPicPr>
          <p:nvPr/>
        </p:nvPicPr>
        <p:blipFill>
          <a:blip r:embed="rId9"/>
          <a:stretch>
            <a:fillRect/>
          </a:stretch>
        </p:blipFill>
        <p:spPr>
          <a:xfrm>
            <a:off x="6612610" y="4478332"/>
            <a:ext cx="114300" cy="95250"/>
          </a:xfrm>
          <a:prstGeom prst="rect">
            <a:avLst/>
          </a:prstGeom>
        </p:spPr>
      </p:pic>
      <p:pic>
        <p:nvPicPr>
          <p:cNvPr id="136" name="Picture 135">
            <a:extLst>
              <a:ext uri="{FF2B5EF4-FFF2-40B4-BE49-F238E27FC236}">
                <a16:creationId xmlns:a16="http://schemas.microsoft.com/office/drawing/2014/main" id="{A626974F-9763-47EA-9FC2-56D579023504}"/>
              </a:ext>
            </a:extLst>
          </p:cNvPr>
          <p:cNvPicPr>
            <a:picLocks noChangeAspect="1"/>
          </p:cNvPicPr>
          <p:nvPr/>
        </p:nvPicPr>
        <p:blipFill>
          <a:blip r:embed="rId9"/>
          <a:stretch>
            <a:fillRect/>
          </a:stretch>
        </p:blipFill>
        <p:spPr>
          <a:xfrm>
            <a:off x="6753200" y="4264737"/>
            <a:ext cx="114300" cy="95250"/>
          </a:xfrm>
          <a:prstGeom prst="rect">
            <a:avLst/>
          </a:prstGeom>
        </p:spPr>
      </p:pic>
      <p:pic>
        <p:nvPicPr>
          <p:cNvPr id="137" name="Picture 136">
            <a:extLst>
              <a:ext uri="{FF2B5EF4-FFF2-40B4-BE49-F238E27FC236}">
                <a16:creationId xmlns:a16="http://schemas.microsoft.com/office/drawing/2014/main" id="{9720F015-E72D-4F9E-BB65-CC41A4A8BBDA}"/>
              </a:ext>
            </a:extLst>
          </p:cNvPr>
          <p:cNvPicPr>
            <a:picLocks noChangeAspect="1"/>
          </p:cNvPicPr>
          <p:nvPr/>
        </p:nvPicPr>
        <p:blipFill>
          <a:blip r:embed="rId9"/>
          <a:stretch>
            <a:fillRect/>
          </a:stretch>
        </p:blipFill>
        <p:spPr>
          <a:xfrm>
            <a:off x="6647734" y="3974575"/>
            <a:ext cx="114300" cy="95250"/>
          </a:xfrm>
          <a:prstGeom prst="rect">
            <a:avLst/>
          </a:prstGeom>
        </p:spPr>
      </p:pic>
      <p:pic>
        <p:nvPicPr>
          <p:cNvPr id="138" name="Picture 137">
            <a:extLst>
              <a:ext uri="{FF2B5EF4-FFF2-40B4-BE49-F238E27FC236}">
                <a16:creationId xmlns:a16="http://schemas.microsoft.com/office/drawing/2014/main" id="{99AAB7EB-05D1-4622-A298-B88086F96400}"/>
              </a:ext>
            </a:extLst>
          </p:cNvPr>
          <p:cNvPicPr>
            <a:picLocks noChangeAspect="1"/>
          </p:cNvPicPr>
          <p:nvPr/>
        </p:nvPicPr>
        <p:blipFill>
          <a:blip r:embed="rId9"/>
          <a:stretch>
            <a:fillRect/>
          </a:stretch>
        </p:blipFill>
        <p:spPr>
          <a:xfrm>
            <a:off x="6788209" y="4126975"/>
            <a:ext cx="114300" cy="95250"/>
          </a:xfrm>
          <a:prstGeom prst="rect">
            <a:avLst/>
          </a:prstGeom>
        </p:spPr>
      </p:pic>
      <p:pic>
        <p:nvPicPr>
          <p:cNvPr id="139" name="Picture 138">
            <a:extLst>
              <a:ext uri="{FF2B5EF4-FFF2-40B4-BE49-F238E27FC236}">
                <a16:creationId xmlns:a16="http://schemas.microsoft.com/office/drawing/2014/main" id="{D82DA902-8636-4FD3-B715-2D4DEE2E615D}"/>
              </a:ext>
            </a:extLst>
          </p:cNvPr>
          <p:cNvPicPr>
            <a:picLocks noChangeAspect="1"/>
          </p:cNvPicPr>
          <p:nvPr/>
        </p:nvPicPr>
        <p:blipFill>
          <a:blip r:embed="rId9"/>
          <a:stretch>
            <a:fillRect/>
          </a:stretch>
        </p:blipFill>
        <p:spPr>
          <a:xfrm>
            <a:off x="6418739" y="3806578"/>
            <a:ext cx="114300" cy="95250"/>
          </a:xfrm>
          <a:prstGeom prst="rect">
            <a:avLst/>
          </a:prstGeom>
        </p:spPr>
      </p:pic>
      <p:pic>
        <p:nvPicPr>
          <p:cNvPr id="140" name="Picture 139">
            <a:extLst>
              <a:ext uri="{FF2B5EF4-FFF2-40B4-BE49-F238E27FC236}">
                <a16:creationId xmlns:a16="http://schemas.microsoft.com/office/drawing/2014/main" id="{6EFC8C55-314E-42CB-8CE8-DCDD59C87A3B}"/>
              </a:ext>
            </a:extLst>
          </p:cNvPr>
          <p:cNvPicPr>
            <a:picLocks noChangeAspect="1"/>
          </p:cNvPicPr>
          <p:nvPr/>
        </p:nvPicPr>
        <p:blipFill>
          <a:blip r:embed="rId9"/>
          <a:stretch>
            <a:fillRect/>
          </a:stretch>
        </p:blipFill>
        <p:spPr>
          <a:xfrm>
            <a:off x="6571139" y="3958978"/>
            <a:ext cx="114300" cy="95250"/>
          </a:xfrm>
          <a:prstGeom prst="rect">
            <a:avLst/>
          </a:prstGeom>
        </p:spPr>
      </p:pic>
      <p:pic>
        <p:nvPicPr>
          <p:cNvPr id="141" name="Picture 140">
            <a:extLst>
              <a:ext uri="{FF2B5EF4-FFF2-40B4-BE49-F238E27FC236}">
                <a16:creationId xmlns:a16="http://schemas.microsoft.com/office/drawing/2014/main" id="{BC98BAEF-424C-463F-80BD-86C9CA7D2ADE}"/>
              </a:ext>
            </a:extLst>
          </p:cNvPr>
          <p:cNvPicPr>
            <a:picLocks noChangeAspect="1"/>
          </p:cNvPicPr>
          <p:nvPr/>
        </p:nvPicPr>
        <p:blipFill>
          <a:blip r:embed="rId9"/>
          <a:stretch>
            <a:fillRect/>
          </a:stretch>
        </p:blipFill>
        <p:spPr>
          <a:xfrm>
            <a:off x="7350558" y="4217973"/>
            <a:ext cx="114300" cy="95250"/>
          </a:xfrm>
          <a:prstGeom prst="rect">
            <a:avLst/>
          </a:prstGeom>
        </p:spPr>
      </p:pic>
      <p:pic>
        <p:nvPicPr>
          <p:cNvPr id="142" name="Picture 141">
            <a:extLst>
              <a:ext uri="{FF2B5EF4-FFF2-40B4-BE49-F238E27FC236}">
                <a16:creationId xmlns:a16="http://schemas.microsoft.com/office/drawing/2014/main" id="{74649C4B-E08B-484E-A1D8-1A13371ABF79}"/>
              </a:ext>
            </a:extLst>
          </p:cNvPr>
          <p:cNvPicPr>
            <a:picLocks noChangeAspect="1"/>
          </p:cNvPicPr>
          <p:nvPr/>
        </p:nvPicPr>
        <p:blipFill>
          <a:blip r:embed="rId9"/>
          <a:stretch>
            <a:fillRect/>
          </a:stretch>
        </p:blipFill>
        <p:spPr>
          <a:xfrm>
            <a:off x="7483482" y="4257827"/>
            <a:ext cx="114300" cy="95250"/>
          </a:xfrm>
          <a:prstGeom prst="rect">
            <a:avLst/>
          </a:prstGeom>
        </p:spPr>
      </p:pic>
      <p:pic>
        <p:nvPicPr>
          <p:cNvPr id="143" name="Picture 142">
            <a:extLst>
              <a:ext uri="{FF2B5EF4-FFF2-40B4-BE49-F238E27FC236}">
                <a16:creationId xmlns:a16="http://schemas.microsoft.com/office/drawing/2014/main" id="{F83B9560-290A-4091-B29D-5EDF932AFCD1}"/>
              </a:ext>
            </a:extLst>
          </p:cNvPr>
          <p:cNvPicPr>
            <a:picLocks noChangeAspect="1"/>
          </p:cNvPicPr>
          <p:nvPr/>
        </p:nvPicPr>
        <p:blipFill>
          <a:blip r:embed="rId9"/>
          <a:stretch>
            <a:fillRect/>
          </a:stretch>
        </p:blipFill>
        <p:spPr>
          <a:xfrm>
            <a:off x="7564157" y="4099613"/>
            <a:ext cx="114300" cy="95250"/>
          </a:xfrm>
          <a:prstGeom prst="rect">
            <a:avLst/>
          </a:prstGeom>
        </p:spPr>
      </p:pic>
      <p:pic>
        <p:nvPicPr>
          <p:cNvPr id="144" name="Picture 143">
            <a:extLst>
              <a:ext uri="{FF2B5EF4-FFF2-40B4-BE49-F238E27FC236}">
                <a16:creationId xmlns:a16="http://schemas.microsoft.com/office/drawing/2014/main" id="{07EF8BCE-F0DC-4A19-A863-3B8BC46E9D21}"/>
              </a:ext>
            </a:extLst>
          </p:cNvPr>
          <p:cNvPicPr>
            <a:picLocks noChangeAspect="1"/>
          </p:cNvPicPr>
          <p:nvPr/>
        </p:nvPicPr>
        <p:blipFill>
          <a:blip r:embed="rId9"/>
          <a:stretch>
            <a:fillRect/>
          </a:stretch>
        </p:blipFill>
        <p:spPr>
          <a:xfrm>
            <a:off x="7727398" y="4162577"/>
            <a:ext cx="114300" cy="95250"/>
          </a:xfrm>
          <a:prstGeom prst="rect">
            <a:avLst/>
          </a:prstGeom>
        </p:spPr>
      </p:pic>
      <p:pic>
        <p:nvPicPr>
          <p:cNvPr id="145" name="Picture 144">
            <a:extLst>
              <a:ext uri="{FF2B5EF4-FFF2-40B4-BE49-F238E27FC236}">
                <a16:creationId xmlns:a16="http://schemas.microsoft.com/office/drawing/2014/main" id="{AE6DC955-8121-4971-8CC2-71AB30497B21}"/>
              </a:ext>
            </a:extLst>
          </p:cNvPr>
          <p:cNvPicPr>
            <a:picLocks noChangeAspect="1"/>
          </p:cNvPicPr>
          <p:nvPr/>
        </p:nvPicPr>
        <p:blipFill>
          <a:blip r:embed="rId9"/>
          <a:stretch>
            <a:fillRect/>
          </a:stretch>
        </p:blipFill>
        <p:spPr>
          <a:xfrm>
            <a:off x="6972275" y="3880363"/>
            <a:ext cx="114300" cy="95250"/>
          </a:xfrm>
          <a:prstGeom prst="rect">
            <a:avLst/>
          </a:prstGeom>
        </p:spPr>
      </p:pic>
      <p:pic>
        <p:nvPicPr>
          <p:cNvPr id="146" name="Picture 145">
            <a:extLst>
              <a:ext uri="{FF2B5EF4-FFF2-40B4-BE49-F238E27FC236}">
                <a16:creationId xmlns:a16="http://schemas.microsoft.com/office/drawing/2014/main" id="{DD0E6255-DC18-4CA7-A6F1-54069B5271AA}"/>
              </a:ext>
            </a:extLst>
          </p:cNvPr>
          <p:cNvPicPr>
            <a:picLocks noChangeAspect="1"/>
          </p:cNvPicPr>
          <p:nvPr/>
        </p:nvPicPr>
        <p:blipFill>
          <a:blip r:embed="rId9"/>
          <a:stretch>
            <a:fillRect/>
          </a:stretch>
        </p:blipFill>
        <p:spPr>
          <a:xfrm>
            <a:off x="7124675" y="4032763"/>
            <a:ext cx="114300" cy="95250"/>
          </a:xfrm>
          <a:prstGeom prst="rect">
            <a:avLst/>
          </a:prstGeom>
        </p:spPr>
      </p:pic>
      <p:pic>
        <p:nvPicPr>
          <p:cNvPr id="147" name="Picture 146">
            <a:extLst>
              <a:ext uri="{FF2B5EF4-FFF2-40B4-BE49-F238E27FC236}">
                <a16:creationId xmlns:a16="http://schemas.microsoft.com/office/drawing/2014/main" id="{E352C7EC-6726-4BE7-B449-23DE21E95F0F}"/>
              </a:ext>
            </a:extLst>
          </p:cNvPr>
          <p:cNvPicPr>
            <a:picLocks noChangeAspect="1"/>
          </p:cNvPicPr>
          <p:nvPr/>
        </p:nvPicPr>
        <p:blipFill>
          <a:blip r:embed="rId9"/>
          <a:stretch>
            <a:fillRect/>
          </a:stretch>
        </p:blipFill>
        <p:spPr>
          <a:xfrm>
            <a:off x="7086575" y="4002605"/>
            <a:ext cx="114300" cy="95250"/>
          </a:xfrm>
          <a:prstGeom prst="rect">
            <a:avLst/>
          </a:prstGeom>
        </p:spPr>
      </p:pic>
      <p:pic>
        <p:nvPicPr>
          <p:cNvPr id="148" name="Picture 147">
            <a:extLst>
              <a:ext uri="{FF2B5EF4-FFF2-40B4-BE49-F238E27FC236}">
                <a16:creationId xmlns:a16="http://schemas.microsoft.com/office/drawing/2014/main" id="{A2B7F6EC-01D3-4DF6-A5D7-F42E302A6E6D}"/>
              </a:ext>
            </a:extLst>
          </p:cNvPr>
          <p:cNvPicPr>
            <a:picLocks noChangeAspect="1"/>
          </p:cNvPicPr>
          <p:nvPr/>
        </p:nvPicPr>
        <p:blipFill>
          <a:blip r:embed="rId9"/>
          <a:stretch>
            <a:fillRect/>
          </a:stretch>
        </p:blipFill>
        <p:spPr>
          <a:xfrm>
            <a:off x="7238975" y="4155005"/>
            <a:ext cx="114300" cy="95250"/>
          </a:xfrm>
          <a:prstGeom prst="rect">
            <a:avLst/>
          </a:prstGeom>
        </p:spPr>
      </p:pic>
      <p:pic>
        <p:nvPicPr>
          <p:cNvPr id="149" name="Picture 148">
            <a:extLst>
              <a:ext uri="{FF2B5EF4-FFF2-40B4-BE49-F238E27FC236}">
                <a16:creationId xmlns:a16="http://schemas.microsoft.com/office/drawing/2014/main" id="{7DB6A081-C8CB-4EF5-82E6-6C93EF94C1A8}"/>
              </a:ext>
            </a:extLst>
          </p:cNvPr>
          <p:cNvPicPr>
            <a:picLocks noChangeAspect="1"/>
          </p:cNvPicPr>
          <p:nvPr/>
        </p:nvPicPr>
        <p:blipFill>
          <a:blip r:embed="rId9"/>
          <a:stretch>
            <a:fillRect/>
          </a:stretch>
        </p:blipFill>
        <p:spPr>
          <a:xfrm>
            <a:off x="7388558" y="3925179"/>
            <a:ext cx="114300" cy="95250"/>
          </a:xfrm>
          <a:prstGeom prst="rect">
            <a:avLst/>
          </a:prstGeom>
        </p:spPr>
      </p:pic>
      <p:pic>
        <p:nvPicPr>
          <p:cNvPr id="150" name="Picture 149">
            <a:extLst>
              <a:ext uri="{FF2B5EF4-FFF2-40B4-BE49-F238E27FC236}">
                <a16:creationId xmlns:a16="http://schemas.microsoft.com/office/drawing/2014/main" id="{4D2AC5D1-ADA2-43B1-89A0-DAE53E452FF1}"/>
              </a:ext>
            </a:extLst>
          </p:cNvPr>
          <p:cNvPicPr>
            <a:picLocks noChangeAspect="1"/>
          </p:cNvPicPr>
          <p:nvPr/>
        </p:nvPicPr>
        <p:blipFill>
          <a:blip r:embed="rId9"/>
          <a:stretch>
            <a:fillRect/>
          </a:stretch>
        </p:blipFill>
        <p:spPr>
          <a:xfrm>
            <a:off x="7916494" y="3947177"/>
            <a:ext cx="114300" cy="95250"/>
          </a:xfrm>
          <a:prstGeom prst="rect">
            <a:avLst/>
          </a:prstGeom>
        </p:spPr>
      </p:pic>
      <p:cxnSp>
        <p:nvCxnSpPr>
          <p:cNvPr id="152" name="Straight Connector 151">
            <a:extLst>
              <a:ext uri="{FF2B5EF4-FFF2-40B4-BE49-F238E27FC236}">
                <a16:creationId xmlns:a16="http://schemas.microsoft.com/office/drawing/2014/main" id="{CF3A3259-E044-4DC2-9109-96F82F060F4A}"/>
              </a:ext>
            </a:extLst>
          </p:cNvPr>
          <p:cNvCxnSpPr>
            <a:cxnSpLocks/>
          </p:cNvCxnSpPr>
          <p:nvPr/>
        </p:nvCxnSpPr>
        <p:spPr>
          <a:xfrm>
            <a:off x="5256553" y="3747319"/>
            <a:ext cx="2774241" cy="25718"/>
          </a:xfrm>
          <a:prstGeom prst="line">
            <a:avLst/>
          </a:prstGeom>
          <a:ln w="19050">
            <a:solidFill>
              <a:srgbClr val="7B7D80"/>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5" name="TextBox 154">
                <a:extLst>
                  <a:ext uri="{FF2B5EF4-FFF2-40B4-BE49-F238E27FC236}">
                    <a16:creationId xmlns:a16="http://schemas.microsoft.com/office/drawing/2014/main" id="{78FEAFF3-26AD-4957-9E4E-340D87FC4118}"/>
                  </a:ext>
                </a:extLst>
              </p:cNvPr>
              <p:cNvSpPr txBox="1"/>
              <p:nvPr/>
            </p:nvSpPr>
            <p:spPr>
              <a:xfrm>
                <a:off x="4643198" y="3633709"/>
                <a:ext cx="873887" cy="274320"/>
              </a:xfrm>
              <a:prstGeom prst="rect">
                <a:avLst/>
              </a:prstGeom>
              <a:noFill/>
            </p:spPr>
            <p:txBody>
              <a:bodyPr wrap="none" lIns="0" tIns="0" rIns="0" bIns="0" rtlCol="0">
                <a:noAutofit/>
              </a:bodyPr>
              <a:lstStyle/>
              <a:p>
                <a:pPr/>
                <a14:m>
                  <m:oMathPara xmlns:m="http://schemas.openxmlformats.org/officeDocument/2006/math">
                    <m:oMathParaPr>
                      <m:jc m:val="centerGroup"/>
                    </m:oMathParaPr>
                    <m:oMath xmlns:m="http://schemas.openxmlformats.org/officeDocument/2006/math">
                      <m:r>
                        <m:rPr>
                          <m:sty m:val="p"/>
                        </m:rPr>
                        <a:rPr lang="pl-PL" sz="1400" b="0" i="0" smtClean="0">
                          <a:latin typeface="Cambria Math" panose="02040503050406030204" pitchFamily="18" charset="0"/>
                        </a:rPr>
                        <m:t>h</m:t>
                      </m:r>
                    </m:oMath>
                  </m:oMathPara>
                </a14:m>
                <a:endParaRPr lang="en-GB" sz="1400" dirty="0"/>
              </a:p>
            </p:txBody>
          </p:sp>
        </mc:Choice>
        <mc:Fallback xmlns="">
          <p:sp>
            <p:nvSpPr>
              <p:cNvPr id="155" name="TextBox 154">
                <a:extLst>
                  <a:ext uri="{FF2B5EF4-FFF2-40B4-BE49-F238E27FC236}">
                    <a16:creationId xmlns:a16="http://schemas.microsoft.com/office/drawing/2014/main" id="{78FEAFF3-26AD-4957-9E4E-340D87FC4118}"/>
                  </a:ext>
                </a:extLst>
              </p:cNvPr>
              <p:cNvSpPr txBox="1">
                <a:spLocks noRot="1" noChangeAspect="1" noMove="1" noResize="1" noEditPoints="1" noAdjustHandles="1" noChangeArrowheads="1" noChangeShapeType="1" noTextEdit="1"/>
              </p:cNvSpPr>
              <p:nvPr/>
            </p:nvSpPr>
            <p:spPr>
              <a:xfrm>
                <a:off x="4643198" y="3633709"/>
                <a:ext cx="873887" cy="274320"/>
              </a:xfrm>
              <a:prstGeom prst="rect">
                <a:avLst/>
              </a:prstGeom>
              <a:blipFill>
                <a:blip r:embed="rId19"/>
                <a:stretch>
                  <a:fillRect/>
                </a:stretch>
              </a:blipFill>
            </p:spPr>
            <p:txBody>
              <a:bodyPr/>
              <a:lstStyle/>
              <a:p>
                <a:r>
                  <a:rPr lang="en-GB">
                    <a:noFill/>
                  </a:rPr>
                  <a:t> </a:t>
                </a:r>
              </a:p>
            </p:txBody>
          </p:sp>
        </mc:Fallback>
      </mc:AlternateContent>
      <p:sp>
        <p:nvSpPr>
          <p:cNvPr id="156" name="TextBox 155">
            <a:extLst>
              <a:ext uri="{FF2B5EF4-FFF2-40B4-BE49-F238E27FC236}">
                <a16:creationId xmlns:a16="http://schemas.microsoft.com/office/drawing/2014/main" id="{80E089C8-CA3B-41A2-BF73-A68EE7D3DB75}"/>
              </a:ext>
            </a:extLst>
          </p:cNvPr>
          <p:cNvSpPr txBox="1"/>
          <p:nvPr>
            <p:custDataLst>
              <p:tags r:id="rId6"/>
            </p:custDataLst>
          </p:nvPr>
        </p:nvSpPr>
        <p:spPr>
          <a:xfrm>
            <a:off x="420624" y="1120775"/>
            <a:ext cx="9189720" cy="274320"/>
          </a:xfrm>
          <a:prstGeom prst="rect">
            <a:avLst/>
          </a:prstGeom>
          <a:noFill/>
        </p:spPr>
        <p:txBody>
          <a:bodyPr vert="horz" wrap="square" lIns="0" tIns="0" rIns="0" bIns="0" rtlCol="0" anchor="t">
            <a:noAutofit/>
          </a:bodyPr>
          <a:lstStyle/>
          <a:p>
            <a:pPr eaLnBrk="1">
              <a:spcBef>
                <a:spcPts val="0"/>
              </a:spcBef>
              <a:spcAft>
                <a:spcPts val="600"/>
              </a:spcAft>
            </a:pPr>
            <a:r>
              <a:rPr lang="pl-PL" sz="2000" kern="0" dirty="0">
                <a:solidFill>
                  <a:srgbClr val="464749"/>
                </a:solidFill>
                <a:latin typeface="Frutiger 45 Light" panose="020B0603020202020204" pitchFamily="34" charset="0"/>
              </a:rPr>
              <a:t>Monte Carlo </a:t>
            </a:r>
            <a:r>
              <a:rPr lang="pl-PL" sz="2000" kern="0" dirty="0" err="1">
                <a:solidFill>
                  <a:srgbClr val="464749"/>
                </a:solidFill>
                <a:latin typeface="Frutiger 45 Light" panose="020B0603020202020204" pitchFamily="34" charset="0"/>
              </a:rPr>
              <a:t>methods</a:t>
            </a:r>
            <a:r>
              <a:rPr lang="pl-PL" sz="2000" kern="0" dirty="0">
                <a:solidFill>
                  <a:srgbClr val="464749"/>
                </a:solidFill>
                <a:latin typeface="Frutiger 45 Light" panose="020B0603020202020204" pitchFamily="34" charset="0"/>
              </a:rPr>
              <a:t> - </a:t>
            </a:r>
            <a:r>
              <a:rPr lang="pl-PL" sz="2000" kern="0" dirty="0" err="1">
                <a:solidFill>
                  <a:srgbClr val="464749"/>
                </a:solidFill>
                <a:latin typeface="Frutiger 45 Light" panose="020B0603020202020204" pitchFamily="34" charset="0"/>
              </a:rPr>
              <a:t>introduction</a:t>
            </a:r>
            <a:endParaRPr lang="en-US" sz="2000" kern="0" dirty="0">
              <a:solidFill>
                <a:srgbClr val="464749"/>
              </a:solidFill>
              <a:latin typeface="Frutiger 45 Light" panose="020B0603020202020204" pitchFamily="34" charset="0"/>
            </a:endParaRPr>
          </a:p>
        </p:txBody>
      </p:sp>
    </p:spTree>
    <p:custDataLst>
      <p:tags r:id="rId1"/>
    </p:custDataLst>
    <p:extLst>
      <p:ext uri="{BB962C8B-B14F-4D97-AF65-F5344CB8AC3E}">
        <p14:creationId xmlns:p14="http://schemas.microsoft.com/office/powerpoint/2010/main" val="3311017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8" accel="8000" decel="26000" fill="hold" nodeType="clickEffect">
                                  <p:stCondLst>
                                    <p:cond delay="0"/>
                                  </p:stCondLst>
                                  <p:childTnLst>
                                    <p:set>
                                      <p:cBhvr>
                                        <p:cTn id="18" dur="1" fill="hold">
                                          <p:stCondLst>
                                            <p:cond delay="0"/>
                                          </p:stCondLst>
                                        </p:cTn>
                                        <p:tgtEl>
                                          <p:spTgt spid="61"/>
                                        </p:tgtEl>
                                        <p:attrNameLst>
                                          <p:attrName>style.visibility</p:attrName>
                                        </p:attrNameLst>
                                      </p:cBhvr>
                                      <p:to>
                                        <p:strVal val="visible"/>
                                      </p:to>
                                    </p:set>
                                    <p:anim calcmode="lin" valueType="num">
                                      <p:cBhvr additive="base">
                                        <p:cTn id="19" dur="500" fill="hold"/>
                                        <p:tgtEl>
                                          <p:spTgt spid="61"/>
                                        </p:tgtEl>
                                        <p:attrNameLst>
                                          <p:attrName>ppt_x</p:attrName>
                                        </p:attrNameLst>
                                      </p:cBhvr>
                                      <p:tavLst>
                                        <p:tav tm="0">
                                          <p:val>
                                            <p:strVal val="0-#ppt_w/2"/>
                                          </p:val>
                                        </p:tav>
                                        <p:tav tm="100000">
                                          <p:val>
                                            <p:strVal val="#ppt_x"/>
                                          </p:val>
                                        </p:tav>
                                      </p:tavLst>
                                    </p:anim>
                                    <p:anim calcmode="lin" valueType="num">
                                      <p:cBhvr additive="base">
                                        <p:cTn id="20" dur="500" fill="hold"/>
                                        <p:tgtEl>
                                          <p:spTgt spid="61"/>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decel="56000" fill="hold" nodeType="clickEffect">
                                  <p:stCondLst>
                                    <p:cond delay="0"/>
                                  </p:stCondLst>
                                  <p:childTnLst>
                                    <p:set>
                                      <p:cBhvr>
                                        <p:cTn id="24" dur="1" fill="hold">
                                          <p:stCondLst>
                                            <p:cond delay="0"/>
                                          </p:stCondLst>
                                        </p:cTn>
                                        <p:tgtEl>
                                          <p:spTgt spid="42"/>
                                        </p:tgtEl>
                                        <p:attrNameLst>
                                          <p:attrName>style.visibility</p:attrName>
                                        </p:attrNameLst>
                                      </p:cBhvr>
                                      <p:to>
                                        <p:strVal val="visible"/>
                                      </p:to>
                                    </p:set>
                                    <p:anim calcmode="lin" valueType="num">
                                      <p:cBhvr additive="base">
                                        <p:cTn id="25" dur="500" fill="hold"/>
                                        <p:tgtEl>
                                          <p:spTgt spid="42"/>
                                        </p:tgtEl>
                                        <p:attrNameLst>
                                          <p:attrName>ppt_x</p:attrName>
                                        </p:attrNameLst>
                                      </p:cBhvr>
                                      <p:tavLst>
                                        <p:tav tm="0">
                                          <p:val>
                                            <p:strVal val="0-#ppt_w/2"/>
                                          </p:val>
                                        </p:tav>
                                        <p:tav tm="100000">
                                          <p:val>
                                            <p:strVal val="#ppt_x"/>
                                          </p:val>
                                        </p:tav>
                                      </p:tavLst>
                                    </p:anim>
                                    <p:anim calcmode="lin" valueType="num">
                                      <p:cBhvr additive="base">
                                        <p:cTn id="26" dur="500" fill="hold"/>
                                        <p:tgtEl>
                                          <p:spTgt spid="42"/>
                                        </p:tgtEl>
                                        <p:attrNameLst>
                                          <p:attrName>ppt_y</p:attrName>
                                        </p:attrNameLst>
                                      </p:cBhvr>
                                      <p:tavLst>
                                        <p:tav tm="0">
                                          <p:val>
                                            <p:strVal val="#ppt_y"/>
                                          </p:val>
                                        </p:tav>
                                        <p:tav tm="100000">
                                          <p:val>
                                            <p:strVal val="#ppt_y"/>
                                          </p:val>
                                        </p:tav>
                                      </p:tavLst>
                                    </p:anim>
                                  </p:childTnLst>
                                </p:cTn>
                              </p:par>
                              <p:par>
                                <p:cTn id="27" presetID="2" presetClass="entr" presetSubtype="8" accel="6000" decel="80000" fill="hold" nodeType="withEffect">
                                  <p:stCondLst>
                                    <p:cond delay="0"/>
                                  </p:stCondLst>
                                  <p:childTnLst>
                                    <p:set>
                                      <p:cBhvr>
                                        <p:cTn id="28" dur="1" fill="hold">
                                          <p:stCondLst>
                                            <p:cond delay="0"/>
                                          </p:stCondLst>
                                        </p:cTn>
                                        <p:tgtEl>
                                          <p:spTgt spid="35"/>
                                        </p:tgtEl>
                                        <p:attrNameLst>
                                          <p:attrName>style.visibility</p:attrName>
                                        </p:attrNameLst>
                                      </p:cBhvr>
                                      <p:to>
                                        <p:strVal val="visible"/>
                                      </p:to>
                                    </p:set>
                                    <p:anim calcmode="lin" valueType="num">
                                      <p:cBhvr additive="base">
                                        <p:cTn id="29" dur="500" fill="hold"/>
                                        <p:tgtEl>
                                          <p:spTgt spid="35"/>
                                        </p:tgtEl>
                                        <p:attrNameLst>
                                          <p:attrName>ppt_x</p:attrName>
                                        </p:attrNameLst>
                                      </p:cBhvr>
                                      <p:tavLst>
                                        <p:tav tm="0">
                                          <p:val>
                                            <p:strVal val="0-#ppt_w/2"/>
                                          </p:val>
                                        </p:tav>
                                        <p:tav tm="100000">
                                          <p:val>
                                            <p:strVal val="#ppt_x"/>
                                          </p:val>
                                        </p:tav>
                                      </p:tavLst>
                                    </p:anim>
                                    <p:anim calcmode="lin" valueType="num">
                                      <p:cBhvr additive="base">
                                        <p:cTn id="30" dur="500" fill="hold"/>
                                        <p:tgtEl>
                                          <p:spTgt spid="35"/>
                                        </p:tgtEl>
                                        <p:attrNameLst>
                                          <p:attrName>ppt_y</p:attrName>
                                        </p:attrNameLst>
                                      </p:cBhvr>
                                      <p:tavLst>
                                        <p:tav tm="0">
                                          <p:val>
                                            <p:strVal val="#ppt_y"/>
                                          </p:val>
                                        </p:tav>
                                        <p:tav tm="100000">
                                          <p:val>
                                            <p:strVal val="#ppt_y"/>
                                          </p:val>
                                        </p:tav>
                                      </p:tavLst>
                                    </p:anim>
                                  </p:childTnLst>
                                </p:cTn>
                              </p:par>
                              <p:par>
                                <p:cTn id="31" presetID="2" presetClass="entr" presetSubtype="8" accel="6000" decel="80000" fill="hold" nodeType="withEffect">
                                  <p:stCondLst>
                                    <p:cond delay="0"/>
                                  </p:stCondLst>
                                  <p:childTnLst>
                                    <p:set>
                                      <p:cBhvr>
                                        <p:cTn id="32" dur="1" fill="hold">
                                          <p:stCondLst>
                                            <p:cond delay="0"/>
                                          </p:stCondLst>
                                        </p:cTn>
                                        <p:tgtEl>
                                          <p:spTgt spid="41"/>
                                        </p:tgtEl>
                                        <p:attrNameLst>
                                          <p:attrName>style.visibility</p:attrName>
                                        </p:attrNameLst>
                                      </p:cBhvr>
                                      <p:to>
                                        <p:strVal val="visible"/>
                                      </p:to>
                                    </p:set>
                                    <p:anim calcmode="lin" valueType="num">
                                      <p:cBhvr additive="base">
                                        <p:cTn id="33" dur="500" fill="hold"/>
                                        <p:tgtEl>
                                          <p:spTgt spid="41"/>
                                        </p:tgtEl>
                                        <p:attrNameLst>
                                          <p:attrName>ppt_x</p:attrName>
                                        </p:attrNameLst>
                                      </p:cBhvr>
                                      <p:tavLst>
                                        <p:tav tm="0">
                                          <p:val>
                                            <p:strVal val="0-#ppt_w/2"/>
                                          </p:val>
                                        </p:tav>
                                        <p:tav tm="100000">
                                          <p:val>
                                            <p:strVal val="#ppt_x"/>
                                          </p:val>
                                        </p:tav>
                                      </p:tavLst>
                                    </p:anim>
                                    <p:anim calcmode="lin" valueType="num">
                                      <p:cBhvr additive="base">
                                        <p:cTn id="34" dur="500" fill="hold"/>
                                        <p:tgtEl>
                                          <p:spTgt spid="41"/>
                                        </p:tgtEl>
                                        <p:attrNameLst>
                                          <p:attrName>ppt_y</p:attrName>
                                        </p:attrNameLst>
                                      </p:cBhvr>
                                      <p:tavLst>
                                        <p:tav tm="0">
                                          <p:val>
                                            <p:strVal val="#ppt_y"/>
                                          </p:val>
                                        </p:tav>
                                        <p:tav tm="100000">
                                          <p:val>
                                            <p:strVal val="#ppt_y"/>
                                          </p:val>
                                        </p:tav>
                                      </p:tavLst>
                                    </p:anim>
                                  </p:childTnLst>
                                </p:cTn>
                              </p:par>
                              <p:par>
                                <p:cTn id="35" presetID="2" presetClass="entr" presetSubtype="8" accel="6000" decel="80000" fill="hold" nodeType="withEffect">
                                  <p:stCondLst>
                                    <p:cond delay="0"/>
                                  </p:stCondLst>
                                  <p:childTnLst>
                                    <p:set>
                                      <p:cBhvr>
                                        <p:cTn id="36" dur="1" fill="hold">
                                          <p:stCondLst>
                                            <p:cond delay="0"/>
                                          </p:stCondLst>
                                        </p:cTn>
                                        <p:tgtEl>
                                          <p:spTgt spid="63"/>
                                        </p:tgtEl>
                                        <p:attrNameLst>
                                          <p:attrName>style.visibility</p:attrName>
                                        </p:attrNameLst>
                                      </p:cBhvr>
                                      <p:to>
                                        <p:strVal val="visible"/>
                                      </p:to>
                                    </p:set>
                                    <p:anim calcmode="lin" valueType="num">
                                      <p:cBhvr additive="base">
                                        <p:cTn id="37" dur="500" fill="hold"/>
                                        <p:tgtEl>
                                          <p:spTgt spid="63"/>
                                        </p:tgtEl>
                                        <p:attrNameLst>
                                          <p:attrName>ppt_x</p:attrName>
                                        </p:attrNameLst>
                                      </p:cBhvr>
                                      <p:tavLst>
                                        <p:tav tm="0">
                                          <p:val>
                                            <p:strVal val="0-#ppt_w/2"/>
                                          </p:val>
                                        </p:tav>
                                        <p:tav tm="100000">
                                          <p:val>
                                            <p:strVal val="#ppt_x"/>
                                          </p:val>
                                        </p:tav>
                                      </p:tavLst>
                                    </p:anim>
                                    <p:anim calcmode="lin" valueType="num">
                                      <p:cBhvr additive="base">
                                        <p:cTn id="38" dur="500" fill="hold"/>
                                        <p:tgtEl>
                                          <p:spTgt spid="63"/>
                                        </p:tgtEl>
                                        <p:attrNameLst>
                                          <p:attrName>ppt_y</p:attrName>
                                        </p:attrNameLst>
                                      </p:cBhvr>
                                      <p:tavLst>
                                        <p:tav tm="0">
                                          <p:val>
                                            <p:strVal val="#ppt_y"/>
                                          </p:val>
                                        </p:tav>
                                        <p:tav tm="100000">
                                          <p:val>
                                            <p:strVal val="#ppt_y"/>
                                          </p:val>
                                        </p:tav>
                                      </p:tavLst>
                                    </p:anim>
                                  </p:childTnLst>
                                </p:cTn>
                              </p:par>
                              <p:par>
                                <p:cTn id="39" presetID="2" presetClass="entr" presetSubtype="8" accel="6000" decel="80000" fill="hold" nodeType="withEffect">
                                  <p:stCondLst>
                                    <p:cond delay="0"/>
                                  </p:stCondLst>
                                  <p:childTnLst>
                                    <p:set>
                                      <p:cBhvr>
                                        <p:cTn id="40" dur="1" fill="hold">
                                          <p:stCondLst>
                                            <p:cond delay="0"/>
                                          </p:stCondLst>
                                        </p:cTn>
                                        <p:tgtEl>
                                          <p:spTgt spid="45"/>
                                        </p:tgtEl>
                                        <p:attrNameLst>
                                          <p:attrName>style.visibility</p:attrName>
                                        </p:attrNameLst>
                                      </p:cBhvr>
                                      <p:to>
                                        <p:strVal val="visible"/>
                                      </p:to>
                                    </p:set>
                                    <p:anim calcmode="lin" valueType="num">
                                      <p:cBhvr additive="base">
                                        <p:cTn id="41" dur="500" fill="hold"/>
                                        <p:tgtEl>
                                          <p:spTgt spid="45"/>
                                        </p:tgtEl>
                                        <p:attrNameLst>
                                          <p:attrName>ppt_x</p:attrName>
                                        </p:attrNameLst>
                                      </p:cBhvr>
                                      <p:tavLst>
                                        <p:tav tm="0">
                                          <p:val>
                                            <p:strVal val="0-#ppt_w/2"/>
                                          </p:val>
                                        </p:tav>
                                        <p:tav tm="100000">
                                          <p:val>
                                            <p:strVal val="#ppt_x"/>
                                          </p:val>
                                        </p:tav>
                                      </p:tavLst>
                                    </p:anim>
                                    <p:anim calcmode="lin" valueType="num">
                                      <p:cBhvr additive="base">
                                        <p:cTn id="42" dur="500" fill="hold"/>
                                        <p:tgtEl>
                                          <p:spTgt spid="45"/>
                                        </p:tgtEl>
                                        <p:attrNameLst>
                                          <p:attrName>ppt_y</p:attrName>
                                        </p:attrNameLst>
                                      </p:cBhvr>
                                      <p:tavLst>
                                        <p:tav tm="0">
                                          <p:val>
                                            <p:strVal val="#ppt_y"/>
                                          </p:val>
                                        </p:tav>
                                        <p:tav tm="100000">
                                          <p:val>
                                            <p:strVal val="#ppt_y"/>
                                          </p:val>
                                        </p:tav>
                                      </p:tavLst>
                                    </p:anim>
                                  </p:childTnLst>
                                </p:cTn>
                              </p:par>
                              <p:par>
                                <p:cTn id="43" presetID="2" presetClass="entr" presetSubtype="8" accel="6000" decel="80000" fill="hold" nodeType="withEffect">
                                  <p:stCondLst>
                                    <p:cond delay="0"/>
                                  </p:stCondLst>
                                  <p:childTnLst>
                                    <p:set>
                                      <p:cBhvr>
                                        <p:cTn id="44" dur="1" fill="hold">
                                          <p:stCondLst>
                                            <p:cond delay="0"/>
                                          </p:stCondLst>
                                        </p:cTn>
                                        <p:tgtEl>
                                          <p:spTgt spid="47"/>
                                        </p:tgtEl>
                                        <p:attrNameLst>
                                          <p:attrName>style.visibility</p:attrName>
                                        </p:attrNameLst>
                                      </p:cBhvr>
                                      <p:to>
                                        <p:strVal val="visible"/>
                                      </p:to>
                                    </p:set>
                                    <p:anim calcmode="lin" valueType="num">
                                      <p:cBhvr additive="base">
                                        <p:cTn id="45" dur="500" fill="hold"/>
                                        <p:tgtEl>
                                          <p:spTgt spid="47"/>
                                        </p:tgtEl>
                                        <p:attrNameLst>
                                          <p:attrName>ppt_x</p:attrName>
                                        </p:attrNameLst>
                                      </p:cBhvr>
                                      <p:tavLst>
                                        <p:tav tm="0">
                                          <p:val>
                                            <p:strVal val="0-#ppt_w/2"/>
                                          </p:val>
                                        </p:tav>
                                        <p:tav tm="100000">
                                          <p:val>
                                            <p:strVal val="#ppt_x"/>
                                          </p:val>
                                        </p:tav>
                                      </p:tavLst>
                                    </p:anim>
                                    <p:anim calcmode="lin" valueType="num">
                                      <p:cBhvr additive="base">
                                        <p:cTn id="46" dur="500" fill="hold"/>
                                        <p:tgtEl>
                                          <p:spTgt spid="47"/>
                                        </p:tgtEl>
                                        <p:attrNameLst>
                                          <p:attrName>ppt_y</p:attrName>
                                        </p:attrNameLst>
                                      </p:cBhvr>
                                      <p:tavLst>
                                        <p:tav tm="0">
                                          <p:val>
                                            <p:strVal val="#ppt_y"/>
                                          </p:val>
                                        </p:tav>
                                        <p:tav tm="100000">
                                          <p:val>
                                            <p:strVal val="#ppt_y"/>
                                          </p:val>
                                        </p:tav>
                                      </p:tavLst>
                                    </p:anim>
                                  </p:childTnLst>
                                </p:cTn>
                              </p:par>
                              <p:par>
                                <p:cTn id="47" presetID="2" presetClass="entr" presetSubtype="8" accel="6000" decel="80000" fill="hold" nodeType="withEffect">
                                  <p:stCondLst>
                                    <p:cond delay="0"/>
                                  </p:stCondLst>
                                  <p:childTnLst>
                                    <p:set>
                                      <p:cBhvr>
                                        <p:cTn id="48" dur="1" fill="hold">
                                          <p:stCondLst>
                                            <p:cond delay="0"/>
                                          </p:stCondLst>
                                        </p:cTn>
                                        <p:tgtEl>
                                          <p:spTgt spid="59"/>
                                        </p:tgtEl>
                                        <p:attrNameLst>
                                          <p:attrName>style.visibility</p:attrName>
                                        </p:attrNameLst>
                                      </p:cBhvr>
                                      <p:to>
                                        <p:strVal val="visible"/>
                                      </p:to>
                                    </p:set>
                                    <p:anim calcmode="lin" valueType="num">
                                      <p:cBhvr additive="base">
                                        <p:cTn id="49" dur="500" fill="hold"/>
                                        <p:tgtEl>
                                          <p:spTgt spid="59"/>
                                        </p:tgtEl>
                                        <p:attrNameLst>
                                          <p:attrName>ppt_x</p:attrName>
                                        </p:attrNameLst>
                                      </p:cBhvr>
                                      <p:tavLst>
                                        <p:tav tm="0">
                                          <p:val>
                                            <p:strVal val="0-#ppt_w/2"/>
                                          </p:val>
                                        </p:tav>
                                        <p:tav tm="100000">
                                          <p:val>
                                            <p:strVal val="#ppt_x"/>
                                          </p:val>
                                        </p:tav>
                                      </p:tavLst>
                                    </p:anim>
                                    <p:anim calcmode="lin" valueType="num">
                                      <p:cBhvr additive="base">
                                        <p:cTn id="50" dur="500" fill="hold"/>
                                        <p:tgtEl>
                                          <p:spTgt spid="59"/>
                                        </p:tgtEl>
                                        <p:attrNameLst>
                                          <p:attrName>ppt_y</p:attrName>
                                        </p:attrNameLst>
                                      </p:cBhvr>
                                      <p:tavLst>
                                        <p:tav tm="0">
                                          <p:val>
                                            <p:strVal val="#ppt_y"/>
                                          </p:val>
                                        </p:tav>
                                        <p:tav tm="100000">
                                          <p:val>
                                            <p:strVal val="#ppt_y"/>
                                          </p:val>
                                        </p:tav>
                                      </p:tavLst>
                                    </p:anim>
                                  </p:childTnLst>
                                </p:cTn>
                              </p:par>
                              <p:par>
                                <p:cTn id="51" presetID="2" presetClass="entr" presetSubtype="8" accel="6000" decel="80000" fill="hold" nodeType="withEffect">
                                  <p:stCondLst>
                                    <p:cond delay="0"/>
                                  </p:stCondLst>
                                  <p:childTnLst>
                                    <p:set>
                                      <p:cBhvr>
                                        <p:cTn id="52" dur="1" fill="hold">
                                          <p:stCondLst>
                                            <p:cond delay="0"/>
                                          </p:stCondLst>
                                        </p:cTn>
                                        <p:tgtEl>
                                          <p:spTgt spid="58"/>
                                        </p:tgtEl>
                                        <p:attrNameLst>
                                          <p:attrName>style.visibility</p:attrName>
                                        </p:attrNameLst>
                                      </p:cBhvr>
                                      <p:to>
                                        <p:strVal val="visible"/>
                                      </p:to>
                                    </p:set>
                                    <p:anim calcmode="lin" valueType="num">
                                      <p:cBhvr additive="base">
                                        <p:cTn id="53" dur="500" fill="hold"/>
                                        <p:tgtEl>
                                          <p:spTgt spid="58"/>
                                        </p:tgtEl>
                                        <p:attrNameLst>
                                          <p:attrName>ppt_x</p:attrName>
                                        </p:attrNameLst>
                                      </p:cBhvr>
                                      <p:tavLst>
                                        <p:tav tm="0">
                                          <p:val>
                                            <p:strVal val="0-#ppt_w/2"/>
                                          </p:val>
                                        </p:tav>
                                        <p:tav tm="100000">
                                          <p:val>
                                            <p:strVal val="#ppt_x"/>
                                          </p:val>
                                        </p:tav>
                                      </p:tavLst>
                                    </p:anim>
                                    <p:anim calcmode="lin" valueType="num">
                                      <p:cBhvr additive="base">
                                        <p:cTn id="54" dur="500" fill="hold"/>
                                        <p:tgtEl>
                                          <p:spTgt spid="58"/>
                                        </p:tgtEl>
                                        <p:attrNameLst>
                                          <p:attrName>ppt_y</p:attrName>
                                        </p:attrNameLst>
                                      </p:cBhvr>
                                      <p:tavLst>
                                        <p:tav tm="0">
                                          <p:val>
                                            <p:strVal val="#ppt_y"/>
                                          </p:val>
                                        </p:tav>
                                        <p:tav tm="100000">
                                          <p:val>
                                            <p:strVal val="#ppt_y"/>
                                          </p:val>
                                        </p:tav>
                                      </p:tavLst>
                                    </p:anim>
                                  </p:childTnLst>
                                </p:cTn>
                              </p:par>
                              <p:par>
                                <p:cTn id="55" presetID="2" presetClass="entr" presetSubtype="8" accel="6000" decel="80000" fill="hold" nodeType="withEffect">
                                  <p:stCondLst>
                                    <p:cond delay="0"/>
                                  </p:stCondLst>
                                  <p:childTnLst>
                                    <p:set>
                                      <p:cBhvr>
                                        <p:cTn id="56" dur="1" fill="hold">
                                          <p:stCondLst>
                                            <p:cond delay="0"/>
                                          </p:stCondLst>
                                        </p:cTn>
                                        <p:tgtEl>
                                          <p:spTgt spid="46"/>
                                        </p:tgtEl>
                                        <p:attrNameLst>
                                          <p:attrName>style.visibility</p:attrName>
                                        </p:attrNameLst>
                                      </p:cBhvr>
                                      <p:to>
                                        <p:strVal val="visible"/>
                                      </p:to>
                                    </p:set>
                                    <p:anim calcmode="lin" valueType="num">
                                      <p:cBhvr additive="base">
                                        <p:cTn id="57" dur="500" fill="hold"/>
                                        <p:tgtEl>
                                          <p:spTgt spid="46"/>
                                        </p:tgtEl>
                                        <p:attrNameLst>
                                          <p:attrName>ppt_x</p:attrName>
                                        </p:attrNameLst>
                                      </p:cBhvr>
                                      <p:tavLst>
                                        <p:tav tm="0">
                                          <p:val>
                                            <p:strVal val="0-#ppt_w/2"/>
                                          </p:val>
                                        </p:tav>
                                        <p:tav tm="100000">
                                          <p:val>
                                            <p:strVal val="#ppt_x"/>
                                          </p:val>
                                        </p:tav>
                                      </p:tavLst>
                                    </p:anim>
                                    <p:anim calcmode="lin" valueType="num">
                                      <p:cBhvr additive="base">
                                        <p:cTn id="58" dur="500" fill="hold"/>
                                        <p:tgtEl>
                                          <p:spTgt spid="46"/>
                                        </p:tgtEl>
                                        <p:attrNameLst>
                                          <p:attrName>ppt_y</p:attrName>
                                        </p:attrNameLst>
                                      </p:cBhvr>
                                      <p:tavLst>
                                        <p:tav tm="0">
                                          <p:val>
                                            <p:strVal val="#ppt_y"/>
                                          </p:val>
                                        </p:tav>
                                        <p:tav tm="100000">
                                          <p:val>
                                            <p:strVal val="#ppt_y"/>
                                          </p:val>
                                        </p:tav>
                                      </p:tavLst>
                                    </p:anim>
                                  </p:childTnLst>
                                </p:cTn>
                              </p:par>
                              <p:par>
                                <p:cTn id="59" presetID="2" presetClass="entr" presetSubtype="8" accel="6000" decel="80000" fill="hold" nodeType="withEffect">
                                  <p:stCondLst>
                                    <p:cond delay="0"/>
                                  </p:stCondLst>
                                  <p:childTnLst>
                                    <p:set>
                                      <p:cBhvr>
                                        <p:cTn id="60" dur="1" fill="hold">
                                          <p:stCondLst>
                                            <p:cond delay="0"/>
                                          </p:stCondLst>
                                        </p:cTn>
                                        <p:tgtEl>
                                          <p:spTgt spid="33"/>
                                        </p:tgtEl>
                                        <p:attrNameLst>
                                          <p:attrName>style.visibility</p:attrName>
                                        </p:attrNameLst>
                                      </p:cBhvr>
                                      <p:to>
                                        <p:strVal val="visible"/>
                                      </p:to>
                                    </p:set>
                                    <p:anim calcmode="lin" valueType="num">
                                      <p:cBhvr additive="base">
                                        <p:cTn id="61" dur="500" fill="hold"/>
                                        <p:tgtEl>
                                          <p:spTgt spid="33"/>
                                        </p:tgtEl>
                                        <p:attrNameLst>
                                          <p:attrName>ppt_x</p:attrName>
                                        </p:attrNameLst>
                                      </p:cBhvr>
                                      <p:tavLst>
                                        <p:tav tm="0">
                                          <p:val>
                                            <p:strVal val="0-#ppt_w/2"/>
                                          </p:val>
                                        </p:tav>
                                        <p:tav tm="100000">
                                          <p:val>
                                            <p:strVal val="#ppt_x"/>
                                          </p:val>
                                        </p:tav>
                                      </p:tavLst>
                                    </p:anim>
                                    <p:anim calcmode="lin" valueType="num">
                                      <p:cBhvr additive="base">
                                        <p:cTn id="62" dur="500" fill="hold"/>
                                        <p:tgtEl>
                                          <p:spTgt spid="33"/>
                                        </p:tgtEl>
                                        <p:attrNameLst>
                                          <p:attrName>ppt_y</p:attrName>
                                        </p:attrNameLst>
                                      </p:cBhvr>
                                      <p:tavLst>
                                        <p:tav tm="0">
                                          <p:val>
                                            <p:strVal val="#ppt_y"/>
                                          </p:val>
                                        </p:tav>
                                        <p:tav tm="100000">
                                          <p:val>
                                            <p:strVal val="#ppt_y"/>
                                          </p:val>
                                        </p:tav>
                                      </p:tavLst>
                                    </p:anim>
                                  </p:childTnLst>
                                </p:cTn>
                              </p:par>
                              <p:par>
                                <p:cTn id="63" presetID="2" presetClass="entr" presetSubtype="8" accel="6000" decel="80000" fill="hold" nodeType="withEffect">
                                  <p:stCondLst>
                                    <p:cond delay="0"/>
                                  </p:stCondLst>
                                  <p:childTnLst>
                                    <p:set>
                                      <p:cBhvr>
                                        <p:cTn id="64" dur="1" fill="hold">
                                          <p:stCondLst>
                                            <p:cond delay="0"/>
                                          </p:stCondLst>
                                        </p:cTn>
                                        <p:tgtEl>
                                          <p:spTgt spid="32"/>
                                        </p:tgtEl>
                                        <p:attrNameLst>
                                          <p:attrName>style.visibility</p:attrName>
                                        </p:attrNameLst>
                                      </p:cBhvr>
                                      <p:to>
                                        <p:strVal val="visible"/>
                                      </p:to>
                                    </p:set>
                                    <p:anim calcmode="lin" valueType="num">
                                      <p:cBhvr additive="base">
                                        <p:cTn id="65" dur="500" fill="hold"/>
                                        <p:tgtEl>
                                          <p:spTgt spid="32"/>
                                        </p:tgtEl>
                                        <p:attrNameLst>
                                          <p:attrName>ppt_x</p:attrName>
                                        </p:attrNameLst>
                                      </p:cBhvr>
                                      <p:tavLst>
                                        <p:tav tm="0">
                                          <p:val>
                                            <p:strVal val="0-#ppt_w/2"/>
                                          </p:val>
                                        </p:tav>
                                        <p:tav tm="100000">
                                          <p:val>
                                            <p:strVal val="#ppt_x"/>
                                          </p:val>
                                        </p:tav>
                                      </p:tavLst>
                                    </p:anim>
                                    <p:anim calcmode="lin" valueType="num">
                                      <p:cBhvr additive="base">
                                        <p:cTn id="66" dur="500" fill="hold"/>
                                        <p:tgtEl>
                                          <p:spTgt spid="32"/>
                                        </p:tgtEl>
                                        <p:attrNameLst>
                                          <p:attrName>ppt_y</p:attrName>
                                        </p:attrNameLst>
                                      </p:cBhvr>
                                      <p:tavLst>
                                        <p:tav tm="0">
                                          <p:val>
                                            <p:strVal val="#ppt_y"/>
                                          </p:val>
                                        </p:tav>
                                        <p:tav tm="100000">
                                          <p:val>
                                            <p:strVal val="#ppt_y"/>
                                          </p:val>
                                        </p:tav>
                                      </p:tavLst>
                                    </p:anim>
                                  </p:childTnLst>
                                </p:cTn>
                              </p:par>
                              <p:par>
                                <p:cTn id="67" presetID="2" presetClass="entr" presetSubtype="8" accel="6000" decel="80000" fill="hold" nodeType="withEffect">
                                  <p:stCondLst>
                                    <p:cond delay="0"/>
                                  </p:stCondLst>
                                  <p:childTnLst>
                                    <p:set>
                                      <p:cBhvr>
                                        <p:cTn id="68" dur="1" fill="hold">
                                          <p:stCondLst>
                                            <p:cond delay="0"/>
                                          </p:stCondLst>
                                        </p:cTn>
                                        <p:tgtEl>
                                          <p:spTgt spid="34"/>
                                        </p:tgtEl>
                                        <p:attrNameLst>
                                          <p:attrName>style.visibility</p:attrName>
                                        </p:attrNameLst>
                                      </p:cBhvr>
                                      <p:to>
                                        <p:strVal val="visible"/>
                                      </p:to>
                                    </p:set>
                                    <p:anim calcmode="lin" valueType="num">
                                      <p:cBhvr additive="base">
                                        <p:cTn id="69" dur="500" fill="hold"/>
                                        <p:tgtEl>
                                          <p:spTgt spid="34"/>
                                        </p:tgtEl>
                                        <p:attrNameLst>
                                          <p:attrName>ppt_x</p:attrName>
                                        </p:attrNameLst>
                                      </p:cBhvr>
                                      <p:tavLst>
                                        <p:tav tm="0">
                                          <p:val>
                                            <p:strVal val="0-#ppt_w/2"/>
                                          </p:val>
                                        </p:tav>
                                        <p:tav tm="100000">
                                          <p:val>
                                            <p:strVal val="#ppt_x"/>
                                          </p:val>
                                        </p:tav>
                                      </p:tavLst>
                                    </p:anim>
                                    <p:anim calcmode="lin" valueType="num">
                                      <p:cBhvr additive="base">
                                        <p:cTn id="70" dur="500" fill="hold"/>
                                        <p:tgtEl>
                                          <p:spTgt spid="34"/>
                                        </p:tgtEl>
                                        <p:attrNameLst>
                                          <p:attrName>ppt_y</p:attrName>
                                        </p:attrNameLst>
                                      </p:cBhvr>
                                      <p:tavLst>
                                        <p:tav tm="0">
                                          <p:val>
                                            <p:strVal val="#ppt_y"/>
                                          </p:val>
                                        </p:tav>
                                        <p:tav tm="100000">
                                          <p:val>
                                            <p:strVal val="#ppt_y"/>
                                          </p:val>
                                        </p:tav>
                                      </p:tavLst>
                                    </p:anim>
                                  </p:childTnLst>
                                </p:cTn>
                              </p:par>
                              <p:par>
                                <p:cTn id="71" presetID="2" presetClass="entr" presetSubtype="8" accel="6000" decel="80000" fill="hold" nodeType="withEffect">
                                  <p:stCondLst>
                                    <p:cond delay="0"/>
                                  </p:stCondLst>
                                  <p:childTnLst>
                                    <p:set>
                                      <p:cBhvr>
                                        <p:cTn id="72" dur="1" fill="hold">
                                          <p:stCondLst>
                                            <p:cond delay="0"/>
                                          </p:stCondLst>
                                        </p:cTn>
                                        <p:tgtEl>
                                          <p:spTgt spid="37"/>
                                        </p:tgtEl>
                                        <p:attrNameLst>
                                          <p:attrName>style.visibility</p:attrName>
                                        </p:attrNameLst>
                                      </p:cBhvr>
                                      <p:to>
                                        <p:strVal val="visible"/>
                                      </p:to>
                                    </p:set>
                                    <p:anim calcmode="lin" valueType="num">
                                      <p:cBhvr additive="base">
                                        <p:cTn id="73" dur="500" fill="hold"/>
                                        <p:tgtEl>
                                          <p:spTgt spid="37"/>
                                        </p:tgtEl>
                                        <p:attrNameLst>
                                          <p:attrName>ppt_x</p:attrName>
                                        </p:attrNameLst>
                                      </p:cBhvr>
                                      <p:tavLst>
                                        <p:tav tm="0">
                                          <p:val>
                                            <p:strVal val="0-#ppt_w/2"/>
                                          </p:val>
                                        </p:tav>
                                        <p:tav tm="100000">
                                          <p:val>
                                            <p:strVal val="#ppt_x"/>
                                          </p:val>
                                        </p:tav>
                                      </p:tavLst>
                                    </p:anim>
                                    <p:anim calcmode="lin" valueType="num">
                                      <p:cBhvr additive="base">
                                        <p:cTn id="74" dur="500" fill="hold"/>
                                        <p:tgtEl>
                                          <p:spTgt spid="37"/>
                                        </p:tgtEl>
                                        <p:attrNameLst>
                                          <p:attrName>ppt_y</p:attrName>
                                        </p:attrNameLst>
                                      </p:cBhvr>
                                      <p:tavLst>
                                        <p:tav tm="0">
                                          <p:val>
                                            <p:strVal val="#ppt_y"/>
                                          </p:val>
                                        </p:tav>
                                        <p:tav tm="100000">
                                          <p:val>
                                            <p:strVal val="#ppt_y"/>
                                          </p:val>
                                        </p:tav>
                                      </p:tavLst>
                                    </p:anim>
                                  </p:childTnLst>
                                </p:cTn>
                              </p:par>
                              <p:par>
                                <p:cTn id="75" presetID="2" presetClass="entr" presetSubtype="8" accel="6000" decel="80000" fill="hold" nodeType="withEffect">
                                  <p:stCondLst>
                                    <p:cond delay="0"/>
                                  </p:stCondLst>
                                  <p:childTnLst>
                                    <p:set>
                                      <p:cBhvr>
                                        <p:cTn id="76" dur="1" fill="hold">
                                          <p:stCondLst>
                                            <p:cond delay="0"/>
                                          </p:stCondLst>
                                        </p:cTn>
                                        <p:tgtEl>
                                          <p:spTgt spid="36"/>
                                        </p:tgtEl>
                                        <p:attrNameLst>
                                          <p:attrName>style.visibility</p:attrName>
                                        </p:attrNameLst>
                                      </p:cBhvr>
                                      <p:to>
                                        <p:strVal val="visible"/>
                                      </p:to>
                                    </p:set>
                                    <p:anim calcmode="lin" valueType="num">
                                      <p:cBhvr additive="base">
                                        <p:cTn id="77" dur="500" fill="hold"/>
                                        <p:tgtEl>
                                          <p:spTgt spid="36"/>
                                        </p:tgtEl>
                                        <p:attrNameLst>
                                          <p:attrName>ppt_x</p:attrName>
                                        </p:attrNameLst>
                                      </p:cBhvr>
                                      <p:tavLst>
                                        <p:tav tm="0">
                                          <p:val>
                                            <p:strVal val="0-#ppt_w/2"/>
                                          </p:val>
                                        </p:tav>
                                        <p:tav tm="100000">
                                          <p:val>
                                            <p:strVal val="#ppt_x"/>
                                          </p:val>
                                        </p:tav>
                                      </p:tavLst>
                                    </p:anim>
                                    <p:anim calcmode="lin" valueType="num">
                                      <p:cBhvr additive="base">
                                        <p:cTn id="78" dur="500" fill="hold"/>
                                        <p:tgtEl>
                                          <p:spTgt spid="36"/>
                                        </p:tgtEl>
                                        <p:attrNameLst>
                                          <p:attrName>ppt_y</p:attrName>
                                        </p:attrNameLst>
                                      </p:cBhvr>
                                      <p:tavLst>
                                        <p:tav tm="0">
                                          <p:val>
                                            <p:strVal val="#ppt_y"/>
                                          </p:val>
                                        </p:tav>
                                        <p:tav tm="100000">
                                          <p:val>
                                            <p:strVal val="#ppt_y"/>
                                          </p:val>
                                        </p:tav>
                                      </p:tavLst>
                                    </p:anim>
                                  </p:childTnLst>
                                </p:cTn>
                              </p:par>
                              <p:par>
                                <p:cTn id="79" presetID="2" presetClass="entr" presetSubtype="8" accel="6000" decel="80000" fill="hold" nodeType="withEffect">
                                  <p:stCondLst>
                                    <p:cond delay="0"/>
                                  </p:stCondLst>
                                  <p:childTnLst>
                                    <p:set>
                                      <p:cBhvr>
                                        <p:cTn id="80" dur="1" fill="hold">
                                          <p:stCondLst>
                                            <p:cond delay="0"/>
                                          </p:stCondLst>
                                        </p:cTn>
                                        <p:tgtEl>
                                          <p:spTgt spid="40"/>
                                        </p:tgtEl>
                                        <p:attrNameLst>
                                          <p:attrName>style.visibility</p:attrName>
                                        </p:attrNameLst>
                                      </p:cBhvr>
                                      <p:to>
                                        <p:strVal val="visible"/>
                                      </p:to>
                                    </p:set>
                                    <p:anim calcmode="lin" valueType="num">
                                      <p:cBhvr additive="base">
                                        <p:cTn id="81" dur="500" fill="hold"/>
                                        <p:tgtEl>
                                          <p:spTgt spid="40"/>
                                        </p:tgtEl>
                                        <p:attrNameLst>
                                          <p:attrName>ppt_x</p:attrName>
                                        </p:attrNameLst>
                                      </p:cBhvr>
                                      <p:tavLst>
                                        <p:tav tm="0">
                                          <p:val>
                                            <p:strVal val="0-#ppt_w/2"/>
                                          </p:val>
                                        </p:tav>
                                        <p:tav tm="100000">
                                          <p:val>
                                            <p:strVal val="#ppt_x"/>
                                          </p:val>
                                        </p:tav>
                                      </p:tavLst>
                                    </p:anim>
                                    <p:anim calcmode="lin" valueType="num">
                                      <p:cBhvr additive="base">
                                        <p:cTn id="82" dur="500" fill="hold"/>
                                        <p:tgtEl>
                                          <p:spTgt spid="40"/>
                                        </p:tgtEl>
                                        <p:attrNameLst>
                                          <p:attrName>ppt_y</p:attrName>
                                        </p:attrNameLst>
                                      </p:cBhvr>
                                      <p:tavLst>
                                        <p:tav tm="0">
                                          <p:val>
                                            <p:strVal val="#ppt_y"/>
                                          </p:val>
                                        </p:tav>
                                        <p:tav tm="100000">
                                          <p:val>
                                            <p:strVal val="#ppt_y"/>
                                          </p:val>
                                        </p:tav>
                                      </p:tavLst>
                                    </p:anim>
                                  </p:childTnLst>
                                </p:cTn>
                              </p:par>
                              <p:par>
                                <p:cTn id="83" presetID="2" presetClass="entr" presetSubtype="8" accel="6000" decel="80000" fill="hold" nodeType="withEffect">
                                  <p:stCondLst>
                                    <p:cond delay="0"/>
                                  </p:stCondLst>
                                  <p:childTnLst>
                                    <p:set>
                                      <p:cBhvr>
                                        <p:cTn id="84" dur="1" fill="hold">
                                          <p:stCondLst>
                                            <p:cond delay="0"/>
                                          </p:stCondLst>
                                        </p:cTn>
                                        <p:tgtEl>
                                          <p:spTgt spid="38"/>
                                        </p:tgtEl>
                                        <p:attrNameLst>
                                          <p:attrName>style.visibility</p:attrName>
                                        </p:attrNameLst>
                                      </p:cBhvr>
                                      <p:to>
                                        <p:strVal val="visible"/>
                                      </p:to>
                                    </p:set>
                                    <p:anim calcmode="lin" valueType="num">
                                      <p:cBhvr additive="base">
                                        <p:cTn id="85" dur="500" fill="hold"/>
                                        <p:tgtEl>
                                          <p:spTgt spid="38"/>
                                        </p:tgtEl>
                                        <p:attrNameLst>
                                          <p:attrName>ppt_x</p:attrName>
                                        </p:attrNameLst>
                                      </p:cBhvr>
                                      <p:tavLst>
                                        <p:tav tm="0">
                                          <p:val>
                                            <p:strVal val="0-#ppt_w/2"/>
                                          </p:val>
                                        </p:tav>
                                        <p:tav tm="100000">
                                          <p:val>
                                            <p:strVal val="#ppt_x"/>
                                          </p:val>
                                        </p:tav>
                                      </p:tavLst>
                                    </p:anim>
                                    <p:anim calcmode="lin" valueType="num">
                                      <p:cBhvr additive="base">
                                        <p:cTn id="86" dur="500" fill="hold"/>
                                        <p:tgtEl>
                                          <p:spTgt spid="38"/>
                                        </p:tgtEl>
                                        <p:attrNameLst>
                                          <p:attrName>ppt_y</p:attrName>
                                        </p:attrNameLst>
                                      </p:cBhvr>
                                      <p:tavLst>
                                        <p:tav tm="0">
                                          <p:val>
                                            <p:strVal val="#ppt_y"/>
                                          </p:val>
                                        </p:tav>
                                        <p:tav tm="100000">
                                          <p:val>
                                            <p:strVal val="#ppt_y"/>
                                          </p:val>
                                        </p:tav>
                                      </p:tavLst>
                                    </p:anim>
                                  </p:childTnLst>
                                </p:cTn>
                              </p:par>
                              <p:par>
                                <p:cTn id="87" presetID="2" presetClass="entr" presetSubtype="8" accel="6000" decel="80000" fill="hold" nodeType="withEffect">
                                  <p:stCondLst>
                                    <p:cond delay="0"/>
                                  </p:stCondLst>
                                  <p:childTnLst>
                                    <p:set>
                                      <p:cBhvr>
                                        <p:cTn id="88" dur="1" fill="hold">
                                          <p:stCondLst>
                                            <p:cond delay="0"/>
                                          </p:stCondLst>
                                        </p:cTn>
                                        <p:tgtEl>
                                          <p:spTgt spid="65"/>
                                        </p:tgtEl>
                                        <p:attrNameLst>
                                          <p:attrName>style.visibility</p:attrName>
                                        </p:attrNameLst>
                                      </p:cBhvr>
                                      <p:to>
                                        <p:strVal val="visible"/>
                                      </p:to>
                                    </p:set>
                                    <p:anim calcmode="lin" valueType="num">
                                      <p:cBhvr additive="base">
                                        <p:cTn id="89" dur="500" fill="hold"/>
                                        <p:tgtEl>
                                          <p:spTgt spid="65"/>
                                        </p:tgtEl>
                                        <p:attrNameLst>
                                          <p:attrName>ppt_x</p:attrName>
                                        </p:attrNameLst>
                                      </p:cBhvr>
                                      <p:tavLst>
                                        <p:tav tm="0">
                                          <p:val>
                                            <p:strVal val="0-#ppt_w/2"/>
                                          </p:val>
                                        </p:tav>
                                        <p:tav tm="100000">
                                          <p:val>
                                            <p:strVal val="#ppt_x"/>
                                          </p:val>
                                        </p:tav>
                                      </p:tavLst>
                                    </p:anim>
                                    <p:anim calcmode="lin" valueType="num">
                                      <p:cBhvr additive="base">
                                        <p:cTn id="90" dur="500" fill="hold"/>
                                        <p:tgtEl>
                                          <p:spTgt spid="65"/>
                                        </p:tgtEl>
                                        <p:attrNameLst>
                                          <p:attrName>ppt_y</p:attrName>
                                        </p:attrNameLst>
                                      </p:cBhvr>
                                      <p:tavLst>
                                        <p:tav tm="0">
                                          <p:val>
                                            <p:strVal val="#ppt_y"/>
                                          </p:val>
                                        </p:tav>
                                        <p:tav tm="100000">
                                          <p:val>
                                            <p:strVal val="#ppt_y"/>
                                          </p:val>
                                        </p:tav>
                                      </p:tavLst>
                                    </p:anim>
                                  </p:childTnLst>
                                </p:cTn>
                              </p:par>
                              <p:par>
                                <p:cTn id="91" presetID="2" presetClass="entr" presetSubtype="8" accel="6000" decel="80000" fill="hold" nodeType="withEffect">
                                  <p:stCondLst>
                                    <p:cond delay="0"/>
                                  </p:stCondLst>
                                  <p:childTnLst>
                                    <p:set>
                                      <p:cBhvr>
                                        <p:cTn id="92" dur="1" fill="hold">
                                          <p:stCondLst>
                                            <p:cond delay="0"/>
                                          </p:stCondLst>
                                        </p:cTn>
                                        <p:tgtEl>
                                          <p:spTgt spid="48"/>
                                        </p:tgtEl>
                                        <p:attrNameLst>
                                          <p:attrName>style.visibility</p:attrName>
                                        </p:attrNameLst>
                                      </p:cBhvr>
                                      <p:to>
                                        <p:strVal val="visible"/>
                                      </p:to>
                                    </p:set>
                                    <p:anim calcmode="lin" valueType="num">
                                      <p:cBhvr additive="base">
                                        <p:cTn id="93" dur="500" fill="hold"/>
                                        <p:tgtEl>
                                          <p:spTgt spid="48"/>
                                        </p:tgtEl>
                                        <p:attrNameLst>
                                          <p:attrName>ppt_x</p:attrName>
                                        </p:attrNameLst>
                                      </p:cBhvr>
                                      <p:tavLst>
                                        <p:tav tm="0">
                                          <p:val>
                                            <p:strVal val="0-#ppt_w/2"/>
                                          </p:val>
                                        </p:tav>
                                        <p:tav tm="100000">
                                          <p:val>
                                            <p:strVal val="#ppt_x"/>
                                          </p:val>
                                        </p:tav>
                                      </p:tavLst>
                                    </p:anim>
                                    <p:anim calcmode="lin" valueType="num">
                                      <p:cBhvr additive="base">
                                        <p:cTn id="94" dur="500" fill="hold"/>
                                        <p:tgtEl>
                                          <p:spTgt spid="48"/>
                                        </p:tgtEl>
                                        <p:attrNameLst>
                                          <p:attrName>ppt_y</p:attrName>
                                        </p:attrNameLst>
                                      </p:cBhvr>
                                      <p:tavLst>
                                        <p:tav tm="0">
                                          <p:val>
                                            <p:strVal val="#ppt_y"/>
                                          </p:val>
                                        </p:tav>
                                        <p:tav tm="100000">
                                          <p:val>
                                            <p:strVal val="#ppt_y"/>
                                          </p:val>
                                        </p:tav>
                                      </p:tavLst>
                                    </p:anim>
                                  </p:childTnLst>
                                </p:cTn>
                              </p:par>
                              <p:par>
                                <p:cTn id="95" presetID="2" presetClass="entr" presetSubtype="8" accel="6000" decel="80000" fill="hold" nodeType="withEffect">
                                  <p:stCondLst>
                                    <p:cond delay="0"/>
                                  </p:stCondLst>
                                  <p:childTnLst>
                                    <p:set>
                                      <p:cBhvr>
                                        <p:cTn id="96" dur="1" fill="hold">
                                          <p:stCondLst>
                                            <p:cond delay="0"/>
                                          </p:stCondLst>
                                        </p:cTn>
                                        <p:tgtEl>
                                          <p:spTgt spid="49"/>
                                        </p:tgtEl>
                                        <p:attrNameLst>
                                          <p:attrName>style.visibility</p:attrName>
                                        </p:attrNameLst>
                                      </p:cBhvr>
                                      <p:to>
                                        <p:strVal val="visible"/>
                                      </p:to>
                                    </p:set>
                                    <p:anim calcmode="lin" valueType="num">
                                      <p:cBhvr additive="base">
                                        <p:cTn id="97" dur="500" fill="hold"/>
                                        <p:tgtEl>
                                          <p:spTgt spid="49"/>
                                        </p:tgtEl>
                                        <p:attrNameLst>
                                          <p:attrName>ppt_x</p:attrName>
                                        </p:attrNameLst>
                                      </p:cBhvr>
                                      <p:tavLst>
                                        <p:tav tm="0">
                                          <p:val>
                                            <p:strVal val="0-#ppt_w/2"/>
                                          </p:val>
                                        </p:tav>
                                        <p:tav tm="100000">
                                          <p:val>
                                            <p:strVal val="#ppt_x"/>
                                          </p:val>
                                        </p:tav>
                                      </p:tavLst>
                                    </p:anim>
                                    <p:anim calcmode="lin" valueType="num">
                                      <p:cBhvr additive="base">
                                        <p:cTn id="98" dur="500" fill="hold"/>
                                        <p:tgtEl>
                                          <p:spTgt spid="49"/>
                                        </p:tgtEl>
                                        <p:attrNameLst>
                                          <p:attrName>ppt_y</p:attrName>
                                        </p:attrNameLst>
                                      </p:cBhvr>
                                      <p:tavLst>
                                        <p:tav tm="0">
                                          <p:val>
                                            <p:strVal val="#ppt_y"/>
                                          </p:val>
                                        </p:tav>
                                        <p:tav tm="100000">
                                          <p:val>
                                            <p:strVal val="#ppt_y"/>
                                          </p:val>
                                        </p:tav>
                                      </p:tavLst>
                                    </p:anim>
                                  </p:childTnLst>
                                </p:cTn>
                              </p:par>
                              <p:par>
                                <p:cTn id="99" presetID="2" presetClass="entr" presetSubtype="8" accel="6000" decel="80000" fill="hold" nodeType="withEffect">
                                  <p:stCondLst>
                                    <p:cond delay="0"/>
                                  </p:stCondLst>
                                  <p:childTnLst>
                                    <p:set>
                                      <p:cBhvr>
                                        <p:cTn id="100" dur="1" fill="hold">
                                          <p:stCondLst>
                                            <p:cond delay="0"/>
                                          </p:stCondLst>
                                        </p:cTn>
                                        <p:tgtEl>
                                          <p:spTgt spid="50"/>
                                        </p:tgtEl>
                                        <p:attrNameLst>
                                          <p:attrName>style.visibility</p:attrName>
                                        </p:attrNameLst>
                                      </p:cBhvr>
                                      <p:to>
                                        <p:strVal val="visible"/>
                                      </p:to>
                                    </p:set>
                                    <p:anim calcmode="lin" valueType="num">
                                      <p:cBhvr additive="base">
                                        <p:cTn id="101" dur="500" fill="hold"/>
                                        <p:tgtEl>
                                          <p:spTgt spid="50"/>
                                        </p:tgtEl>
                                        <p:attrNameLst>
                                          <p:attrName>ppt_x</p:attrName>
                                        </p:attrNameLst>
                                      </p:cBhvr>
                                      <p:tavLst>
                                        <p:tav tm="0">
                                          <p:val>
                                            <p:strVal val="0-#ppt_w/2"/>
                                          </p:val>
                                        </p:tav>
                                        <p:tav tm="100000">
                                          <p:val>
                                            <p:strVal val="#ppt_x"/>
                                          </p:val>
                                        </p:tav>
                                      </p:tavLst>
                                    </p:anim>
                                    <p:anim calcmode="lin" valueType="num">
                                      <p:cBhvr additive="base">
                                        <p:cTn id="102" dur="500" fill="hold"/>
                                        <p:tgtEl>
                                          <p:spTgt spid="50"/>
                                        </p:tgtEl>
                                        <p:attrNameLst>
                                          <p:attrName>ppt_y</p:attrName>
                                        </p:attrNameLst>
                                      </p:cBhvr>
                                      <p:tavLst>
                                        <p:tav tm="0">
                                          <p:val>
                                            <p:strVal val="#ppt_y"/>
                                          </p:val>
                                        </p:tav>
                                        <p:tav tm="100000">
                                          <p:val>
                                            <p:strVal val="#ppt_y"/>
                                          </p:val>
                                        </p:tav>
                                      </p:tavLst>
                                    </p:anim>
                                  </p:childTnLst>
                                </p:cTn>
                              </p:par>
                              <p:par>
                                <p:cTn id="103" presetID="2" presetClass="entr" presetSubtype="8" accel="6000" decel="80000" fill="hold" nodeType="withEffect">
                                  <p:stCondLst>
                                    <p:cond delay="0"/>
                                  </p:stCondLst>
                                  <p:childTnLst>
                                    <p:set>
                                      <p:cBhvr>
                                        <p:cTn id="104" dur="1" fill="hold">
                                          <p:stCondLst>
                                            <p:cond delay="0"/>
                                          </p:stCondLst>
                                        </p:cTn>
                                        <p:tgtEl>
                                          <p:spTgt spid="55"/>
                                        </p:tgtEl>
                                        <p:attrNameLst>
                                          <p:attrName>style.visibility</p:attrName>
                                        </p:attrNameLst>
                                      </p:cBhvr>
                                      <p:to>
                                        <p:strVal val="visible"/>
                                      </p:to>
                                    </p:set>
                                    <p:anim calcmode="lin" valueType="num">
                                      <p:cBhvr additive="base">
                                        <p:cTn id="105" dur="500" fill="hold"/>
                                        <p:tgtEl>
                                          <p:spTgt spid="55"/>
                                        </p:tgtEl>
                                        <p:attrNameLst>
                                          <p:attrName>ppt_x</p:attrName>
                                        </p:attrNameLst>
                                      </p:cBhvr>
                                      <p:tavLst>
                                        <p:tav tm="0">
                                          <p:val>
                                            <p:strVal val="0-#ppt_w/2"/>
                                          </p:val>
                                        </p:tav>
                                        <p:tav tm="100000">
                                          <p:val>
                                            <p:strVal val="#ppt_x"/>
                                          </p:val>
                                        </p:tav>
                                      </p:tavLst>
                                    </p:anim>
                                    <p:anim calcmode="lin" valueType="num">
                                      <p:cBhvr additive="base">
                                        <p:cTn id="106" dur="500" fill="hold"/>
                                        <p:tgtEl>
                                          <p:spTgt spid="55"/>
                                        </p:tgtEl>
                                        <p:attrNameLst>
                                          <p:attrName>ppt_y</p:attrName>
                                        </p:attrNameLst>
                                      </p:cBhvr>
                                      <p:tavLst>
                                        <p:tav tm="0">
                                          <p:val>
                                            <p:strVal val="#ppt_y"/>
                                          </p:val>
                                        </p:tav>
                                        <p:tav tm="100000">
                                          <p:val>
                                            <p:strVal val="#ppt_y"/>
                                          </p:val>
                                        </p:tav>
                                      </p:tavLst>
                                    </p:anim>
                                  </p:childTnLst>
                                </p:cTn>
                              </p:par>
                              <p:par>
                                <p:cTn id="107" presetID="2" presetClass="entr" presetSubtype="8" accel="6000" decel="80000" fill="hold" nodeType="withEffect">
                                  <p:stCondLst>
                                    <p:cond delay="0"/>
                                  </p:stCondLst>
                                  <p:childTnLst>
                                    <p:set>
                                      <p:cBhvr>
                                        <p:cTn id="108" dur="1" fill="hold">
                                          <p:stCondLst>
                                            <p:cond delay="0"/>
                                          </p:stCondLst>
                                        </p:cTn>
                                        <p:tgtEl>
                                          <p:spTgt spid="64"/>
                                        </p:tgtEl>
                                        <p:attrNameLst>
                                          <p:attrName>style.visibility</p:attrName>
                                        </p:attrNameLst>
                                      </p:cBhvr>
                                      <p:to>
                                        <p:strVal val="visible"/>
                                      </p:to>
                                    </p:set>
                                    <p:anim calcmode="lin" valueType="num">
                                      <p:cBhvr additive="base">
                                        <p:cTn id="109" dur="500" fill="hold"/>
                                        <p:tgtEl>
                                          <p:spTgt spid="64"/>
                                        </p:tgtEl>
                                        <p:attrNameLst>
                                          <p:attrName>ppt_x</p:attrName>
                                        </p:attrNameLst>
                                      </p:cBhvr>
                                      <p:tavLst>
                                        <p:tav tm="0">
                                          <p:val>
                                            <p:strVal val="0-#ppt_w/2"/>
                                          </p:val>
                                        </p:tav>
                                        <p:tav tm="100000">
                                          <p:val>
                                            <p:strVal val="#ppt_x"/>
                                          </p:val>
                                        </p:tav>
                                      </p:tavLst>
                                    </p:anim>
                                    <p:anim calcmode="lin" valueType="num">
                                      <p:cBhvr additive="base">
                                        <p:cTn id="110" dur="500" fill="hold"/>
                                        <p:tgtEl>
                                          <p:spTgt spid="64"/>
                                        </p:tgtEl>
                                        <p:attrNameLst>
                                          <p:attrName>ppt_y</p:attrName>
                                        </p:attrNameLst>
                                      </p:cBhvr>
                                      <p:tavLst>
                                        <p:tav tm="0">
                                          <p:val>
                                            <p:strVal val="#ppt_y"/>
                                          </p:val>
                                        </p:tav>
                                        <p:tav tm="100000">
                                          <p:val>
                                            <p:strVal val="#ppt_y"/>
                                          </p:val>
                                        </p:tav>
                                      </p:tavLst>
                                    </p:anim>
                                  </p:childTnLst>
                                </p:cTn>
                              </p:par>
                              <p:par>
                                <p:cTn id="111" presetID="2" presetClass="entr" presetSubtype="8" accel="6000" decel="80000" fill="hold" nodeType="withEffect">
                                  <p:stCondLst>
                                    <p:cond delay="0"/>
                                  </p:stCondLst>
                                  <p:childTnLst>
                                    <p:set>
                                      <p:cBhvr>
                                        <p:cTn id="112" dur="1" fill="hold">
                                          <p:stCondLst>
                                            <p:cond delay="0"/>
                                          </p:stCondLst>
                                        </p:cTn>
                                        <p:tgtEl>
                                          <p:spTgt spid="54"/>
                                        </p:tgtEl>
                                        <p:attrNameLst>
                                          <p:attrName>style.visibility</p:attrName>
                                        </p:attrNameLst>
                                      </p:cBhvr>
                                      <p:to>
                                        <p:strVal val="visible"/>
                                      </p:to>
                                    </p:set>
                                    <p:anim calcmode="lin" valueType="num">
                                      <p:cBhvr additive="base">
                                        <p:cTn id="113" dur="500" fill="hold"/>
                                        <p:tgtEl>
                                          <p:spTgt spid="54"/>
                                        </p:tgtEl>
                                        <p:attrNameLst>
                                          <p:attrName>ppt_x</p:attrName>
                                        </p:attrNameLst>
                                      </p:cBhvr>
                                      <p:tavLst>
                                        <p:tav tm="0">
                                          <p:val>
                                            <p:strVal val="0-#ppt_w/2"/>
                                          </p:val>
                                        </p:tav>
                                        <p:tav tm="100000">
                                          <p:val>
                                            <p:strVal val="#ppt_x"/>
                                          </p:val>
                                        </p:tav>
                                      </p:tavLst>
                                    </p:anim>
                                    <p:anim calcmode="lin" valueType="num">
                                      <p:cBhvr additive="base">
                                        <p:cTn id="114" dur="500" fill="hold"/>
                                        <p:tgtEl>
                                          <p:spTgt spid="54"/>
                                        </p:tgtEl>
                                        <p:attrNameLst>
                                          <p:attrName>ppt_y</p:attrName>
                                        </p:attrNameLst>
                                      </p:cBhvr>
                                      <p:tavLst>
                                        <p:tav tm="0">
                                          <p:val>
                                            <p:strVal val="#ppt_y"/>
                                          </p:val>
                                        </p:tav>
                                        <p:tav tm="100000">
                                          <p:val>
                                            <p:strVal val="#ppt_y"/>
                                          </p:val>
                                        </p:tav>
                                      </p:tavLst>
                                    </p:anim>
                                  </p:childTnLst>
                                </p:cTn>
                              </p:par>
                              <p:par>
                                <p:cTn id="115" presetID="2" presetClass="entr" presetSubtype="8" accel="6000" decel="80000" fill="hold" nodeType="withEffect">
                                  <p:stCondLst>
                                    <p:cond delay="0"/>
                                  </p:stCondLst>
                                  <p:childTnLst>
                                    <p:set>
                                      <p:cBhvr>
                                        <p:cTn id="116" dur="1" fill="hold">
                                          <p:stCondLst>
                                            <p:cond delay="0"/>
                                          </p:stCondLst>
                                        </p:cTn>
                                        <p:tgtEl>
                                          <p:spTgt spid="60"/>
                                        </p:tgtEl>
                                        <p:attrNameLst>
                                          <p:attrName>style.visibility</p:attrName>
                                        </p:attrNameLst>
                                      </p:cBhvr>
                                      <p:to>
                                        <p:strVal val="visible"/>
                                      </p:to>
                                    </p:set>
                                    <p:anim calcmode="lin" valueType="num">
                                      <p:cBhvr additive="base">
                                        <p:cTn id="117" dur="500" fill="hold"/>
                                        <p:tgtEl>
                                          <p:spTgt spid="60"/>
                                        </p:tgtEl>
                                        <p:attrNameLst>
                                          <p:attrName>ppt_x</p:attrName>
                                        </p:attrNameLst>
                                      </p:cBhvr>
                                      <p:tavLst>
                                        <p:tav tm="0">
                                          <p:val>
                                            <p:strVal val="0-#ppt_w/2"/>
                                          </p:val>
                                        </p:tav>
                                        <p:tav tm="100000">
                                          <p:val>
                                            <p:strVal val="#ppt_x"/>
                                          </p:val>
                                        </p:tav>
                                      </p:tavLst>
                                    </p:anim>
                                    <p:anim calcmode="lin" valueType="num">
                                      <p:cBhvr additive="base">
                                        <p:cTn id="118" dur="500" fill="hold"/>
                                        <p:tgtEl>
                                          <p:spTgt spid="60"/>
                                        </p:tgtEl>
                                        <p:attrNameLst>
                                          <p:attrName>ppt_y</p:attrName>
                                        </p:attrNameLst>
                                      </p:cBhvr>
                                      <p:tavLst>
                                        <p:tav tm="0">
                                          <p:val>
                                            <p:strVal val="#ppt_y"/>
                                          </p:val>
                                        </p:tav>
                                        <p:tav tm="100000">
                                          <p:val>
                                            <p:strVal val="#ppt_y"/>
                                          </p:val>
                                        </p:tav>
                                      </p:tavLst>
                                    </p:anim>
                                  </p:childTnLst>
                                </p:cTn>
                              </p:par>
                              <p:par>
                                <p:cTn id="119" presetID="2" presetClass="entr" presetSubtype="8" accel="6000" decel="80000" fill="hold" nodeType="withEffect">
                                  <p:stCondLst>
                                    <p:cond delay="0"/>
                                  </p:stCondLst>
                                  <p:childTnLst>
                                    <p:set>
                                      <p:cBhvr>
                                        <p:cTn id="120" dur="1" fill="hold">
                                          <p:stCondLst>
                                            <p:cond delay="0"/>
                                          </p:stCondLst>
                                        </p:cTn>
                                        <p:tgtEl>
                                          <p:spTgt spid="73"/>
                                        </p:tgtEl>
                                        <p:attrNameLst>
                                          <p:attrName>style.visibility</p:attrName>
                                        </p:attrNameLst>
                                      </p:cBhvr>
                                      <p:to>
                                        <p:strVal val="visible"/>
                                      </p:to>
                                    </p:set>
                                    <p:anim calcmode="lin" valueType="num">
                                      <p:cBhvr additive="base">
                                        <p:cTn id="121" dur="500" fill="hold"/>
                                        <p:tgtEl>
                                          <p:spTgt spid="73"/>
                                        </p:tgtEl>
                                        <p:attrNameLst>
                                          <p:attrName>ppt_x</p:attrName>
                                        </p:attrNameLst>
                                      </p:cBhvr>
                                      <p:tavLst>
                                        <p:tav tm="0">
                                          <p:val>
                                            <p:strVal val="0-#ppt_w/2"/>
                                          </p:val>
                                        </p:tav>
                                        <p:tav tm="100000">
                                          <p:val>
                                            <p:strVal val="#ppt_x"/>
                                          </p:val>
                                        </p:tav>
                                      </p:tavLst>
                                    </p:anim>
                                    <p:anim calcmode="lin" valueType="num">
                                      <p:cBhvr additive="base">
                                        <p:cTn id="122" dur="500" fill="hold"/>
                                        <p:tgtEl>
                                          <p:spTgt spid="73"/>
                                        </p:tgtEl>
                                        <p:attrNameLst>
                                          <p:attrName>ppt_y</p:attrName>
                                        </p:attrNameLst>
                                      </p:cBhvr>
                                      <p:tavLst>
                                        <p:tav tm="0">
                                          <p:val>
                                            <p:strVal val="#ppt_y"/>
                                          </p:val>
                                        </p:tav>
                                        <p:tav tm="100000">
                                          <p:val>
                                            <p:strVal val="#ppt_y"/>
                                          </p:val>
                                        </p:tav>
                                      </p:tavLst>
                                    </p:anim>
                                  </p:childTnLst>
                                </p:cTn>
                              </p:par>
                              <p:par>
                                <p:cTn id="123" presetID="2" presetClass="entr" presetSubtype="8" accel="6000" decel="80000" fill="hold" nodeType="withEffect">
                                  <p:stCondLst>
                                    <p:cond delay="0"/>
                                  </p:stCondLst>
                                  <p:childTnLst>
                                    <p:set>
                                      <p:cBhvr>
                                        <p:cTn id="124" dur="1" fill="hold">
                                          <p:stCondLst>
                                            <p:cond delay="0"/>
                                          </p:stCondLst>
                                        </p:cTn>
                                        <p:tgtEl>
                                          <p:spTgt spid="71"/>
                                        </p:tgtEl>
                                        <p:attrNameLst>
                                          <p:attrName>style.visibility</p:attrName>
                                        </p:attrNameLst>
                                      </p:cBhvr>
                                      <p:to>
                                        <p:strVal val="visible"/>
                                      </p:to>
                                    </p:set>
                                    <p:anim calcmode="lin" valueType="num">
                                      <p:cBhvr additive="base">
                                        <p:cTn id="125" dur="500" fill="hold"/>
                                        <p:tgtEl>
                                          <p:spTgt spid="71"/>
                                        </p:tgtEl>
                                        <p:attrNameLst>
                                          <p:attrName>ppt_x</p:attrName>
                                        </p:attrNameLst>
                                      </p:cBhvr>
                                      <p:tavLst>
                                        <p:tav tm="0">
                                          <p:val>
                                            <p:strVal val="0-#ppt_w/2"/>
                                          </p:val>
                                        </p:tav>
                                        <p:tav tm="100000">
                                          <p:val>
                                            <p:strVal val="#ppt_x"/>
                                          </p:val>
                                        </p:tav>
                                      </p:tavLst>
                                    </p:anim>
                                    <p:anim calcmode="lin" valueType="num">
                                      <p:cBhvr additive="base">
                                        <p:cTn id="126" dur="500" fill="hold"/>
                                        <p:tgtEl>
                                          <p:spTgt spid="71"/>
                                        </p:tgtEl>
                                        <p:attrNameLst>
                                          <p:attrName>ppt_y</p:attrName>
                                        </p:attrNameLst>
                                      </p:cBhvr>
                                      <p:tavLst>
                                        <p:tav tm="0">
                                          <p:val>
                                            <p:strVal val="#ppt_y"/>
                                          </p:val>
                                        </p:tav>
                                        <p:tav tm="100000">
                                          <p:val>
                                            <p:strVal val="#ppt_y"/>
                                          </p:val>
                                        </p:tav>
                                      </p:tavLst>
                                    </p:anim>
                                  </p:childTnLst>
                                </p:cTn>
                              </p:par>
                              <p:par>
                                <p:cTn id="127" presetID="2" presetClass="entr" presetSubtype="8" accel="6000" decel="80000" fill="hold" nodeType="withEffect">
                                  <p:stCondLst>
                                    <p:cond delay="0"/>
                                  </p:stCondLst>
                                  <p:childTnLst>
                                    <p:set>
                                      <p:cBhvr>
                                        <p:cTn id="128" dur="1" fill="hold">
                                          <p:stCondLst>
                                            <p:cond delay="0"/>
                                          </p:stCondLst>
                                        </p:cTn>
                                        <p:tgtEl>
                                          <p:spTgt spid="52"/>
                                        </p:tgtEl>
                                        <p:attrNameLst>
                                          <p:attrName>style.visibility</p:attrName>
                                        </p:attrNameLst>
                                      </p:cBhvr>
                                      <p:to>
                                        <p:strVal val="visible"/>
                                      </p:to>
                                    </p:set>
                                    <p:anim calcmode="lin" valueType="num">
                                      <p:cBhvr additive="base">
                                        <p:cTn id="129" dur="500" fill="hold"/>
                                        <p:tgtEl>
                                          <p:spTgt spid="52"/>
                                        </p:tgtEl>
                                        <p:attrNameLst>
                                          <p:attrName>ppt_x</p:attrName>
                                        </p:attrNameLst>
                                      </p:cBhvr>
                                      <p:tavLst>
                                        <p:tav tm="0">
                                          <p:val>
                                            <p:strVal val="0-#ppt_w/2"/>
                                          </p:val>
                                        </p:tav>
                                        <p:tav tm="100000">
                                          <p:val>
                                            <p:strVal val="#ppt_x"/>
                                          </p:val>
                                        </p:tav>
                                      </p:tavLst>
                                    </p:anim>
                                    <p:anim calcmode="lin" valueType="num">
                                      <p:cBhvr additive="base">
                                        <p:cTn id="130" dur="500" fill="hold"/>
                                        <p:tgtEl>
                                          <p:spTgt spid="52"/>
                                        </p:tgtEl>
                                        <p:attrNameLst>
                                          <p:attrName>ppt_y</p:attrName>
                                        </p:attrNameLst>
                                      </p:cBhvr>
                                      <p:tavLst>
                                        <p:tav tm="0">
                                          <p:val>
                                            <p:strVal val="#ppt_y"/>
                                          </p:val>
                                        </p:tav>
                                        <p:tav tm="100000">
                                          <p:val>
                                            <p:strVal val="#ppt_y"/>
                                          </p:val>
                                        </p:tav>
                                      </p:tavLst>
                                    </p:anim>
                                  </p:childTnLst>
                                </p:cTn>
                              </p:par>
                              <p:par>
                                <p:cTn id="131" presetID="2" presetClass="entr" presetSubtype="8" accel="6000" decel="80000" fill="hold" nodeType="withEffect">
                                  <p:stCondLst>
                                    <p:cond delay="0"/>
                                  </p:stCondLst>
                                  <p:childTnLst>
                                    <p:set>
                                      <p:cBhvr>
                                        <p:cTn id="132" dur="1" fill="hold">
                                          <p:stCondLst>
                                            <p:cond delay="0"/>
                                          </p:stCondLst>
                                        </p:cTn>
                                        <p:tgtEl>
                                          <p:spTgt spid="51"/>
                                        </p:tgtEl>
                                        <p:attrNameLst>
                                          <p:attrName>style.visibility</p:attrName>
                                        </p:attrNameLst>
                                      </p:cBhvr>
                                      <p:to>
                                        <p:strVal val="visible"/>
                                      </p:to>
                                    </p:set>
                                    <p:anim calcmode="lin" valueType="num">
                                      <p:cBhvr additive="base">
                                        <p:cTn id="133" dur="500" fill="hold"/>
                                        <p:tgtEl>
                                          <p:spTgt spid="51"/>
                                        </p:tgtEl>
                                        <p:attrNameLst>
                                          <p:attrName>ppt_x</p:attrName>
                                        </p:attrNameLst>
                                      </p:cBhvr>
                                      <p:tavLst>
                                        <p:tav tm="0">
                                          <p:val>
                                            <p:strVal val="0-#ppt_w/2"/>
                                          </p:val>
                                        </p:tav>
                                        <p:tav tm="100000">
                                          <p:val>
                                            <p:strVal val="#ppt_x"/>
                                          </p:val>
                                        </p:tav>
                                      </p:tavLst>
                                    </p:anim>
                                    <p:anim calcmode="lin" valueType="num">
                                      <p:cBhvr additive="base">
                                        <p:cTn id="134" dur="500" fill="hold"/>
                                        <p:tgtEl>
                                          <p:spTgt spid="51"/>
                                        </p:tgtEl>
                                        <p:attrNameLst>
                                          <p:attrName>ppt_y</p:attrName>
                                        </p:attrNameLst>
                                      </p:cBhvr>
                                      <p:tavLst>
                                        <p:tav tm="0">
                                          <p:val>
                                            <p:strVal val="#ppt_y"/>
                                          </p:val>
                                        </p:tav>
                                        <p:tav tm="100000">
                                          <p:val>
                                            <p:strVal val="#ppt_y"/>
                                          </p:val>
                                        </p:tav>
                                      </p:tavLst>
                                    </p:anim>
                                  </p:childTnLst>
                                </p:cTn>
                              </p:par>
                              <p:par>
                                <p:cTn id="135" presetID="2" presetClass="entr" presetSubtype="8" accel="6000" decel="80000" fill="hold" nodeType="withEffect">
                                  <p:stCondLst>
                                    <p:cond delay="0"/>
                                  </p:stCondLst>
                                  <p:childTnLst>
                                    <p:set>
                                      <p:cBhvr>
                                        <p:cTn id="136" dur="1" fill="hold">
                                          <p:stCondLst>
                                            <p:cond delay="0"/>
                                          </p:stCondLst>
                                        </p:cTn>
                                        <p:tgtEl>
                                          <p:spTgt spid="62"/>
                                        </p:tgtEl>
                                        <p:attrNameLst>
                                          <p:attrName>style.visibility</p:attrName>
                                        </p:attrNameLst>
                                      </p:cBhvr>
                                      <p:to>
                                        <p:strVal val="visible"/>
                                      </p:to>
                                    </p:set>
                                    <p:anim calcmode="lin" valueType="num">
                                      <p:cBhvr additive="base">
                                        <p:cTn id="137" dur="500" fill="hold"/>
                                        <p:tgtEl>
                                          <p:spTgt spid="62"/>
                                        </p:tgtEl>
                                        <p:attrNameLst>
                                          <p:attrName>ppt_x</p:attrName>
                                        </p:attrNameLst>
                                      </p:cBhvr>
                                      <p:tavLst>
                                        <p:tav tm="0">
                                          <p:val>
                                            <p:strVal val="0-#ppt_w/2"/>
                                          </p:val>
                                        </p:tav>
                                        <p:tav tm="100000">
                                          <p:val>
                                            <p:strVal val="#ppt_x"/>
                                          </p:val>
                                        </p:tav>
                                      </p:tavLst>
                                    </p:anim>
                                    <p:anim calcmode="lin" valueType="num">
                                      <p:cBhvr additive="base">
                                        <p:cTn id="138" dur="500" fill="hold"/>
                                        <p:tgtEl>
                                          <p:spTgt spid="62"/>
                                        </p:tgtEl>
                                        <p:attrNameLst>
                                          <p:attrName>ppt_y</p:attrName>
                                        </p:attrNameLst>
                                      </p:cBhvr>
                                      <p:tavLst>
                                        <p:tav tm="0">
                                          <p:val>
                                            <p:strVal val="#ppt_y"/>
                                          </p:val>
                                        </p:tav>
                                        <p:tav tm="100000">
                                          <p:val>
                                            <p:strVal val="#ppt_y"/>
                                          </p:val>
                                        </p:tav>
                                      </p:tavLst>
                                    </p:anim>
                                  </p:childTnLst>
                                </p:cTn>
                              </p:par>
                              <p:par>
                                <p:cTn id="139" presetID="2" presetClass="entr" presetSubtype="8" accel="6000" decel="80000" fill="hold" nodeType="withEffect">
                                  <p:stCondLst>
                                    <p:cond delay="0"/>
                                  </p:stCondLst>
                                  <p:childTnLst>
                                    <p:set>
                                      <p:cBhvr>
                                        <p:cTn id="140" dur="1" fill="hold">
                                          <p:stCondLst>
                                            <p:cond delay="0"/>
                                          </p:stCondLst>
                                        </p:cTn>
                                        <p:tgtEl>
                                          <p:spTgt spid="44"/>
                                        </p:tgtEl>
                                        <p:attrNameLst>
                                          <p:attrName>style.visibility</p:attrName>
                                        </p:attrNameLst>
                                      </p:cBhvr>
                                      <p:to>
                                        <p:strVal val="visible"/>
                                      </p:to>
                                    </p:set>
                                    <p:anim calcmode="lin" valueType="num">
                                      <p:cBhvr additive="base">
                                        <p:cTn id="141" dur="500" fill="hold"/>
                                        <p:tgtEl>
                                          <p:spTgt spid="44"/>
                                        </p:tgtEl>
                                        <p:attrNameLst>
                                          <p:attrName>ppt_x</p:attrName>
                                        </p:attrNameLst>
                                      </p:cBhvr>
                                      <p:tavLst>
                                        <p:tav tm="0">
                                          <p:val>
                                            <p:strVal val="0-#ppt_w/2"/>
                                          </p:val>
                                        </p:tav>
                                        <p:tav tm="100000">
                                          <p:val>
                                            <p:strVal val="#ppt_x"/>
                                          </p:val>
                                        </p:tav>
                                      </p:tavLst>
                                    </p:anim>
                                    <p:anim calcmode="lin" valueType="num">
                                      <p:cBhvr additive="base">
                                        <p:cTn id="142" dur="500" fill="hold"/>
                                        <p:tgtEl>
                                          <p:spTgt spid="44"/>
                                        </p:tgtEl>
                                        <p:attrNameLst>
                                          <p:attrName>ppt_y</p:attrName>
                                        </p:attrNameLst>
                                      </p:cBhvr>
                                      <p:tavLst>
                                        <p:tav tm="0">
                                          <p:val>
                                            <p:strVal val="#ppt_y"/>
                                          </p:val>
                                        </p:tav>
                                        <p:tav tm="100000">
                                          <p:val>
                                            <p:strVal val="#ppt_y"/>
                                          </p:val>
                                        </p:tav>
                                      </p:tavLst>
                                    </p:anim>
                                  </p:childTnLst>
                                </p:cTn>
                              </p:par>
                              <p:par>
                                <p:cTn id="143" presetID="2" presetClass="entr" presetSubtype="8" accel="6000" decel="80000" fill="hold" nodeType="withEffect">
                                  <p:stCondLst>
                                    <p:cond delay="0"/>
                                  </p:stCondLst>
                                  <p:childTnLst>
                                    <p:set>
                                      <p:cBhvr>
                                        <p:cTn id="144" dur="1" fill="hold">
                                          <p:stCondLst>
                                            <p:cond delay="0"/>
                                          </p:stCondLst>
                                        </p:cTn>
                                        <p:tgtEl>
                                          <p:spTgt spid="68"/>
                                        </p:tgtEl>
                                        <p:attrNameLst>
                                          <p:attrName>style.visibility</p:attrName>
                                        </p:attrNameLst>
                                      </p:cBhvr>
                                      <p:to>
                                        <p:strVal val="visible"/>
                                      </p:to>
                                    </p:set>
                                    <p:anim calcmode="lin" valueType="num">
                                      <p:cBhvr additive="base">
                                        <p:cTn id="145" dur="500" fill="hold"/>
                                        <p:tgtEl>
                                          <p:spTgt spid="68"/>
                                        </p:tgtEl>
                                        <p:attrNameLst>
                                          <p:attrName>ppt_x</p:attrName>
                                        </p:attrNameLst>
                                      </p:cBhvr>
                                      <p:tavLst>
                                        <p:tav tm="0">
                                          <p:val>
                                            <p:strVal val="0-#ppt_w/2"/>
                                          </p:val>
                                        </p:tav>
                                        <p:tav tm="100000">
                                          <p:val>
                                            <p:strVal val="#ppt_x"/>
                                          </p:val>
                                        </p:tav>
                                      </p:tavLst>
                                    </p:anim>
                                    <p:anim calcmode="lin" valueType="num">
                                      <p:cBhvr additive="base">
                                        <p:cTn id="146" dur="500" fill="hold"/>
                                        <p:tgtEl>
                                          <p:spTgt spid="68"/>
                                        </p:tgtEl>
                                        <p:attrNameLst>
                                          <p:attrName>ppt_y</p:attrName>
                                        </p:attrNameLst>
                                      </p:cBhvr>
                                      <p:tavLst>
                                        <p:tav tm="0">
                                          <p:val>
                                            <p:strVal val="#ppt_y"/>
                                          </p:val>
                                        </p:tav>
                                        <p:tav tm="100000">
                                          <p:val>
                                            <p:strVal val="#ppt_y"/>
                                          </p:val>
                                        </p:tav>
                                      </p:tavLst>
                                    </p:anim>
                                  </p:childTnLst>
                                </p:cTn>
                              </p:par>
                              <p:par>
                                <p:cTn id="147" presetID="2" presetClass="entr" presetSubtype="8" accel="6000" decel="80000" fill="hold" nodeType="withEffect">
                                  <p:stCondLst>
                                    <p:cond delay="0"/>
                                  </p:stCondLst>
                                  <p:childTnLst>
                                    <p:set>
                                      <p:cBhvr>
                                        <p:cTn id="148" dur="1" fill="hold">
                                          <p:stCondLst>
                                            <p:cond delay="0"/>
                                          </p:stCondLst>
                                        </p:cTn>
                                        <p:tgtEl>
                                          <p:spTgt spid="56"/>
                                        </p:tgtEl>
                                        <p:attrNameLst>
                                          <p:attrName>style.visibility</p:attrName>
                                        </p:attrNameLst>
                                      </p:cBhvr>
                                      <p:to>
                                        <p:strVal val="visible"/>
                                      </p:to>
                                    </p:set>
                                    <p:anim calcmode="lin" valueType="num">
                                      <p:cBhvr additive="base">
                                        <p:cTn id="149" dur="500" fill="hold"/>
                                        <p:tgtEl>
                                          <p:spTgt spid="56"/>
                                        </p:tgtEl>
                                        <p:attrNameLst>
                                          <p:attrName>ppt_x</p:attrName>
                                        </p:attrNameLst>
                                      </p:cBhvr>
                                      <p:tavLst>
                                        <p:tav tm="0">
                                          <p:val>
                                            <p:strVal val="0-#ppt_w/2"/>
                                          </p:val>
                                        </p:tav>
                                        <p:tav tm="100000">
                                          <p:val>
                                            <p:strVal val="#ppt_x"/>
                                          </p:val>
                                        </p:tav>
                                      </p:tavLst>
                                    </p:anim>
                                    <p:anim calcmode="lin" valueType="num">
                                      <p:cBhvr additive="base">
                                        <p:cTn id="150" dur="500" fill="hold"/>
                                        <p:tgtEl>
                                          <p:spTgt spid="56"/>
                                        </p:tgtEl>
                                        <p:attrNameLst>
                                          <p:attrName>ppt_y</p:attrName>
                                        </p:attrNameLst>
                                      </p:cBhvr>
                                      <p:tavLst>
                                        <p:tav tm="0">
                                          <p:val>
                                            <p:strVal val="#ppt_y"/>
                                          </p:val>
                                        </p:tav>
                                        <p:tav tm="100000">
                                          <p:val>
                                            <p:strVal val="#ppt_y"/>
                                          </p:val>
                                        </p:tav>
                                      </p:tavLst>
                                    </p:anim>
                                  </p:childTnLst>
                                </p:cTn>
                              </p:par>
                              <p:par>
                                <p:cTn id="151" presetID="2" presetClass="entr" presetSubtype="8" accel="6000" decel="80000" fill="hold" nodeType="withEffect">
                                  <p:stCondLst>
                                    <p:cond delay="0"/>
                                  </p:stCondLst>
                                  <p:childTnLst>
                                    <p:set>
                                      <p:cBhvr>
                                        <p:cTn id="152" dur="1" fill="hold">
                                          <p:stCondLst>
                                            <p:cond delay="0"/>
                                          </p:stCondLst>
                                        </p:cTn>
                                        <p:tgtEl>
                                          <p:spTgt spid="72"/>
                                        </p:tgtEl>
                                        <p:attrNameLst>
                                          <p:attrName>style.visibility</p:attrName>
                                        </p:attrNameLst>
                                      </p:cBhvr>
                                      <p:to>
                                        <p:strVal val="visible"/>
                                      </p:to>
                                    </p:set>
                                    <p:anim calcmode="lin" valueType="num">
                                      <p:cBhvr additive="base">
                                        <p:cTn id="153" dur="500" fill="hold"/>
                                        <p:tgtEl>
                                          <p:spTgt spid="72"/>
                                        </p:tgtEl>
                                        <p:attrNameLst>
                                          <p:attrName>ppt_x</p:attrName>
                                        </p:attrNameLst>
                                      </p:cBhvr>
                                      <p:tavLst>
                                        <p:tav tm="0">
                                          <p:val>
                                            <p:strVal val="0-#ppt_w/2"/>
                                          </p:val>
                                        </p:tav>
                                        <p:tav tm="100000">
                                          <p:val>
                                            <p:strVal val="#ppt_x"/>
                                          </p:val>
                                        </p:tav>
                                      </p:tavLst>
                                    </p:anim>
                                    <p:anim calcmode="lin" valueType="num">
                                      <p:cBhvr additive="base">
                                        <p:cTn id="154" dur="500" fill="hold"/>
                                        <p:tgtEl>
                                          <p:spTgt spid="72"/>
                                        </p:tgtEl>
                                        <p:attrNameLst>
                                          <p:attrName>ppt_y</p:attrName>
                                        </p:attrNameLst>
                                      </p:cBhvr>
                                      <p:tavLst>
                                        <p:tav tm="0">
                                          <p:val>
                                            <p:strVal val="#ppt_y"/>
                                          </p:val>
                                        </p:tav>
                                        <p:tav tm="100000">
                                          <p:val>
                                            <p:strVal val="#ppt_y"/>
                                          </p:val>
                                        </p:tav>
                                      </p:tavLst>
                                    </p:anim>
                                  </p:childTnLst>
                                </p:cTn>
                              </p:par>
                              <p:par>
                                <p:cTn id="155" presetID="2" presetClass="entr" presetSubtype="8" accel="6000" decel="80000" fill="hold" nodeType="withEffect">
                                  <p:stCondLst>
                                    <p:cond delay="0"/>
                                  </p:stCondLst>
                                  <p:childTnLst>
                                    <p:set>
                                      <p:cBhvr>
                                        <p:cTn id="156" dur="1" fill="hold">
                                          <p:stCondLst>
                                            <p:cond delay="0"/>
                                          </p:stCondLst>
                                        </p:cTn>
                                        <p:tgtEl>
                                          <p:spTgt spid="66"/>
                                        </p:tgtEl>
                                        <p:attrNameLst>
                                          <p:attrName>style.visibility</p:attrName>
                                        </p:attrNameLst>
                                      </p:cBhvr>
                                      <p:to>
                                        <p:strVal val="visible"/>
                                      </p:to>
                                    </p:set>
                                    <p:anim calcmode="lin" valueType="num">
                                      <p:cBhvr additive="base">
                                        <p:cTn id="157" dur="500" fill="hold"/>
                                        <p:tgtEl>
                                          <p:spTgt spid="66"/>
                                        </p:tgtEl>
                                        <p:attrNameLst>
                                          <p:attrName>ppt_x</p:attrName>
                                        </p:attrNameLst>
                                      </p:cBhvr>
                                      <p:tavLst>
                                        <p:tav tm="0">
                                          <p:val>
                                            <p:strVal val="0-#ppt_w/2"/>
                                          </p:val>
                                        </p:tav>
                                        <p:tav tm="100000">
                                          <p:val>
                                            <p:strVal val="#ppt_x"/>
                                          </p:val>
                                        </p:tav>
                                      </p:tavLst>
                                    </p:anim>
                                    <p:anim calcmode="lin" valueType="num">
                                      <p:cBhvr additive="base">
                                        <p:cTn id="158" dur="500" fill="hold"/>
                                        <p:tgtEl>
                                          <p:spTgt spid="66"/>
                                        </p:tgtEl>
                                        <p:attrNameLst>
                                          <p:attrName>ppt_y</p:attrName>
                                        </p:attrNameLst>
                                      </p:cBhvr>
                                      <p:tavLst>
                                        <p:tav tm="0">
                                          <p:val>
                                            <p:strVal val="#ppt_y"/>
                                          </p:val>
                                        </p:tav>
                                        <p:tav tm="100000">
                                          <p:val>
                                            <p:strVal val="#ppt_y"/>
                                          </p:val>
                                        </p:tav>
                                      </p:tavLst>
                                    </p:anim>
                                  </p:childTnLst>
                                </p:cTn>
                              </p:par>
                              <p:par>
                                <p:cTn id="159" presetID="2" presetClass="entr" presetSubtype="8" accel="6000" decel="80000" fill="hold" nodeType="withEffect">
                                  <p:stCondLst>
                                    <p:cond delay="0"/>
                                  </p:stCondLst>
                                  <p:childTnLst>
                                    <p:set>
                                      <p:cBhvr>
                                        <p:cTn id="160" dur="1" fill="hold">
                                          <p:stCondLst>
                                            <p:cond delay="0"/>
                                          </p:stCondLst>
                                        </p:cTn>
                                        <p:tgtEl>
                                          <p:spTgt spid="53"/>
                                        </p:tgtEl>
                                        <p:attrNameLst>
                                          <p:attrName>style.visibility</p:attrName>
                                        </p:attrNameLst>
                                      </p:cBhvr>
                                      <p:to>
                                        <p:strVal val="visible"/>
                                      </p:to>
                                    </p:set>
                                    <p:anim calcmode="lin" valueType="num">
                                      <p:cBhvr additive="base">
                                        <p:cTn id="161" dur="500" fill="hold"/>
                                        <p:tgtEl>
                                          <p:spTgt spid="53"/>
                                        </p:tgtEl>
                                        <p:attrNameLst>
                                          <p:attrName>ppt_x</p:attrName>
                                        </p:attrNameLst>
                                      </p:cBhvr>
                                      <p:tavLst>
                                        <p:tav tm="0">
                                          <p:val>
                                            <p:strVal val="0-#ppt_w/2"/>
                                          </p:val>
                                        </p:tav>
                                        <p:tav tm="100000">
                                          <p:val>
                                            <p:strVal val="#ppt_x"/>
                                          </p:val>
                                        </p:tav>
                                      </p:tavLst>
                                    </p:anim>
                                    <p:anim calcmode="lin" valueType="num">
                                      <p:cBhvr additive="base">
                                        <p:cTn id="162" dur="500" fill="hold"/>
                                        <p:tgtEl>
                                          <p:spTgt spid="53"/>
                                        </p:tgtEl>
                                        <p:attrNameLst>
                                          <p:attrName>ppt_y</p:attrName>
                                        </p:attrNameLst>
                                      </p:cBhvr>
                                      <p:tavLst>
                                        <p:tav tm="0">
                                          <p:val>
                                            <p:strVal val="#ppt_y"/>
                                          </p:val>
                                        </p:tav>
                                        <p:tav tm="100000">
                                          <p:val>
                                            <p:strVal val="#ppt_y"/>
                                          </p:val>
                                        </p:tav>
                                      </p:tavLst>
                                    </p:anim>
                                  </p:childTnLst>
                                </p:cTn>
                              </p:par>
                              <p:par>
                                <p:cTn id="163" presetID="2" presetClass="entr" presetSubtype="8" accel="6000" decel="80000" fill="hold" nodeType="withEffect">
                                  <p:stCondLst>
                                    <p:cond delay="0"/>
                                  </p:stCondLst>
                                  <p:childTnLst>
                                    <p:set>
                                      <p:cBhvr>
                                        <p:cTn id="164" dur="1" fill="hold">
                                          <p:stCondLst>
                                            <p:cond delay="0"/>
                                          </p:stCondLst>
                                        </p:cTn>
                                        <p:tgtEl>
                                          <p:spTgt spid="67"/>
                                        </p:tgtEl>
                                        <p:attrNameLst>
                                          <p:attrName>style.visibility</p:attrName>
                                        </p:attrNameLst>
                                      </p:cBhvr>
                                      <p:to>
                                        <p:strVal val="visible"/>
                                      </p:to>
                                    </p:set>
                                    <p:anim calcmode="lin" valueType="num">
                                      <p:cBhvr additive="base">
                                        <p:cTn id="165" dur="500" fill="hold"/>
                                        <p:tgtEl>
                                          <p:spTgt spid="67"/>
                                        </p:tgtEl>
                                        <p:attrNameLst>
                                          <p:attrName>ppt_x</p:attrName>
                                        </p:attrNameLst>
                                      </p:cBhvr>
                                      <p:tavLst>
                                        <p:tav tm="0">
                                          <p:val>
                                            <p:strVal val="0-#ppt_w/2"/>
                                          </p:val>
                                        </p:tav>
                                        <p:tav tm="100000">
                                          <p:val>
                                            <p:strVal val="#ppt_x"/>
                                          </p:val>
                                        </p:tav>
                                      </p:tavLst>
                                    </p:anim>
                                    <p:anim calcmode="lin" valueType="num">
                                      <p:cBhvr additive="base">
                                        <p:cTn id="166" dur="500" fill="hold"/>
                                        <p:tgtEl>
                                          <p:spTgt spid="67"/>
                                        </p:tgtEl>
                                        <p:attrNameLst>
                                          <p:attrName>ppt_y</p:attrName>
                                        </p:attrNameLst>
                                      </p:cBhvr>
                                      <p:tavLst>
                                        <p:tav tm="0">
                                          <p:val>
                                            <p:strVal val="#ppt_y"/>
                                          </p:val>
                                        </p:tav>
                                        <p:tav tm="100000">
                                          <p:val>
                                            <p:strVal val="#ppt_y"/>
                                          </p:val>
                                        </p:tav>
                                      </p:tavLst>
                                    </p:anim>
                                  </p:childTnLst>
                                </p:cTn>
                              </p:par>
                              <p:par>
                                <p:cTn id="167" presetID="2" presetClass="entr" presetSubtype="8" accel="6000" decel="80000" fill="hold" nodeType="withEffect">
                                  <p:stCondLst>
                                    <p:cond delay="0"/>
                                  </p:stCondLst>
                                  <p:childTnLst>
                                    <p:set>
                                      <p:cBhvr>
                                        <p:cTn id="168" dur="1" fill="hold">
                                          <p:stCondLst>
                                            <p:cond delay="0"/>
                                          </p:stCondLst>
                                        </p:cTn>
                                        <p:tgtEl>
                                          <p:spTgt spid="57"/>
                                        </p:tgtEl>
                                        <p:attrNameLst>
                                          <p:attrName>style.visibility</p:attrName>
                                        </p:attrNameLst>
                                      </p:cBhvr>
                                      <p:to>
                                        <p:strVal val="visible"/>
                                      </p:to>
                                    </p:set>
                                    <p:anim calcmode="lin" valueType="num">
                                      <p:cBhvr additive="base">
                                        <p:cTn id="169" dur="500" fill="hold"/>
                                        <p:tgtEl>
                                          <p:spTgt spid="57"/>
                                        </p:tgtEl>
                                        <p:attrNameLst>
                                          <p:attrName>ppt_x</p:attrName>
                                        </p:attrNameLst>
                                      </p:cBhvr>
                                      <p:tavLst>
                                        <p:tav tm="0">
                                          <p:val>
                                            <p:strVal val="0-#ppt_w/2"/>
                                          </p:val>
                                        </p:tav>
                                        <p:tav tm="100000">
                                          <p:val>
                                            <p:strVal val="#ppt_x"/>
                                          </p:val>
                                        </p:tav>
                                      </p:tavLst>
                                    </p:anim>
                                    <p:anim calcmode="lin" valueType="num">
                                      <p:cBhvr additive="base">
                                        <p:cTn id="170" dur="500" fill="hold"/>
                                        <p:tgtEl>
                                          <p:spTgt spid="57"/>
                                        </p:tgtEl>
                                        <p:attrNameLst>
                                          <p:attrName>ppt_y</p:attrName>
                                        </p:attrNameLst>
                                      </p:cBhvr>
                                      <p:tavLst>
                                        <p:tav tm="0">
                                          <p:val>
                                            <p:strVal val="#ppt_y"/>
                                          </p:val>
                                        </p:tav>
                                        <p:tav tm="100000">
                                          <p:val>
                                            <p:strVal val="#ppt_y"/>
                                          </p:val>
                                        </p:tav>
                                      </p:tavLst>
                                    </p:anim>
                                  </p:childTnLst>
                                </p:cTn>
                              </p:par>
                              <p:par>
                                <p:cTn id="171" presetID="2" presetClass="entr" presetSubtype="8" accel="6000" decel="80000" fill="hold" nodeType="withEffect">
                                  <p:stCondLst>
                                    <p:cond delay="0"/>
                                  </p:stCondLst>
                                  <p:childTnLst>
                                    <p:set>
                                      <p:cBhvr>
                                        <p:cTn id="172" dur="1" fill="hold">
                                          <p:stCondLst>
                                            <p:cond delay="0"/>
                                          </p:stCondLst>
                                        </p:cTn>
                                        <p:tgtEl>
                                          <p:spTgt spid="69"/>
                                        </p:tgtEl>
                                        <p:attrNameLst>
                                          <p:attrName>style.visibility</p:attrName>
                                        </p:attrNameLst>
                                      </p:cBhvr>
                                      <p:to>
                                        <p:strVal val="visible"/>
                                      </p:to>
                                    </p:set>
                                    <p:anim calcmode="lin" valueType="num">
                                      <p:cBhvr additive="base">
                                        <p:cTn id="173" dur="500" fill="hold"/>
                                        <p:tgtEl>
                                          <p:spTgt spid="69"/>
                                        </p:tgtEl>
                                        <p:attrNameLst>
                                          <p:attrName>ppt_x</p:attrName>
                                        </p:attrNameLst>
                                      </p:cBhvr>
                                      <p:tavLst>
                                        <p:tav tm="0">
                                          <p:val>
                                            <p:strVal val="0-#ppt_w/2"/>
                                          </p:val>
                                        </p:tav>
                                        <p:tav tm="100000">
                                          <p:val>
                                            <p:strVal val="#ppt_x"/>
                                          </p:val>
                                        </p:tav>
                                      </p:tavLst>
                                    </p:anim>
                                    <p:anim calcmode="lin" valueType="num">
                                      <p:cBhvr additive="base">
                                        <p:cTn id="174" dur="500" fill="hold"/>
                                        <p:tgtEl>
                                          <p:spTgt spid="69"/>
                                        </p:tgtEl>
                                        <p:attrNameLst>
                                          <p:attrName>ppt_y</p:attrName>
                                        </p:attrNameLst>
                                      </p:cBhvr>
                                      <p:tavLst>
                                        <p:tav tm="0">
                                          <p:val>
                                            <p:strVal val="#ppt_y"/>
                                          </p:val>
                                        </p:tav>
                                        <p:tav tm="100000">
                                          <p:val>
                                            <p:strVal val="#ppt_y"/>
                                          </p:val>
                                        </p:tav>
                                      </p:tavLst>
                                    </p:anim>
                                  </p:childTnLst>
                                </p:cTn>
                              </p:par>
                              <p:par>
                                <p:cTn id="175" presetID="2" presetClass="entr" presetSubtype="8" accel="6000" decel="80000" fill="hold" nodeType="withEffect">
                                  <p:stCondLst>
                                    <p:cond delay="0"/>
                                  </p:stCondLst>
                                  <p:childTnLst>
                                    <p:set>
                                      <p:cBhvr>
                                        <p:cTn id="176" dur="1" fill="hold">
                                          <p:stCondLst>
                                            <p:cond delay="0"/>
                                          </p:stCondLst>
                                        </p:cTn>
                                        <p:tgtEl>
                                          <p:spTgt spid="70"/>
                                        </p:tgtEl>
                                        <p:attrNameLst>
                                          <p:attrName>style.visibility</p:attrName>
                                        </p:attrNameLst>
                                      </p:cBhvr>
                                      <p:to>
                                        <p:strVal val="visible"/>
                                      </p:to>
                                    </p:set>
                                    <p:anim calcmode="lin" valueType="num">
                                      <p:cBhvr additive="base">
                                        <p:cTn id="177" dur="500" fill="hold"/>
                                        <p:tgtEl>
                                          <p:spTgt spid="70"/>
                                        </p:tgtEl>
                                        <p:attrNameLst>
                                          <p:attrName>ppt_x</p:attrName>
                                        </p:attrNameLst>
                                      </p:cBhvr>
                                      <p:tavLst>
                                        <p:tav tm="0">
                                          <p:val>
                                            <p:strVal val="0-#ppt_w/2"/>
                                          </p:val>
                                        </p:tav>
                                        <p:tav tm="100000">
                                          <p:val>
                                            <p:strVal val="#ppt_x"/>
                                          </p:val>
                                        </p:tav>
                                      </p:tavLst>
                                    </p:anim>
                                    <p:anim calcmode="lin" valueType="num">
                                      <p:cBhvr additive="base">
                                        <p:cTn id="178" dur="500" fill="hold"/>
                                        <p:tgtEl>
                                          <p:spTgt spid="70"/>
                                        </p:tgtEl>
                                        <p:attrNameLst>
                                          <p:attrName>ppt_y</p:attrName>
                                        </p:attrNameLst>
                                      </p:cBhvr>
                                      <p:tavLst>
                                        <p:tav tm="0">
                                          <p:val>
                                            <p:strVal val="#ppt_y"/>
                                          </p:val>
                                        </p:tav>
                                        <p:tav tm="100000">
                                          <p:val>
                                            <p:strVal val="#ppt_y"/>
                                          </p:val>
                                        </p:tav>
                                      </p:tavLst>
                                    </p:anim>
                                  </p:childTnLst>
                                </p:cTn>
                              </p:par>
                              <p:par>
                                <p:cTn id="179" presetID="2" presetClass="entr" presetSubtype="8" accel="6000" decel="80000" fill="hold" nodeType="withEffect">
                                  <p:stCondLst>
                                    <p:cond delay="0"/>
                                  </p:stCondLst>
                                  <p:childTnLst>
                                    <p:set>
                                      <p:cBhvr>
                                        <p:cTn id="180" dur="1" fill="hold">
                                          <p:stCondLst>
                                            <p:cond delay="0"/>
                                          </p:stCondLst>
                                        </p:cTn>
                                        <p:tgtEl>
                                          <p:spTgt spid="43"/>
                                        </p:tgtEl>
                                        <p:attrNameLst>
                                          <p:attrName>style.visibility</p:attrName>
                                        </p:attrNameLst>
                                      </p:cBhvr>
                                      <p:to>
                                        <p:strVal val="visible"/>
                                      </p:to>
                                    </p:set>
                                    <p:anim calcmode="lin" valueType="num">
                                      <p:cBhvr additive="base">
                                        <p:cTn id="181" dur="500" fill="hold"/>
                                        <p:tgtEl>
                                          <p:spTgt spid="43"/>
                                        </p:tgtEl>
                                        <p:attrNameLst>
                                          <p:attrName>ppt_x</p:attrName>
                                        </p:attrNameLst>
                                      </p:cBhvr>
                                      <p:tavLst>
                                        <p:tav tm="0">
                                          <p:val>
                                            <p:strVal val="0-#ppt_w/2"/>
                                          </p:val>
                                        </p:tav>
                                        <p:tav tm="100000">
                                          <p:val>
                                            <p:strVal val="#ppt_x"/>
                                          </p:val>
                                        </p:tav>
                                      </p:tavLst>
                                    </p:anim>
                                    <p:anim calcmode="lin" valueType="num">
                                      <p:cBhvr additive="base">
                                        <p:cTn id="182" dur="500" fill="hold"/>
                                        <p:tgtEl>
                                          <p:spTgt spid="43"/>
                                        </p:tgtEl>
                                        <p:attrNameLst>
                                          <p:attrName>ppt_y</p:attrName>
                                        </p:attrNameLst>
                                      </p:cBhvr>
                                      <p:tavLst>
                                        <p:tav tm="0">
                                          <p:val>
                                            <p:strVal val="#ppt_y"/>
                                          </p:val>
                                        </p:tav>
                                        <p:tav tm="100000">
                                          <p:val>
                                            <p:strVal val="#ppt_y"/>
                                          </p:val>
                                        </p:tav>
                                      </p:tavLst>
                                    </p:anim>
                                  </p:childTnLst>
                                </p:cTn>
                              </p:par>
                            </p:childTnLst>
                          </p:cTn>
                        </p:par>
                      </p:childTnLst>
                    </p:cTn>
                  </p:par>
                  <p:par>
                    <p:cTn id="183" fill="hold">
                      <p:stCondLst>
                        <p:cond delay="indefinite"/>
                      </p:stCondLst>
                      <p:childTnLst>
                        <p:par>
                          <p:cTn id="184" fill="hold">
                            <p:stCondLst>
                              <p:cond delay="0"/>
                            </p:stCondLst>
                            <p:childTnLst>
                              <p:par>
                                <p:cTn id="185" presetID="1" presetClass="entr" presetSubtype="0" fill="hold" grpId="0" nodeType="clickEffect">
                                  <p:stCondLst>
                                    <p:cond delay="0"/>
                                  </p:stCondLst>
                                  <p:childTnLst>
                                    <p:set>
                                      <p:cBhvr>
                                        <p:cTn id="186" dur="1" fill="hold">
                                          <p:stCondLst>
                                            <p:cond delay="0"/>
                                          </p:stCondLst>
                                        </p:cTn>
                                        <p:tgtEl>
                                          <p:spTgt spid="74"/>
                                        </p:tgtEl>
                                        <p:attrNameLst>
                                          <p:attrName>style.visibility</p:attrName>
                                        </p:attrNameLst>
                                      </p:cBhvr>
                                      <p:to>
                                        <p:strVal val="visible"/>
                                      </p:to>
                                    </p:set>
                                  </p:childTnLst>
                                </p:cTn>
                              </p:par>
                            </p:childTnLst>
                          </p:cTn>
                        </p:par>
                      </p:childTnLst>
                    </p:cTn>
                  </p:par>
                  <p:par>
                    <p:cTn id="187" fill="hold">
                      <p:stCondLst>
                        <p:cond delay="indefinite"/>
                      </p:stCondLst>
                      <p:childTnLst>
                        <p:par>
                          <p:cTn id="188" fill="hold">
                            <p:stCondLst>
                              <p:cond delay="0"/>
                            </p:stCondLst>
                            <p:childTnLst>
                              <p:par>
                                <p:cTn id="189" presetID="1" presetClass="entr" presetSubtype="0" fill="hold" grpId="0" nodeType="clickEffect">
                                  <p:stCondLst>
                                    <p:cond delay="0"/>
                                  </p:stCondLst>
                                  <p:childTnLst>
                                    <p:set>
                                      <p:cBhvr>
                                        <p:cTn id="190" dur="1" fill="hold">
                                          <p:stCondLst>
                                            <p:cond delay="0"/>
                                          </p:stCondLst>
                                        </p:cTn>
                                        <p:tgtEl>
                                          <p:spTgt spid="27"/>
                                        </p:tgtEl>
                                        <p:attrNameLst>
                                          <p:attrName>style.visibility</p:attrName>
                                        </p:attrNameLst>
                                      </p:cBhvr>
                                      <p:to>
                                        <p:strVal val="visible"/>
                                      </p:to>
                                    </p:set>
                                  </p:childTnLst>
                                </p:cTn>
                              </p:par>
                            </p:childTnLst>
                          </p:cTn>
                        </p:par>
                      </p:childTnLst>
                    </p:cTn>
                  </p:par>
                  <p:par>
                    <p:cTn id="191" fill="hold">
                      <p:stCondLst>
                        <p:cond delay="indefinite"/>
                      </p:stCondLst>
                      <p:childTnLst>
                        <p:par>
                          <p:cTn id="192" fill="hold">
                            <p:stCondLst>
                              <p:cond delay="0"/>
                            </p:stCondLst>
                            <p:childTnLst>
                              <p:par>
                                <p:cTn id="193" presetID="1" presetClass="entr" presetSubtype="0" fill="hold" grpId="0" nodeType="clickEffect">
                                  <p:stCondLst>
                                    <p:cond delay="0"/>
                                  </p:stCondLst>
                                  <p:childTnLst>
                                    <p:set>
                                      <p:cBhvr>
                                        <p:cTn id="194" dur="1" fill="hold">
                                          <p:stCondLst>
                                            <p:cond delay="0"/>
                                          </p:stCondLst>
                                        </p:cTn>
                                        <p:tgtEl>
                                          <p:spTgt spid="155"/>
                                        </p:tgtEl>
                                        <p:attrNameLst>
                                          <p:attrName>style.visibility</p:attrName>
                                        </p:attrNameLst>
                                      </p:cBhvr>
                                      <p:to>
                                        <p:strVal val="visible"/>
                                      </p:to>
                                    </p:set>
                                  </p:childTnLst>
                                </p:cTn>
                              </p:par>
                              <p:par>
                                <p:cTn id="195" presetID="1" presetClass="entr" presetSubtype="0" fill="hold" nodeType="withEffect">
                                  <p:stCondLst>
                                    <p:cond delay="0"/>
                                  </p:stCondLst>
                                  <p:childTnLst>
                                    <p:set>
                                      <p:cBhvr>
                                        <p:cTn id="196" dur="1" fill="hold">
                                          <p:stCondLst>
                                            <p:cond delay="0"/>
                                          </p:stCondLst>
                                        </p:cTn>
                                        <p:tgtEl>
                                          <p:spTgt spid="79"/>
                                        </p:tgtEl>
                                        <p:attrNameLst>
                                          <p:attrName>style.visibility</p:attrName>
                                        </p:attrNameLst>
                                      </p:cBhvr>
                                      <p:to>
                                        <p:strVal val="visible"/>
                                      </p:to>
                                    </p:set>
                                  </p:childTnLst>
                                </p:cTn>
                              </p:par>
                              <p:par>
                                <p:cTn id="197" presetID="1" presetClass="entr" presetSubtype="0" fill="hold" nodeType="withEffect">
                                  <p:stCondLst>
                                    <p:cond delay="0"/>
                                  </p:stCondLst>
                                  <p:childTnLst>
                                    <p:set>
                                      <p:cBhvr>
                                        <p:cTn id="198" dur="1" fill="hold">
                                          <p:stCondLst>
                                            <p:cond delay="0"/>
                                          </p:stCondLst>
                                        </p:cTn>
                                        <p:tgtEl>
                                          <p:spTgt spid="152"/>
                                        </p:tgtEl>
                                        <p:attrNameLst>
                                          <p:attrName>style.visibility</p:attrName>
                                        </p:attrNameLst>
                                      </p:cBhvr>
                                      <p:to>
                                        <p:strVal val="visible"/>
                                      </p:to>
                                    </p:set>
                                  </p:childTnLst>
                                </p:cTn>
                              </p:par>
                              <p:par>
                                <p:cTn id="199" presetID="1" presetClass="entr" presetSubtype="0" fill="hold" nodeType="withEffect">
                                  <p:stCondLst>
                                    <p:cond delay="0"/>
                                  </p:stCondLst>
                                  <p:childTnLst>
                                    <p:set>
                                      <p:cBhvr>
                                        <p:cTn id="200" dur="1" fill="hold">
                                          <p:stCondLst>
                                            <p:cond delay="0"/>
                                          </p:stCondLst>
                                        </p:cTn>
                                        <p:tgtEl>
                                          <p:spTgt spid="90"/>
                                        </p:tgtEl>
                                        <p:attrNameLst>
                                          <p:attrName>style.visibility</p:attrName>
                                        </p:attrNameLst>
                                      </p:cBhvr>
                                      <p:to>
                                        <p:strVal val="visible"/>
                                      </p:to>
                                    </p:set>
                                  </p:childTnLst>
                                </p:cTn>
                              </p:par>
                              <p:par>
                                <p:cTn id="201" presetID="1" presetClass="entr" presetSubtype="0" fill="hold" nodeType="withEffect">
                                  <p:stCondLst>
                                    <p:cond delay="0"/>
                                  </p:stCondLst>
                                  <p:childTnLst>
                                    <p:set>
                                      <p:cBhvr>
                                        <p:cTn id="202" dur="1" fill="hold">
                                          <p:stCondLst>
                                            <p:cond delay="0"/>
                                          </p:stCondLst>
                                        </p:cTn>
                                        <p:tgtEl>
                                          <p:spTgt spid="81"/>
                                        </p:tgtEl>
                                        <p:attrNameLst>
                                          <p:attrName>style.visibility</p:attrName>
                                        </p:attrNameLst>
                                      </p:cBhvr>
                                      <p:to>
                                        <p:strVal val="visible"/>
                                      </p:to>
                                    </p:set>
                                  </p:childTnLst>
                                </p:cTn>
                              </p:par>
                              <p:par>
                                <p:cTn id="203" presetID="1" presetClass="entr" presetSubtype="0" fill="hold" nodeType="withEffect">
                                  <p:stCondLst>
                                    <p:cond delay="0"/>
                                  </p:stCondLst>
                                  <p:childTnLst>
                                    <p:set>
                                      <p:cBhvr>
                                        <p:cTn id="204" dur="1" fill="hold">
                                          <p:stCondLst>
                                            <p:cond delay="0"/>
                                          </p:stCondLst>
                                        </p:cTn>
                                        <p:tgtEl>
                                          <p:spTgt spid="93"/>
                                        </p:tgtEl>
                                        <p:attrNameLst>
                                          <p:attrName>style.visibility</p:attrName>
                                        </p:attrNameLst>
                                      </p:cBhvr>
                                      <p:to>
                                        <p:strVal val="visible"/>
                                      </p:to>
                                    </p:set>
                                  </p:childTnLst>
                                </p:cTn>
                              </p:par>
                              <p:par>
                                <p:cTn id="205" presetID="1" presetClass="entr" presetSubtype="0" fill="hold" nodeType="withEffect">
                                  <p:stCondLst>
                                    <p:cond delay="0"/>
                                  </p:stCondLst>
                                  <p:childTnLst>
                                    <p:set>
                                      <p:cBhvr>
                                        <p:cTn id="206" dur="1" fill="hold">
                                          <p:stCondLst>
                                            <p:cond delay="0"/>
                                          </p:stCondLst>
                                        </p:cTn>
                                        <p:tgtEl>
                                          <p:spTgt spid="101"/>
                                        </p:tgtEl>
                                        <p:attrNameLst>
                                          <p:attrName>style.visibility</p:attrName>
                                        </p:attrNameLst>
                                      </p:cBhvr>
                                      <p:to>
                                        <p:strVal val="visible"/>
                                      </p:to>
                                    </p:set>
                                  </p:childTnLst>
                                </p:cTn>
                              </p:par>
                              <p:par>
                                <p:cTn id="207" presetID="1" presetClass="entr" presetSubtype="0" fill="hold" nodeType="withEffect">
                                  <p:stCondLst>
                                    <p:cond delay="0"/>
                                  </p:stCondLst>
                                  <p:childTnLst>
                                    <p:set>
                                      <p:cBhvr>
                                        <p:cTn id="208" dur="1" fill="hold">
                                          <p:stCondLst>
                                            <p:cond delay="0"/>
                                          </p:stCondLst>
                                        </p:cTn>
                                        <p:tgtEl>
                                          <p:spTgt spid="98"/>
                                        </p:tgtEl>
                                        <p:attrNameLst>
                                          <p:attrName>style.visibility</p:attrName>
                                        </p:attrNameLst>
                                      </p:cBhvr>
                                      <p:to>
                                        <p:strVal val="visible"/>
                                      </p:to>
                                    </p:set>
                                  </p:childTnLst>
                                </p:cTn>
                              </p:par>
                              <p:par>
                                <p:cTn id="209" presetID="1" presetClass="entr" presetSubtype="0" fill="hold" nodeType="withEffect">
                                  <p:stCondLst>
                                    <p:cond delay="0"/>
                                  </p:stCondLst>
                                  <p:childTnLst>
                                    <p:set>
                                      <p:cBhvr>
                                        <p:cTn id="210" dur="1" fill="hold">
                                          <p:stCondLst>
                                            <p:cond delay="0"/>
                                          </p:stCondLst>
                                        </p:cTn>
                                        <p:tgtEl>
                                          <p:spTgt spid="96"/>
                                        </p:tgtEl>
                                        <p:attrNameLst>
                                          <p:attrName>style.visibility</p:attrName>
                                        </p:attrNameLst>
                                      </p:cBhvr>
                                      <p:to>
                                        <p:strVal val="visible"/>
                                      </p:to>
                                    </p:set>
                                  </p:childTnLst>
                                </p:cTn>
                              </p:par>
                              <p:par>
                                <p:cTn id="211" presetID="1" presetClass="entr" presetSubtype="0" fill="hold" nodeType="withEffect">
                                  <p:stCondLst>
                                    <p:cond delay="0"/>
                                  </p:stCondLst>
                                  <p:childTnLst>
                                    <p:set>
                                      <p:cBhvr>
                                        <p:cTn id="212" dur="1" fill="hold">
                                          <p:stCondLst>
                                            <p:cond delay="0"/>
                                          </p:stCondLst>
                                        </p:cTn>
                                        <p:tgtEl>
                                          <p:spTgt spid="100"/>
                                        </p:tgtEl>
                                        <p:attrNameLst>
                                          <p:attrName>style.visibility</p:attrName>
                                        </p:attrNameLst>
                                      </p:cBhvr>
                                      <p:to>
                                        <p:strVal val="visible"/>
                                      </p:to>
                                    </p:set>
                                  </p:childTnLst>
                                </p:cTn>
                              </p:par>
                              <p:par>
                                <p:cTn id="213" presetID="1" presetClass="entr" presetSubtype="0" fill="hold" nodeType="withEffect">
                                  <p:stCondLst>
                                    <p:cond delay="0"/>
                                  </p:stCondLst>
                                  <p:childTnLst>
                                    <p:set>
                                      <p:cBhvr>
                                        <p:cTn id="214" dur="1" fill="hold">
                                          <p:stCondLst>
                                            <p:cond delay="0"/>
                                          </p:stCondLst>
                                        </p:cTn>
                                        <p:tgtEl>
                                          <p:spTgt spid="129"/>
                                        </p:tgtEl>
                                        <p:attrNameLst>
                                          <p:attrName>style.visibility</p:attrName>
                                        </p:attrNameLst>
                                      </p:cBhvr>
                                      <p:to>
                                        <p:strVal val="visible"/>
                                      </p:to>
                                    </p:set>
                                  </p:childTnLst>
                                </p:cTn>
                              </p:par>
                              <p:par>
                                <p:cTn id="215" presetID="1" presetClass="entr" presetSubtype="0" fill="hold" nodeType="withEffect">
                                  <p:stCondLst>
                                    <p:cond delay="0"/>
                                  </p:stCondLst>
                                  <p:childTnLst>
                                    <p:set>
                                      <p:cBhvr>
                                        <p:cTn id="216" dur="1" fill="hold">
                                          <p:stCondLst>
                                            <p:cond delay="0"/>
                                          </p:stCondLst>
                                        </p:cTn>
                                        <p:tgtEl>
                                          <p:spTgt spid="99"/>
                                        </p:tgtEl>
                                        <p:attrNameLst>
                                          <p:attrName>style.visibility</p:attrName>
                                        </p:attrNameLst>
                                      </p:cBhvr>
                                      <p:to>
                                        <p:strVal val="visible"/>
                                      </p:to>
                                    </p:set>
                                  </p:childTnLst>
                                </p:cTn>
                              </p:par>
                              <p:par>
                                <p:cTn id="217" presetID="1" presetClass="entr" presetSubtype="0" fill="hold" nodeType="withEffect">
                                  <p:stCondLst>
                                    <p:cond delay="0"/>
                                  </p:stCondLst>
                                  <p:childTnLst>
                                    <p:set>
                                      <p:cBhvr>
                                        <p:cTn id="218" dur="1" fill="hold">
                                          <p:stCondLst>
                                            <p:cond delay="0"/>
                                          </p:stCondLst>
                                        </p:cTn>
                                        <p:tgtEl>
                                          <p:spTgt spid="102"/>
                                        </p:tgtEl>
                                        <p:attrNameLst>
                                          <p:attrName>style.visibility</p:attrName>
                                        </p:attrNameLst>
                                      </p:cBhvr>
                                      <p:to>
                                        <p:strVal val="visible"/>
                                      </p:to>
                                    </p:set>
                                  </p:childTnLst>
                                </p:cTn>
                              </p:par>
                              <p:par>
                                <p:cTn id="219" presetID="1" presetClass="entr" presetSubtype="0" fill="hold" nodeType="withEffect">
                                  <p:stCondLst>
                                    <p:cond delay="0"/>
                                  </p:stCondLst>
                                  <p:childTnLst>
                                    <p:set>
                                      <p:cBhvr>
                                        <p:cTn id="220" dur="1" fill="hold">
                                          <p:stCondLst>
                                            <p:cond delay="0"/>
                                          </p:stCondLst>
                                        </p:cTn>
                                        <p:tgtEl>
                                          <p:spTgt spid="97"/>
                                        </p:tgtEl>
                                        <p:attrNameLst>
                                          <p:attrName>style.visibility</p:attrName>
                                        </p:attrNameLst>
                                      </p:cBhvr>
                                      <p:to>
                                        <p:strVal val="visible"/>
                                      </p:to>
                                    </p:set>
                                  </p:childTnLst>
                                </p:cTn>
                              </p:par>
                              <p:par>
                                <p:cTn id="221" presetID="1" presetClass="entr" presetSubtype="0" fill="hold" nodeType="withEffect">
                                  <p:stCondLst>
                                    <p:cond delay="0"/>
                                  </p:stCondLst>
                                  <p:childTnLst>
                                    <p:set>
                                      <p:cBhvr>
                                        <p:cTn id="222" dur="1" fill="hold">
                                          <p:stCondLst>
                                            <p:cond delay="0"/>
                                          </p:stCondLst>
                                        </p:cTn>
                                        <p:tgtEl>
                                          <p:spTgt spid="103"/>
                                        </p:tgtEl>
                                        <p:attrNameLst>
                                          <p:attrName>style.visibility</p:attrName>
                                        </p:attrNameLst>
                                      </p:cBhvr>
                                      <p:to>
                                        <p:strVal val="visible"/>
                                      </p:to>
                                    </p:set>
                                  </p:childTnLst>
                                </p:cTn>
                              </p:par>
                              <p:par>
                                <p:cTn id="223" presetID="1" presetClass="entr" presetSubtype="0" fill="hold" nodeType="withEffect">
                                  <p:stCondLst>
                                    <p:cond delay="0"/>
                                  </p:stCondLst>
                                  <p:childTnLst>
                                    <p:set>
                                      <p:cBhvr>
                                        <p:cTn id="224" dur="1" fill="hold">
                                          <p:stCondLst>
                                            <p:cond delay="0"/>
                                          </p:stCondLst>
                                        </p:cTn>
                                        <p:tgtEl>
                                          <p:spTgt spid="104"/>
                                        </p:tgtEl>
                                        <p:attrNameLst>
                                          <p:attrName>style.visibility</p:attrName>
                                        </p:attrNameLst>
                                      </p:cBhvr>
                                      <p:to>
                                        <p:strVal val="visible"/>
                                      </p:to>
                                    </p:set>
                                  </p:childTnLst>
                                </p:cTn>
                              </p:par>
                              <p:par>
                                <p:cTn id="225" presetID="1" presetClass="entr" presetSubtype="0" fill="hold" nodeType="withEffect">
                                  <p:stCondLst>
                                    <p:cond delay="0"/>
                                  </p:stCondLst>
                                  <p:childTnLst>
                                    <p:set>
                                      <p:cBhvr>
                                        <p:cTn id="226" dur="1" fill="hold">
                                          <p:stCondLst>
                                            <p:cond delay="0"/>
                                          </p:stCondLst>
                                        </p:cTn>
                                        <p:tgtEl>
                                          <p:spTgt spid="107"/>
                                        </p:tgtEl>
                                        <p:attrNameLst>
                                          <p:attrName>style.visibility</p:attrName>
                                        </p:attrNameLst>
                                      </p:cBhvr>
                                      <p:to>
                                        <p:strVal val="visible"/>
                                      </p:to>
                                    </p:set>
                                  </p:childTnLst>
                                </p:cTn>
                              </p:par>
                              <p:par>
                                <p:cTn id="227" presetID="1" presetClass="entr" presetSubtype="0" fill="hold" nodeType="withEffect">
                                  <p:stCondLst>
                                    <p:cond delay="0"/>
                                  </p:stCondLst>
                                  <p:childTnLst>
                                    <p:set>
                                      <p:cBhvr>
                                        <p:cTn id="228" dur="1" fill="hold">
                                          <p:stCondLst>
                                            <p:cond delay="0"/>
                                          </p:stCondLst>
                                        </p:cTn>
                                        <p:tgtEl>
                                          <p:spTgt spid="105"/>
                                        </p:tgtEl>
                                        <p:attrNameLst>
                                          <p:attrName>style.visibility</p:attrName>
                                        </p:attrNameLst>
                                      </p:cBhvr>
                                      <p:to>
                                        <p:strVal val="visible"/>
                                      </p:to>
                                    </p:set>
                                  </p:childTnLst>
                                </p:cTn>
                              </p:par>
                              <p:par>
                                <p:cTn id="229" presetID="1" presetClass="entr" presetSubtype="0" fill="hold" nodeType="withEffect">
                                  <p:stCondLst>
                                    <p:cond delay="0"/>
                                  </p:stCondLst>
                                  <p:childTnLst>
                                    <p:set>
                                      <p:cBhvr>
                                        <p:cTn id="230" dur="1" fill="hold">
                                          <p:stCondLst>
                                            <p:cond delay="0"/>
                                          </p:stCondLst>
                                        </p:cTn>
                                        <p:tgtEl>
                                          <p:spTgt spid="106"/>
                                        </p:tgtEl>
                                        <p:attrNameLst>
                                          <p:attrName>style.visibility</p:attrName>
                                        </p:attrNameLst>
                                      </p:cBhvr>
                                      <p:to>
                                        <p:strVal val="visible"/>
                                      </p:to>
                                    </p:set>
                                  </p:childTnLst>
                                </p:cTn>
                              </p:par>
                              <p:par>
                                <p:cTn id="231" presetID="1" presetClass="entr" presetSubtype="0" fill="hold" nodeType="withEffect">
                                  <p:stCondLst>
                                    <p:cond delay="0"/>
                                  </p:stCondLst>
                                  <p:childTnLst>
                                    <p:set>
                                      <p:cBhvr>
                                        <p:cTn id="232" dur="1" fill="hold">
                                          <p:stCondLst>
                                            <p:cond delay="0"/>
                                          </p:stCondLst>
                                        </p:cTn>
                                        <p:tgtEl>
                                          <p:spTgt spid="109"/>
                                        </p:tgtEl>
                                        <p:attrNameLst>
                                          <p:attrName>style.visibility</p:attrName>
                                        </p:attrNameLst>
                                      </p:cBhvr>
                                      <p:to>
                                        <p:strVal val="visible"/>
                                      </p:to>
                                    </p:set>
                                  </p:childTnLst>
                                </p:cTn>
                              </p:par>
                              <p:par>
                                <p:cTn id="233" presetID="1" presetClass="entr" presetSubtype="0" fill="hold" nodeType="withEffect">
                                  <p:stCondLst>
                                    <p:cond delay="0"/>
                                  </p:stCondLst>
                                  <p:childTnLst>
                                    <p:set>
                                      <p:cBhvr>
                                        <p:cTn id="234" dur="1" fill="hold">
                                          <p:stCondLst>
                                            <p:cond delay="0"/>
                                          </p:stCondLst>
                                        </p:cTn>
                                        <p:tgtEl>
                                          <p:spTgt spid="108"/>
                                        </p:tgtEl>
                                        <p:attrNameLst>
                                          <p:attrName>style.visibility</p:attrName>
                                        </p:attrNameLst>
                                      </p:cBhvr>
                                      <p:to>
                                        <p:strVal val="visible"/>
                                      </p:to>
                                    </p:set>
                                  </p:childTnLst>
                                </p:cTn>
                              </p:par>
                              <p:par>
                                <p:cTn id="235" presetID="1" presetClass="entr" presetSubtype="0" fill="hold" nodeType="withEffect">
                                  <p:stCondLst>
                                    <p:cond delay="0"/>
                                  </p:stCondLst>
                                  <p:childTnLst>
                                    <p:set>
                                      <p:cBhvr>
                                        <p:cTn id="236" dur="1" fill="hold">
                                          <p:stCondLst>
                                            <p:cond delay="0"/>
                                          </p:stCondLst>
                                        </p:cTn>
                                        <p:tgtEl>
                                          <p:spTgt spid="110"/>
                                        </p:tgtEl>
                                        <p:attrNameLst>
                                          <p:attrName>style.visibility</p:attrName>
                                        </p:attrNameLst>
                                      </p:cBhvr>
                                      <p:to>
                                        <p:strVal val="visible"/>
                                      </p:to>
                                    </p:set>
                                  </p:childTnLst>
                                </p:cTn>
                              </p:par>
                              <p:par>
                                <p:cTn id="237" presetID="1" presetClass="entr" presetSubtype="0" fill="hold" nodeType="withEffect">
                                  <p:stCondLst>
                                    <p:cond delay="0"/>
                                  </p:stCondLst>
                                  <p:childTnLst>
                                    <p:set>
                                      <p:cBhvr>
                                        <p:cTn id="238" dur="1" fill="hold">
                                          <p:stCondLst>
                                            <p:cond delay="0"/>
                                          </p:stCondLst>
                                        </p:cTn>
                                        <p:tgtEl>
                                          <p:spTgt spid="112"/>
                                        </p:tgtEl>
                                        <p:attrNameLst>
                                          <p:attrName>style.visibility</p:attrName>
                                        </p:attrNameLst>
                                      </p:cBhvr>
                                      <p:to>
                                        <p:strVal val="visible"/>
                                      </p:to>
                                    </p:set>
                                  </p:childTnLst>
                                </p:cTn>
                              </p:par>
                              <p:par>
                                <p:cTn id="239" presetID="1" presetClass="entr" presetSubtype="0" fill="hold" nodeType="withEffect">
                                  <p:stCondLst>
                                    <p:cond delay="0"/>
                                  </p:stCondLst>
                                  <p:childTnLst>
                                    <p:set>
                                      <p:cBhvr>
                                        <p:cTn id="240" dur="1" fill="hold">
                                          <p:stCondLst>
                                            <p:cond delay="0"/>
                                          </p:stCondLst>
                                        </p:cTn>
                                        <p:tgtEl>
                                          <p:spTgt spid="111"/>
                                        </p:tgtEl>
                                        <p:attrNameLst>
                                          <p:attrName>style.visibility</p:attrName>
                                        </p:attrNameLst>
                                      </p:cBhvr>
                                      <p:to>
                                        <p:strVal val="visible"/>
                                      </p:to>
                                    </p:set>
                                  </p:childTnLst>
                                </p:cTn>
                              </p:par>
                              <p:par>
                                <p:cTn id="241" presetID="1" presetClass="entr" presetSubtype="0" fill="hold" nodeType="withEffect">
                                  <p:stCondLst>
                                    <p:cond delay="0"/>
                                  </p:stCondLst>
                                  <p:childTnLst>
                                    <p:set>
                                      <p:cBhvr>
                                        <p:cTn id="242" dur="1" fill="hold">
                                          <p:stCondLst>
                                            <p:cond delay="0"/>
                                          </p:stCondLst>
                                        </p:cTn>
                                        <p:tgtEl>
                                          <p:spTgt spid="114"/>
                                        </p:tgtEl>
                                        <p:attrNameLst>
                                          <p:attrName>style.visibility</p:attrName>
                                        </p:attrNameLst>
                                      </p:cBhvr>
                                      <p:to>
                                        <p:strVal val="visible"/>
                                      </p:to>
                                    </p:set>
                                  </p:childTnLst>
                                </p:cTn>
                              </p:par>
                              <p:par>
                                <p:cTn id="243" presetID="1" presetClass="entr" presetSubtype="0" fill="hold" nodeType="withEffect">
                                  <p:stCondLst>
                                    <p:cond delay="0"/>
                                  </p:stCondLst>
                                  <p:childTnLst>
                                    <p:set>
                                      <p:cBhvr>
                                        <p:cTn id="244" dur="1" fill="hold">
                                          <p:stCondLst>
                                            <p:cond delay="0"/>
                                          </p:stCondLst>
                                        </p:cTn>
                                        <p:tgtEl>
                                          <p:spTgt spid="116"/>
                                        </p:tgtEl>
                                        <p:attrNameLst>
                                          <p:attrName>style.visibility</p:attrName>
                                        </p:attrNameLst>
                                      </p:cBhvr>
                                      <p:to>
                                        <p:strVal val="visible"/>
                                      </p:to>
                                    </p:set>
                                  </p:childTnLst>
                                </p:cTn>
                              </p:par>
                              <p:par>
                                <p:cTn id="245" presetID="1" presetClass="entr" presetSubtype="0" fill="hold" nodeType="withEffect">
                                  <p:stCondLst>
                                    <p:cond delay="0"/>
                                  </p:stCondLst>
                                  <p:childTnLst>
                                    <p:set>
                                      <p:cBhvr>
                                        <p:cTn id="246" dur="1" fill="hold">
                                          <p:stCondLst>
                                            <p:cond delay="0"/>
                                          </p:stCondLst>
                                        </p:cTn>
                                        <p:tgtEl>
                                          <p:spTgt spid="115"/>
                                        </p:tgtEl>
                                        <p:attrNameLst>
                                          <p:attrName>style.visibility</p:attrName>
                                        </p:attrNameLst>
                                      </p:cBhvr>
                                      <p:to>
                                        <p:strVal val="visible"/>
                                      </p:to>
                                    </p:set>
                                  </p:childTnLst>
                                </p:cTn>
                              </p:par>
                              <p:par>
                                <p:cTn id="247" presetID="1" presetClass="entr" presetSubtype="0" fill="hold" nodeType="withEffect">
                                  <p:stCondLst>
                                    <p:cond delay="0"/>
                                  </p:stCondLst>
                                  <p:childTnLst>
                                    <p:set>
                                      <p:cBhvr>
                                        <p:cTn id="248" dur="1" fill="hold">
                                          <p:stCondLst>
                                            <p:cond delay="0"/>
                                          </p:stCondLst>
                                        </p:cTn>
                                        <p:tgtEl>
                                          <p:spTgt spid="113"/>
                                        </p:tgtEl>
                                        <p:attrNameLst>
                                          <p:attrName>style.visibility</p:attrName>
                                        </p:attrNameLst>
                                      </p:cBhvr>
                                      <p:to>
                                        <p:strVal val="visible"/>
                                      </p:to>
                                    </p:set>
                                  </p:childTnLst>
                                </p:cTn>
                              </p:par>
                              <p:par>
                                <p:cTn id="249" presetID="1" presetClass="entr" presetSubtype="0" fill="hold" nodeType="withEffect">
                                  <p:stCondLst>
                                    <p:cond delay="0"/>
                                  </p:stCondLst>
                                  <p:childTnLst>
                                    <p:set>
                                      <p:cBhvr>
                                        <p:cTn id="250" dur="1" fill="hold">
                                          <p:stCondLst>
                                            <p:cond delay="0"/>
                                          </p:stCondLst>
                                        </p:cTn>
                                        <p:tgtEl>
                                          <p:spTgt spid="121"/>
                                        </p:tgtEl>
                                        <p:attrNameLst>
                                          <p:attrName>style.visibility</p:attrName>
                                        </p:attrNameLst>
                                      </p:cBhvr>
                                      <p:to>
                                        <p:strVal val="visible"/>
                                      </p:to>
                                    </p:set>
                                  </p:childTnLst>
                                </p:cTn>
                              </p:par>
                              <p:par>
                                <p:cTn id="251" presetID="1" presetClass="entr" presetSubtype="0" fill="hold" nodeType="withEffect">
                                  <p:stCondLst>
                                    <p:cond delay="0"/>
                                  </p:stCondLst>
                                  <p:childTnLst>
                                    <p:set>
                                      <p:cBhvr>
                                        <p:cTn id="252" dur="1" fill="hold">
                                          <p:stCondLst>
                                            <p:cond delay="0"/>
                                          </p:stCondLst>
                                        </p:cTn>
                                        <p:tgtEl>
                                          <p:spTgt spid="117"/>
                                        </p:tgtEl>
                                        <p:attrNameLst>
                                          <p:attrName>style.visibility</p:attrName>
                                        </p:attrNameLst>
                                      </p:cBhvr>
                                      <p:to>
                                        <p:strVal val="visible"/>
                                      </p:to>
                                    </p:set>
                                  </p:childTnLst>
                                </p:cTn>
                              </p:par>
                              <p:par>
                                <p:cTn id="253" presetID="1" presetClass="entr" presetSubtype="0" fill="hold" nodeType="withEffect">
                                  <p:stCondLst>
                                    <p:cond delay="0"/>
                                  </p:stCondLst>
                                  <p:childTnLst>
                                    <p:set>
                                      <p:cBhvr>
                                        <p:cTn id="254" dur="1" fill="hold">
                                          <p:stCondLst>
                                            <p:cond delay="0"/>
                                          </p:stCondLst>
                                        </p:cTn>
                                        <p:tgtEl>
                                          <p:spTgt spid="118"/>
                                        </p:tgtEl>
                                        <p:attrNameLst>
                                          <p:attrName>style.visibility</p:attrName>
                                        </p:attrNameLst>
                                      </p:cBhvr>
                                      <p:to>
                                        <p:strVal val="visible"/>
                                      </p:to>
                                    </p:set>
                                  </p:childTnLst>
                                </p:cTn>
                              </p:par>
                              <p:par>
                                <p:cTn id="255" presetID="1" presetClass="entr" presetSubtype="0" fill="hold" nodeType="withEffect">
                                  <p:stCondLst>
                                    <p:cond delay="0"/>
                                  </p:stCondLst>
                                  <p:childTnLst>
                                    <p:set>
                                      <p:cBhvr>
                                        <p:cTn id="256" dur="1" fill="hold">
                                          <p:stCondLst>
                                            <p:cond delay="0"/>
                                          </p:stCondLst>
                                        </p:cTn>
                                        <p:tgtEl>
                                          <p:spTgt spid="119"/>
                                        </p:tgtEl>
                                        <p:attrNameLst>
                                          <p:attrName>style.visibility</p:attrName>
                                        </p:attrNameLst>
                                      </p:cBhvr>
                                      <p:to>
                                        <p:strVal val="visible"/>
                                      </p:to>
                                    </p:set>
                                  </p:childTnLst>
                                </p:cTn>
                              </p:par>
                              <p:par>
                                <p:cTn id="257" presetID="1" presetClass="entr" presetSubtype="0" fill="hold" nodeType="withEffect">
                                  <p:stCondLst>
                                    <p:cond delay="0"/>
                                  </p:stCondLst>
                                  <p:childTnLst>
                                    <p:set>
                                      <p:cBhvr>
                                        <p:cTn id="258" dur="1" fill="hold">
                                          <p:stCondLst>
                                            <p:cond delay="0"/>
                                          </p:stCondLst>
                                        </p:cTn>
                                        <p:tgtEl>
                                          <p:spTgt spid="123"/>
                                        </p:tgtEl>
                                        <p:attrNameLst>
                                          <p:attrName>style.visibility</p:attrName>
                                        </p:attrNameLst>
                                      </p:cBhvr>
                                      <p:to>
                                        <p:strVal val="visible"/>
                                      </p:to>
                                    </p:set>
                                  </p:childTnLst>
                                </p:cTn>
                              </p:par>
                              <p:par>
                                <p:cTn id="259" presetID="1" presetClass="entr" presetSubtype="0" fill="hold" nodeType="withEffect">
                                  <p:stCondLst>
                                    <p:cond delay="0"/>
                                  </p:stCondLst>
                                  <p:childTnLst>
                                    <p:set>
                                      <p:cBhvr>
                                        <p:cTn id="260" dur="1" fill="hold">
                                          <p:stCondLst>
                                            <p:cond delay="0"/>
                                          </p:stCondLst>
                                        </p:cTn>
                                        <p:tgtEl>
                                          <p:spTgt spid="122"/>
                                        </p:tgtEl>
                                        <p:attrNameLst>
                                          <p:attrName>style.visibility</p:attrName>
                                        </p:attrNameLst>
                                      </p:cBhvr>
                                      <p:to>
                                        <p:strVal val="visible"/>
                                      </p:to>
                                    </p:set>
                                  </p:childTnLst>
                                </p:cTn>
                              </p:par>
                              <p:par>
                                <p:cTn id="261" presetID="1" presetClass="entr" presetSubtype="0" fill="hold" nodeType="withEffect">
                                  <p:stCondLst>
                                    <p:cond delay="0"/>
                                  </p:stCondLst>
                                  <p:childTnLst>
                                    <p:set>
                                      <p:cBhvr>
                                        <p:cTn id="262" dur="1" fill="hold">
                                          <p:stCondLst>
                                            <p:cond delay="0"/>
                                          </p:stCondLst>
                                        </p:cTn>
                                        <p:tgtEl>
                                          <p:spTgt spid="125"/>
                                        </p:tgtEl>
                                        <p:attrNameLst>
                                          <p:attrName>style.visibility</p:attrName>
                                        </p:attrNameLst>
                                      </p:cBhvr>
                                      <p:to>
                                        <p:strVal val="visible"/>
                                      </p:to>
                                    </p:set>
                                  </p:childTnLst>
                                </p:cTn>
                              </p:par>
                              <p:par>
                                <p:cTn id="263" presetID="1" presetClass="entr" presetSubtype="0" fill="hold" nodeType="withEffect">
                                  <p:stCondLst>
                                    <p:cond delay="0"/>
                                  </p:stCondLst>
                                  <p:childTnLst>
                                    <p:set>
                                      <p:cBhvr>
                                        <p:cTn id="264" dur="1" fill="hold">
                                          <p:stCondLst>
                                            <p:cond delay="0"/>
                                          </p:stCondLst>
                                        </p:cTn>
                                        <p:tgtEl>
                                          <p:spTgt spid="120"/>
                                        </p:tgtEl>
                                        <p:attrNameLst>
                                          <p:attrName>style.visibility</p:attrName>
                                        </p:attrNameLst>
                                      </p:cBhvr>
                                      <p:to>
                                        <p:strVal val="visible"/>
                                      </p:to>
                                    </p:set>
                                  </p:childTnLst>
                                </p:cTn>
                              </p:par>
                              <p:par>
                                <p:cTn id="265" presetID="1" presetClass="entr" presetSubtype="0" fill="hold" nodeType="withEffect">
                                  <p:stCondLst>
                                    <p:cond delay="0"/>
                                  </p:stCondLst>
                                  <p:childTnLst>
                                    <p:set>
                                      <p:cBhvr>
                                        <p:cTn id="266" dur="1" fill="hold">
                                          <p:stCondLst>
                                            <p:cond delay="0"/>
                                          </p:stCondLst>
                                        </p:cTn>
                                        <p:tgtEl>
                                          <p:spTgt spid="126"/>
                                        </p:tgtEl>
                                        <p:attrNameLst>
                                          <p:attrName>style.visibility</p:attrName>
                                        </p:attrNameLst>
                                      </p:cBhvr>
                                      <p:to>
                                        <p:strVal val="visible"/>
                                      </p:to>
                                    </p:set>
                                  </p:childTnLst>
                                </p:cTn>
                              </p:par>
                              <p:par>
                                <p:cTn id="267" presetID="1" presetClass="entr" presetSubtype="0" fill="hold" nodeType="withEffect">
                                  <p:stCondLst>
                                    <p:cond delay="0"/>
                                  </p:stCondLst>
                                  <p:childTnLst>
                                    <p:set>
                                      <p:cBhvr>
                                        <p:cTn id="268" dur="1" fill="hold">
                                          <p:stCondLst>
                                            <p:cond delay="0"/>
                                          </p:stCondLst>
                                        </p:cTn>
                                        <p:tgtEl>
                                          <p:spTgt spid="127"/>
                                        </p:tgtEl>
                                        <p:attrNameLst>
                                          <p:attrName>style.visibility</p:attrName>
                                        </p:attrNameLst>
                                      </p:cBhvr>
                                      <p:to>
                                        <p:strVal val="visible"/>
                                      </p:to>
                                    </p:set>
                                  </p:childTnLst>
                                </p:cTn>
                              </p:par>
                              <p:par>
                                <p:cTn id="269" presetID="1" presetClass="entr" presetSubtype="0" fill="hold" nodeType="withEffect">
                                  <p:stCondLst>
                                    <p:cond delay="0"/>
                                  </p:stCondLst>
                                  <p:childTnLst>
                                    <p:set>
                                      <p:cBhvr>
                                        <p:cTn id="270" dur="1" fill="hold">
                                          <p:stCondLst>
                                            <p:cond delay="0"/>
                                          </p:stCondLst>
                                        </p:cTn>
                                        <p:tgtEl>
                                          <p:spTgt spid="128"/>
                                        </p:tgtEl>
                                        <p:attrNameLst>
                                          <p:attrName>style.visibility</p:attrName>
                                        </p:attrNameLst>
                                      </p:cBhvr>
                                      <p:to>
                                        <p:strVal val="visible"/>
                                      </p:to>
                                    </p:set>
                                  </p:childTnLst>
                                </p:cTn>
                              </p:par>
                              <p:par>
                                <p:cTn id="271" presetID="1" presetClass="entr" presetSubtype="0" fill="hold" nodeType="withEffect">
                                  <p:stCondLst>
                                    <p:cond delay="0"/>
                                  </p:stCondLst>
                                  <p:childTnLst>
                                    <p:set>
                                      <p:cBhvr>
                                        <p:cTn id="272" dur="1" fill="hold">
                                          <p:stCondLst>
                                            <p:cond delay="0"/>
                                          </p:stCondLst>
                                        </p:cTn>
                                        <p:tgtEl>
                                          <p:spTgt spid="124"/>
                                        </p:tgtEl>
                                        <p:attrNameLst>
                                          <p:attrName>style.visibility</p:attrName>
                                        </p:attrNameLst>
                                      </p:cBhvr>
                                      <p:to>
                                        <p:strVal val="visible"/>
                                      </p:to>
                                    </p:set>
                                  </p:childTnLst>
                                </p:cTn>
                              </p:par>
                              <p:par>
                                <p:cTn id="273" presetID="1" presetClass="entr" presetSubtype="0" fill="hold" nodeType="withEffect">
                                  <p:stCondLst>
                                    <p:cond delay="0"/>
                                  </p:stCondLst>
                                  <p:childTnLst>
                                    <p:set>
                                      <p:cBhvr>
                                        <p:cTn id="274" dur="1" fill="hold">
                                          <p:stCondLst>
                                            <p:cond delay="0"/>
                                          </p:stCondLst>
                                        </p:cTn>
                                        <p:tgtEl>
                                          <p:spTgt spid="134"/>
                                        </p:tgtEl>
                                        <p:attrNameLst>
                                          <p:attrName>style.visibility</p:attrName>
                                        </p:attrNameLst>
                                      </p:cBhvr>
                                      <p:to>
                                        <p:strVal val="visible"/>
                                      </p:to>
                                    </p:set>
                                  </p:childTnLst>
                                </p:cTn>
                              </p:par>
                              <p:par>
                                <p:cTn id="275" presetID="1" presetClass="entr" presetSubtype="0" fill="hold" nodeType="withEffect">
                                  <p:stCondLst>
                                    <p:cond delay="0"/>
                                  </p:stCondLst>
                                  <p:childTnLst>
                                    <p:set>
                                      <p:cBhvr>
                                        <p:cTn id="276" dur="1" fill="hold">
                                          <p:stCondLst>
                                            <p:cond delay="0"/>
                                          </p:stCondLst>
                                        </p:cTn>
                                        <p:tgtEl>
                                          <p:spTgt spid="135"/>
                                        </p:tgtEl>
                                        <p:attrNameLst>
                                          <p:attrName>style.visibility</p:attrName>
                                        </p:attrNameLst>
                                      </p:cBhvr>
                                      <p:to>
                                        <p:strVal val="visible"/>
                                      </p:to>
                                    </p:set>
                                  </p:childTnLst>
                                </p:cTn>
                              </p:par>
                              <p:par>
                                <p:cTn id="277" presetID="1" presetClass="entr" presetSubtype="0" fill="hold" nodeType="withEffect">
                                  <p:stCondLst>
                                    <p:cond delay="0"/>
                                  </p:stCondLst>
                                  <p:childTnLst>
                                    <p:set>
                                      <p:cBhvr>
                                        <p:cTn id="278" dur="1" fill="hold">
                                          <p:stCondLst>
                                            <p:cond delay="0"/>
                                          </p:stCondLst>
                                        </p:cTn>
                                        <p:tgtEl>
                                          <p:spTgt spid="136"/>
                                        </p:tgtEl>
                                        <p:attrNameLst>
                                          <p:attrName>style.visibility</p:attrName>
                                        </p:attrNameLst>
                                      </p:cBhvr>
                                      <p:to>
                                        <p:strVal val="visible"/>
                                      </p:to>
                                    </p:set>
                                  </p:childTnLst>
                                </p:cTn>
                              </p:par>
                              <p:par>
                                <p:cTn id="279" presetID="1" presetClass="entr" presetSubtype="0" fill="hold" nodeType="withEffect">
                                  <p:stCondLst>
                                    <p:cond delay="0"/>
                                  </p:stCondLst>
                                  <p:childTnLst>
                                    <p:set>
                                      <p:cBhvr>
                                        <p:cTn id="280" dur="1" fill="hold">
                                          <p:stCondLst>
                                            <p:cond delay="0"/>
                                          </p:stCondLst>
                                        </p:cTn>
                                        <p:tgtEl>
                                          <p:spTgt spid="130"/>
                                        </p:tgtEl>
                                        <p:attrNameLst>
                                          <p:attrName>style.visibility</p:attrName>
                                        </p:attrNameLst>
                                      </p:cBhvr>
                                      <p:to>
                                        <p:strVal val="visible"/>
                                      </p:to>
                                    </p:set>
                                  </p:childTnLst>
                                </p:cTn>
                              </p:par>
                              <p:par>
                                <p:cTn id="281" presetID="1" presetClass="entr" presetSubtype="0" fill="hold" nodeType="withEffect">
                                  <p:stCondLst>
                                    <p:cond delay="0"/>
                                  </p:stCondLst>
                                  <p:childTnLst>
                                    <p:set>
                                      <p:cBhvr>
                                        <p:cTn id="282" dur="1" fill="hold">
                                          <p:stCondLst>
                                            <p:cond delay="0"/>
                                          </p:stCondLst>
                                        </p:cTn>
                                        <p:tgtEl>
                                          <p:spTgt spid="137"/>
                                        </p:tgtEl>
                                        <p:attrNameLst>
                                          <p:attrName>style.visibility</p:attrName>
                                        </p:attrNameLst>
                                      </p:cBhvr>
                                      <p:to>
                                        <p:strVal val="visible"/>
                                      </p:to>
                                    </p:set>
                                  </p:childTnLst>
                                </p:cTn>
                              </p:par>
                              <p:par>
                                <p:cTn id="283" presetID="1" presetClass="entr" presetSubtype="0" fill="hold" nodeType="withEffect">
                                  <p:stCondLst>
                                    <p:cond delay="0"/>
                                  </p:stCondLst>
                                  <p:childTnLst>
                                    <p:set>
                                      <p:cBhvr>
                                        <p:cTn id="284" dur="1" fill="hold">
                                          <p:stCondLst>
                                            <p:cond delay="0"/>
                                          </p:stCondLst>
                                        </p:cTn>
                                        <p:tgtEl>
                                          <p:spTgt spid="133"/>
                                        </p:tgtEl>
                                        <p:attrNameLst>
                                          <p:attrName>style.visibility</p:attrName>
                                        </p:attrNameLst>
                                      </p:cBhvr>
                                      <p:to>
                                        <p:strVal val="visible"/>
                                      </p:to>
                                    </p:set>
                                  </p:childTnLst>
                                </p:cTn>
                              </p:par>
                              <p:par>
                                <p:cTn id="285" presetID="1" presetClass="entr" presetSubtype="0" fill="hold" nodeType="withEffect">
                                  <p:stCondLst>
                                    <p:cond delay="0"/>
                                  </p:stCondLst>
                                  <p:childTnLst>
                                    <p:set>
                                      <p:cBhvr>
                                        <p:cTn id="286" dur="1" fill="hold">
                                          <p:stCondLst>
                                            <p:cond delay="0"/>
                                          </p:stCondLst>
                                        </p:cTn>
                                        <p:tgtEl>
                                          <p:spTgt spid="132"/>
                                        </p:tgtEl>
                                        <p:attrNameLst>
                                          <p:attrName>style.visibility</p:attrName>
                                        </p:attrNameLst>
                                      </p:cBhvr>
                                      <p:to>
                                        <p:strVal val="visible"/>
                                      </p:to>
                                    </p:set>
                                  </p:childTnLst>
                                </p:cTn>
                              </p:par>
                              <p:par>
                                <p:cTn id="287" presetID="1" presetClass="entr" presetSubtype="0" fill="hold" nodeType="withEffect">
                                  <p:stCondLst>
                                    <p:cond delay="0"/>
                                  </p:stCondLst>
                                  <p:childTnLst>
                                    <p:set>
                                      <p:cBhvr>
                                        <p:cTn id="288" dur="1" fill="hold">
                                          <p:stCondLst>
                                            <p:cond delay="0"/>
                                          </p:stCondLst>
                                        </p:cTn>
                                        <p:tgtEl>
                                          <p:spTgt spid="131"/>
                                        </p:tgtEl>
                                        <p:attrNameLst>
                                          <p:attrName>style.visibility</p:attrName>
                                        </p:attrNameLst>
                                      </p:cBhvr>
                                      <p:to>
                                        <p:strVal val="visible"/>
                                      </p:to>
                                    </p:set>
                                  </p:childTnLst>
                                </p:cTn>
                              </p:par>
                              <p:par>
                                <p:cTn id="289" presetID="1" presetClass="entr" presetSubtype="0" fill="hold" nodeType="withEffect">
                                  <p:stCondLst>
                                    <p:cond delay="0"/>
                                  </p:stCondLst>
                                  <p:childTnLst>
                                    <p:set>
                                      <p:cBhvr>
                                        <p:cTn id="290" dur="1" fill="hold">
                                          <p:stCondLst>
                                            <p:cond delay="0"/>
                                          </p:stCondLst>
                                        </p:cTn>
                                        <p:tgtEl>
                                          <p:spTgt spid="139"/>
                                        </p:tgtEl>
                                        <p:attrNameLst>
                                          <p:attrName>style.visibility</p:attrName>
                                        </p:attrNameLst>
                                      </p:cBhvr>
                                      <p:to>
                                        <p:strVal val="visible"/>
                                      </p:to>
                                    </p:set>
                                  </p:childTnLst>
                                </p:cTn>
                              </p:par>
                              <p:par>
                                <p:cTn id="291" presetID="1" presetClass="entr" presetSubtype="0" fill="hold" nodeType="withEffect">
                                  <p:stCondLst>
                                    <p:cond delay="0"/>
                                  </p:stCondLst>
                                  <p:childTnLst>
                                    <p:set>
                                      <p:cBhvr>
                                        <p:cTn id="292" dur="1" fill="hold">
                                          <p:stCondLst>
                                            <p:cond delay="0"/>
                                          </p:stCondLst>
                                        </p:cTn>
                                        <p:tgtEl>
                                          <p:spTgt spid="145"/>
                                        </p:tgtEl>
                                        <p:attrNameLst>
                                          <p:attrName>style.visibility</p:attrName>
                                        </p:attrNameLst>
                                      </p:cBhvr>
                                      <p:to>
                                        <p:strVal val="visible"/>
                                      </p:to>
                                    </p:set>
                                  </p:childTnLst>
                                </p:cTn>
                              </p:par>
                              <p:par>
                                <p:cTn id="293" presetID="1" presetClass="entr" presetSubtype="0" fill="hold" nodeType="withEffect">
                                  <p:stCondLst>
                                    <p:cond delay="0"/>
                                  </p:stCondLst>
                                  <p:childTnLst>
                                    <p:set>
                                      <p:cBhvr>
                                        <p:cTn id="294" dur="1" fill="hold">
                                          <p:stCondLst>
                                            <p:cond delay="0"/>
                                          </p:stCondLst>
                                        </p:cTn>
                                        <p:tgtEl>
                                          <p:spTgt spid="147"/>
                                        </p:tgtEl>
                                        <p:attrNameLst>
                                          <p:attrName>style.visibility</p:attrName>
                                        </p:attrNameLst>
                                      </p:cBhvr>
                                      <p:to>
                                        <p:strVal val="visible"/>
                                      </p:to>
                                    </p:set>
                                  </p:childTnLst>
                                </p:cTn>
                              </p:par>
                              <p:par>
                                <p:cTn id="295" presetID="1" presetClass="entr" presetSubtype="0" fill="hold" nodeType="withEffect">
                                  <p:stCondLst>
                                    <p:cond delay="0"/>
                                  </p:stCondLst>
                                  <p:childTnLst>
                                    <p:set>
                                      <p:cBhvr>
                                        <p:cTn id="296" dur="1" fill="hold">
                                          <p:stCondLst>
                                            <p:cond delay="0"/>
                                          </p:stCondLst>
                                        </p:cTn>
                                        <p:tgtEl>
                                          <p:spTgt spid="148"/>
                                        </p:tgtEl>
                                        <p:attrNameLst>
                                          <p:attrName>style.visibility</p:attrName>
                                        </p:attrNameLst>
                                      </p:cBhvr>
                                      <p:to>
                                        <p:strVal val="visible"/>
                                      </p:to>
                                    </p:set>
                                  </p:childTnLst>
                                </p:cTn>
                              </p:par>
                              <p:par>
                                <p:cTn id="297" presetID="1" presetClass="entr" presetSubtype="0" fill="hold" nodeType="withEffect">
                                  <p:stCondLst>
                                    <p:cond delay="0"/>
                                  </p:stCondLst>
                                  <p:childTnLst>
                                    <p:set>
                                      <p:cBhvr>
                                        <p:cTn id="298" dur="1" fill="hold">
                                          <p:stCondLst>
                                            <p:cond delay="0"/>
                                          </p:stCondLst>
                                        </p:cTn>
                                        <p:tgtEl>
                                          <p:spTgt spid="141"/>
                                        </p:tgtEl>
                                        <p:attrNameLst>
                                          <p:attrName>style.visibility</p:attrName>
                                        </p:attrNameLst>
                                      </p:cBhvr>
                                      <p:to>
                                        <p:strVal val="visible"/>
                                      </p:to>
                                    </p:set>
                                  </p:childTnLst>
                                </p:cTn>
                              </p:par>
                              <p:par>
                                <p:cTn id="299" presetID="1" presetClass="entr" presetSubtype="0" fill="hold" nodeType="withEffect">
                                  <p:stCondLst>
                                    <p:cond delay="0"/>
                                  </p:stCondLst>
                                  <p:childTnLst>
                                    <p:set>
                                      <p:cBhvr>
                                        <p:cTn id="300" dur="1" fill="hold">
                                          <p:stCondLst>
                                            <p:cond delay="0"/>
                                          </p:stCondLst>
                                        </p:cTn>
                                        <p:tgtEl>
                                          <p:spTgt spid="142"/>
                                        </p:tgtEl>
                                        <p:attrNameLst>
                                          <p:attrName>style.visibility</p:attrName>
                                        </p:attrNameLst>
                                      </p:cBhvr>
                                      <p:to>
                                        <p:strVal val="visible"/>
                                      </p:to>
                                    </p:set>
                                  </p:childTnLst>
                                </p:cTn>
                              </p:par>
                              <p:par>
                                <p:cTn id="301" presetID="1" presetClass="entr" presetSubtype="0" fill="hold" nodeType="withEffect">
                                  <p:stCondLst>
                                    <p:cond delay="0"/>
                                  </p:stCondLst>
                                  <p:childTnLst>
                                    <p:set>
                                      <p:cBhvr>
                                        <p:cTn id="302" dur="1" fill="hold">
                                          <p:stCondLst>
                                            <p:cond delay="0"/>
                                          </p:stCondLst>
                                        </p:cTn>
                                        <p:tgtEl>
                                          <p:spTgt spid="143"/>
                                        </p:tgtEl>
                                        <p:attrNameLst>
                                          <p:attrName>style.visibility</p:attrName>
                                        </p:attrNameLst>
                                      </p:cBhvr>
                                      <p:to>
                                        <p:strVal val="visible"/>
                                      </p:to>
                                    </p:set>
                                  </p:childTnLst>
                                </p:cTn>
                              </p:par>
                              <p:par>
                                <p:cTn id="303" presetID="1" presetClass="entr" presetSubtype="0" fill="hold" nodeType="withEffect">
                                  <p:stCondLst>
                                    <p:cond delay="0"/>
                                  </p:stCondLst>
                                  <p:childTnLst>
                                    <p:set>
                                      <p:cBhvr>
                                        <p:cTn id="304" dur="1" fill="hold">
                                          <p:stCondLst>
                                            <p:cond delay="0"/>
                                          </p:stCondLst>
                                        </p:cTn>
                                        <p:tgtEl>
                                          <p:spTgt spid="149"/>
                                        </p:tgtEl>
                                        <p:attrNameLst>
                                          <p:attrName>style.visibility</p:attrName>
                                        </p:attrNameLst>
                                      </p:cBhvr>
                                      <p:to>
                                        <p:strVal val="visible"/>
                                      </p:to>
                                    </p:set>
                                  </p:childTnLst>
                                </p:cTn>
                              </p:par>
                              <p:par>
                                <p:cTn id="305" presetID="1" presetClass="entr" presetSubtype="0" fill="hold" nodeType="withEffect">
                                  <p:stCondLst>
                                    <p:cond delay="0"/>
                                  </p:stCondLst>
                                  <p:childTnLst>
                                    <p:set>
                                      <p:cBhvr>
                                        <p:cTn id="306" dur="1" fill="hold">
                                          <p:stCondLst>
                                            <p:cond delay="0"/>
                                          </p:stCondLst>
                                        </p:cTn>
                                        <p:tgtEl>
                                          <p:spTgt spid="144"/>
                                        </p:tgtEl>
                                        <p:attrNameLst>
                                          <p:attrName>style.visibility</p:attrName>
                                        </p:attrNameLst>
                                      </p:cBhvr>
                                      <p:to>
                                        <p:strVal val="visible"/>
                                      </p:to>
                                    </p:set>
                                  </p:childTnLst>
                                </p:cTn>
                              </p:par>
                              <p:par>
                                <p:cTn id="307" presetID="1" presetClass="entr" presetSubtype="0" fill="hold" nodeType="withEffect">
                                  <p:stCondLst>
                                    <p:cond delay="0"/>
                                  </p:stCondLst>
                                  <p:childTnLst>
                                    <p:set>
                                      <p:cBhvr>
                                        <p:cTn id="308" dur="1" fill="hold">
                                          <p:stCondLst>
                                            <p:cond delay="0"/>
                                          </p:stCondLst>
                                        </p:cTn>
                                        <p:tgtEl>
                                          <p:spTgt spid="150"/>
                                        </p:tgtEl>
                                        <p:attrNameLst>
                                          <p:attrName>style.visibility</p:attrName>
                                        </p:attrNameLst>
                                      </p:cBhvr>
                                      <p:to>
                                        <p:strVal val="visible"/>
                                      </p:to>
                                    </p:set>
                                  </p:childTnLst>
                                </p:cTn>
                              </p:par>
                              <p:par>
                                <p:cTn id="309" presetID="1" presetClass="entr" presetSubtype="0" fill="hold" grpId="0" nodeType="withEffect">
                                  <p:stCondLst>
                                    <p:cond delay="0"/>
                                  </p:stCondLst>
                                  <p:childTnLst>
                                    <p:set>
                                      <p:cBhvr>
                                        <p:cTn id="310" dur="1" fill="hold">
                                          <p:stCondLst>
                                            <p:cond delay="0"/>
                                          </p:stCondLst>
                                        </p:cTn>
                                        <p:tgtEl>
                                          <p:spTgt spid="84"/>
                                        </p:tgtEl>
                                        <p:attrNameLst>
                                          <p:attrName>style.visibility</p:attrName>
                                        </p:attrNameLst>
                                      </p:cBhvr>
                                      <p:to>
                                        <p:strVal val="visible"/>
                                      </p:to>
                                    </p:set>
                                  </p:childTnLst>
                                </p:cTn>
                              </p:par>
                              <p:par>
                                <p:cTn id="311" presetID="1" presetClass="entr" presetSubtype="0" fill="hold" grpId="0" nodeType="withEffect">
                                  <p:stCondLst>
                                    <p:cond delay="0"/>
                                  </p:stCondLst>
                                  <p:childTnLst>
                                    <p:set>
                                      <p:cBhvr>
                                        <p:cTn id="312" dur="1" fill="hold">
                                          <p:stCondLst>
                                            <p:cond delay="0"/>
                                          </p:stCondLst>
                                        </p:cTn>
                                        <p:tgtEl>
                                          <p:spTgt spid="94"/>
                                        </p:tgtEl>
                                        <p:attrNameLst>
                                          <p:attrName>style.visibility</p:attrName>
                                        </p:attrNameLst>
                                      </p:cBhvr>
                                      <p:to>
                                        <p:strVal val="visible"/>
                                      </p:to>
                                    </p:set>
                                  </p:childTnLst>
                                </p:cTn>
                              </p:par>
                              <p:par>
                                <p:cTn id="313" presetID="1" presetClass="entr" presetSubtype="0" fill="hold" grpId="0" nodeType="withEffect">
                                  <p:stCondLst>
                                    <p:cond delay="0"/>
                                  </p:stCondLst>
                                  <p:childTnLst>
                                    <p:set>
                                      <p:cBhvr>
                                        <p:cTn id="314" dur="1" fill="hold">
                                          <p:stCondLst>
                                            <p:cond delay="0"/>
                                          </p:stCondLst>
                                        </p:cTn>
                                        <p:tgtEl>
                                          <p:spTgt spid="95"/>
                                        </p:tgtEl>
                                        <p:attrNameLst>
                                          <p:attrName>style.visibility</p:attrName>
                                        </p:attrNameLst>
                                      </p:cBhvr>
                                      <p:to>
                                        <p:strVal val="visible"/>
                                      </p:to>
                                    </p:set>
                                  </p:childTnLst>
                                </p:cTn>
                              </p:par>
                              <p:par>
                                <p:cTn id="315" presetID="1" presetClass="entr" presetSubtype="0" fill="hold" grpId="0" nodeType="withEffect">
                                  <p:stCondLst>
                                    <p:cond delay="0"/>
                                  </p:stCondLst>
                                  <p:childTnLst>
                                    <p:set>
                                      <p:cBhvr>
                                        <p:cTn id="316" dur="1" fill="hold">
                                          <p:stCondLst>
                                            <p:cond delay="0"/>
                                          </p:stCondLst>
                                        </p:cTn>
                                        <p:tgtEl>
                                          <p:spTgt spid="86"/>
                                        </p:tgtEl>
                                        <p:attrNameLst>
                                          <p:attrName>style.visibility</p:attrName>
                                        </p:attrNameLst>
                                      </p:cBhvr>
                                      <p:to>
                                        <p:strVal val="visible"/>
                                      </p:to>
                                    </p:set>
                                  </p:childTnLst>
                                </p:cTn>
                              </p:par>
                              <p:par>
                                <p:cTn id="317" presetID="1" presetClass="entr" presetSubtype="0" fill="hold" nodeType="withEffect">
                                  <p:stCondLst>
                                    <p:cond delay="0"/>
                                  </p:stCondLst>
                                  <p:childTnLst>
                                    <p:set>
                                      <p:cBhvr>
                                        <p:cTn id="318" dur="1" fill="hold">
                                          <p:stCondLst>
                                            <p:cond delay="0"/>
                                          </p:stCondLst>
                                        </p:cTn>
                                        <p:tgtEl>
                                          <p:spTgt spid="146"/>
                                        </p:tgtEl>
                                        <p:attrNameLst>
                                          <p:attrName>style.visibility</p:attrName>
                                        </p:attrNameLst>
                                      </p:cBhvr>
                                      <p:to>
                                        <p:strVal val="visible"/>
                                      </p:to>
                                    </p:set>
                                  </p:childTnLst>
                                </p:cTn>
                              </p:par>
                              <p:par>
                                <p:cTn id="319" presetID="1" presetClass="entr" presetSubtype="0" fill="hold" nodeType="withEffect">
                                  <p:stCondLst>
                                    <p:cond delay="0"/>
                                  </p:stCondLst>
                                  <p:childTnLst>
                                    <p:set>
                                      <p:cBhvr>
                                        <p:cTn id="320" dur="1" fill="hold">
                                          <p:stCondLst>
                                            <p:cond delay="0"/>
                                          </p:stCondLst>
                                        </p:cTn>
                                        <p:tgtEl>
                                          <p:spTgt spid="140"/>
                                        </p:tgtEl>
                                        <p:attrNameLst>
                                          <p:attrName>style.visibility</p:attrName>
                                        </p:attrNameLst>
                                      </p:cBhvr>
                                      <p:to>
                                        <p:strVal val="visible"/>
                                      </p:to>
                                    </p:set>
                                  </p:childTnLst>
                                </p:cTn>
                              </p:par>
                              <p:par>
                                <p:cTn id="321" presetID="1" presetClass="entr" presetSubtype="0" fill="hold" nodeType="withEffect">
                                  <p:stCondLst>
                                    <p:cond delay="0"/>
                                  </p:stCondLst>
                                  <p:childTnLst>
                                    <p:set>
                                      <p:cBhvr>
                                        <p:cTn id="322" dur="1" fill="hold">
                                          <p:stCondLst>
                                            <p:cond delay="0"/>
                                          </p:stCondLst>
                                        </p:cTn>
                                        <p:tgtEl>
                                          <p:spTgt spid="138"/>
                                        </p:tgtEl>
                                        <p:attrNameLst>
                                          <p:attrName>style.visibility</p:attrName>
                                        </p:attrNameLst>
                                      </p:cBhvr>
                                      <p:to>
                                        <p:strVal val="visible"/>
                                      </p:to>
                                    </p:set>
                                  </p:childTnLst>
                                </p:cTn>
                              </p:par>
                            </p:childTnLst>
                          </p:cTn>
                        </p:par>
                      </p:childTnLst>
                    </p:cTn>
                  </p:par>
                  <p:par>
                    <p:cTn id="323" fill="hold">
                      <p:stCondLst>
                        <p:cond delay="indefinite"/>
                      </p:stCondLst>
                      <p:childTnLst>
                        <p:par>
                          <p:cTn id="324" fill="hold">
                            <p:stCondLst>
                              <p:cond delay="0"/>
                            </p:stCondLst>
                            <p:childTnLst>
                              <p:par>
                                <p:cTn id="325" presetID="1" presetClass="entr" presetSubtype="0" fill="hold" grpId="0" nodeType="clickEffect">
                                  <p:stCondLst>
                                    <p:cond delay="0"/>
                                  </p:stCondLst>
                                  <p:childTnLst>
                                    <p:set>
                                      <p:cBhvr>
                                        <p:cTn id="326" dur="1" fill="hold">
                                          <p:stCondLst>
                                            <p:cond delay="0"/>
                                          </p:stCondLst>
                                        </p:cTn>
                                        <p:tgtEl>
                                          <p:spTgt spid="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9" grpId="0" animBg="1"/>
      <p:bldP spid="30" grpId="0" animBg="1"/>
      <p:bldP spid="74" grpId="0"/>
      <p:bldP spid="75" grpId="0"/>
      <p:bldP spid="84" grpId="0" animBg="1"/>
      <p:bldP spid="86" grpId="0"/>
      <p:bldP spid="94" grpId="0"/>
      <p:bldP spid="95" grpId="0"/>
      <p:bldP spid="15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AGE HEADING"/>
          <p:cNvSpPr>
            <a:spLocks noGrp="1"/>
          </p:cNvSpPr>
          <p:nvPr>
            <p:ph type="title"/>
            <p:custDataLst>
              <p:tags r:id="rId2"/>
            </p:custDataLst>
          </p:nvPr>
        </p:nvSpPr>
        <p:spPr/>
        <p:txBody>
          <a:bodyPr>
            <a:normAutofit/>
          </a:bodyPr>
          <a:lstStyle/>
          <a:p>
            <a:r>
              <a:rPr lang="pl-PL" dirty="0"/>
              <a:t>Monte Carlo </a:t>
            </a:r>
            <a:r>
              <a:rPr lang="pl-PL" dirty="0" err="1"/>
              <a:t>Simulations</a:t>
            </a:r>
            <a:endParaRPr lang="en-US" dirty="0"/>
          </a:p>
        </p:txBody>
      </p:sp>
      <mc:AlternateContent xmlns:mc="http://schemas.openxmlformats.org/markup-compatibility/2006" xmlns:a14="http://schemas.microsoft.com/office/drawing/2010/main">
        <mc:Choice Requires="a14">
          <p:sp>
            <p:nvSpPr>
              <p:cNvPr id="4" name="TextBox 3"/>
              <p:cNvSpPr txBox="1"/>
              <p:nvPr>
                <p:custDataLst>
                  <p:tags r:id="rId3"/>
                </p:custDataLst>
              </p:nvPr>
            </p:nvSpPr>
            <p:spPr>
              <a:xfrm>
                <a:off x="420624" y="1120774"/>
                <a:ext cx="9367810" cy="6298929"/>
              </a:xfrm>
              <a:prstGeom prst="rect">
                <a:avLst/>
              </a:prstGeom>
              <a:noFill/>
            </p:spPr>
            <p:txBody>
              <a:bodyPr vert="horz" wrap="square" lIns="0" tIns="0" rIns="0" bIns="0" rtlCol="0" anchor="t">
                <a:noAutofit/>
              </a:bodyPr>
              <a:lstStyle/>
              <a:p>
                <a:endParaRPr lang="pl-PL" altLang="zh-TW" sz="2000" dirty="0">
                  <a:latin typeface="Frutiger 55 Roman" panose="020B0503040202020204" pitchFamily="34" charset="0"/>
                </a:endParaRPr>
              </a:p>
              <a:p>
                <a:endParaRPr lang="pl-PL" altLang="zh-TW" sz="800" dirty="0">
                  <a:latin typeface="Frutiger 55 Roman" panose="020B0503040202020204" pitchFamily="34" charset="0"/>
                </a:endParaRPr>
              </a:p>
              <a:p>
                <a:r>
                  <a:rPr lang="pl-PL" altLang="zh-TW" sz="1600" dirty="0">
                    <a:latin typeface="Frutiger 55 Roman" panose="020B0503040202020204" pitchFamily="34" charset="0"/>
                  </a:rPr>
                  <a:t>Monte Carlo </a:t>
                </a:r>
                <a:r>
                  <a:rPr lang="pl-PL" altLang="zh-TW" sz="1600" dirty="0" err="1">
                    <a:latin typeface="Frutiger 55 Roman" panose="020B0503040202020204" pitchFamily="34" charset="0"/>
                  </a:rPr>
                  <a:t>is</a:t>
                </a:r>
                <a:r>
                  <a:rPr lang="pl-PL" altLang="zh-TW" sz="1600" dirty="0">
                    <a:latin typeface="Frutiger 55 Roman" panose="020B0503040202020204" pitchFamily="34" charset="0"/>
                  </a:rPr>
                  <a:t> </a:t>
                </a:r>
                <a:r>
                  <a:rPr lang="pl-PL" altLang="zh-TW" sz="1600" dirty="0" err="1">
                    <a:latin typeface="Frutiger 55 Roman" panose="020B0503040202020204" pitchFamily="34" charset="0"/>
                  </a:rPr>
                  <a:t>commonly</a:t>
                </a:r>
                <a:r>
                  <a:rPr lang="pl-PL" altLang="zh-TW" sz="1600" dirty="0">
                    <a:latin typeface="Frutiger 55 Roman" panose="020B0503040202020204" pitchFamily="34" charset="0"/>
                  </a:rPr>
                  <a:t> </a:t>
                </a:r>
                <a:r>
                  <a:rPr lang="pl-PL" altLang="zh-TW" sz="1600" dirty="0" err="1">
                    <a:latin typeface="Frutiger 55 Roman" panose="020B0503040202020204" pitchFamily="34" charset="0"/>
                  </a:rPr>
                  <a:t>used</a:t>
                </a:r>
                <a:r>
                  <a:rPr lang="pl-PL" altLang="zh-TW" sz="1600" dirty="0">
                    <a:latin typeface="Frutiger 55 Roman" panose="020B0503040202020204" pitchFamily="34" charset="0"/>
                  </a:rPr>
                  <a:t> for </a:t>
                </a:r>
                <a:r>
                  <a:rPr lang="pl-PL" altLang="zh-TW" sz="1600" dirty="0" err="1">
                    <a:latin typeface="Frutiger 55 Roman" panose="020B0503040202020204" pitchFamily="34" charset="0"/>
                  </a:rPr>
                  <a:t>estimation</a:t>
                </a:r>
                <a:r>
                  <a:rPr lang="pl-PL" altLang="zh-TW" sz="1600" dirty="0">
                    <a:latin typeface="Frutiger 55 Roman" panose="020B0503040202020204" pitchFamily="34" charset="0"/>
                  </a:rPr>
                  <a:t> of </a:t>
                </a:r>
                <a:r>
                  <a:rPr lang="pl-PL" altLang="zh-TW" sz="1600" dirty="0" err="1">
                    <a:latin typeface="Frutiger 55 Roman" panose="020B0503040202020204" pitchFamily="34" charset="0"/>
                  </a:rPr>
                  <a:t>statistics</a:t>
                </a:r>
                <a:r>
                  <a:rPr lang="pl-PL" altLang="zh-TW" sz="1600" dirty="0">
                    <a:latin typeface="Frutiger 55 Roman" panose="020B0503040202020204" pitchFamily="34" charset="0"/>
                  </a:rPr>
                  <a:t> (</a:t>
                </a:r>
                <a:r>
                  <a:rPr lang="pl-PL" altLang="zh-TW" sz="1600" dirty="0" err="1">
                    <a:latin typeface="Frutiger 55 Roman" panose="020B0503040202020204" pitchFamily="34" charset="0"/>
                  </a:rPr>
                  <a:t>like</a:t>
                </a:r>
                <a:r>
                  <a:rPr lang="pl-PL" altLang="zh-TW" sz="1600" dirty="0">
                    <a:latin typeface="Frutiger 55 Roman" panose="020B0503040202020204" pitchFamily="34" charset="0"/>
                  </a:rPr>
                  <a:t> </a:t>
                </a:r>
                <a:r>
                  <a:rPr lang="pl-PL" altLang="zh-TW" sz="1600" dirty="0" err="1">
                    <a:latin typeface="Frutiger 55 Roman" panose="020B0503040202020204" pitchFamily="34" charset="0"/>
                  </a:rPr>
                  <a:t>expected</a:t>
                </a:r>
                <a:r>
                  <a:rPr lang="pl-PL" altLang="zh-TW" sz="1600" dirty="0">
                    <a:latin typeface="Frutiger 55 Roman" panose="020B0503040202020204" pitchFamily="34" charset="0"/>
                  </a:rPr>
                  <a:t> </a:t>
                </a:r>
                <a:r>
                  <a:rPr lang="pl-PL" altLang="zh-TW" sz="1600" dirty="0" err="1">
                    <a:latin typeface="Frutiger 55 Roman" panose="020B0503040202020204" pitchFamily="34" charset="0"/>
                  </a:rPr>
                  <a:t>value</a:t>
                </a:r>
                <a:r>
                  <a:rPr lang="pl-PL" altLang="zh-TW" sz="1600" dirty="0">
                    <a:latin typeface="Frutiger 55 Roman" panose="020B0503040202020204" pitchFamily="34" charset="0"/>
                  </a:rPr>
                  <a:t> and high </a:t>
                </a:r>
                <a:r>
                  <a:rPr lang="pl-PL" altLang="zh-TW" sz="1600" dirty="0" err="1">
                    <a:latin typeface="Frutiger 55 Roman" panose="020B0503040202020204" pitchFamily="34" charset="0"/>
                  </a:rPr>
                  <a:t>quantiles</a:t>
                </a:r>
                <a:r>
                  <a:rPr lang="pl-PL" altLang="zh-TW" sz="1600" dirty="0">
                    <a:latin typeface="Frutiger 55 Roman" panose="020B0503040202020204" pitchFamily="34" charset="0"/>
                  </a:rPr>
                  <a:t>) of a </a:t>
                </a:r>
                <a:r>
                  <a:rPr lang="pl-PL" altLang="zh-TW" sz="1600" dirty="0" err="1">
                    <a:latin typeface="Frutiger 55 Roman" panose="020B0503040202020204" pitchFamily="34" charset="0"/>
                  </a:rPr>
                  <a:t>random</a:t>
                </a:r>
                <a:r>
                  <a:rPr lang="pl-PL" altLang="zh-TW" sz="1600" dirty="0">
                    <a:latin typeface="Frutiger 55 Roman" panose="020B0503040202020204" pitchFamily="34" charset="0"/>
                  </a:rPr>
                  <a:t> </a:t>
                </a:r>
                <a:r>
                  <a:rPr lang="pl-PL" altLang="zh-TW" sz="1600" dirty="0" err="1">
                    <a:latin typeface="Frutiger 55 Roman" panose="020B0503040202020204" pitchFamily="34" charset="0"/>
                  </a:rPr>
                  <a:t>variable</a:t>
                </a:r>
                <a:r>
                  <a:rPr lang="pl-PL" altLang="zh-TW" sz="1600" dirty="0">
                    <a:latin typeface="Frutiger 55 Roman" panose="020B0503040202020204" pitchFamily="34" charset="0"/>
                  </a:rPr>
                  <a:t>, </a:t>
                </a:r>
                <a:r>
                  <a:rPr lang="pl-PL" altLang="zh-TW" sz="1600" dirty="0" err="1">
                    <a:latin typeface="Frutiger 55 Roman" panose="020B0503040202020204" pitchFamily="34" charset="0"/>
                  </a:rPr>
                  <a:t>when</a:t>
                </a:r>
                <a:r>
                  <a:rPr lang="pl-PL" altLang="zh-TW" sz="1600" dirty="0">
                    <a:latin typeface="Frutiger 55 Roman" panose="020B0503040202020204" pitchFamily="34" charset="0"/>
                  </a:rPr>
                  <a:t> we </a:t>
                </a:r>
                <a:r>
                  <a:rPr lang="pl-PL" altLang="zh-TW" sz="1600" dirty="0" err="1">
                    <a:latin typeface="Frutiger 55 Roman" panose="020B0503040202020204" pitchFamily="34" charset="0"/>
                  </a:rPr>
                  <a:t>know</a:t>
                </a:r>
                <a:r>
                  <a:rPr lang="pl-PL" altLang="zh-TW" sz="1600" dirty="0">
                    <a:latin typeface="Frutiger 55 Roman" panose="020B0503040202020204" pitchFamily="34" charset="0"/>
                  </a:rPr>
                  <a:t> </a:t>
                </a:r>
                <a:r>
                  <a:rPr lang="pl-PL" altLang="zh-TW" sz="1600" dirty="0" err="1">
                    <a:latin typeface="Frutiger 55 Roman" panose="020B0503040202020204" pitchFamily="34" charset="0"/>
                  </a:rPr>
                  <a:t>that</a:t>
                </a:r>
                <a:r>
                  <a:rPr lang="pl-PL" altLang="zh-TW" sz="1600" dirty="0">
                    <a:latin typeface="Frutiger 55 Roman" panose="020B0503040202020204" pitchFamily="34" charset="0"/>
                  </a:rPr>
                  <a:t> </a:t>
                </a:r>
                <a:r>
                  <a:rPr lang="pl-PL" altLang="zh-TW" sz="1600" dirty="0" err="1">
                    <a:latin typeface="Frutiger 55 Roman" panose="020B0503040202020204" pitchFamily="34" charset="0"/>
                  </a:rPr>
                  <a:t>it</a:t>
                </a:r>
                <a:r>
                  <a:rPr lang="pl-PL" altLang="zh-TW" sz="1600" dirty="0">
                    <a:latin typeface="Frutiger 55 Roman" panose="020B0503040202020204" pitchFamily="34" charset="0"/>
                  </a:rPr>
                  <a:t> </a:t>
                </a:r>
                <a:r>
                  <a:rPr lang="pl-PL" altLang="zh-TW" sz="1600" dirty="0" err="1">
                    <a:latin typeface="Frutiger 55 Roman" panose="020B0503040202020204" pitchFamily="34" charset="0"/>
                  </a:rPr>
                  <a:t>is</a:t>
                </a:r>
                <a:r>
                  <a:rPr lang="pl-PL" altLang="zh-TW" sz="1600" dirty="0">
                    <a:latin typeface="Frutiger 55 Roman" panose="020B0503040202020204" pitchFamily="34" charset="0"/>
                  </a:rPr>
                  <a:t> a </a:t>
                </a:r>
                <a:r>
                  <a:rPr lang="pl-PL" altLang="zh-TW" sz="1600" dirty="0" err="1">
                    <a:latin typeface="Frutiger 55 Roman" panose="020B0503040202020204" pitchFamily="34" charset="0"/>
                  </a:rPr>
                  <a:t>function</a:t>
                </a:r>
                <a:r>
                  <a:rPr lang="pl-PL" altLang="zh-TW" sz="1600" dirty="0">
                    <a:latin typeface="Frutiger 55 Roman" panose="020B0503040202020204" pitchFamily="34" charset="0"/>
                  </a:rPr>
                  <a:t> of </a:t>
                </a:r>
                <a:r>
                  <a:rPr lang="pl-PL" altLang="zh-TW" sz="1600" dirty="0" err="1">
                    <a:latin typeface="Frutiger 55 Roman" panose="020B0503040202020204" pitchFamily="34" charset="0"/>
                  </a:rPr>
                  <a:t>another</a:t>
                </a:r>
                <a:r>
                  <a:rPr lang="pl-PL" altLang="zh-TW" sz="1600" dirty="0">
                    <a:latin typeface="Frutiger 55 Roman" panose="020B0503040202020204" pitchFamily="34" charset="0"/>
                  </a:rPr>
                  <a:t> </a:t>
                </a:r>
                <a:r>
                  <a:rPr lang="pl-PL" altLang="zh-TW" sz="1600" dirty="0" err="1">
                    <a:latin typeface="Frutiger 55 Roman" panose="020B0503040202020204" pitchFamily="34" charset="0"/>
                  </a:rPr>
                  <a:t>random</a:t>
                </a:r>
                <a:r>
                  <a:rPr lang="pl-PL" altLang="zh-TW" sz="1600" dirty="0">
                    <a:latin typeface="Frutiger 55 Roman" panose="020B0503040202020204" pitchFamily="34" charset="0"/>
                  </a:rPr>
                  <a:t> </a:t>
                </a:r>
                <a:r>
                  <a:rPr lang="pl-PL" altLang="zh-TW" sz="1600" dirty="0" err="1">
                    <a:latin typeface="Frutiger 55 Roman" panose="020B0503040202020204" pitchFamily="34" charset="0"/>
                  </a:rPr>
                  <a:t>variable</a:t>
                </a:r>
                <a:r>
                  <a:rPr lang="pl-PL" altLang="zh-TW" sz="1600" dirty="0">
                    <a:latin typeface="Frutiger 55 Roman" panose="020B0503040202020204" pitchFamily="34" charset="0"/>
                  </a:rPr>
                  <a:t> with a </a:t>
                </a:r>
                <a:r>
                  <a:rPr lang="pl-PL" altLang="zh-TW" sz="1600" dirty="0" err="1">
                    <a:latin typeface="Frutiger 55 Roman" panose="020B0503040202020204" pitchFamily="34" charset="0"/>
                  </a:rPr>
                  <a:t>known</a:t>
                </a:r>
                <a:r>
                  <a:rPr lang="pl-PL" altLang="zh-TW" sz="1600" dirty="0">
                    <a:latin typeface="Frutiger 55 Roman" panose="020B0503040202020204" pitchFamily="34" charset="0"/>
                  </a:rPr>
                  <a:t> </a:t>
                </a:r>
                <a:r>
                  <a:rPr lang="pl-PL" altLang="zh-TW" sz="1600" dirty="0" err="1">
                    <a:latin typeface="Frutiger 55 Roman" panose="020B0503040202020204" pitchFamily="34" charset="0"/>
                  </a:rPr>
                  <a:t>distibution</a:t>
                </a:r>
                <a:r>
                  <a:rPr lang="pl-PL" altLang="zh-TW" sz="1600" dirty="0">
                    <a:latin typeface="Frutiger 55 Roman" panose="020B0503040202020204" pitchFamily="34" charset="0"/>
                  </a:rPr>
                  <a:t>.</a:t>
                </a:r>
              </a:p>
              <a:p>
                <a:endParaRPr lang="pl-PL" altLang="zh-TW" sz="800" dirty="0">
                  <a:latin typeface="Frutiger 55 Roman" panose="020B0503040202020204" pitchFamily="34" charset="0"/>
                </a:endParaRPr>
              </a:p>
              <a:p>
                <a:r>
                  <a:rPr lang="pl-PL" altLang="zh-TW" sz="1600" dirty="0" err="1">
                    <a:latin typeface="Frutiger 55 Roman" panose="020B0503040202020204" pitchFamily="34" charset="0"/>
                  </a:rPr>
                  <a:t>If</a:t>
                </a:r>
                <a:r>
                  <a:rPr lang="pl-PL" altLang="zh-TW" sz="1600" dirty="0">
                    <a:latin typeface="Frutiger 55 Roman" panose="020B0503040202020204" pitchFamily="34" charset="0"/>
                  </a:rPr>
                  <a:t> we </a:t>
                </a:r>
                <a:r>
                  <a:rPr lang="pl-PL" altLang="zh-TW" sz="1600" dirty="0" err="1">
                    <a:latin typeface="Frutiger 55 Roman" panose="020B0503040202020204" pitchFamily="34" charset="0"/>
                  </a:rPr>
                  <a:t>have</a:t>
                </a:r>
                <a:r>
                  <a:rPr lang="pl-PL" altLang="zh-TW" sz="1600" dirty="0">
                    <a:latin typeface="Frutiger 55 Roman" panose="020B0503040202020204" pitchFamily="34" charset="0"/>
                  </a:rPr>
                  <a:t> X and want to </a:t>
                </a:r>
                <a:r>
                  <a:rPr lang="pl-PL" altLang="zh-TW" sz="1600" dirty="0" err="1">
                    <a:latin typeface="Frutiger 55 Roman" panose="020B0503040202020204" pitchFamily="34" charset="0"/>
                  </a:rPr>
                  <a:t>calculate</a:t>
                </a:r>
                <a:r>
                  <a:rPr lang="pl-PL" altLang="zh-TW" sz="1600" dirty="0">
                    <a:latin typeface="Frutiger 55 Roman" panose="020B0503040202020204" pitchFamily="34" charset="0"/>
                  </a:rPr>
                  <a:t> </a:t>
                </a:r>
                <a:r>
                  <a:rPr lang="pl-PL" altLang="zh-TW" sz="1600" dirty="0" err="1">
                    <a:latin typeface="Frutiger 55 Roman" panose="020B0503040202020204" pitchFamily="34" charset="0"/>
                  </a:rPr>
                  <a:t>expected</a:t>
                </a:r>
                <a:r>
                  <a:rPr lang="pl-PL" altLang="zh-TW" sz="1600" dirty="0">
                    <a:latin typeface="Frutiger 55 Roman" panose="020B0503040202020204" pitchFamily="34" charset="0"/>
                  </a:rPr>
                  <a:t> </a:t>
                </a:r>
                <a:r>
                  <a:rPr lang="pl-PL" altLang="zh-TW" sz="1600" dirty="0" err="1">
                    <a:latin typeface="Frutiger 55 Roman" panose="020B0503040202020204" pitchFamily="34" charset="0"/>
                  </a:rPr>
                  <a:t>value</a:t>
                </a:r>
                <a:r>
                  <a:rPr lang="pl-PL" altLang="zh-TW" sz="1600" dirty="0">
                    <a:latin typeface="Frutiger 55 Roman" panose="020B0503040202020204" pitchFamily="34" charset="0"/>
                  </a:rPr>
                  <a:t> of f(X) we </a:t>
                </a:r>
                <a:r>
                  <a:rPr lang="pl-PL" altLang="zh-TW" sz="1600" dirty="0" err="1">
                    <a:latin typeface="Frutiger 55 Roman" panose="020B0503040202020204" pitchFamily="34" charset="0"/>
                  </a:rPr>
                  <a:t>can</a:t>
                </a:r>
                <a:r>
                  <a:rPr lang="pl-PL" altLang="zh-TW" sz="1600" dirty="0">
                    <a:latin typeface="Frutiger 55 Roman" panose="020B0503040202020204" pitchFamily="34" charset="0"/>
                  </a:rPr>
                  <a:t> </a:t>
                </a:r>
                <a:r>
                  <a:rPr lang="pl-PL" altLang="zh-TW" sz="1600" dirty="0" err="1">
                    <a:latin typeface="Frutiger 55 Roman" panose="020B0503040202020204" pitchFamily="34" charset="0"/>
                  </a:rPr>
                  <a:t>estimate</a:t>
                </a:r>
                <a:r>
                  <a:rPr lang="pl-PL" altLang="zh-TW" sz="1600" dirty="0">
                    <a:latin typeface="Frutiger 55 Roman" panose="020B0503040202020204" pitchFamily="34" charset="0"/>
                  </a:rPr>
                  <a:t> </a:t>
                </a:r>
                <a:r>
                  <a:rPr lang="pl-PL" altLang="zh-TW" sz="1600" dirty="0" err="1">
                    <a:latin typeface="Frutiger 55 Roman" panose="020B0503040202020204" pitchFamily="34" charset="0"/>
                  </a:rPr>
                  <a:t>it</a:t>
                </a:r>
                <a:r>
                  <a:rPr lang="pl-PL" altLang="zh-TW" sz="1600" dirty="0">
                    <a:latin typeface="Frutiger 55 Roman" panose="020B0503040202020204" pitchFamily="34" charset="0"/>
                  </a:rPr>
                  <a:t> with</a:t>
                </a:r>
              </a:p>
              <a:p>
                <a14:m>
                  <m:oMath xmlns:m="http://schemas.openxmlformats.org/officeDocument/2006/math">
                    <m:sSub>
                      <m:sSubPr>
                        <m:ctrlPr>
                          <a:rPr lang="pl-PL" altLang="zh-TW" sz="1600" i="1">
                            <a:latin typeface="Cambria Math" panose="02040503050406030204" pitchFamily="18" charset="0"/>
                          </a:rPr>
                        </m:ctrlPr>
                      </m:sSubPr>
                      <m:e>
                        <m:acc>
                          <m:accPr>
                            <m:chr m:val="̂"/>
                            <m:ctrlPr>
                              <a:rPr lang="pl-PL" altLang="zh-TW" sz="1600" i="1">
                                <a:latin typeface="Cambria Math" panose="02040503050406030204" pitchFamily="18" charset="0"/>
                              </a:rPr>
                            </m:ctrlPr>
                          </m:accPr>
                          <m:e>
                            <m:r>
                              <a:rPr lang="zh-TW" altLang="pl-PL" sz="1600" i="1">
                                <a:latin typeface="Cambria Math" panose="02040503050406030204" pitchFamily="18" charset="0"/>
                              </a:rPr>
                              <m:t>𝛼</m:t>
                            </m:r>
                          </m:e>
                        </m:acc>
                      </m:e>
                      <m:sub>
                        <m:r>
                          <a:rPr lang="pl-PL" altLang="zh-TW" sz="1600" i="1">
                            <a:latin typeface="Cambria Math" panose="02040503050406030204" pitchFamily="18" charset="0"/>
                          </a:rPr>
                          <m:t>𝑁</m:t>
                        </m:r>
                      </m:sub>
                    </m:sSub>
                    <m:r>
                      <a:rPr lang="pl-PL" altLang="zh-TW" sz="1600" i="1" smtClean="0">
                        <a:latin typeface="Cambria Math" panose="02040503050406030204" pitchFamily="18" charset="0"/>
                      </a:rPr>
                      <m:t>=</m:t>
                    </m:r>
                    <m:f>
                      <m:fPr>
                        <m:ctrlPr>
                          <a:rPr lang="pl-PL" altLang="zh-TW" sz="1600" i="1" smtClean="0">
                            <a:latin typeface="Cambria Math" panose="02040503050406030204" pitchFamily="18" charset="0"/>
                          </a:rPr>
                        </m:ctrlPr>
                      </m:fPr>
                      <m:num>
                        <m:r>
                          <a:rPr lang="pl-PL" altLang="zh-TW" sz="1600" b="0" i="1" smtClean="0">
                            <a:latin typeface="Cambria Math" panose="02040503050406030204" pitchFamily="18" charset="0"/>
                          </a:rPr>
                          <m:t>1</m:t>
                        </m:r>
                      </m:num>
                      <m:den>
                        <m:r>
                          <a:rPr lang="pl-PL" altLang="zh-TW" sz="1600" b="0" i="1" smtClean="0">
                            <a:latin typeface="Cambria Math" panose="02040503050406030204" pitchFamily="18" charset="0"/>
                          </a:rPr>
                          <m:t>𝑁</m:t>
                        </m:r>
                      </m:den>
                    </m:f>
                    <m:nary>
                      <m:naryPr>
                        <m:chr m:val="∑"/>
                        <m:ctrlPr>
                          <a:rPr lang="pl-PL" altLang="zh-TW" sz="1600" i="1" smtClean="0">
                            <a:latin typeface="Cambria Math" panose="02040503050406030204" pitchFamily="18" charset="0"/>
                          </a:rPr>
                        </m:ctrlPr>
                      </m:naryPr>
                      <m:sub>
                        <m:r>
                          <m:rPr>
                            <m:brk m:alnAt="23"/>
                          </m:rPr>
                          <a:rPr lang="pl-PL" altLang="zh-TW" sz="1600" b="0" i="1" smtClean="0">
                            <a:latin typeface="Cambria Math" panose="02040503050406030204" pitchFamily="18" charset="0"/>
                          </a:rPr>
                          <m:t>𝑖</m:t>
                        </m:r>
                        <m:r>
                          <a:rPr lang="pl-PL" altLang="zh-TW" sz="1600" b="0" i="1" smtClean="0">
                            <a:latin typeface="Cambria Math" panose="02040503050406030204" pitchFamily="18" charset="0"/>
                          </a:rPr>
                          <m:t>=0</m:t>
                        </m:r>
                      </m:sub>
                      <m:sup>
                        <m:r>
                          <a:rPr lang="pl-PL" altLang="zh-TW" sz="1600" b="0" i="1" smtClean="0">
                            <a:latin typeface="Cambria Math" panose="02040503050406030204" pitchFamily="18" charset="0"/>
                          </a:rPr>
                          <m:t>𝑁</m:t>
                        </m:r>
                      </m:sup>
                      <m:e>
                        <m:r>
                          <a:rPr lang="pl-PL" altLang="zh-TW" sz="1600" b="0" i="1" smtClean="0">
                            <a:latin typeface="Cambria Math" panose="02040503050406030204" pitchFamily="18" charset="0"/>
                          </a:rPr>
                          <m:t>𝑓</m:t>
                        </m:r>
                        <m:d>
                          <m:dPr>
                            <m:ctrlPr>
                              <a:rPr lang="pl-PL" altLang="zh-TW" sz="1600" b="0" i="1" smtClean="0">
                                <a:latin typeface="Cambria Math" panose="02040503050406030204" pitchFamily="18" charset="0"/>
                              </a:rPr>
                            </m:ctrlPr>
                          </m:dPr>
                          <m:e>
                            <m:sSub>
                              <m:sSubPr>
                                <m:ctrlPr>
                                  <a:rPr lang="pl-PL" altLang="zh-TW" sz="1600" b="0" i="1" smtClean="0">
                                    <a:latin typeface="Cambria Math" panose="02040503050406030204" pitchFamily="18" charset="0"/>
                                  </a:rPr>
                                </m:ctrlPr>
                              </m:sSubPr>
                              <m:e>
                                <m:r>
                                  <a:rPr lang="pl-PL" altLang="zh-TW" sz="1600" b="0" i="1" smtClean="0">
                                    <a:latin typeface="Cambria Math" panose="02040503050406030204" pitchFamily="18" charset="0"/>
                                  </a:rPr>
                                  <m:t>𝑋</m:t>
                                </m:r>
                              </m:e>
                              <m:sub>
                                <m:r>
                                  <a:rPr lang="pl-PL" altLang="zh-TW" sz="1600" b="0" i="1" smtClean="0">
                                    <a:latin typeface="Cambria Math" panose="02040503050406030204" pitchFamily="18" charset="0"/>
                                  </a:rPr>
                                  <m:t>𝑖</m:t>
                                </m:r>
                              </m:sub>
                            </m:sSub>
                          </m:e>
                        </m:d>
                        <m:r>
                          <a:rPr lang="pl-PL" altLang="zh-TW" sz="1600" b="0" i="1" smtClean="0">
                            <a:latin typeface="Cambria Math" panose="02040503050406030204" pitchFamily="18" charset="0"/>
                          </a:rPr>
                          <m:t>,</m:t>
                        </m:r>
                      </m:e>
                    </m:nary>
                  </m:oMath>
                </a14:m>
                <a:r>
                  <a:rPr lang="pl-PL" altLang="zh-TW" sz="1600" dirty="0">
                    <a:latin typeface="Frutiger 55 Roman" panose="020B0503040202020204" pitchFamily="34" charset="0"/>
                  </a:rPr>
                  <a:t> </a:t>
                </a:r>
                <a:r>
                  <a:rPr lang="pl-PL" altLang="zh-TW" sz="1600" dirty="0" err="1">
                    <a:latin typeface="Frutiger 55 Roman" panose="020B0503040202020204" pitchFamily="34" charset="0"/>
                  </a:rPr>
                  <a:t>where</a:t>
                </a:r>
                <a:r>
                  <a:rPr lang="pl-PL" altLang="zh-TW" sz="1600" dirty="0">
                    <a:latin typeface="Frutiger 55 Roman" panose="020B0503040202020204" pitchFamily="34" charset="0"/>
                  </a:rPr>
                  <a:t> </a:t>
                </a:r>
                <a14:m>
                  <m:oMath xmlns:m="http://schemas.openxmlformats.org/officeDocument/2006/math">
                    <m:sSub>
                      <m:sSubPr>
                        <m:ctrlPr>
                          <a:rPr lang="pl-PL" altLang="zh-TW" sz="1600" i="1">
                            <a:latin typeface="Cambria Math" panose="02040503050406030204" pitchFamily="18" charset="0"/>
                          </a:rPr>
                        </m:ctrlPr>
                      </m:sSubPr>
                      <m:e>
                        <m:r>
                          <a:rPr lang="pl-PL" altLang="zh-TW" sz="1600" i="1">
                            <a:latin typeface="Cambria Math" panose="02040503050406030204" pitchFamily="18" charset="0"/>
                          </a:rPr>
                          <m:t>𝑋</m:t>
                        </m:r>
                      </m:e>
                      <m:sub>
                        <m:r>
                          <a:rPr lang="pl-PL" altLang="zh-TW" sz="1600" i="1">
                            <a:latin typeface="Cambria Math" panose="02040503050406030204" pitchFamily="18" charset="0"/>
                          </a:rPr>
                          <m:t>𝑖</m:t>
                        </m:r>
                      </m:sub>
                    </m:sSub>
                  </m:oMath>
                </a14:m>
                <a:r>
                  <a:rPr lang="pl-PL" altLang="zh-TW" sz="1600" dirty="0">
                    <a:latin typeface="Frutiger 55 Roman" panose="020B0503040202020204" pitchFamily="34" charset="0"/>
                  </a:rPr>
                  <a:t> </a:t>
                </a:r>
                <a:r>
                  <a:rPr lang="pl-PL" altLang="zh-TW" sz="1600" dirty="0" err="1">
                    <a:latin typeface="Frutiger 55 Roman" panose="020B0503040202020204" pitchFamily="34" charset="0"/>
                  </a:rPr>
                  <a:t>are</a:t>
                </a:r>
                <a:r>
                  <a:rPr lang="pl-PL" altLang="zh-TW" sz="1600" dirty="0">
                    <a:latin typeface="Frutiger 55 Roman" panose="020B0503040202020204" pitchFamily="34" charset="0"/>
                  </a:rPr>
                  <a:t> </a:t>
                </a:r>
                <a:r>
                  <a:rPr lang="pl-PL" altLang="zh-TW" sz="1600" dirty="0" err="1">
                    <a:latin typeface="Frutiger 55 Roman" panose="020B0503040202020204" pitchFamily="34" charset="0"/>
                  </a:rPr>
                  <a:t>independently</a:t>
                </a:r>
                <a:r>
                  <a:rPr lang="pl-PL" altLang="zh-TW" sz="1600" dirty="0">
                    <a:latin typeface="Frutiger 55 Roman" panose="020B0503040202020204" pitchFamily="34" charset="0"/>
                  </a:rPr>
                  <a:t> </a:t>
                </a:r>
                <a:r>
                  <a:rPr lang="pl-PL" altLang="zh-TW" sz="1600" dirty="0" err="1">
                    <a:latin typeface="Frutiger 55 Roman" panose="020B0503040202020204" pitchFamily="34" charset="0"/>
                  </a:rPr>
                  <a:t>sampled</a:t>
                </a:r>
                <a:r>
                  <a:rPr lang="pl-PL" altLang="zh-TW" sz="1600" dirty="0">
                    <a:latin typeface="Frutiger 55 Roman" panose="020B0503040202020204" pitchFamily="34" charset="0"/>
                  </a:rPr>
                  <a:t> from the </a:t>
                </a:r>
                <a:r>
                  <a:rPr lang="pl-PL" altLang="zh-TW" sz="1600" dirty="0" err="1">
                    <a:latin typeface="Frutiger 55 Roman" panose="020B0503040202020204" pitchFamily="34" charset="0"/>
                  </a:rPr>
                  <a:t>distribution</a:t>
                </a:r>
                <a:r>
                  <a:rPr lang="pl-PL" altLang="zh-TW" sz="1600" dirty="0">
                    <a:latin typeface="Frutiger 55 Roman" panose="020B0503040202020204" pitchFamily="34" charset="0"/>
                  </a:rPr>
                  <a:t> of </a:t>
                </a:r>
                <a14:m>
                  <m:oMath xmlns:m="http://schemas.openxmlformats.org/officeDocument/2006/math">
                    <m:r>
                      <a:rPr lang="pl-PL" altLang="zh-TW" sz="1600" b="0" i="1" smtClean="0">
                        <a:latin typeface="Cambria Math" panose="02040503050406030204" pitchFamily="18" charset="0"/>
                      </a:rPr>
                      <m:t>𝑋</m:t>
                    </m:r>
                    <m:r>
                      <a:rPr lang="pl-PL" altLang="zh-TW" sz="1600" b="0" i="1" smtClean="0">
                        <a:latin typeface="Cambria Math" panose="02040503050406030204" pitchFamily="18" charset="0"/>
                      </a:rPr>
                      <m:t>.</m:t>
                    </m:r>
                  </m:oMath>
                </a14:m>
                <a:endParaRPr lang="pl-PL" altLang="zh-TW" sz="1600" dirty="0">
                  <a:latin typeface="Frutiger 55 Roman" panose="020B0503040202020204" pitchFamily="34" charset="0"/>
                </a:endParaRPr>
              </a:p>
              <a:p>
                <a:r>
                  <a:rPr lang="pl-PL" altLang="zh-TW" sz="1600" dirty="0">
                    <a:latin typeface="Frutiger 55 Roman" panose="020B0503040202020204" pitchFamily="34" charset="0"/>
                  </a:rPr>
                  <a:t>From The Law of </a:t>
                </a:r>
                <a:r>
                  <a:rPr lang="pl-PL" altLang="zh-TW" sz="1600" dirty="0" err="1">
                    <a:latin typeface="Frutiger 55 Roman" panose="020B0503040202020204" pitchFamily="34" charset="0"/>
                  </a:rPr>
                  <a:t>Large</a:t>
                </a:r>
                <a:r>
                  <a:rPr lang="pl-PL" altLang="zh-TW" sz="1600" dirty="0">
                    <a:latin typeface="Frutiger 55 Roman" panose="020B0503040202020204" pitchFamily="34" charset="0"/>
                  </a:rPr>
                  <a:t> </a:t>
                </a:r>
                <a:r>
                  <a:rPr lang="pl-PL" altLang="zh-TW" sz="1600" dirty="0" err="1">
                    <a:latin typeface="Frutiger 55 Roman" panose="020B0503040202020204" pitchFamily="34" charset="0"/>
                  </a:rPr>
                  <a:t>Numbers</a:t>
                </a:r>
                <a:r>
                  <a:rPr lang="pl-PL" altLang="zh-TW" sz="1600" dirty="0">
                    <a:latin typeface="Frutiger 55 Roman" panose="020B0503040202020204" pitchFamily="34" charset="0"/>
                  </a:rPr>
                  <a:t> we </a:t>
                </a:r>
                <a:r>
                  <a:rPr lang="pl-PL" altLang="zh-TW" sz="1600" dirty="0" err="1">
                    <a:latin typeface="Frutiger 55 Roman" panose="020B0503040202020204" pitchFamily="34" charset="0"/>
                  </a:rPr>
                  <a:t>get</a:t>
                </a:r>
                <a:r>
                  <a:rPr lang="pl-PL" altLang="zh-TW" sz="1600" dirty="0">
                    <a:latin typeface="Frutiger 55 Roman" panose="020B0503040202020204" pitchFamily="34" charset="0"/>
                  </a:rPr>
                  <a:t> </a:t>
                </a:r>
                <a:r>
                  <a:rPr lang="pl-PL" altLang="zh-TW" sz="1600" dirty="0" err="1">
                    <a:latin typeface="Frutiger 55 Roman" panose="020B0503040202020204" pitchFamily="34" charset="0"/>
                  </a:rPr>
                  <a:t>that</a:t>
                </a:r>
                <a:r>
                  <a:rPr lang="pl-PL" altLang="zh-TW" sz="1600" dirty="0">
                    <a:latin typeface="Frutiger 55 Roman" panose="020B0503040202020204" pitchFamily="34" charset="0"/>
                  </a:rPr>
                  <a:t>:	</a:t>
                </a:r>
                <a14:m>
                  <m:oMath xmlns:m="http://schemas.openxmlformats.org/officeDocument/2006/math">
                    <m:r>
                      <a:rPr lang="pl-PL" sz="1600" b="0" i="0" smtClean="0">
                        <a:latin typeface="Cambria Math" panose="02040503050406030204" pitchFamily="18" charset="0"/>
                      </a:rPr>
                      <m:t> </m:t>
                    </m:r>
                    <m:r>
                      <a:rPr lang="en-US" sz="1600" i="1">
                        <a:latin typeface="Cambria Math"/>
                      </a:rPr>
                      <m:t>𝔼</m:t>
                    </m:r>
                    <m:d>
                      <m:dPr>
                        <m:ctrlPr>
                          <a:rPr lang="pl-PL" altLang="zh-TW" sz="1600" b="0" i="1" smtClean="0">
                            <a:latin typeface="Cambria Math" panose="02040503050406030204" pitchFamily="18" charset="0"/>
                          </a:rPr>
                        </m:ctrlPr>
                      </m:dPr>
                      <m:e>
                        <m:sSub>
                          <m:sSubPr>
                            <m:ctrlPr>
                              <a:rPr lang="pl-PL" altLang="zh-TW" sz="1600" b="0" i="1" smtClean="0">
                                <a:latin typeface="Cambria Math" panose="02040503050406030204" pitchFamily="18" charset="0"/>
                              </a:rPr>
                            </m:ctrlPr>
                          </m:sSubPr>
                          <m:e>
                            <m:acc>
                              <m:accPr>
                                <m:chr m:val="̂"/>
                                <m:ctrlPr>
                                  <a:rPr lang="pl-PL" altLang="zh-TW" sz="1600" b="0" i="1" smtClean="0">
                                    <a:latin typeface="Cambria Math" panose="02040503050406030204" pitchFamily="18" charset="0"/>
                                  </a:rPr>
                                </m:ctrlPr>
                              </m:accPr>
                              <m:e>
                                <m:r>
                                  <a:rPr lang="zh-TW" altLang="pl-PL" sz="1600" b="0" i="1" smtClean="0">
                                    <a:latin typeface="Cambria Math" panose="02040503050406030204" pitchFamily="18" charset="0"/>
                                  </a:rPr>
                                  <m:t>𝛼</m:t>
                                </m:r>
                              </m:e>
                            </m:acc>
                          </m:e>
                          <m:sub>
                            <m:r>
                              <a:rPr lang="pl-PL" altLang="zh-TW" sz="1600" b="0" i="1" smtClean="0">
                                <a:latin typeface="Cambria Math" panose="02040503050406030204" pitchFamily="18" charset="0"/>
                              </a:rPr>
                              <m:t>𝑁</m:t>
                            </m:r>
                          </m:sub>
                        </m:sSub>
                      </m:e>
                    </m:d>
                    <m:r>
                      <a:rPr lang="pl-PL" altLang="zh-TW" sz="1600" b="0" i="1" smtClean="0">
                        <a:latin typeface="Cambria Math" panose="02040503050406030204" pitchFamily="18" charset="0"/>
                        <a:ea typeface="Cambria Math" panose="02040503050406030204" pitchFamily="18" charset="0"/>
                      </a:rPr>
                      <m:t>→</m:t>
                    </m:r>
                    <m:r>
                      <a:rPr lang="en-US" sz="1600" i="1">
                        <a:latin typeface="Cambria Math"/>
                      </a:rPr>
                      <m:t>𝔼</m:t>
                    </m:r>
                    <m:d>
                      <m:dPr>
                        <m:ctrlPr>
                          <a:rPr lang="pl-PL" altLang="zh-TW" sz="1600" b="0" i="1" smtClean="0">
                            <a:latin typeface="Cambria Math" panose="02040503050406030204" pitchFamily="18" charset="0"/>
                            <a:ea typeface="Cambria Math" panose="02040503050406030204" pitchFamily="18" charset="0"/>
                          </a:rPr>
                        </m:ctrlPr>
                      </m:dPr>
                      <m:e>
                        <m:r>
                          <a:rPr lang="pl-PL" altLang="zh-TW" sz="1600" b="0" i="1" smtClean="0">
                            <a:latin typeface="Cambria Math" panose="02040503050406030204" pitchFamily="18" charset="0"/>
                            <a:ea typeface="Cambria Math" panose="02040503050406030204" pitchFamily="18" charset="0"/>
                          </a:rPr>
                          <m:t>𝑓</m:t>
                        </m:r>
                        <m:d>
                          <m:dPr>
                            <m:ctrlPr>
                              <a:rPr lang="pl-PL" altLang="zh-TW" sz="1600" b="0" i="1" smtClean="0">
                                <a:latin typeface="Cambria Math" panose="02040503050406030204" pitchFamily="18" charset="0"/>
                                <a:ea typeface="Cambria Math" panose="02040503050406030204" pitchFamily="18" charset="0"/>
                              </a:rPr>
                            </m:ctrlPr>
                          </m:dPr>
                          <m:e>
                            <m:r>
                              <a:rPr lang="pl-PL" altLang="zh-TW" sz="1600" b="0" i="1" smtClean="0">
                                <a:latin typeface="Cambria Math" panose="02040503050406030204" pitchFamily="18" charset="0"/>
                                <a:ea typeface="Cambria Math" panose="02040503050406030204" pitchFamily="18" charset="0"/>
                              </a:rPr>
                              <m:t>𝑋</m:t>
                            </m:r>
                          </m:e>
                        </m:d>
                      </m:e>
                    </m:d>
                    <m:r>
                      <a:rPr lang="pl-PL" altLang="zh-TW" sz="1600" b="0" i="0" smtClean="0">
                        <a:latin typeface="Cambria Math" panose="02040503050406030204" pitchFamily="18" charset="0"/>
                        <a:ea typeface="Cambria Math" panose="02040503050406030204" pitchFamily="18" charset="0"/>
                      </a:rPr>
                      <m:t>.</m:t>
                    </m:r>
                  </m:oMath>
                </a14:m>
                <a:endParaRPr lang="pl-PL" altLang="zh-TW" sz="1600" dirty="0">
                  <a:latin typeface="Frutiger 55 Roman" panose="020B0503040202020204" pitchFamily="34" charset="0"/>
                </a:endParaRPr>
              </a:p>
              <a:p>
                <a:endParaRPr lang="pl-PL" altLang="zh-TW" sz="800" dirty="0">
                  <a:latin typeface="Frutiger 55 Roman" panose="020B0503040202020204" pitchFamily="34" charset="0"/>
                </a:endParaRPr>
              </a:p>
              <a:p>
                <a:pPr algn="r"/>
                <a:r>
                  <a:rPr lang="pl-PL" altLang="zh-TW" sz="1600" b="1" dirty="0" err="1">
                    <a:latin typeface="Frutiger 55 Roman" panose="020B0503040202020204" pitchFamily="34" charset="0"/>
                  </a:rPr>
                  <a:t>What</a:t>
                </a:r>
                <a:r>
                  <a:rPr lang="pl-PL" altLang="zh-TW" sz="1600" b="1" dirty="0">
                    <a:latin typeface="Frutiger 55 Roman" panose="020B0503040202020204" pitchFamily="34" charset="0"/>
                  </a:rPr>
                  <a:t> </a:t>
                </a:r>
                <a:r>
                  <a:rPr lang="pl-PL" altLang="zh-TW" sz="1600" b="1" dirty="0" err="1">
                    <a:latin typeface="Frutiger 55 Roman" panose="020B0503040202020204" pitchFamily="34" charset="0"/>
                  </a:rPr>
                  <a:t>is</a:t>
                </a:r>
                <a:r>
                  <a:rPr lang="pl-PL" altLang="zh-TW" sz="1600" b="1" dirty="0">
                    <a:latin typeface="Frutiger 55 Roman" panose="020B0503040202020204" pitchFamily="34" charset="0"/>
                  </a:rPr>
                  <a:t> the precision of the </a:t>
                </a:r>
                <a:r>
                  <a:rPr lang="pl-PL" altLang="zh-TW" sz="1600" b="1" dirty="0" err="1">
                    <a:latin typeface="Frutiger 55 Roman" panose="020B0503040202020204" pitchFamily="34" charset="0"/>
                  </a:rPr>
                  <a:t>estimate</a:t>
                </a:r>
                <a:r>
                  <a:rPr lang="pl-PL" altLang="zh-TW" sz="1600" b="1" dirty="0">
                    <a:latin typeface="Frutiger 55 Roman" panose="020B0503040202020204" pitchFamily="34" charset="0"/>
                  </a:rPr>
                  <a:t>?</a:t>
                </a:r>
              </a:p>
              <a:p>
                <a:r>
                  <a:rPr lang="pl-PL" altLang="zh-TW" sz="1600" dirty="0">
                    <a:latin typeface="Frutiger 55 Roman" panose="020B0503040202020204" pitchFamily="34" charset="0"/>
                  </a:rPr>
                  <a:t>From Central Limit </a:t>
                </a:r>
                <a:r>
                  <a:rPr lang="pl-PL" altLang="zh-TW" sz="1600" dirty="0" err="1">
                    <a:latin typeface="Frutiger 55 Roman" panose="020B0503040202020204" pitchFamily="34" charset="0"/>
                  </a:rPr>
                  <a:t>Theorem</a:t>
                </a:r>
                <a:r>
                  <a:rPr lang="pl-PL" altLang="zh-TW" sz="1600" dirty="0">
                    <a:latin typeface="Frutiger 55 Roman" panose="020B0503040202020204" pitchFamily="34" charset="0"/>
                  </a:rPr>
                  <a:t>: </a:t>
                </a:r>
                <a14:m>
                  <m:oMath xmlns:m="http://schemas.openxmlformats.org/officeDocument/2006/math">
                    <m:sSub>
                      <m:sSubPr>
                        <m:ctrlPr>
                          <a:rPr lang="pl-PL" altLang="zh-TW" sz="1600" i="1">
                            <a:latin typeface="Cambria Math" panose="02040503050406030204" pitchFamily="18" charset="0"/>
                          </a:rPr>
                        </m:ctrlPr>
                      </m:sSubPr>
                      <m:e>
                        <m:acc>
                          <m:accPr>
                            <m:chr m:val="̂"/>
                            <m:ctrlPr>
                              <a:rPr lang="pl-PL" altLang="zh-TW" sz="1600" i="1">
                                <a:latin typeface="Cambria Math" panose="02040503050406030204" pitchFamily="18" charset="0"/>
                              </a:rPr>
                            </m:ctrlPr>
                          </m:accPr>
                          <m:e>
                            <m:r>
                              <a:rPr lang="zh-TW" altLang="pl-PL" sz="1600" i="1">
                                <a:latin typeface="Cambria Math" panose="02040503050406030204" pitchFamily="18" charset="0"/>
                              </a:rPr>
                              <m:t>𝛼</m:t>
                            </m:r>
                          </m:e>
                        </m:acc>
                      </m:e>
                      <m:sub>
                        <m:r>
                          <a:rPr lang="pl-PL" altLang="zh-TW" sz="1600" i="1">
                            <a:latin typeface="Cambria Math" panose="02040503050406030204" pitchFamily="18" charset="0"/>
                          </a:rPr>
                          <m:t>𝑁</m:t>
                        </m:r>
                      </m:sub>
                    </m:sSub>
                    <m:groupChr>
                      <m:groupChrPr>
                        <m:chr m:val="→"/>
                        <m:vertJc m:val="bot"/>
                        <m:ctrlPr>
                          <a:rPr lang="pl-PL" altLang="zh-TW" sz="1600" i="1" smtClean="0">
                            <a:latin typeface="Cambria Math" panose="02040503050406030204" pitchFamily="18" charset="0"/>
                          </a:rPr>
                        </m:ctrlPr>
                      </m:groupChrPr>
                      <m:e>
                        <m:r>
                          <m:rPr>
                            <m:brk m:alnAt="2"/>
                          </m:rPr>
                          <a:rPr lang="pl-PL" altLang="zh-TW" sz="1600" b="0" i="1" smtClean="0">
                            <a:latin typeface="Cambria Math" panose="02040503050406030204" pitchFamily="18" charset="0"/>
                          </a:rPr>
                          <m:t>𝑑</m:t>
                        </m:r>
                      </m:e>
                    </m:groupChr>
                    <m:r>
                      <a:rPr lang="pl-PL" altLang="zh-TW" sz="1600" b="0" i="1" smtClean="0">
                        <a:latin typeface="Cambria Math" panose="02040503050406030204" pitchFamily="18" charset="0"/>
                      </a:rPr>
                      <m:t>𝑁</m:t>
                    </m:r>
                    <m:d>
                      <m:dPr>
                        <m:ctrlPr>
                          <a:rPr lang="pl-PL" altLang="zh-TW" sz="1600" b="0" i="1" smtClean="0">
                            <a:latin typeface="Cambria Math" panose="02040503050406030204" pitchFamily="18" charset="0"/>
                          </a:rPr>
                        </m:ctrlPr>
                      </m:dPr>
                      <m:e>
                        <m:r>
                          <a:rPr lang="en-US" sz="1600" i="1">
                            <a:latin typeface="Cambria Math"/>
                          </a:rPr>
                          <m:t>𝔼</m:t>
                        </m:r>
                        <m:d>
                          <m:dPr>
                            <m:ctrlPr>
                              <a:rPr lang="pl-PL" sz="1600" b="0" i="1" smtClean="0">
                                <a:latin typeface="Cambria Math" panose="02040503050406030204" pitchFamily="18" charset="0"/>
                              </a:rPr>
                            </m:ctrlPr>
                          </m:dPr>
                          <m:e>
                            <m:r>
                              <a:rPr lang="pl-PL" sz="1600" b="0" i="1" smtClean="0">
                                <a:latin typeface="Cambria Math" panose="02040503050406030204" pitchFamily="18" charset="0"/>
                              </a:rPr>
                              <m:t>𝑓</m:t>
                            </m:r>
                            <m:d>
                              <m:dPr>
                                <m:ctrlPr>
                                  <a:rPr lang="pl-PL" sz="1600" b="0" i="1" smtClean="0">
                                    <a:latin typeface="Cambria Math" panose="02040503050406030204" pitchFamily="18" charset="0"/>
                                  </a:rPr>
                                </m:ctrlPr>
                              </m:dPr>
                              <m:e>
                                <m:r>
                                  <a:rPr lang="pl-PL" sz="1600" b="0" i="1" smtClean="0">
                                    <a:latin typeface="Cambria Math" panose="02040503050406030204" pitchFamily="18" charset="0"/>
                                  </a:rPr>
                                  <m:t>𝑋</m:t>
                                </m:r>
                              </m:e>
                            </m:d>
                          </m:e>
                        </m:d>
                        <m:r>
                          <a:rPr lang="pl-PL" sz="1600" b="0" i="1" smtClean="0">
                            <a:latin typeface="Cambria Math" panose="02040503050406030204" pitchFamily="18" charset="0"/>
                          </a:rPr>
                          <m:t>,</m:t>
                        </m:r>
                        <m:f>
                          <m:fPr>
                            <m:ctrlPr>
                              <a:rPr lang="pl-PL" sz="1600" b="0" i="1" smtClean="0">
                                <a:latin typeface="Cambria Math" panose="02040503050406030204" pitchFamily="18" charset="0"/>
                              </a:rPr>
                            </m:ctrlPr>
                          </m:fPr>
                          <m:num>
                            <m:sSub>
                              <m:sSubPr>
                                <m:ctrlPr>
                                  <a:rPr lang="pl-PL" sz="1600" b="0" i="1" smtClean="0">
                                    <a:latin typeface="Cambria Math" panose="02040503050406030204" pitchFamily="18" charset="0"/>
                                  </a:rPr>
                                </m:ctrlPr>
                              </m:sSubPr>
                              <m:e>
                                <m:r>
                                  <a:rPr lang="pl-PL" sz="1600" b="0" i="1" smtClean="0">
                                    <a:latin typeface="Cambria Math" panose="02040503050406030204" pitchFamily="18" charset="0"/>
                                  </a:rPr>
                                  <m:t>𝑠</m:t>
                                </m:r>
                              </m:e>
                              <m:sub>
                                <m:r>
                                  <a:rPr lang="pl-PL" sz="1600" b="0" i="1" smtClean="0">
                                    <a:latin typeface="Cambria Math" panose="02040503050406030204" pitchFamily="18" charset="0"/>
                                  </a:rPr>
                                  <m:t>𝑁</m:t>
                                </m:r>
                              </m:sub>
                            </m:sSub>
                          </m:num>
                          <m:den>
                            <m:rad>
                              <m:radPr>
                                <m:degHide m:val="on"/>
                                <m:ctrlPr>
                                  <a:rPr lang="pl-PL" sz="1600" b="0" i="1" smtClean="0">
                                    <a:latin typeface="Cambria Math" panose="02040503050406030204" pitchFamily="18" charset="0"/>
                                  </a:rPr>
                                </m:ctrlPr>
                              </m:radPr>
                              <m:deg/>
                              <m:e>
                                <m:r>
                                  <a:rPr lang="pl-PL" sz="1600" b="0" i="1" smtClean="0">
                                    <a:latin typeface="Cambria Math" panose="02040503050406030204" pitchFamily="18" charset="0"/>
                                  </a:rPr>
                                  <m:t>𝑁</m:t>
                                </m:r>
                              </m:e>
                            </m:rad>
                          </m:den>
                        </m:f>
                      </m:e>
                    </m:d>
                  </m:oMath>
                </a14:m>
                <a:r>
                  <a:rPr lang="pl-PL" altLang="zh-TW" sz="1600" dirty="0">
                    <a:latin typeface="Frutiger 55 Roman" panose="020B0503040202020204" pitchFamily="34" charset="0"/>
                  </a:rPr>
                  <a:t>, </a:t>
                </a:r>
                <a:r>
                  <a:rPr lang="pl-PL" altLang="zh-TW" sz="1600" dirty="0" err="1">
                    <a:latin typeface="Frutiger 55 Roman" panose="020B0503040202020204" pitchFamily="34" charset="0"/>
                  </a:rPr>
                  <a:t>so</a:t>
                </a:r>
                <a:r>
                  <a:rPr lang="pl-PL" altLang="zh-TW" sz="1600" dirty="0">
                    <a:latin typeface="Frutiger 55 Roman" panose="020B0503040202020204" pitchFamily="34" charset="0"/>
                  </a:rPr>
                  <a:t> we </a:t>
                </a:r>
                <a:r>
                  <a:rPr lang="pl-PL" altLang="zh-TW" sz="1600" dirty="0" err="1">
                    <a:latin typeface="Frutiger 55 Roman" panose="020B0503040202020204" pitchFamily="34" charset="0"/>
                  </a:rPr>
                  <a:t>have</a:t>
                </a:r>
                <a:r>
                  <a:rPr lang="pl-PL" altLang="zh-TW" sz="1600" dirty="0">
                    <a:latin typeface="Frutiger 55 Roman" panose="020B0503040202020204" pitchFamily="34" charset="0"/>
                  </a:rPr>
                  <a:t> </a:t>
                </a:r>
                <a:r>
                  <a:rPr lang="pl-PL" altLang="zh-TW" sz="1600" dirty="0" err="1">
                    <a:latin typeface="Frutiger 55 Roman" panose="020B0503040202020204" pitchFamily="34" charset="0"/>
                  </a:rPr>
                  <a:t>confidence</a:t>
                </a:r>
                <a:r>
                  <a:rPr lang="pl-PL" altLang="zh-TW" sz="1600" dirty="0">
                    <a:latin typeface="Frutiger 55 Roman" panose="020B0503040202020204" pitchFamily="34" charset="0"/>
                  </a:rPr>
                  <a:t> </a:t>
                </a:r>
                <a:r>
                  <a:rPr lang="pl-PL" altLang="zh-TW" sz="1600" dirty="0" err="1">
                    <a:latin typeface="Frutiger 55 Roman" panose="020B0503040202020204" pitchFamily="34" charset="0"/>
                  </a:rPr>
                  <a:t>interval</a:t>
                </a:r>
                <a:r>
                  <a:rPr lang="pl-PL" altLang="zh-TW" sz="1600" dirty="0">
                    <a:latin typeface="Frutiger 55 Roman" panose="020B0503040202020204" pitchFamily="34" charset="0"/>
                  </a:rPr>
                  <a:t> for </a:t>
                </a:r>
                <a14:m>
                  <m:oMath xmlns:m="http://schemas.openxmlformats.org/officeDocument/2006/math">
                    <m:r>
                      <a:rPr lang="en-US" i="1">
                        <a:latin typeface="Cambria Math"/>
                      </a:rPr>
                      <m:t>𝔼</m:t>
                    </m:r>
                    <m:d>
                      <m:dPr>
                        <m:ctrlPr>
                          <a:rPr lang="pl-PL" i="1">
                            <a:latin typeface="Cambria Math" panose="02040503050406030204" pitchFamily="18" charset="0"/>
                          </a:rPr>
                        </m:ctrlPr>
                      </m:dPr>
                      <m:e>
                        <m:r>
                          <a:rPr lang="pl-PL" i="1">
                            <a:latin typeface="Cambria Math" panose="02040503050406030204" pitchFamily="18" charset="0"/>
                          </a:rPr>
                          <m:t>𝑓</m:t>
                        </m:r>
                        <m:d>
                          <m:dPr>
                            <m:ctrlPr>
                              <a:rPr lang="pl-PL" i="1">
                                <a:latin typeface="Cambria Math" panose="02040503050406030204" pitchFamily="18" charset="0"/>
                              </a:rPr>
                            </m:ctrlPr>
                          </m:dPr>
                          <m:e>
                            <m:r>
                              <a:rPr lang="pl-PL" i="1">
                                <a:latin typeface="Cambria Math" panose="02040503050406030204" pitchFamily="18" charset="0"/>
                              </a:rPr>
                              <m:t>𝑋</m:t>
                            </m:r>
                          </m:e>
                        </m:d>
                      </m:e>
                    </m:d>
                  </m:oMath>
                </a14:m>
                <a:r>
                  <a:rPr lang="pl-PL" altLang="zh-TW" dirty="0">
                    <a:latin typeface="Frutiger 55 Roman" panose="020B0503040202020204" pitchFamily="34" charset="0"/>
                  </a:rPr>
                  <a:t>:</a:t>
                </a:r>
              </a:p>
              <a:p>
                <a:r>
                  <a:rPr lang="pl-PL" altLang="zh-TW" dirty="0">
                    <a:latin typeface="Frutiger 55 Roman" panose="020B0503040202020204" pitchFamily="34" charset="0"/>
                  </a:rPr>
                  <a:t>		</a:t>
                </a:r>
                <a14:m>
                  <m:oMath xmlns:m="http://schemas.openxmlformats.org/officeDocument/2006/math">
                    <m:d>
                      <m:dPr>
                        <m:ctrlPr>
                          <a:rPr lang="pl-PL" altLang="zh-TW" sz="1600" i="1" smtClean="0">
                            <a:latin typeface="Cambria Math" panose="02040503050406030204" pitchFamily="18" charset="0"/>
                          </a:rPr>
                        </m:ctrlPr>
                      </m:dPr>
                      <m:e>
                        <m:sSub>
                          <m:sSubPr>
                            <m:ctrlPr>
                              <a:rPr lang="pl-PL" altLang="zh-TW" sz="1600" i="1">
                                <a:latin typeface="Cambria Math" panose="02040503050406030204" pitchFamily="18" charset="0"/>
                              </a:rPr>
                            </m:ctrlPr>
                          </m:sSubPr>
                          <m:e>
                            <m:acc>
                              <m:accPr>
                                <m:chr m:val="̂"/>
                                <m:ctrlPr>
                                  <a:rPr lang="pl-PL" altLang="zh-TW" sz="1600" i="1">
                                    <a:latin typeface="Cambria Math" panose="02040503050406030204" pitchFamily="18" charset="0"/>
                                  </a:rPr>
                                </m:ctrlPr>
                              </m:accPr>
                              <m:e>
                                <m:r>
                                  <a:rPr lang="zh-TW" altLang="pl-PL" sz="1600" i="1">
                                    <a:latin typeface="Cambria Math" panose="02040503050406030204" pitchFamily="18" charset="0"/>
                                  </a:rPr>
                                  <m:t>𝛼</m:t>
                                </m:r>
                              </m:e>
                            </m:acc>
                          </m:e>
                          <m:sub>
                            <m:r>
                              <a:rPr lang="pl-PL" altLang="zh-TW" sz="1600" i="1">
                                <a:latin typeface="Cambria Math" panose="02040503050406030204" pitchFamily="18" charset="0"/>
                              </a:rPr>
                              <m:t>𝑁</m:t>
                            </m:r>
                          </m:sub>
                        </m:sSub>
                        <m:r>
                          <a:rPr lang="pl-PL" altLang="zh-TW" sz="1600" b="0" i="1" smtClean="0">
                            <a:latin typeface="Cambria Math" panose="02040503050406030204" pitchFamily="18" charset="0"/>
                          </a:rPr>
                          <m:t>−</m:t>
                        </m:r>
                        <m:sSub>
                          <m:sSubPr>
                            <m:ctrlPr>
                              <a:rPr lang="pl-PL" altLang="zh-TW" sz="1600" b="0" i="1" smtClean="0">
                                <a:latin typeface="Cambria Math" panose="02040503050406030204" pitchFamily="18" charset="0"/>
                              </a:rPr>
                            </m:ctrlPr>
                          </m:sSubPr>
                          <m:e>
                            <m:r>
                              <a:rPr lang="pl-PL" altLang="zh-TW" sz="1600" b="0" i="1" smtClean="0">
                                <a:latin typeface="Cambria Math" panose="02040503050406030204" pitchFamily="18" charset="0"/>
                              </a:rPr>
                              <m:t>𝑧</m:t>
                            </m:r>
                          </m:e>
                          <m:sub>
                            <m:f>
                              <m:fPr>
                                <m:ctrlPr>
                                  <a:rPr lang="pl-PL" altLang="zh-TW" sz="1600" b="0" i="1" smtClean="0">
                                    <a:latin typeface="Cambria Math" panose="02040503050406030204" pitchFamily="18" charset="0"/>
                                  </a:rPr>
                                </m:ctrlPr>
                              </m:fPr>
                              <m:num>
                                <m:r>
                                  <a:rPr lang="zh-TW" altLang="pl-PL" sz="1600" b="0" i="1" smtClean="0">
                                    <a:latin typeface="Cambria Math" panose="02040503050406030204" pitchFamily="18" charset="0"/>
                                  </a:rPr>
                                  <m:t>𝛿</m:t>
                                </m:r>
                              </m:num>
                              <m:den>
                                <m:r>
                                  <a:rPr lang="pl-PL" altLang="zh-TW" sz="1600" b="0" i="1" smtClean="0">
                                    <a:latin typeface="Cambria Math" panose="02040503050406030204" pitchFamily="18" charset="0"/>
                                  </a:rPr>
                                  <m:t>2</m:t>
                                </m:r>
                              </m:den>
                            </m:f>
                          </m:sub>
                        </m:sSub>
                        <m:f>
                          <m:fPr>
                            <m:ctrlPr>
                              <a:rPr lang="pl-PL" altLang="zh-TW" sz="1600" b="0" i="1" smtClean="0">
                                <a:latin typeface="Cambria Math" panose="02040503050406030204" pitchFamily="18" charset="0"/>
                              </a:rPr>
                            </m:ctrlPr>
                          </m:fPr>
                          <m:num>
                            <m:sSub>
                              <m:sSubPr>
                                <m:ctrlPr>
                                  <a:rPr lang="pl-PL" altLang="zh-TW" sz="1600" b="0" i="1" smtClean="0">
                                    <a:latin typeface="Cambria Math" panose="02040503050406030204" pitchFamily="18" charset="0"/>
                                  </a:rPr>
                                </m:ctrlPr>
                              </m:sSubPr>
                              <m:e>
                                <m:r>
                                  <a:rPr lang="pl-PL" altLang="zh-TW" sz="1600" b="0" i="1" smtClean="0">
                                    <a:latin typeface="Cambria Math" panose="02040503050406030204" pitchFamily="18" charset="0"/>
                                  </a:rPr>
                                  <m:t>𝑠</m:t>
                                </m:r>
                              </m:e>
                              <m:sub>
                                <m:r>
                                  <a:rPr lang="pl-PL" altLang="zh-TW" sz="1600" b="0" i="1" smtClean="0">
                                    <a:latin typeface="Cambria Math" panose="02040503050406030204" pitchFamily="18" charset="0"/>
                                  </a:rPr>
                                  <m:t>𝑁</m:t>
                                </m:r>
                              </m:sub>
                            </m:sSub>
                          </m:num>
                          <m:den>
                            <m:rad>
                              <m:radPr>
                                <m:degHide m:val="on"/>
                                <m:ctrlPr>
                                  <a:rPr lang="pl-PL" altLang="zh-TW" sz="1600" b="0" i="1" smtClean="0">
                                    <a:latin typeface="Cambria Math" panose="02040503050406030204" pitchFamily="18" charset="0"/>
                                  </a:rPr>
                                </m:ctrlPr>
                              </m:radPr>
                              <m:deg/>
                              <m:e>
                                <m:r>
                                  <a:rPr lang="pl-PL" altLang="zh-TW" sz="1600" b="0" i="1" smtClean="0">
                                    <a:latin typeface="Cambria Math" panose="02040503050406030204" pitchFamily="18" charset="0"/>
                                  </a:rPr>
                                  <m:t>𝑁</m:t>
                                </m:r>
                              </m:e>
                            </m:rad>
                          </m:den>
                        </m:f>
                        <m:r>
                          <a:rPr lang="pl-PL" altLang="zh-TW" sz="1600" b="0" i="1" smtClean="0">
                            <a:latin typeface="Cambria Math" panose="02040503050406030204" pitchFamily="18" charset="0"/>
                          </a:rPr>
                          <m:t>,</m:t>
                        </m:r>
                        <m:sSub>
                          <m:sSubPr>
                            <m:ctrlPr>
                              <a:rPr lang="pl-PL" altLang="zh-TW" sz="1600" i="1">
                                <a:latin typeface="Cambria Math" panose="02040503050406030204" pitchFamily="18" charset="0"/>
                              </a:rPr>
                            </m:ctrlPr>
                          </m:sSubPr>
                          <m:e>
                            <m:acc>
                              <m:accPr>
                                <m:chr m:val="̂"/>
                                <m:ctrlPr>
                                  <a:rPr lang="pl-PL" altLang="zh-TW" sz="1600" i="1">
                                    <a:latin typeface="Cambria Math" panose="02040503050406030204" pitchFamily="18" charset="0"/>
                                  </a:rPr>
                                </m:ctrlPr>
                              </m:accPr>
                              <m:e>
                                <m:r>
                                  <a:rPr lang="zh-TW" altLang="pl-PL" sz="1600" i="1">
                                    <a:latin typeface="Cambria Math" panose="02040503050406030204" pitchFamily="18" charset="0"/>
                                  </a:rPr>
                                  <m:t>𝛼</m:t>
                                </m:r>
                              </m:e>
                            </m:acc>
                          </m:e>
                          <m:sub>
                            <m:r>
                              <a:rPr lang="pl-PL" altLang="zh-TW" sz="1600" i="1">
                                <a:latin typeface="Cambria Math" panose="02040503050406030204" pitchFamily="18" charset="0"/>
                              </a:rPr>
                              <m:t>𝑁</m:t>
                            </m:r>
                          </m:sub>
                        </m:sSub>
                        <m:r>
                          <a:rPr lang="pl-PL" altLang="zh-TW" sz="1600" b="0" i="1" smtClean="0">
                            <a:latin typeface="Cambria Math" panose="02040503050406030204" pitchFamily="18" charset="0"/>
                          </a:rPr>
                          <m:t>+</m:t>
                        </m:r>
                        <m:sSub>
                          <m:sSubPr>
                            <m:ctrlPr>
                              <a:rPr lang="pl-PL" altLang="zh-TW" sz="1600" i="1">
                                <a:latin typeface="Cambria Math" panose="02040503050406030204" pitchFamily="18" charset="0"/>
                              </a:rPr>
                            </m:ctrlPr>
                          </m:sSubPr>
                          <m:e>
                            <m:r>
                              <a:rPr lang="pl-PL" altLang="zh-TW" sz="1600" i="1">
                                <a:latin typeface="Cambria Math" panose="02040503050406030204" pitchFamily="18" charset="0"/>
                              </a:rPr>
                              <m:t>𝑧</m:t>
                            </m:r>
                          </m:e>
                          <m:sub>
                            <m:f>
                              <m:fPr>
                                <m:ctrlPr>
                                  <a:rPr lang="pl-PL" altLang="zh-TW" sz="1600" i="1">
                                    <a:latin typeface="Cambria Math" panose="02040503050406030204" pitchFamily="18" charset="0"/>
                                  </a:rPr>
                                </m:ctrlPr>
                              </m:fPr>
                              <m:num>
                                <m:r>
                                  <a:rPr lang="zh-TW" altLang="pl-PL" sz="1600" i="1">
                                    <a:latin typeface="Cambria Math" panose="02040503050406030204" pitchFamily="18" charset="0"/>
                                  </a:rPr>
                                  <m:t>𝛿</m:t>
                                </m:r>
                              </m:num>
                              <m:den>
                                <m:r>
                                  <a:rPr lang="pl-PL" altLang="zh-TW" sz="1600" i="1">
                                    <a:latin typeface="Cambria Math" panose="02040503050406030204" pitchFamily="18" charset="0"/>
                                  </a:rPr>
                                  <m:t>2</m:t>
                                </m:r>
                              </m:den>
                            </m:f>
                          </m:sub>
                        </m:sSub>
                        <m:f>
                          <m:fPr>
                            <m:ctrlPr>
                              <a:rPr lang="pl-PL" altLang="zh-TW" sz="1600" i="1">
                                <a:latin typeface="Cambria Math" panose="02040503050406030204" pitchFamily="18" charset="0"/>
                              </a:rPr>
                            </m:ctrlPr>
                          </m:fPr>
                          <m:num>
                            <m:sSub>
                              <m:sSubPr>
                                <m:ctrlPr>
                                  <a:rPr lang="pl-PL" altLang="zh-TW" sz="1600" i="1">
                                    <a:latin typeface="Cambria Math" panose="02040503050406030204" pitchFamily="18" charset="0"/>
                                  </a:rPr>
                                </m:ctrlPr>
                              </m:sSubPr>
                              <m:e>
                                <m:r>
                                  <a:rPr lang="pl-PL" altLang="zh-TW" sz="1600" i="1">
                                    <a:latin typeface="Cambria Math" panose="02040503050406030204" pitchFamily="18" charset="0"/>
                                  </a:rPr>
                                  <m:t>𝑠</m:t>
                                </m:r>
                              </m:e>
                              <m:sub>
                                <m:r>
                                  <a:rPr lang="pl-PL" altLang="zh-TW" sz="1600" i="1">
                                    <a:latin typeface="Cambria Math" panose="02040503050406030204" pitchFamily="18" charset="0"/>
                                  </a:rPr>
                                  <m:t>𝑁</m:t>
                                </m:r>
                              </m:sub>
                            </m:sSub>
                          </m:num>
                          <m:den>
                            <m:rad>
                              <m:radPr>
                                <m:degHide m:val="on"/>
                                <m:ctrlPr>
                                  <a:rPr lang="pl-PL" altLang="zh-TW" sz="1600" i="1">
                                    <a:latin typeface="Cambria Math" panose="02040503050406030204" pitchFamily="18" charset="0"/>
                                  </a:rPr>
                                </m:ctrlPr>
                              </m:radPr>
                              <m:deg/>
                              <m:e>
                                <m:r>
                                  <a:rPr lang="pl-PL" altLang="zh-TW" sz="1600" i="1">
                                    <a:latin typeface="Cambria Math" panose="02040503050406030204" pitchFamily="18" charset="0"/>
                                  </a:rPr>
                                  <m:t>𝑁</m:t>
                                </m:r>
                              </m:e>
                            </m:rad>
                          </m:den>
                        </m:f>
                      </m:e>
                    </m:d>
                  </m:oMath>
                </a14:m>
                <a:r>
                  <a:rPr lang="pl-PL" altLang="zh-TW" sz="1600" dirty="0">
                    <a:latin typeface="Frutiger 55 Roman" panose="020B0503040202020204" pitchFamily="34" charset="0"/>
                  </a:rPr>
                  <a:t>, </a:t>
                </a:r>
                <a:r>
                  <a:rPr lang="pl-PL" altLang="zh-TW" sz="1600" dirty="0" err="1">
                    <a:latin typeface="Frutiger 55 Roman" panose="020B0503040202020204" pitchFamily="34" charset="0"/>
                  </a:rPr>
                  <a:t>wher</a:t>
                </a:r>
                <a:r>
                  <a:rPr lang="pl-PL" altLang="zh-TW" sz="1600" dirty="0">
                    <a:latin typeface="Frutiger 55 Roman" panose="020B0503040202020204" pitchFamily="34" charset="0"/>
                  </a:rPr>
                  <a:t>e  </a:t>
                </a:r>
                <a14:m>
                  <m:oMath xmlns:m="http://schemas.openxmlformats.org/officeDocument/2006/math">
                    <m:sSub>
                      <m:sSubPr>
                        <m:ctrlPr>
                          <a:rPr lang="pl-PL" altLang="zh-TW" sz="1600" i="1" smtClean="0">
                            <a:latin typeface="Cambria Math" panose="02040503050406030204" pitchFamily="18" charset="0"/>
                          </a:rPr>
                        </m:ctrlPr>
                      </m:sSubPr>
                      <m:e>
                        <m:r>
                          <a:rPr lang="pl-PL" altLang="zh-TW" sz="1600" b="0" i="1" smtClean="0">
                            <a:latin typeface="Cambria Math" panose="02040503050406030204" pitchFamily="18" charset="0"/>
                          </a:rPr>
                          <m:t>𝑧</m:t>
                        </m:r>
                      </m:e>
                      <m:sub>
                        <m:r>
                          <a:rPr lang="zh-TW" altLang="pl-PL" sz="1600" i="1" smtClean="0">
                            <a:latin typeface="Cambria Math" panose="02040503050406030204" pitchFamily="18" charset="0"/>
                          </a:rPr>
                          <m:t>𝛿</m:t>
                        </m:r>
                      </m:sub>
                    </m:sSub>
                    <m:r>
                      <a:rPr lang="pl-PL" altLang="zh-TW" sz="1600" b="0" i="1" smtClean="0">
                        <a:latin typeface="Cambria Math" panose="02040503050406030204" pitchFamily="18" charset="0"/>
                      </a:rPr>
                      <m:t>:</m:t>
                    </m:r>
                    <m:r>
                      <a:rPr lang="pl-PL" altLang="zh-TW" sz="1600" b="0" i="1" smtClean="0">
                        <a:latin typeface="Cambria Math" panose="02040503050406030204" pitchFamily="18" charset="0"/>
                      </a:rPr>
                      <m:t>𝑁</m:t>
                    </m:r>
                    <m:d>
                      <m:dPr>
                        <m:ctrlPr>
                          <a:rPr lang="pl-PL" altLang="zh-TW" sz="1600" b="0" i="1" smtClean="0">
                            <a:latin typeface="Cambria Math" panose="02040503050406030204" pitchFamily="18" charset="0"/>
                          </a:rPr>
                        </m:ctrlPr>
                      </m:dPr>
                      <m:e>
                        <m:sSub>
                          <m:sSubPr>
                            <m:ctrlPr>
                              <a:rPr lang="pl-PL" altLang="zh-TW" sz="1600" i="1">
                                <a:latin typeface="Cambria Math" panose="02040503050406030204" pitchFamily="18" charset="0"/>
                              </a:rPr>
                            </m:ctrlPr>
                          </m:sSubPr>
                          <m:e>
                            <m:r>
                              <a:rPr lang="pl-PL" altLang="zh-TW" sz="1600" i="1">
                                <a:latin typeface="Cambria Math" panose="02040503050406030204" pitchFamily="18" charset="0"/>
                              </a:rPr>
                              <m:t>𝑧</m:t>
                            </m:r>
                          </m:e>
                          <m:sub>
                            <m:r>
                              <a:rPr lang="zh-TW" altLang="pl-PL" sz="1600" i="1">
                                <a:latin typeface="Cambria Math" panose="02040503050406030204" pitchFamily="18" charset="0"/>
                              </a:rPr>
                              <m:t>𝛿</m:t>
                            </m:r>
                          </m:sub>
                        </m:sSub>
                      </m:e>
                    </m:d>
                    <m:r>
                      <a:rPr lang="pl-PL" altLang="zh-TW" sz="1600" b="0" i="1" smtClean="0">
                        <a:latin typeface="Cambria Math" panose="02040503050406030204" pitchFamily="18" charset="0"/>
                      </a:rPr>
                      <m:t>=1−</m:t>
                    </m:r>
                    <m:r>
                      <a:rPr lang="zh-TW" altLang="pl-PL" sz="1600" b="0" i="1" smtClean="0">
                        <a:latin typeface="Cambria Math" panose="02040503050406030204" pitchFamily="18" charset="0"/>
                      </a:rPr>
                      <m:t>𝛿</m:t>
                    </m:r>
                  </m:oMath>
                </a14:m>
                <a:r>
                  <a:rPr lang="pl-PL" altLang="zh-TW" sz="1600" dirty="0">
                    <a:latin typeface="Frutiger 55 Roman" panose="020B0503040202020204" pitchFamily="34" charset="0"/>
                  </a:rPr>
                  <a:t>, </a:t>
                </a:r>
                <a14:m>
                  <m:oMath xmlns:m="http://schemas.openxmlformats.org/officeDocument/2006/math">
                    <m:sSub>
                      <m:sSubPr>
                        <m:ctrlPr>
                          <a:rPr lang="pl-PL" altLang="zh-TW" sz="1600" i="1">
                            <a:latin typeface="Cambria Math" panose="02040503050406030204" pitchFamily="18" charset="0"/>
                          </a:rPr>
                        </m:ctrlPr>
                      </m:sSubPr>
                      <m:e>
                        <m:r>
                          <a:rPr lang="pl-PL" altLang="zh-TW" sz="1600" i="1">
                            <a:latin typeface="Cambria Math" panose="02040503050406030204" pitchFamily="18" charset="0"/>
                          </a:rPr>
                          <m:t>𝑠</m:t>
                        </m:r>
                      </m:e>
                      <m:sub>
                        <m:r>
                          <a:rPr lang="pl-PL" altLang="zh-TW" sz="1600" i="1">
                            <a:latin typeface="Cambria Math" panose="02040503050406030204" pitchFamily="18" charset="0"/>
                          </a:rPr>
                          <m:t>𝑁</m:t>
                        </m:r>
                      </m:sub>
                    </m:sSub>
                  </m:oMath>
                </a14:m>
                <a:r>
                  <a:rPr lang="pl-PL" altLang="zh-TW" sz="1600" dirty="0">
                    <a:latin typeface="Frutiger 55 Roman" panose="020B0503040202020204" pitchFamily="34" charset="0"/>
                  </a:rPr>
                  <a:t> - </a:t>
                </a:r>
                <a:r>
                  <a:rPr lang="pl-PL" altLang="zh-TW" sz="1600" dirty="0" err="1">
                    <a:latin typeface="Frutiger 55 Roman" panose="020B0503040202020204" pitchFamily="34" charset="0"/>
                  </a:rPr>
                  <a:t>std</a:t>
                </a:r>
                <a:r>
                  <a:rPr lang="pl-PL" altLang="zh-TW" sz="1600" dirty="0">
                    <a:latin typeface="Frutiger 55 Roman" panose="020B0503040202020204" pitchFamily="34" charset="0"/>
                  </a:rPr>
                  <a:t>. </a:t>
                </a:r>
                <a:r>
                  <a:rPr lang="pl-PL" altLang="zh-TW" sz="1600" dirty="0" err="1">
                    <a:latin typeface="Frutiger 55 Roman" panose="020B0503040202020204" pitchFamily="34" charset="0"/>
                  </a:rPr>
                  <a:t>dev</a:t>
                </a:r>
                <a:r>
                  <a:rPr lang="pl-PL" altLang="zh-TW" sz="1600" dirty="0">
                    <a:latin typeface="Frutiger 55 Roman" panose="020B0503040202020204" pitchFamily="34" charset="0"/>
                  </a:rPr>
                  <a:t>. of </a:t>
                </a:r>
                <a14:m>
                  <m:oMath xmlns:m="http://schemas.openxmlformats.org/officeDocument/2006/math">
                    <m:r>
                      <a:rPr lang="pl-PL" altLang="zh-TW" sz="1600" b="0" i="1" smtClean="0">
                        <a:latin typeface="Cambria Math" panose="02040503050406030204" pitchFamily="18" charset="0"/>
                      </a:rPr>
                      <m:t>𝑓</m:t>
                    </m:r>
                    <m:d>
                      <m:dPr>
                        <m:ctrlPr>
                          <a:rPr lang="pl-PL" altLang="zh-TW" sz="1600" b="0" i="1" smtClean="0">
                            <a:latin typeface="Cambria Math" panose="02040503050406030204" pitchFamily="18" charset="0"/>
                          </a:rPr>
                        </m:ctrlPr>
                      </m:dPr>
                      <m:e>
                        <m:sSub>
                          <m:sSubPr>
                            <m:ctrlPr>
                              <a:rPr lang="pl-PL" altLang="zh-TW" sz="1600" b="0" i="1" smtClean="0">
                                <a:latin typeface="Cambria Math" panose="02040503050406030204" pitchFamily="18" charset="0"/>
                              </a:rPr>
                            </m:ctrlPr>
                          </m:sSubPr>
                          <m:e>
                            <m:r>
                              <a:rPr lang="pl-PL" altLang="zh-TW" sz="1600" b="0" i="1" smtClean="0">
                                <a:latin typeface="Cambria Math" panose="02040503050406030204" pitchFamily="18" charset="0"/>
                              </a:rPr>
                              <m:t>𝑥</m:t>
                            </m:r>
                          </m:e>
                          <m:sub>
                            <m:r>
                              <a:rPr lang="pl-PL" altLang="zh-TW" sz="1600" b="0" i="1" smtClean="0">
                                <a:latin typeface="Cambria Math" panose="02040503050406030204" pitchFamily="18" charset="0"/>
                              </a:rPr>
                              <m:t>𝑖</m:t>
                            </m:r>
                          </m:sub>
                        </m:sSub>
                      </m:e>
                    </m:d>
                  </m:oMath>
                </a14:m>
                <a:endParaRPr lang="en-GB" altLang="zh-TW" sz="1600" dirty="0">
                  <a:latin typeface="Frutiger 55 Roman" panose="020B0503040202020204" pitchFamily="34" charset="0"/>
                </a:endParaRPr>
              </a:p>
              <a:p>
                <a:r>
                  <a:rPr lang="pl-PL" altLang="zh-TW" sz="1600" dirty="0">
                    <a:latin typeface="Frutiger 55 Roman" panose="020B0503040202020204" pitchFamily="34" charset="0"/>
                  </a:rPr>
                  <a:t>A </a:t>
                </a:r>
                <a:r>
                  <a:rPr lang="pl-PL" altLang="zh-TW" sz="1600" dirty="0" err="1">
                    <a:latin typeface="Frutiger 55 Roman" panose="020B0503040202020204" pitchFamily="34" charset="0"/>
                  </a:rPr>
                  <a:t>concrete</a:t>
                </a:r>
                <a:r>
                  <a:rPr lang="pl-PL" altLang="zh-TW" sz="1600" dirty="0">
                    <a:latin typeface="Frutiger 55 Roman" panose="020B0503040202020204" pitchFamily="34" charset="0"/>
                  </a:rPr>
                  <a:t> </a:t>
                </a:r>
                <a:r>
                  <a:rPr lang="pl-PL" altLang="zh-TW" sz="1600" dirty="0" err="1">
                    <a:latin typeface="Frutiger 55 Roman" panose="020B0503040202020204" pitchFamily="34" charset="0"/>
                  </a:rPr>
                  <a:t>example</a:t>
                </a:r>
                <a:r>
                  <a:rPr lang="pl-PL" altLang="zh-TW" sz="1600" dirty="0">
                    <a:latin typeface="Frutiger 55 Roman" panose="020B0503040202020204" pitchFamily="34" charset="0"/>
                  </a:rPr>
                  <a:t>:</a:t>
                </a:r>
              </a:p>
              <a:p>
                <a:r>
                  <a:rPr lang="pl-PL" altLang="zh-TW" sz="1600" dirty="0">
                    <a:latin typeface="Frutiger 55 Roman" panose="020B0503040202020204" pitchFamily="34" charset="0"/>
                  </a:rPr>
                  <a:t>We </a:t>
                </a:r>
                <a:r>
                  <a:rPr lang="pl-PL" altLang="zh-TW" sz="1600" dirty="0" err="1">
                    <a:latin typeface="Frutiger 55 Roman" panose="020B0503040202020204" pitchFamily="34" charset="0"/>
                  </a:rPr>
                  <a:t>can</a:t>
                </a:r>
                <a:r>
                  <a:rPr lang="pl-PL" altLang="zh-TW" sz="1600" dirty="0">
                    <a:latin typeface="Frutiger 55 Roman" panose="020B0503040202020204" pitchFamily="34" charset="0"/>
                  </a:rPr>
                  <a:t> </a:t>
                </a:r>
                <a:r>
                  <a:rPr lang="pl-PL" altLang="zh-TW" sz="1600" dirty="0" err="1">
                    <a:latin typeface="Frutiger 55 Roman" panose="020B0503040202020204" pitchFamily="34" charset="0"/>
                  </a:rPr>
                  <a:t>price</a:t>
                </a:r>
                <a:r>
                  <a:rPr lang="pl-PL" altLang="zh-TW" sz="1600" dirty="0">
                    <a:latin typeface="Frutiger 55 Roman" panose="020B0503040202020204" pitchFamily="34" charset="0"/>
                  </a:rPr>
                  <a:t> a </a:t>
                </a:r>
                <a:r>
                  <a:rPr lang="pl-PL" altLang="zh-TW" sz="1600" dirty="0" err="1">
                    <a:latin typeface="Frutiger 55 Roman" panose="020B0503040202020204" pitchFamily="34" charset="0"/>
                  </a:rPr>
                  <a:t>European</a:t>
                </a:r>
                <a:r>
                  <a:rPr lang="pl-PL" altLang="zh-TW" sz="1600" dirty="0">
                    <a:latin typeface="Frutiger 55 Roman" panose="020B0503040202020204" pitchFamily="34" charset="0"/>
                  </a:rPr>
                  <a:t> </a:t>
                </a:r>
                <a:r>
                  <a:rPr lang="pl-PL" altLang="zh-TW" sz="1600" dirty="0" err="1">
                    <a:latin typeface="Frutiger 55 Roman" panose="020B0503040202020204" pitchFamily="34" charset="0"/>
                  </a:rPr>
                  <a:t>call</a:t>
                </a:r>
                <a:r>
                  <a:rPr lang="pl-PL" altLang="zh-TW" sz="1600" dirty="0">
                    <a:latin typeface="Frutiger 55 Roman" panose="020B0503040202020204" pitchFamily="34" charset="0"/>
                  </a:rPr>
                  <a:t> </a:t>
                </a:r>
                <a:r>
                  <a:rPr lang="pl-PL" altLang="zh-TW" sz="1600" dirty="0" err="1">
                    <a:latin typeface="Frutiger 55 Roman" panose="020B0503040202020204" pitchFamily="34" charset="0"/>
                  </a:rPr>
                  <a:t>option</a:t>
                </a:r>
                <a:r>
                  <a:rPr lang="pl-PL" altLang="zh-TW" sz="1600" dirty="0">
                    <a:latin typeface="Frutiger 55 Roman" panose="020B0503040202020204" pitchFamily="34" charset="0"/>
                  </a:rPr>
                  <a:t>: </a:t>
                </a:r>
                <a14:m>
                  <m:oMath xmlns:m="http://schemas.openxmlformats.org/officeDocument/2006/math">
                    <m:r>
                      <a:rPr lang="pl-PL" altLang="zh-TW" sz="1600" b="0" i="1" smtClean="0">
                        <a:latin typeface="Cambria Math" panose="02040503050406030204" pitchFamily="18" charset="0"/>
                      </a:rPr>
                      <m:t>𝐶</m:t>
                    </m:r>
                    <m:d>
                      <m:dPr>
                        <m:ctrlPr>
                          <a:rPr lang="pl-PL" altLang="zh-TW" sz="1600" b="0" i="1" smtClean="0">
                            <a:latin typeface="Cambria Math" panose="02040503050406030204" pitchFamily="18" charset="0"/>
                          </a:rPr>
                        </m:ctrlPr>
                      </m:dPr>
                      <m:e>
                        <m:r>
                          <a:rPr lang="pl-PL" altLang="zh-TW" sz="1600" b="0" i="1" smtClean="0">
                            <a:latin typeface="Cambria Math" panose="02040503050406030204" pitchFamily="18" charset="0"/>
                          </a:rPr>
                          <m:t>0,</m:t>
                        </m:r>
                        <m:r>
                          <a:rPr lang="pl-PL" altLang="zh-TW" sz="1600" b="0" i="1" smtClean="0">
                            <a:latin typeface="Cambria Math" panose="02040503050406030204" pitchFamily="18" charset="0"/>
                          </a:rPr>
                          <m:t>𝑡</m:t>
                        </m:r>
                      </m:e>
                    </m:d>
                    <m:r>
                      <a:rPr lang="pl-PL" altLang="zh-TW" sz="1600" b="0" i="1" smtClean="0">
                        <a:latin typeface="Cambria Math" panose="02040503050406030204" pitchFamily="18" charset="0"/>
                        <a:ea typeface="Cambria Math" panose="02040503050406030204" pitchFamily="18" charset="0"/>
                      </a:rPr>
                      <m:t>≈</m:t>
                    </m:r>
                    <m:sSup>
                      <m:sSupPr>
                        <m:ctrlPr>
                          <a:rPr lang="pl-PL" altLang="zh-TW" sz="1600" i="1" smtClean="0">
                            <a:latin typeface="Cambria Math" panose="02040503050406030204" pitchFamily="18" charset="0"/>
                          </a:rPr>
                        </m:ctrlPr>
                      </m:sSupPr>
                      <m:e>
                        <m:r>
                          <a:rPr lang="pl-PL" altLang="zh-TW" sz="1600" b="0" i="1" smtClean="0">
                            <a:latin typeface="Cambria Math" panose="02040503050406030204" pitchFamily="18" charset="0"/>
                          </a:rPr>
                          <m:t>𝑒</m:t>
                        </m:r>
                      </m:e>
                      <m:sup>
                        <m:r>
                          <a:rPr lang="pl-PL" altLang="zh-TW" sz="1600" b="0" i="1" smtClean="0">
                            <a:latin typeface="Cambria Math" panose="02040503050406030204" pitchFamily="18" charset="0"/>
                          </a:rPr>
                          <m:t>−</m:t>
                        </m:r>
                        <m:r>
                          <a:rPr lang="pl-PL" altLang="zh-TW" sz="1600" b="0" i="1" smtClean="0">
                            <a:latin typeface="Cambria Math" panose="02040503050406030204" pitchFamily="18" charset="0"/>
                          </a:rPr>
                          <m:t>𝑟𝑇</m:t>
                        </m:r>
                      </m:sup>
                    </m:sSup>
                    <m:f>
                      <m:fPr>
                        <m:ctrlPr>
                          <a:rPr lang="pl-PL" altLang="zh-TW" sz="1600" i="1" smtClean="0">
                            <a:latin typeface="Cambria Math" panose="02040503050406030204" pitchFamily="18" charset="0"/>
                          </a:rPr>
                        </m:ctrlPr>
                      </m:fPr>
                      <m:num>
                        <m:r>
                          <a:rPr lang="pl-PL" altLang="zh-TW" sz="1600" b="0" i="1" smtClean="0">
                            <a:latin typeface="Cambria Math" panose="02040503050406030204" pitchFamily="18" charset="0"/>
                          </a:rPr>
                          <m:t>1</m:t>
                        </m:r>
                      </m:num>
                      <m:den>
                        <m:r>
                          <a:rPr lang="pl-PL" altLang="zh-TW" sz="1600" b="0" i="1" smtClean="0">
                            <a:latin typeface="Cambria Math" panose="02040503050406030204" pitchFamily="18" charset="0"/>
                          </a:rPr>
                          <m:t>𝑁</m:t>
                        </m:r>
                      </m:den>
                    </m:f>
                    <m:nary>
                      <m:naryPr>
                        <m:chr m:val="∑"/>
                        <m:ctrlPr>
                          <a:rPr lang="pl-PL" altLang="zh-TW" sz="1600" i="1" dirty="0" smtClean="0">
                            <a:latin typeface="Cambria Math" panose="02040503050406030204" pitchFamily="18" charset="0"/>
                          </a:rPr>
                        </m:ctrlPr>
                      </m:naryPr>
                      <m:sub>
                        <m:r>
                          <m:rPr>
                            <m:brk m:alnAt="23"/>
                          </m:rPr>
                          <a:rPr lang="pl-PL" altLang="zh-TW" sz="1600" b="0" i="1" dirty="0" smtClean="0">
                            <a:latin typeface="Cambria Math" panose="02040503050406030204" pitchFamily="18" charset="0"/>
                          </a:rPr>
                          <m:t>𝑖</m:t>
                        </m:r>
                        <m:r>
                          <a:rPr lang="pl-PL" altLang="zh-TW" sz="1600" b="0" i="1" dirty="0" smtClean="0">
                            <a:latin typeface="Cambria Math" panose="02040503050406030204" pitchFamily="18" charset="0"/>
                          </a:rPr>
                          <m:t>=0</m:t>
                        </m:r>
                      </m:sub>
                      <m:sup>
                        <m:r>
                          <a:rPr lang="pl-PL" altLang="zh-TW" sz="1600" b="0" i="1" dirty="0" smtClean="0">
                            <a:latin typeface="Cambria Math" panose="02040503050406030204" pitchFamily="18" charset="0"/>
                          </a:rPr>
                          <m:t>𝑁</m:t>
                        </m:r>
                      </m:sup>
                      <m:e>
                        <m:func>
                          <m:funcPr>
                            <m:ctrlPr>
                              <a:rPr lang="pl-PL" altLang="zh-TW" sz="1600" b="0" i="1" dirty="0" smtClean="0">
                                <a:latin typeface="Cambria Math" panose="02040503050406030204" pitchFamily="18" charset="0"/>
                              </a:rPr>
                            </m:ctrlPr>
                          </m:funcPr>
                          <m:fName>
                            <m:r>
                              <m:rPr>
                                <m:sty m:val="p"/>
                              </m:rPr>
                              <a:rPr lang="pl-PL" altLang="zh-TW" sz="1600" b="0" i="0" dirty="0" smtClean="0">
                                <a:latin typeface="Cambria Math" panose="02040503050406030204" pitchFamily="18" charset="0"/>
                              </a:rPr>
                              <m:t>max</m:t>
                            </m:r>
                          </m:fName>
                          <m:e>
                            <m:d>
                              <m:dPr>
                                <m:ctrlPr>
                                  <a:rPr lang="pl-PL" altLang="zh-TW" sz="1600" b="0" i="1" dirty="0" smtClean="0">
                                    <a:latin typeface="Cambria Math" panose="02040503050406030204" pitchFamily="18" charset="0"/>
                                  </a:rPr>
                                </m:ctrlPr>
                              </m:dPr>
                              <m:e>
                                <m:sSubSup>
                                  <m:sSubSupPr>
                                    <m:ctrlPr>
                                      <a:rPr lang="pl-PL" altLang="zh-TW" sz="1600" b="0" i="1" dirty="0" smtClean="0">
                                        <a:latin typeface="Cambria Math" panose="02040503050406030204" pitchFamily="18" charset="0"/>
                                      </a:rPr>
                                    </m:ctrlPr>
                                  </m:sSubSupPr>
                                  <m:e>
                                    <m:r>
                                      <a:rPr lang="pl-PL" altLang="zh-TW" sz="1600" b="0" i="1" dirty="0" smtClean="0">
                                        <a:latin typeface="Cambria Math" panose="02040503050406030204" pitchFamily="18" charset="0"/>
                                      </a:rPr>
                                      <m:t>𝑆</m:t>
                                    </m:r>
                                  </m:e>
                                  <m:sub>
                                    <m:r>
                                      <a:rPr lang="pl-PL" altLang="zh-TW" sz="1600" b="0" i="1" dirty="0" smtClean="0">
                                        <a:latin typeface="Cambria Math" panose="02040503050406030204" pitchFamily="18" charset="0"/>
                                      </a:rPr>
                                      <m:t>𝑖</m:t>
                                    </m:r>
                                  </m:sub>
                                  <m:sup>
                                    <m:r>
                                      <a:rPr lang="pl-PL" altLang="zh-TW" sz="1600" b="0" i="1" dirty="0" smtClean="0">
                                        <a:latin typeface="Cambria Math" panose="02040503050406030204" pitchFamily="18" charset="0"/>
                                      </a:rPr>
                                      <m:t>𝑇</m:t>
                                    </m:r>
                                  </m:sup>
                                </m:sSubSup>
                                <m:r>
                                  <a:rPr lang="pl-PL" altLang="zh-TW" sz="1600" b="0" i="1" dirty="0" smtClean="0">
                                    <a:latin typeface="Cambria Math" panose="02040503050406030204" pitchFamily="18" charset="0"/>
                                  </a:rPr>
                                  <m:t>−</m:t>
                                </m:r>
                                <m:r>
                                  <a:rPr lang="pl-PL" altLang="zh-TW" sz="1600" b="0" i="1" dirty="0" smtClean="0">
                                    <a:latin typeface="Cambria Math" panose="02040503050406030204" pitchFamily="18" charset="0"/>
                                  </a:rPr>
                                  <m:t>𝐾</m:t>
                                </m:r>
                                <m:r>
                                  <a:rPr lang="pl-PL" altLang="zh-TW" sz="1600" b="0" i="1" dirty="0" smtClean="0">
                                    <a:latin typeface="Cambria Math" panose="02040503050406030204" pitchFamily="18" charset="0"/>
                                  </a:rPr>
                                  <m:t>,0</m:t>
                                </m:r>
                              </m:e>
                            </m:d>
                          </m:e>
                        </m:func>
                      </m:e>
                    </m:nary>
                  </m:oMath>
                </a14:m>
                <a:r>
                  <a:rPr lang="pl-PL" altLang="zh-TW" sz="1600" dirty="0">
                    <a:latin typeface="Frutiger 55 Roman" panose="020B0503040202020204" pitchFamily="34" charset="0"/>
                  </a:rPr>
                  <a:t>.</a:t>
                </a:r>
              </a:p>
              <a:p>
                <a:r>
                  <a:rPr lang="pl-PL" altLang="zh-TW" sz="1600" dirty="0">
                    <a:latin typeface="Frutiger 55 Roman" panose="020B0503040202020204" pitchFamily="34" charset="0"/>
                  </a:rPr>
                  <a:t>S – </a:t>
                </a:r>
                <a:r>
                  <a:rPr lang="pl-PL" altLang="zh-TW" sz="1600" dirty="0" err="1">
                    <a:latin typeface="Frutiger 55 Roman" panose="020B0503040202020204" pitchFamily="34" charset="0"/>
                  </a:rPr>
                  <a:t>stock</a:t>
                </a:r>
                <a:r>
                  <a:rPr lang="pl-PL" altLang="zh-TW" sz="1600" dirty="0">
                    <a:latin typeface="Frutiger 55 Roman" panose="020B0503040202020204" pitchFamily="34" charset="0"/>
                  </a:rPr>
                  <a:t> </a:t>
                </a:r>
                <a:r>
                  <a:rPr lang="pl-PL" altLang="zh-TW" sz="1600" dirty="0" err="1">
                    <a:latin typeface="Frutiger 55 Roman" panose="020B0503040202020204" pitchFamily="34" charset="0"/>
                  </a:rPr>
                  <a:t>price</a:t>
                </a:r>
                <a:r>
                  <a:rPr lang="pl-PL" altLang="zh-TW" sz="1600" dirty="0">
                    <a:latin typeface="Frutiger 55 Roman" panose="020B0503040202020204" pitchFamily="34" charset="0"/>
                  </a:rPr>
                  <a:t> </a:t>
                </a:r>
                <a:r>
                  <a:rPr lang="pl-PL" altLang="zh-TW" sz="1600" dirty="0" err="1">
                    <a:latin typeface="Frutiger 55 Roman" panose="020B0503040202020204" pitchFamily="34" charset="0"/>
                  </a:rPr>
                  <a:t>process</a:t>
                </a:r>
                <a:r>
                  <a:rPr lang="pl-PL" altLang="zh-TW" sz="1600" dirty="0">
                    <a:latin typeface="Frutiger 55 Roman" panose="020B0503040202020204" pitchFamily="34" charset="0"/>
                  </a:rPr>
                  <a:t> </a:t>
                </a:r>
                <a:r>
                  <a:rPr lang="pl-PL" altLang="zh-TW" sz="1600" dirty="0" err="1">
                    <a:latin typeface="Frutiger 55 Roman" panose="020B0503040202020204" pitchFamily="34" charset="0"/>
                  </a:rPr>
                  <a:t>following</a:t>
                </a:r>
                <a:r>
                  <a:rPr lang="pl-PL" altLang="zh-TW" sz="1600" dirty="0">
                    <a:latin typeface="Frutiger 55 Roman" panose="020B0503040202020204" pitchFamily="34" charset="0"/>
                  </a:rPr>
                  <a:t> Black-</a:t>
                </a:r>
                <a:r>
                  <a:rPr lang="pl-PL" altLang="zh-TW" sz="1600" dirty="0" err="1">
                    <a:latin typeface="Frutiger 55 Roman" panose="020B0503040202020204" pitchFamily="34" charset="0"/>
                  </a:rPr>
                  <a:t>Scholes</a:t>
                </a:r>
                <a:r>
                  <a:rPr lang="pl-PL" altLang="zh-TW" sz="1600" dirty="0">
                    <a:latin typeface="Frutiger 55 Roman" panose="020B0503040202020204" pitchFamily="34" charset="0"/>
                  </a:rPr>
                  <a:t> model</a:t>
                </a:r>
              </a:p>
              <a:p>
                <a:endParaRPr lang="pl-PL" altLang="zh-TW" sz="1600" dirty="0">
                  <a:latin typeface="Frutiger 55 Roman" panose="020B0503040202020204" pitchFamily="34" charset="0"/>
                </a:endParaRPr>
              </a:p>
            </p:txBody>
          </p:sp>
        </mc:Choice>
        <mc:Fallback xmlns="">
          <p:sp>
            <p:nvSpPr>
              <p:cNvPr id="4" name="TextBox 3"/>
              <p:cNvSpPr txBox="1">
                <a:spLocks noRot="1" noChangeAspect="1" noMove="1" noResize="1" noEditPoints="1" noAdjustHandles="1" noChangeArrowheads="1" noChangeShapeType="1" noTextEdit="1"/>
              </p:cNvSpPr>
              <p:nvPr>
                <p:custDataLst>
                  <p:tags r:id="rId7"/>
                </p:custDataLst>
              </p:nvPr>
            </p:nvSpPr>
            <p:spPr>
              <a:xfrm>
                <a:off x="420624" y="1120774"/>
                <a:ext cx="9367810" cy="6298929"/>
              </a:xfrm>
              <a:prstGeom prst="rect">
                <a:avLst/>
              </a:prstGeom>
              <a:blipFill>
                <a:blip r:embed="rId8"/>
                <a:stretch>
                  <a:fillRect l="-1301" r="-1236"/>
                </a:stretch>
              </a:blipFill>
            </p:spPr>
            <p:txBody>
              <a:bodyPr/>
              <a:lstStyle/>
              <a:p>
                <a:r>
                  <a:rPr lang="en-GB">
                    <a:noFill/>
                  </a:rPr>
                  <a:t> </a:t>
                </a:r>
              </a:p>
            </p:txBody>
          </p:sp>
        </mc:Fallback>
      </mc:AlternateContent>
      <p:sp>
        <p:nvSpPr>
          <p:cNvPr id="21" name="TextBox 20">
            <a:extLst>
              <a:ext uri="{FF2B5EF4-FFF2-40B4-BE49-F238E27FC236}">
                <a16:creationId xmlns:a16="http://schemas.microsoft.com/office/drawing/2014/main" id="{10CD7D06-A193-4B87-8BCD-3BCFB0C84316}"/>
              </a:ext>
            </a:extLst>
          </p:cNvPr>
          <p:cNvSpPr txBox="1"/>
          <p:nvPr>
            <p:custDataLst>
              <p:tags r:id="rId4"/>
            </p:custDataLst>
          </p:nvPr>
        </p:nvSpPr>
        <p:spPr>
          <a:xfrm>
            <a:off x="420624" y="1133132"/>
            <a:ext cx="9189720" cy="274320"/>
          </a:xfrm>
          <a:prstGeom prst="rect">
            <a:avLst/>
          </a:prstGeom>
          <a:noFill/>
        </p:spPr>
        <p:txBody>
          <a:bodyPr vert="horz" wrap="square" lIns="0" tIns="0" rIns="0" bIns="0" rtlCol="0" anchor="t">
            <a:noAutofit/>
          </a:bodyPr>
          <a:lstStyle/>
          <a:p>
            <a:pPr eaLnBrk="1">
              <a:spcBef>
                <a:spcPts val="0"/>
              </a:spcBef>
              <a:spcAft>
                <a:spcPts val="600"/>
              </a:spcAft>
            </a:pPr>
            <a:r>
              <a:rPr lang="pl-PL" sz="2000" kern="0" dirty="0">
                <a:solidFill>
                  <a:srgbClr val="464749"/>
                </a:solidFill>
                <a:latin typeface="Frutiger 45 Light" panose="020B0603020202020204" pitchFamily="34" charset="0"/>
              </a:rPr>
              <a:t>Monte Carlo </a:t>
            </a:r>
            <a:r>
              <a:rPr lang="pl-PL" sz="2000" kern="0" dirty="0" err="1">
                <a:solidFill>
                  <a:srgbClr val="464749"/>
                </a:solidFill>
                <a:latin typeface="Frutiger 45 Light" panose="020B0603020202020204" pitchFamily="34" charset="0"/>
              </a:rPr>
              <a:t>methods</a:t>
            </a:r>
            <a:r>
              <a:rPr lang="pl-PL" sz="2000" kern="0" dirty="0">
                <a:solidFill>
                  <a:srgbClr val="464749"/>
                </a:solidFill>
                <a:latin typeface="Frutiger 45 Light" panose="020B0603020202020204" pitchFamily="34" charset="0"/>
              </a:rPr>
              <a:t> – </a:t>
            </a:r>
            <a:r>
              <a:rPr lang="pl-PL" sz="2000" kern="0" dirty="0" err="1">
                <a:solidFill>
                  <a:srgbClr val="464749"/>
                </a:solidFill>
                <a:latin typeface="Frutiger 45 Light" panose="020B0603020202020204" pitchFamily="34" charset="0"/>
              </a:rPr>
              <a:t>introduction</a:t>
            </a:r>
            <a:r>
              <a:rPr lang="pl-PL" sz="2000" kern="0" dirty="0">
                <a:solidFill>
                  <a:srgbClr val="464749"/>
                </a:solidFill>
                <a:latin typeface="Frutiger 45 Light" panose="020B0603020202020204" pitchFamily="34" charset="0"/>
              </a:rPr>
              <a:t> </a:t>
            </a:r>
            <a:r>
              <a:rPr lang="pl-PL" sz="2000" kern="0" dirty="0" err="1">
                <a:solidFill>
                  <a:srgbClr val="464749"/>
                </a:solidFill>
                <a:latin typeface="Frutiger 45 Light" panose="020B0603020202020204" pitchFamily="34" charset="0"/>
              </a:rPr>
              <a:t>cnt’d</a:t>
            </a:r>
            <a:endParaRPr lang="en-US" sz="2000" kern="0" dirty="0">
              <a:solidFill>
                <a:srgbClr val="464749"/>
              </a:solidFill>
              <a:latin typeface="Frutiger 45 Light" panose="020B0603020202020204" pitchFamily="34" charset="0"/>
            </a:endParaRPr>
          </a:p>
        </p:txBody>
      </p:sp>
    </p:spTree>
    <p:custDataLst>
      <p:tags r:id="rId1"/>
    </p:custDataLst>
    <p:extLst>
      <p:ext uri="{BB962C8B-B14F-4D97-AF65-F5344CB8AC3E}">
        <p14:creationId xmlns:p14="http://schemas.microsoft.com/office/powerpoint/2010/main" val="42635509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C5523F61-D9C0-492D-923E-695D1381F6AE}"/>
                  </a:ext>
                </a:extLst>
              </p:cNvPr>
              <p:cNvSpPr>
                <a:spLocks noGrp="1"/>
              </p:cNvSpPr>
              <p:nvPr>
                <p:ph idx="1"/>
              </p:nvPr>
            </p:nvSpPr>
            <p:spPr>
              <a:xfrm>
                <a:off x="376955" y="1739578"/>
                <a:ext cx="9304490" cy="5270247"/>
              </a:xfrm>
            </p:spPr>
            <p:txBody>
              <a:bodyPr/>
              <a:lstStyle/>
              <a:p>
                <a:pPr marL="0" indent="0">
                  <a:lnSpc>
                    <a:spcPct val="150000"/>
                  </a:lnSpc>
                  <a:buNone/>
                </a:pPr>
                <a:r>
                  <a:rPr lang="pl-PL" dirty="0" err="1">
                    <a:latin typeface="Frutiger 45 Light" panose="020B0603020202020204" pitchFamily="34" charset="0"/>
                  </a:rPr>
                  <a:t>Let</a:t>
                </a:r>
                <a:r>
                  <a:rPr lang="pl-PL" dirty="0">
                    <a:latin typeface="Frutiger 45 Light" panose="020B0603020202020204" pitchFamily="34" charset="0"/>
                  </a:rPr>
                  <a:t>  </a:t>
                </a:r>
                <a14:m>
                  <m:oMath xmlns:m="http://schemas.openxmlformats.org/officeDocument/2006/math">
                    <m:sSub>
                      <m:sSubPr>
                        <m:ctrlPr>
                          <a:rPr lang="pl-PL" i="1" dirty="0" smtClean="0">
                            <a:latin typeface="Cambria Math" panose="02040503050406030204" pitchFamily="18" charset="0"/>
                          </a:rPr>
                        </m:ctrlPr>
                      </m:sSubPr>
                      <m:e>
                        <m:r>
                          <a:rPr lang="pl-PL" b="0" i="1" dirty="0" smtClean="0">
                            <a:latin typeface="Cambria Math" panose="02040503050406030204" pitchFamily="18" charset="0"/>
                          </a:rPr>
                          <m:t>𝑡</m:t>
                        </m:r>
                      </m:e>
                      <m:sub>
                        <m:r>
                          <a:rPr lang="pl-PL" b="0" i="1" dirty="0" smtClean="0">
                            <a:latin typeface="Cambria Math" panose="02040503050406030204" pitchFamily="18" charset="0"/>
                          </a:rPr>
                          <m:t>0</m:t>
                        </m:r>
                      </m:sub>
                    </m:sSub>
                    <m:r>
                      <a:rPr lang="pl-PL" i="1" smtClean="0">
                        <a:latin typeface="Cambria Math" panose="02040503050406030204" pitchFamily="18" charset="0"/>
                      </a:rPr>
                      <m:t>=</m:t>
                    </m:r>
                    <m:r>
                      <a:rPr lang="pl-PL" b="0" i="1" smtClean="0">
                        <a:latin typeface="Cambria Math" panose="02040503050406030204" pitchFamily="18" charset="0"/>
                      </a:rPr>
                      <m:t>0&lt;</m:t>
                    </m:r>
                    <m:sSub>
                      <m:sSubPr>
                        <m:ctrlPr>
                          <a:rPr lang="pl-PL" i="1" dirty="0">
                            <a:latin typeface="Cambria Math" panose="02040503050406030204" pitchFamily="18" charset="0"/>
                          </a:rPr>
                        </m:ctrlPr>
                      </m:sSubPr>
                      <m:e>
                        <m:r>
                          <a:rPr lang="pl-PL" i="1" dirty="0">
                            <a:latin typeface="Cambria Math" panose="02040503050406030204" pitchFamily="18" charset="0"/>
                          </a:rPr>
                          <m:t>𝑡</m:t>
                        </m:r>
                      </m:e>
                      <m:sub>
                        <m:r>
                          <a:rPr lang="pl-PL" b="0" i="1" dirty="0" smtClean="0">
                            <a:latin typeface="Cambria Math" panose="02040503050406030204" pitchFamily="18" charset="0"/>
                          </a:rPr>
                          <m:t>1</m:t>
                        </m:r>
                      </m:sub>
                    </m:sSub>
                    <m:r>
                      <a:rPr lang="pl-PL" b="0" i="1" dirty="0" smtClean="0">
                        <a:latin typeface="Cambria Math" panose="02040503050406030204" pitchFamily="18" charset="0"/>
                      </a:rPr>
                      <m:t>&lt; …&lt;</m:t>
                    </m:r>
                    <m:sSub>
                      <m:sSubPr>
                        <m:ctrlPr>
                          <a:rPr lang="pl-PL" i="1" dirty="0">
                            <a:latin typeface="Cambria Math" panose="02040503050406030204" pitchFamily="18" charset="0"/>
                          </a:rPr>
                        </m:ctrlPr>
                      </m:sSubPr>
                      <m:e>
                        <m:r>
                          <a:rPr lang="pl-PL" i="1" dirty="0">
                            <a:latin typeface="Cambria Math" panose="02040503050406030204" pitchFamily="18" charset="0"/>
                          </a:rPr>
                          <m:t>𝑡</m:t>
                        </m:r>
                      </m:e>
                      <m:sub>
                        <m:r>
                          <a:rPr lang="pl-PL" b="0" i="1" dirty="0" smtClean="0">
                            <a:latin typeface="Cambria Math" panose="02040503050406030204" pitchFamily="18" charset="0"/>
                          </a:rPr>
                          <m:t>𝑛</m:t>
                        </m:r>
                      </m:sub>
                    </m:sSub>
                    <m:r>
                      <a:rPr lang="pl-PL" b="0" i="1" dirty="0" smtClean="0">
                        <a:latin typeface="Cambria Math" panose="02040503050406030204" pitchFamily="18" charset="0"/>
                      </a:rPr>
                      <m:t>=</m:t>
                    </m:r>
                    <m:r>
                      <a:rPr lang="pl-PL" b="0" i="1" dirty="0" smtClean="0">
                        <a:latin typeface="Cambria Math" panose="02040503050406030204" pitchFamily="18" charset="0"/>
                      </a:rPr>
                      <m:t>𝑇</m:t>
                    </m:r>
                    <m:r>
                      <a:rPr lang="pl-PL" b="0" i="1" dirty="0" smtClean="0">
                        <a:latin typeface="Cambria Math" panose="02040503050406030204" pitchFamily="18" charset="0"/>
                      </a:rPr>
                      <m:t>,</m:t>
                    </m:r>
                  </m:oMath>
                </a14:m>
                <a:r>
                  <a:rPr lang="pl-PL" dirty="0">
                    <a:latin typeface="Frutiger 45 Light" panose="020B0603020202020204" pitchFamily="34" charset="0"/>
                  </a:rPr>
                  <a:t> </a:t>
                </a:r>
              </a:p>
            </p:txBody>
          </p:sp>
        </mc:Choice>
        <mc:Fallback xmlns="">
          <p:sp>
            <p:nvSpPr>
              <p:cNvPr id="2" name="Content Placeholder 1">
                <a:extLst>
                  <a:ext uri="{FF2B5EF4-FFF2-40B4-BE49-F238E27FC236}">
                    <a16:creationId xmlns:a16="http://schemas.microsoft.com/office/drawing/2014/main" id="{C5523F61-D9C0-492D-923E-695D1381F6AE}"/>
                  </a:ext>
                </a:extLst>
              </p:cNvPr>
              <p:cNvSpPr>
                <a:spLocks noGrp="1" noRot="1" noChangeAspect="1" noMove="1" noResize="1" noEditPoints="1" noAdjustHandles="1" noChangeArrowheads="1" noChangeShapeType="1" noTextEdit="1"/>
              </p:cNvSpPr>
              <p:nvPr>
                <p:ph idx="1"/>
              </p:nvPr>
            </p:nvSpPr>
            <p:spPr>
              <a:xfrm>
                <a:off x="376955" y="1739578"/>
                <a:ext cx="9304490" cy="5270247"/>
              </a:xfrm>
              <a:blipFill>
                <a:blip r:embed="rId4"/>
                <a:stretch>
                  <a:fillRect l="-1573"/>
                </a:stretch>
              </a:blipFill>
            </p:spPr>
            <p:txBody>
              <a:bodyPr/>
              <a:lstStyle/>
              <a:p>
                <a:r>
                  <a:rPr lang="en-GB">
                    <a:noFill/>
                  </a:rPr>
                  <a:t> </a:t>
                </a:r>
              </a:p>
            </p:txBody>
          </p:sp>
        </mc:Fallback>
      </mc:AlternateContent>
      <p:sp>
        <p:nvSpPr>
          <p:cNvPr id="3" name="Title 2">
            <a:extLst>
              <a:ext uri="{FF2B5EF4-FFF2-40B4-BE49-F238E27FC236}">
                <a16:creationId xmlns:a16="http://schemas.microsoft.com/office/drawing/2014/main" id="{1BF73D4B-2C54-4EF1-BB67-2ABA6B21D1F5}"/>
              </a:ext>
            </a:extLst>
          </p:cNvPr>
          <p:cNvSpPr>
            <a:spLocks noGrp="1"/>
          </p:cNvSpPr>
          <p:nvPr>
            <p:ph type="title"/>
          </p:nvPr>
        </p:nvSpPr>
        <p:spPr/>
        <p:txBody>
          <a:bodyPr/>
          <a:lstStyle/>
          <a:p>
            <a:r>
              <a:rPr lang="pl-PL" dirty="0"/>
              <a:t>Monte Carlo </a:t>
            </a:r>
            <a:r>
              <a:rPr lang="pl-PL" dirty="0" err="1"/>
              <a:t>Simulations</a:t>
            </a:r>
            <a:endParaRPr lang="en-GB" dirty="0"/>
          </a:p>
        </p:txBody>
      </p:sp>
      <p:cxnSp>
        <p:nvCxnSpPr>
          <p:cNvPr id="7" name="Straight Arrow Connector 6">
            <a:extLst>
              <a:ext uri="{FF2B5EF4-FFF2-40B4-BE49-F238E27FC236}">
                <a16:creationId xmlns:a16="http://schemas.microsoft.com/office/drawing/2014/main" id="{E7429380-C226-4928-9AC0-4CEF667716B9}"/>
              </a:ext>
            </a:extLst>
          </p:cNvPr>
          <p:cNvCxnSpPr>
            <a:cxnSpLocks/>
          </p:cNvCxnSpPr>
          <p:nvPr/>
        </p:nvCxnSpPr>
        <p:spPr>
          <a:xfrm>
            <a:off x="1498877" y="2669885"/>
            <a:ext cx="6248400" cy="0"/>
          </a:xfrm>
          <a:prstGeom prst="straightConnector1">
            <a:avLst/>
          </a:prstGeom>
          <a:ln w="19050">
            <a:solidFill>
              <a:srgbClr val="91919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8C45EB40-9C42-43E4-BA08-719B9F8224B6}"/>
                  </a:ext>
                </a:extLst>
              </p:cNvPr>
              <p:cNvSpPr txBox="1"/>
              <p:nvPr/>
            </p:nvSpPr>
            <p:spPr>
              <a:xfrm>
                <a:off x="1992124" y="2938282"/>
                <a:ext cx="881270" cy="260902"/>
              </a:xfrm>
              <a:prstGeom prst="rect">
                <a:avLst/>
              </a:prstGeom>
              <a:noFill/>
            </p:spPr>
            <p:txBody>
              <a:bodyPr wrap="square" lIns="0" tIns="0" rIns="0" bIns="0" rtlCol="0">
                <a:noAutofit/>
              </a:bodyPr>
              <a:lstStyle/>
              <a:p>
                <a:pPr/>
                <a14:m>
                  <m:oMathPara xmlns:m="http://schemas.openxmlformats.org/officeDocument/2006/math">
                    <m:oMathParaPr>
                      <m:jc m:val="centerGroup"/>
                    </m:oMathParaPr>
                    <m:oMath xmlns:m="http://schemas.openxmlformats.org/officeDocument/2006/math">
                      <m:sSub>
                        <m:sSubPr>
                          <m:ctrlPr>
                            <a:rPr lang="pt-BR" sz="1800" i="1" smtClean="0">
                              <a:latin typeface="Cambria Math" panose="02040503050406030204" pitchFamily="18" charset="0"/>
                            </a:rPr>
                          </m:ctrlPr>
                        </m:sSubPr>
                        <m:e>
                          <m:r>
                            <a:rPr lang="pl-PL" sz="1800" b="0" i="1" smtClean="0">
                              <a:latin typeface="Cambria Math"/>
                            </a:rPr>
                            <m:t>𝑡</m:t>
                          </m:r>
                        </m:e>
                        <m:sub>
                          <m:r>
                            <a:rPr lang="pl-PL" sz="1800" b="0" i="1" smtClean="0">
                              <a:latin typeface="Cambria Math"/>
                            </a:rPr>
                            <m:t>1</m:t>
                          </m:r>
                        </m:sub>
                      </m:sSub>
                    </m:oMath>
                  </m:oMathPara>
                </a14:m>
                <a:endParaRPr lang="en-US" sz="1800" dirty="0">
                  <a:latin typeface="+mn-lt"/>
                </a:endParaRPr>
              </a:p>
            </p:txBody>
          </p:sp>
        </mc:Choice>
        <mc:Fallback xmlns="">
          <p:sp>
            <p:nvSpPr>
              <p:cNvPr id="18" name="TextBox 17">
                <a:extLst>
                  <a:ext uri="{FF2B5EF4-FFF2-40B4-BE49-F238E27FC236}">
                    <a16:creationId xmlns:a16="http://schemas.microsoft.com/office/drawing/2014/main" id="{8C45EB40-9C42-43E4-BA08-719B9F8224B6}"/>
                  </a:ext>
                </a:extLst>
              </p:cNvPr>
              <p:cNvSpPr txBox="1">
                <a:spLocks noRot="1" noChangeAspect="1" noMove="1" noResize="1" noEditPoints="1" noAdjustHandles="1" noChangeArrowheads="1" noChangeShapeType="1" noTextEdit="1"/>
              </p:cNvSpPr>
              <p:nvPr/>
            </p:nvSpPr>
            <p:spPr>
              <a:xfrm>
                <a:off x="1992124" y="2938282"/>
                <a:ext cx="881270" cy="260902"/>
              </a:xfrm>
              <a:prstGeom prst="rect">
                <a:avLst/>
              </a:prstGeom>
              <a:blipFill>
                <a:blip r:embed="rId5"/>
                <a:stretch>
                  <a:fillRect b="-2558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49242D91-36A4-4F9A-9FAB-E54DB2983054}"/>
                  </a:ext>
                </a:extLst>
              </p:cNvPr>
              <p:cNvSpPr txBox="1"/>
              <p:nvPr/>
            </p:nvSpPr>
            <p:spPr>
              <a:xfrm>
                <a:off x="3030919" y="2938282"/>
                <a:ext cx="907774" cy="260902"/>
              </a:xfrm>
              <a:prstGeom prst="rect">
                <a:avLst/>
              </a:prstGeom>
              <a:noFill/>
            </p:spPr>
            <p:txBody>
              <a:bodyPr wrap="square" lIns="0" tIns="0" rIns="0" bIns="0" rtlCol="0">
                <a:noAutofit/>
              </a:bodyPr>
              <a:lstStyle/>
              <a:p>
                <a:pPr/>
                <a14:m>
                  <m:oMathPara xmlns:m="http://schemas.openxmlformats.org/officeDocument/2006/math">
                    <m:oMathParaPr>
                      <m:jc m:val="centerGroup"/>
                    </m:oMathParaPr>
                    <m:oMath xmlns:m="http://schemas.openxmlformats.org/officeDocument/2006/math">
                      <m:sSub>
                        <m:sSubPr>
                          <m:ctrlPr>
                            <a:rPr lang="pt-BR" sz="1800" i="1" smtClean="0">
                              <a:latin typeface="Cambria Math" panose="02040503050406030204" pitchFamily="18" charset="0"/>
                            </a:rPr>
                          </m:ctrlPr>
                        </m:sSubPr>
                        <m:e>
                          <m:r>
                            <a:rPr lang="pl-PL" sz="1800" b="0" i="1" smtClean="0">
                              <a:latin typeface="Cambria Math"/>
                            </a:rPr>
                            <m:t>𝑡</m:t>
                          </m:r>
                        </m:e>
                        <m:sub>
                          <m:r>
                            <a:rPr lang="pl-PL" sz="1800" b="0" i="1" smtClean="0">
                              <a:latin typeface="Cambria Math"/>
                            </a:rPr>
                            <m:t>2</m:t>
                          </m:r>
                        </m:sub>
                      </m:sSub>
                    </m:oMath>
                  </m:oMathPara>
                </a14:m>
                <a:endParaRPr lang="en-US" sz="1800" dirty="0">
                  <a:latin typeface="+mn-lt"/>
                </a:endParaRPr>
              </a:p>
            </p:txBody>
          </p:sp>
        </mc:Choice>
        <mc:Fallback xmlns="">
          <p:sp>
            <p:nvSpPr>
              <p:cNvPr id="19" name="TextBox 18">
                <a:extLst>
                  <a:ext uri="{FF2B5EF4-FFF2-40B4-BE49-F238E27FC236}">
                    <a16:creationId xmlns:a16="http://schemas.microsoft.com/office/drawing/2014/main" id="{49242D91-36A4-4F9A-9FAB-E54DB2983054}"/>
                  </a:ext>
                </a:extLst>
              </p:cNvPr>
              <p:cNvSpPr txBox="1">
                <a:spLocks noRot="1" noChangeAspect="1" noMove="1" noResize="1" noEditPoints="1" noAdjustHandles="1" noChangeArrowheads="1" noChangeShapeType="1" noTextEdit="1"/>
              </p:cNvSpPr>
              <p:nvPr/>
            </p:nvSpPr>
            <p:spPr>
              <a:xfrm>
                <a:off x="3030919" y="2938282"/>
                <a:ext cx="907774" cy="260902"/>
              </a:xfrm>
              <a:prstGeom prst="rect">
                <a:avLst/>
              </a:prstGeom>
              <a:blipFill>
                <a:blip r:embed="rId6"/>
                <a:stretch>
                  <a:fillRect b="-2558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2A04924F-056B-44CC-8D8D-E81A125CE512}"/>
                  </a:ext>
                </a:extLst>
              </p:cNvPr>
              <p:cNvSpPr txBox="1"/>
              <p:nvPr/>
            </p:nvSpPr>
            <p:spPr>
              <a:xfrm>
                <a:off x="6731121" y="2839679"/>
                <a:ext cx="907774" cy="260902"/>
              </a:xfrm>
              <a:prstGeom prst="rect">
                <a:avLst/>
              </a:prstGeom>
              <a:noFill/>
            </p:spPr>
            <p:txBody>
              <a:bodyPr wrap="square" lIns="0" tIns="0" rIns="0" bIns="0" rtlCol="0">
                <a:noAutofit/>
              </a:bodyPr>
              <a:lstStyle/>
              <a:p>
                <a:pPr/>
                <a14:m>
                  <m:oMathPara xmlns:m="http://schemas.openxmlformats.org/officeDocument/2006/math">
                    <m:oMathParaPr>
                      <m:jc m:val="centerGroup"/>
                    </m:oMathParaPr>
                    <m:oMath xmlns:m="http://schemas.openxmlformats.org/officeDocument/2006/math">
                      <m:sSub>
                        <m:sSubPr>
                          <m:ctrlPr>
                            <a:rPr lang="pt-BR" sz="1800" i="1" smtClean="0">
                              <a:latin typeface="Cambria Math" panose="02040503050406030204" pitchFamily="18" charset="0"/>
                            </a:rPr>
                          </m:ctrlPr>
                        </m:sSubPr>
                        <m:e>
                          <m:r>
                            <a:rPr lang="pl-PL" sz="1800" b="0" i="1" smtClean="0">
                              <a:latin typeface="Cambria Math"/>
                            </a:rPr>
                            <m:t>𝑡</m:t>
                          </m:r>
                        </m:e>
                        <m:sub>
                          <m:r>
                            <a:rPr lang="pl-PL" sz="1800" b="0" i="1" smtClean="0">
                              <a:latin typeface="Cambria Math"/>
                            </a:rPr>
                            <m:t>𝑛</m:t>
                          </m:r>
                        </m:sub>
                      </m:sSub>
                      <m:r>
                        <a:rPr lang="pl-PL" sz="1800" b="0" i="1" smtClean="0">
                          <a:latin typeface="Cambria Math"/>
                        </a:rPr>
                        <m:t>=</m:t>
                      </m:r>
                      <m:r>
                        <a:rPr lang="pl-PL" sz="1800" b="0" i="1" smtClean="0">
                          <a:latin typeface="Cambria Math"/>
                        </a:rPr>
                        <m:t>𝑇</m:t>
                      </m:r>
                    </m:oMath>
                  </m:oMathPara>
                </a14:m>
                <a:endParaRPr lang="en-US" sz="1800" dirty="0">
                  <a:latin typeface="+mn-lt"/>
                </a:endParaRPr>
              </a:p>
            </p:txBody>
          </p:sp>
        </mc:Choice>
        <mc:Fallback xmlns="">
          <p:sp>
            <p:nvSpPr>
              <p:cNvPr id="20" name="TextBox 19">
                <a:extLst>
                  <a:ext uri="{FF2B5EF4-FFF2-40B4-BE49-F238E27FC236}">
                    <a16:creationId xmlns:a16="http://schemas.microsoft.com/office/drawing/2014/main" id="{2A04924F-056B-44CC-8D8D-E81A125CE512}"/>
                  </a:ext>
                </a:extLst>
              </p:cNvPr>
              <p:cNvSpPr txBox="1">
                <a:spLocks noRot="1" noChangeAspect="1" noMove="1" noResize="1" noEditPoints="1" noAdjustHandles="1" noChangeArrowheads="1" noChangeShapeType="1" noTextEdit="1"/>
              </p:cNvSpPr>
              <p:nvPr/>
            </p:nvSpPr>
            <p:spPr>
              <a:xfrm>
                <a:off x="6731121" y="2839679"/>
                <a:ext cx="907774" cy="260902"/>
              </a:xfrm>
              <a:prstGeom prst="rect">
                <a:avLst/>
              </a:prstGeom>
              <a:blipFill>
                <a:blip r:embed="rId7"/>
                <a:stretch>
                  <a:fillRect b="-1860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B3E8C2A0-424B-4016-AA30-90E0BD95F5E2}"/>
                  </a:ext>
                </a:extLst>
              </p:cNvPr>
              <p:cNvSpPr txBox="1"/>
              <p:nvPr/>
            </p:nvSpPr>
            <p:spPr>
              <a:xfrm>
                <a:off x="5086585" y="2713783"/>
                <a:ext cx="907774" cy="260902"/>
              </a:xfrm>
              <a:prstGeom prst="rect">
                <a:avLst/>
              </a:prstGeom>
              <a:noFill/>
            </p:spPr>
            <p:txBody>
              <a:bodyPr wrap="square" lIns="0" tIns="0" rIns="0" bIns="0" rtlCol="0">
                <a:noAutofit/>
              </a:bodyPr>
              <a:lstStyle/>
              <a:p>
                <a:pPr/>
                <a14:m>
                  <m:oMathPara xmlns:m="http://schemas.openxmlformats.org/officeDocument/2006/math">
                    <m:oMathParaPr>
                      <m:jc m:val="centerGroup"/>
                    </m:oMathParaPr>
                    <m:oMath xmlns:m="http://schemas.openxmlformats.org/officeDocument/2006/math">
                      <m:r>
                        <a:rPr lang="pl-PL" sz="1800" i="1" smtClean="0">
                          <a:latin typeface="Cambria Math"/>
                        </a:rPr>
                        <m:t>…</m:t>
                      </m:r>
                    </m:oMath>
                  </m:oMathPara>
                </a14:m>
                <a:endParaRPr lang="en-US" sz="1800" dirty="0">
                  <a:latin typeface="+mn-lt"/>
                </a:endParaRPr>
              </a:p>
            </p:txBody>
          </p:sp>
        </mc:Choice>
        <mc:Fallback xmlns="">
          <p:sp>
            <p:nvSpPr>
              <p:cNvPr id="21" name="TextBox 20">
                <a:extLst>
                  <a:ext uri="{FF2B5EF4-FFF2-40B4-BE49-F238E27FC236}">
                    <a16:creationId xmlns:a16="http://schemas.microsoft.com/office/drawing/2014/main" id="{B3E8C2A0-424B-4016-AA30-90E0BD95F5E2}"/>
                  </a:ext>
                </a:extLst>
              </p:cNvPr>
              <p:cNvSpPr txBox="1">
                <a:spLocks noRot="1" noChangeAspect="1" noMove="1" noResize="1" noEditPoints="1" noAdjustHandles="1" noChangeArrowheads="1" noChangeShapeType="1" noTextEdit="1"/>
              </p:cNvSpPr>
              <p:nvPr/>
            </p:nvSpPr>
            <p:spPr>
              <a:xfrm>
                <a:off x="5086585" y="2713783"/>
                <a:ext cx="907774" cy="260902"/>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642EB52E-BE32-42A7-AA9E-EF2F079C38BA}"/>
                  </a:ext>
                </a:extLst>
              </p:cNvPr>
              <p:cNvSpPr txBox="1"/>
              <p:nvPr/>
            </p:nvSpPr>
            <p:spPr>
              <a:xfrm>
                <a:off x="5080277" y="2315147"/>
                <a:ext cx="907774" cy="260902"/>
              </a:xfrm>
              <a:prstGeom prst="rect">
                <a:avLst/>
              </a:prstGeom>
              <a:noFill/>
            </p:spPr>
            <p:txBody>
              <a:bodyPr wrap="square" lIns="0" tIns="0" rIns="0" bIns="0" rtlCol="0">
                <a:noAutofit/>
              </a:bodyPr>
              <a:lstStyle/>
              <a:p>
                <a:pPr/>
                <a14:m>
                  <m:oMathPara xmlns:m="http://schemas.openxmlformats.org/officeDocument/2006/math">
                    <m:oMathParaPr>
                      <m:jc m:val="centerGroup"/>
                    </m:oMathParaPr>
                    <m:oMath xmlns:m="http://schemas.openxmlformats.org/officeDocument/2006/math">
                      <m:r>
                        <a:rPr lang="pl-PL" sz="1800" i="1" smtClean="0">
                          <a:latin typeface="Cambria Math"/>
                        </a:rPr>
                        <m:t>…</m:t>
                      </m:r>
                    </m:oMath>
                  </m:oMathPara>
                </a14:m>
                <a:endParaRPr lang="en-US" sz="1800" dirty="0">
                  <a:latin typeface="+mn-lt"/>
                </a:endParaRPr>
              </a:p>
            </p:txBody>
          </p:sp>
        </mc:Choice>
        <mc:Fallback xmlns="">
          <p:sp>
            <p:nvSpPr>
              <p:cNvPr id="22" name="TextBox 21">
                <a:extLst>
                  <a:ext uri="{FF2B5EF4-FFF2-40B4-BE49-F238E27FC236}">
                    <a16:creationId xmlns:a16="http://schemas.microsoft.com/office/drawing/2014/main" id="{642EB52E-BE32-42A7-AA9E-EF2F079C38BA}"/>
                  </a:ext>
                </a:extLst>
              </p:cNvPr>
              <p:cNvSpPr txBox="1">
                <a:spLocks noRot="1" noChangeAspect="1" noMove="1" noResize="1" noEditPoints="1" noAdjustHandles="1" noChangeArrowheads="1" noChangeShapeType="1" noTextEdit="1"/>
              </p:cNvSpPr>
              <p:nvPr/>
            </p:nvSpPr>
            <p:spPr>
              <a:xfrm>
                <a:off x="5080277" y="2315147"/>
                <a:ext cx="907774" cy="260902"/>
              </a:xfrm>
              <a:prstGeom prst="rect">
                <a:avLst/>
              </a:prstGeom>
              <a:blipFill>
                <a:blip r:embed="rId9"/>
                <a:stretch>
                  <a:fillRect/>
                </a:stretch>
              </a:blipFill>
            </p:spPr>
            <p:txBody>
              <a:bodyPr/>
              <a:lstStyle/>
              <a:p>
                <a:r>
                  <a:rPr lang="en-GB">
                    <a:noFill/>
                  </a:rPr>
                  <a:t> </a:t>
                </a:r>
              </a:p>
            </p:txBody>
          </p:sp>
        </mc:Fallback>
      </mc:AlternateContent>
      <p:cxnSp>
        <p:nvCxnSpPr>
          <p:cNvPr id="23" name="Straight Connector 22">
            <a:extLst>
              <a:ext uri="{FF2B5EF4-FFF2-40B4-BE49-F238E27FC236}">
                <a16:creationId xmlns:a16="http://schemas.microsoft.com/office/drawing/2014/main" id="{0B8A2600-1C79-46E3-9AAD-DFCE783A4277}"/>
              </a:ext>
            </a:extLst>
          </p:cNvPr>
          <p:cNvCxnSpPr>
            <a:cxnSpLocks/>
          </p:cNvCxnSpPr>
          <p:nvPr/>
        </p:nvCxnSpPr>
        <p:spPr>
          <a:xfrm>
            <a:off x="1498877" y="2669885"/>
            <a:ext cx="0" cy="169794"/>
          </a:xfrm>
          <a:prstGeom prst="line">
            <a:avLst/>
          </a:prstGeom>
          <a:ln w="19050">
            <a:solidFill>
              <a:srgbClr val="91919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D48C8FF8-51C7-4D78-855E-4698FC4344CA}"/>
                  </a:ext>
                </a:extLst>
              </p:cNvPr>
              <p:cNvSpPr txBox="1"/>
              <p:nvPr/>
            </p:nvSpPr>
            <p:spPr>
              <a:xfrm>
                <a:off x="1058242" y="2945317"/>
                <a:ext cx="881270" cy="260902"/>
              </a:xfrm>
              <a:prstGeom prst="rect">
                <a:avLst/>
              </a:prstGeom>
              <a:noFill/>
            </p:spPr>
            <p:txBody>
              <a:bodyPr wrap="square" lIns="0" tIns="0" rIns="0" bIns="0" rtlCol="0">
                <a:noAutofit/>
              </a:bodyPr>
              <a:lstStyle/>
              <a:p>
                <a:pPr/>
                <a14:m>
                  <m:oMathPara xmlns:m="http://schemas.openxmlformats.org/officeDocument/2006/math">
                    <m:oMathParaPr>
                      <m:jc m:val="centerGroup"/>
                    </m:oMathParaPr>
                    <m:oMath xmlns:m="http://schemas.openxmlformats.org/officeDocument/2006/math">
                      <m:sSub>
                        <m:sSubPr>
                          <m:ctrlPr>
                            <a:rPr lang="pt-BR" sz="1800" i="1" smtClean="0">
                              <a:latin typeface="Cambria Math" panose="02040503050406030204" pitchFamily="18" charset="0"/>
                            </a:rPr>
                          </m:ctrlPr>
                        </m:sSubPr>
                        <m:e>
                          <m:r>
                            <a:rPr lang="pl-PL" sz="1800" b="0" i="1" smtClean="0">
                              <a:latin typeface="Cambria Math"/>
                            </a:rPr>
                            <m:t>𝑡</m:t>
                          </m:r>
                        </m:e>
                        <m:sub>
                          <m:r>
                            <a:rPr lang="pl-PL" sz="1800" b="0" i="1" smtClean="0">
                              <a:latin typeface="Cambria Math"/>
                            </a:rPr>
                            <m:t>0</m:t>
                          </m:r>
                        </m:sub>
                      </m:sSub>
                    </m:oMath>
                  </m:oMathPara>
                </a14:m>
                <a:endParaRPr lang="en-US" sz="1800" dirty="0">
                  <a:latin typeface="+mn-lt"/>
                </a:endParaRPr>
              </a:p>
            </p:txBody>
          </p:sp>
        </mc:Choice>
        <mc:Fallback xmlns="">
          <p:sp>
            <p:nvSpPr>
              <p:cNvPr id="24" name="TextBox 23">
                <a:extLst>
                  <a:ext uri="{FF2B5EF4-FFF2-40B4-BE49-F238E27FC236}">
                    <a16:creationId xmlns:a16="http://schemas.microsoft.com/office/drawing/2014/main" id="{D48C8FF8-51C7-4D78-855E-4698FC4344CA}"/>
                  </a:ext>
                </a:extLst>
              </p:cNvPr>
              <p:cNvSpPr txBox="1">
                <a:spLocks noRot="1" noChangeAspect="1" noMove="1" noResize="1" noEditPoints="1" noAdjustHandles="1" noChangeArrowheads="1" noChangeShapeType="1" noTextEdit="1"/>
              </p:cNvSpPr>
              <p:nvPr/>
            </p:nvSpPr>
            <p:spPr>
              <a:xfrm>
                <a:off x="1058242" y="2945317"/>
                <a:ext cx="881270" cy="260902"/>
              </a:xfrm>
              <a:prstGeom prst="rect">
                <a:avLst/>
              </a:prstGeom>
              <a:blipFill>
                <a:blip r:embed="rId10"/>
                <a:stretch>
                  <a:fillRect b="-25581"/>
                </a:stretch>
              </a:blipFill>
            </p:spPr>
            <p:txBody>
              <a:bodyPr/>
              <a:lstStyle/>
              <a:p>
                <a:r>
                  <a:rPr lang="en-GB">
                    <a:noFill/>
                  </a:rPr>
                  <a:t> </a:t>
                </a:r>
              </a:p>
            </p:txBody>
          </p:sp>
        </mc:Fallback>
      </mc:AlternateContent>
      <p:cxnSp>
        <p:nvCxnSpPr>
          <p:cNvPr id="35" name="Straight Connector 34">
            <a:extLst>
              <a:ext uri="{FF2B5EF4-FFF2-40B4-BE49-F238E27FC236}">
                <a16:creationId xmlns:a16="http://schemas.microsoft.com/office/drawing/2014/main" id="{E4D82B99-2F80-4A37-9BE0-5B4CC5EBB6D9}"/>
              </a:ext>
            </a:extLst>
          </p:cNvPr>
          <p:cNvCxnSpPr/>
          <p:nvPr/>
        </p:nvCxnSpPr>
        <p:spPr>
          <a:xfrm>
            <a:off x="2432759" y="2673608"/>
            <a:ext cx="0" cy="81998"/>
          </a:xfrm>
          <a:prstGeom prst="line">
            <a:avLst/>
          </a:prstGeom>
          <a:ln w="19050">
            <a:solidFill>
              <a:srgbClr val="7B7D80"/>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F90B7A4E-ABE4-428C-9070-BDA84ECFA866}"/>
              </a:ext>
            </a:extLst>
          </p:cNvPr>
          <p:cNvCxnSpPr>
            <a:cxnSpLocks/>
          </p:cNvCxnSpPr>
          <p:nvPr/>
        </p:nvCxnSpPr>
        <p:spPr>
          <a:xfrm>
            <a:off x="3484806" y="2672784"/>
            <a:ext cx="0" cy="81998"/>
          </a:xfrm>
          <a:prstGeom prst="line">
            <a:avLst/>
          </a:prstGeom>
          <a:ln w="19050">
            <a:solidFill>
              <a:srgbClr val="7B7D80"/>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73478E32-3A0F-4485-AF63-1441490EC968}"/>
              </a:ext>
            </a:extLst>
          </p:cNvPr>
          <p:cNvCxnSpPr/>
          <p:nvPr/>
        </p:nvCxnSpPr>
        <p:spPr>
          <a:xfrm>
            <a:off x="7161709" y="2661116"/>
            <a:ext cx="0" cy="81998"/>
          </a:xfrm>
          <a:prstGeom prst="line">
            <a:avLst/>
          </a:prstGeom>
          <a:ln w="19050">
            <a:solidFill>
              <a:srgbClr val="7B7D8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2" name="LAYOUT HEADER">
                <a:extLst>
                  <a:ext uri="{FF2B5EF4-FFF2-40B4-BE49-F238E27FC236}">
                    <a16:creationId xmlns:a16="http://schemas.microsoft.com/office/drawing/2014/main" id="{DC294FB5-8365-4207-9E0E-7E49430029FA}"/>
                  </a:ext>
                </a:extLst>
              </p:cNvPr>
              <p:cNvSpPr txBox="1">
                <a:spLocks noChangeArrowheads="1"/>
              </p:cNvSpPr>
              <p:nvPr>
                <p:custDataLst>
                  <p:tags r:id="rId1"/>
                </p:custDataLst>
              </p:nvPr>
            </p:nvSpPr>
            <p:spPr bwMode="gray">
              <a:xfrm>
                <a:off x="485417" y="3664652"/>
                <a:ext cx="9189719" cy="1929320"/>
              </a:xfrm>
              <a:prstGeom prst="rect">
                <a:avLst/>
              </a:prstGeom>
              <a:noFill/>
              <a:ln w="19050" algn="ctr">
                <a:noFill/>
                <a:miter lim="800000"/>
                <a:headEnd/>
                <a:tailEnd/>
              </a:ln>
              <a:effectLst/>
              <a:extLst>
                <a:ext uri="{909E8E84-426E-40DD-AFC4-6F175D3DCCD1}">
                  <a14:hiddenFill>
                    <a:solidFill>
                      <a:srgbClr val="FFFFFF"/>
                    </a:solidFill>
                  </a14:hiddenFill>
                </a:ext>
                <a:ext uri="{AF507438-7753-43E0-B8FC-AC1667EBCBE1}">
                  <a14:hiddenEffects>
                    <a:effectLst>
                      <a:outerShdw dist="17961" dir="2700000" algn="ctr" rotWithShape="0">
                        <a:srgbClr val="999999"/>
                      </a:outerShdw>
                    </a:effectLst>
                  </a14:hiddenEffects>
                </a:ext>
              </a:extLst>
            </p:spPr>
            <p:txBody>
              <a:bodyPr lIns="0" tIns="0" rIns="0" bIns="38100"/>
              <a:lstStyle>
                <a:lvl1pPr>
                  <a:defRPr sz="1100">
                    <a:solidFill>
                      <a:schemeClr val="tx1"/>
                    </a:solidFill>
                    <a:latin typeface="Frutiger 45 Light" pitchFamily="34" charset="0"/>
                    <a:ea typeface="Arial Unicode MS" pitchFamily="34" charset="-128"/>
                    <a:cs typeface="Arial Unicode MS" pitchFamily="34" charset="-128"/>
                  </a:defRPr>
                </a:lvl1pPr>
                <a:lvl2pPr marL="742950" indent="-285750">
                  <a:defRPr sz="1100">
                    <a:solidFill>
                      <a:schemeClr val="tx1"/>
                    </a:solidFill>
                    <a:latin typeface="Frutiger 45 Light" pitchFamily="34" charset="0"/>
                    <a:ea typeface="Arial Unicode MS" pitchFamily="34" charset="-128"/>
                    <a:cs typeface="Arial Unicode MS" pitchFamily="34" charset="-128"/>
                  </a:defRPr>
                </a:lvl2pPr>
                <a:lvl3pPr marL="1143000" indent="-228600">
                  <a:defRPr sz="1100">
                    <a:solidFill>
                      <a:schemeClr val="tx1"/>
                    </a:solidFill>
                    <a:latin typeface="Frutiger 45 Light" pitchFamily="34" charset="0"/>
                    <a:ea typeface="Arial Unicode MS" pitchFamily="34" charset="-128"/>
                    <a:cs typeface="Arial Unicode MS" pitchFamily="34" charset="-128"/>
                  </a:defRPr>
                </a:lvl3pPr>
                <a:lvl4pPr marL="1600200" indent="-228600">
                  <a:defRPr sz="1100">
                    <a:solidFill>
                      <a:schemeClr val="tx1"/>
                    </a:solidFill>
                    <a:latin typeface="Frutiger 45 Light" pitchFamily="34" charset="0"/>
                    <a:ea typeface="Arial Unicode MS" pitchFamily="34" charset="-128"/>
                    <a:cs typeface="Arial Unicode MS" pitchFamily="34" charset="-128"/>
                  </a:defRPr>
                </a:lvl4pPr>
                <a:lvl5pPr marL="2057400" indent="-228600">
                  <a:defRPr sz="1100">
                    <a:solidFill>
                      <a:schemeClr val="tx1"/>
                    </a:solidFill>
                    <a:latin typeface="Frutiger 45 Light" pitchFamily="34" charset="0"/>
                    <a:ea typeface="Arial Unicode MS" pitchFamily="34" charset="-128"/>
                    <a:cs typeface="Arial Unicode MS" pitchFamily="34" charset="-128"/>
                  </a:defRPr>
                </a:lvl5pPr>
                <a:lvl6pPr marL="2514600" indent="-228600" eaLnBrk="0" fontAlgn="base" hangingPunct="0">
                  <a:spcBef>
                    <a:spcPct val="50000"/>
                  </a:spcBef>
                  <a:spcAft>
                    <a:spcPct val="0"/>
                  </a:spcAft>
                  <a:defRPr sz="1100">
                    <a:solidFill>
                      <a:schemeClr val="tx1"/>
                    </a:solidFill>
                    <a:latin typeface="Frutiger 45 Light" pitchFamily="34" charset="0"/>
                    <a:ea typeface="Arial Unicode MS" pitchFamily="34" charset="-128"/>
                    <a:cs typeface="Arial Unicode MS" pitchFamily="34" charset="-128"/>
                  </a:defRPr>
                </a:lvl6pPr>
                <a:lvl7pPr marL="2971800" indent="-228600" eaLnBrk="0" fontAlgn="base" hangingPunct="0">
                  <a:spcBef>
                    <a:spcPct val="50000"/>
                  </a:spcBef>
                  <a:spcAft>
                    <a:spcPct val="0"/>
                  </a:spcAft>
                  <a:defRPr sz="1100">
                    <a:solidFill>
                      <a:schemeClr val="tx1"/>
                    </a:solidFill>
                    <a:latin typeface="Frutiger 45 Light" pitchFamily="34" charset="0"/>
                    <a:ea typeface="Arial Unicode MS" pitchFamily="34" charset="-128"/>
                    <a:cs typeface="Arial Unicode MS" pitchFamily="34" charset="-128"/>
                  </a:defRPr>
                </a:lvl7pPr>
                <a:lvl8pPr marL="3429000" indent="-228600" eaLnBrk="0" fontAlgn="base" hangingPunct="0">
                  <a:spcBef>
                    <a:spcPct val="50000"/>
                  </a:spcBef>
                  <a:spcAft>
                    <a:spcPct val="0"/>
                  </a:spcAft>
                  <a:defRPr sz="1100">
                    <a:solidFill>
                      <a:schemeClr val="tx1"/>
                    </a:solidFill>
                    <a:latin typeface="Frutiger 45 Light" pitchFamily="34" charset="0"/>
                    <a:ea typeface="Arial Unicode MS" pitchFamily="34" charset="-128"/>
                    <a:cs typeface="Arial Unicode MS" pitchFamily="34" charset="-128"/>
                  </a:defRPr>
                </a:lvl8pPr>
                <a:lvl9pPr marL="3886200" indent="-228600" eaLnBrk="0" fontAlgn="base" hangingPunct="0">
                  <a:spcBef>
                    <a:spcPct val="50000"/>
                  </a:spcBef>
                  <a:spcAft>
                    <a:spcPct val="0"/>
                  </a:spcAft>
                  <a:defRPr sz="1100">
                    <a:solidFill>
                      <a:schemeClr val="tx1"/>
                    </a:solidFill>
                    <a:latin typeface="Frutiger 45 Light" pitchFamily="34" charset="0"/>
                    <a:ea typeface="Arial Unicode MS" pitchFamily="34" charset="-128"/>
                    <a:cs typeface="Arial Unicode MS" pitchFamily="34" charset="-128"/>
                  </a:defRPr>
                </a:lvl9pPr>
              </a:lstStyle>
              <a:p>
                <a:r>
                  <a:rPr lang="pl-PL" sz="1800" dirty="0">
                    <a:latin typeface="Frutiger 55 Roman" panose="020B0503040202020204" pitchFamily="34" charset="0"/>
                  </a:rPr>
                  <a:t>The </a:t>
                </a:r>
                <a:r>
                  <a:rPr lang="pl-PL" sz="1800" dirty="0" err="1">
                    <a:latin typeface="Frutiger 55 Roman" panose="020B0503040202020204" pitchFamily="34" charset="0"/>
                  </a:rPr>
                  <a:t>stock</a:t>
                </a:r>
                <a:r>
                  <a:rPr lang="pl-PL" sz="1800" dirty="0">
                    <a:latin typeface="Frutiger 55 Roman" panose="020B0503040202020204" pitchFamily="34" charset="0"/>
                  </a:rPr>
                  <a:t> </a:t>
                </a:r>
                <a:r>
                  <a:rPr lang="pl-PL" sz="1800" dirty="0" err="1">
                    <a:latin typeface="Frutiger 55 Roman" panose="020B0503040202020204" pitchFamily="34" charset="0"/>
                  </a:rPr>
                  <a:t>price</a:t>
                </a:r>
                <a:r>
                  <a:rPr lang="pl-PL" sz="1800" dirty="0">
                    <a:latin typeface="Frutiger 55 Roman" panose="020B0503040202020204" pitchFamily="34" charset="0"/>
                  </a:rPr>
                  <a:t> </a:t>
                </a:r>
                <a:r>
                  <a:rPr lang="pl-PL" sz="1800" dirty="0" err="1">
                    <a:latin typeface="Frutiger 55 Roman" panose="020B0503040202020204" pitchFamily="34" charset="0"/>
                  </a:rPr>
                  <a:t>process</a:t>
                </a:r>
                <a:r>
                  <a:rPr lang="pl-PL" sz="1800" dirty="0">
                    <a:latin typeface="Frutiger 55 Roman" panose="020B0503040202020204" pitchFamily="34" charset="0"/>
                  </a:rPr>
                  <a:t> in Black-</a:t>
                </a:r>
                <a:r>
                  <a:rPr lang="pl-PL" sz="1800" dirty="0" err="1">
                    <a:latin typeface="Frutiger 55 Roman" panose="020B0503040202020204" pitchFamily="34" charset="0"/>
                  </a:rPr>
                  <a:t>Scholes</a:t>
                </a:r>
                <a:r>
                  <a:rPr lang="pl-PL" sz="1800" dirty="0">
                    <a:latin typeface="Frutiger 55 Roman" panose="020B0503040202020204" pitchFamily="34" charset="0"/>
                  </a:rPr>
                  <a:t> model:</a:t>
                </a:r>
              </a:p>
              <a:p>
                <a:pPr>
                  <a:lnSpc>
                    <a:spcPct val="200000"/>
                  </a:lnSpc>
                </a:pPr>
                <a14:m>
                  <m:oMathPara xmlns:m="http://schemas.openxmlformats.org/officeDocument/2006/math">
                    <m:oMathParaPr>
                      <m:jc m:val="centerGroup"/>
                    </m:oMathParaPr>
                    <m:oMath xmlns:m="http://schemas.openxmlformats.org/officeDocument/2006/math">
                      <m:r>
                        <a:rPr lang="pl-PL" altLang="zh-TW" sz="1800" i="1">
                          <a:latin typeface="Cambria Math" panose="02040503050406030204" pitchFamily="18" charset="0"/>
                        </a:rPr>
                        <m:t>𝑑</m:t>
                      </m:r>
                      <m:r>
                        <a:rPr lang="pl-PL" altLang="zh-TW" sz="1800" b="0" i="1" smtClean="0">
                          <a:latin typeface="Cambria Math" panose="02040503050406030204" pitchFamily="18" charset="0"/>
                        </a:rPr>
                        <m:t>𝑆</m:t>
                      </m:r>
                      <m:d>
                        <m:dPr>
                          <m:ctrlPr>
                            <a:rPr lang="pl-PL" altLang="zh-TW" sz="1800" i="1">
                              <a:latin typeface="Cambria Math" panose="02040503050406030204" pitchFamily="18" charset="0"/>
                            </a:rPr>
                          </m:ctrlPr>
                        </m:dPr>
                        <m:e>
                          <m:r>
                            <a:rPr lang="pl-PL" altLang="zh-TW" sz="1800" i="1">
                              <a:latin typeface="Cambria Math" panose="02040503050406030204" pitchFamily="18" charset="0"/>
                            </a:rPr>
                            <m:t>𝑡</m:t>
                          </m:r>
                        </m:e>
                      </m:d>
                      <m:r>
                        <a:rPr lang="pl-PL" altLang="zh-TW" sz="1800" i="1">
                          <a:latin typeface="Cambria Math" panose="02040503050406030204" pitchFamily="18" charset="0"/>
                        </a:rPr>
                        <m:t>=</m:t>
                      </m:r>
                      <m:r>
                        <a:rPr lang="pl-PL" altLang="zh-TW" sz="1800" b="0" i="1" smtClean="0">
                          <a:latin typeface="Cambria Math" panose="02040503050406030204" pitchFamily="18" charset="0"/>
                        </a:rPr>
                        <m:t>𝑟𝑆</m:t>
                      </m:r>
                      <m:d>
                        <m:dPr>
                          <m:ctrlPr>
                            <a:rPr lang="pl-PL" altLang="zh-TW" sz="1800" i="1">
                              <a:latin typeface="Cambria Math" panose="02040503050406030204" pitchFamily="18" charset="0"/>
                            </a:rPr>
                          </m:ctrlPr>
                        </m:dPr>
                        <m:e>
                          <m:r>
                            <a:rPr lang="pl-PL" altLang="zh-TW" sz="1800" i="1">
                              <a:latin typeface="Cambria Math" panose="02040503050406030204" pitchFamily="18" charset="0"/>
                            </a:rPr>
                            <m:t>𝑡</m:t>
                          </m:r>
                        </m:e>
                      </m:d>
                      <m:r>
                        <a:rPr lang="pl-PL" altLang="zh-TW" sz="1800" i="1">
                          <a:latin typeface="Cambria Math" panose="02040503050406030204" pitchFamily="18" charset="0"/>
                        </a:rPr>
                        <m:t>𝑑𝑡</m:t>
                      </m:r>
                      <m:r>
                        <a:rPr lang="pl-PL" altLang="zh-TW" sz="1800" i="1">
                          <a:latin typeface="Cambria Math" panose="02040503050406030204" pitchFamily="18" charset="0"/>
                        </a:rPr>
                        <m:t>+</m:t>
                      </m:r>
                      <m:r>
                        <a:rPr lang="zh-TW" altLang="pl-PL" sz="1800" i="1" smtClean="0">
                          <a:latin typeface="Cambria Math" panose="02040503050406030204" pitchFamily="18" charset="0"/>
                        </a:rPr>
                        <m:t>𝜎</m:t>
                      </m:r>
                      <m:r>
                        <a:rPr lang="pl-PL" altLang="zh-TW" sz="1800" i="1" smtClean="0">
                          <a:latin typeface="Cambria Math" panose="02040503050406030204" pitchFamily="18" charset="0"/>
                        </a:rPr>
                        <m:t> </m:t>
                      </m:r>
                      <m:r>
                        <a:rPr lang="pl-PL" altLang="zh-TW" sz="1800" b="0" i="1" smtClean="0">
                          <a:latin typeface="Cambria Math" panose="02040503050406030204" pitchFamily="18" charset="0"/>
                        </a:rPr>
                        <m:t>𝑆</m:t>
                      </m:r>
                      <m:d>
                        <m:dPr>
                          <m:ctrlPr>
                            <a:rPr lang="pl-PL" altLang="zh-TW" sz="1800" i="1">
                              <a:latin typeface="Cambria Math" panose="02040503050406030204" pitchFamily="18" charset="0"/>
                            </a:rPr>
                          </m:ctrlPr>
                        </m:dPr>
                        <m:e>
                          <m:r>
                            <a:rPr lang="pl-PL" altLang="zh-TW" sz="1800" i="1">
                              <a:latin typeface="Cambria Math" panose="02040503050406030204" pitchFamily="18" charset="0"/>
                            </a:rPr>
                            <m:t>𝑡</m:t>
                          </m:r>
                        </m:e>
                      </m:d>
                      <m:r>
                        <a:rPr lang="pl-PL" altLang="zh-TW" sz="1800" i="1">
                          <a:latin typeface="Cambria Math" panose="02040503050406030204" pitchFamily="18" charset="0"/>
                        </a:rPr>
                        <m:t>𝑑𝑊</m:t>
                      </m:r>
                      <m:d>
                        <m:dPr>
                          <m:ctrlPr>
                            <a:rPr lang="pl-PL" altLang="zh-TW" sz="1800" i="1">
                              <a:latin typeface="Cambria Math" panose="02040503050406030204" pitchFamily="18" charset="0"/>
                            </a:rPr>
                          </m:ctrlPr>
                        </m:dPr>
                        <m:e>
                          <m:r>
                            <a:rPr lang="pl-PL" altLang="zh-TW" sz="1800" i="1">
                              <a:latin typeface="Cambria Math" panose="02040503050406030204" pitchFamily="18" charset="0"/>
                            </a:rPr>
                            <m:t>𝑡</m:t>
                          </m:r>
                        </m:e>
                      </m:d>
                      <m:r>
                        <a:rPr lang="pl-PL" altLang="zh-TW" sz="1800" i="1">
                          <a:latin typeface="Cambria Math" panose="02040503050406030204" pitchFamily="18" charset="0"/>
                        </a:rPr>
                        <m:t>,  </m:t>
                      </m:r>
                      <m:r>
                        <a:rPr lang="pl-PL" altLang="zh-TW" sz="1800" b="0" i="1" smtClean="0">
                          <a:latin typeface="Cambria Math" panose="02040503050406030204" pitchFamily="18" charset="0"/>
                        </a:rPr>
                        <m:t>𝑆</m:t>
                      </m:r>
                      <m:d>
                        <m:dPr>
                          <m:ctrlPr>
                            <a:rPr lang="pl-PL" altLang="zh-TW" sz="1800" i="1">
                              <a:latin typeface="Cambria Math" panose="02040503050406030204" pitchFamily="18" charset="0"/>
                            </a:rPr>
                          </m:ctrlPr>
                        </m:dPr>
                        <m:e>
                          <m:r>
                            <a:rPr lang="pl-PL" altLang="zh-TW" sz="1800" i="1">
                              <a:latin typeface="Cambria Math" panose="02040503050406030204" pitchFamily="18" charset="0"/>
                            </a:rPr>
                            <m:t>0</m:t>
                          </m:r>
                        </m:e>
                      </m:d>
                      <m:r>
                        <a:rPr lang="pl-PL" altLang="zh-TW" sz="1800" i="1">
                          <a:latin typeface="Cambria Math" panose="02040503050406030204" pitchFamily="18" charset="0"/>
                        </a:rPr>
                        <m:t>=</m:t>
                      </m:r>
                      <m:sSub>
                        <m:sSubPr>
                          <m:ctrlPr>
                            <a:rPr lang="pt-BR" altLang="zh-TW" sz="1800" i="1">
                              <a:latin typeface="Cambria Math" panose="02040503050406030204" pitchFamily="18" charset="0"/>
                            </a:rPr>
                          </m:ctrlPr>
                        </m:sSubPr>
                        <m:e>
                          <m:r>
                            <a:rPr lang="pl-PL" altLang="zh-TW" sz="1800" b="0" i="1" smtClean="0">
                              <a:latin typeface="Cambria Math" panose="02040503050406030204" pitchFamily="18" charset="0"/>
                            </a:rPr>
                            <m:t>𝑆</m:t>
                          </m:r>
                        </m:e>
                        <m:sub>
                          <m:r>
                            <a:rPr lang="pt-BR" altLang="zh-TW" sz="1800" i="1">
                              <a:latin typeface="Cambria Math" panose="02040503050406030204" pitchFamily="18" charset="0"/>
                            </a:rPr>
                            <m:t>0</m:t>
                          </m:r>
                        </m:sub>
                      </m:sSub>
                    </m:oMath>
                  </m:oMathPara>
                </a14:m>
                <a:endParaRPr lang="pl-PL" sz="1800" dirty="0">
                  <a:latin typeface="Frutiger 55 Roman" panose="020B0503040202020204" pitchFamily="34" charset="0"/>
                </a:endParaRPr>
              </a:p>
              <a:p>
                <a:r>
                  <a:rPr lang="pl-PL" sz="1800" dirty="0">
                    <a:latin typeface="Frutiger 55 Roman" panose="020B0503040202020204" pitchFamily="34" charset="0"/>
                  </a:rPr>
                  <a:t>The </a:t>
                </a:r>
                <a:r>
                  <a:rPr lang="pl-PL" sz="1800" dirty="0" err="1">
                    <a:latin typeface="Frutiger 55 Roman" panose="020B0503040202020204" pitchFamily="34" charset="0"/>
                  </a:rPr>
                  <a:t>solution</a:t>
                </a:r>
                <a:r>
                  <a:rPr lang="pl-PL" sz="1800" dirty="0">
                    <a:latin typeface="Frutiger 55 Roman" panose="020B0503040202020204" pitchFamily="34" charset="0"/>
                  </a:rPr>
                  <a:t> </a:t>
                </a:r>
                <a:r>
                  <a:rPr lang="pl-PL" sz="1800" dirty="0" err="1">
                    <a:latin typeface="Frutiger 55 Roman" panose="020B0503040202020204" pitchFamily="34" charset="0"/>
                  </a:rPr>
                  <a:t>is</a:t>
                </a:r>
                <a:r>
                  <a:rPr lang="pl-PL" sz="1800" dirty="0">
                    <a:latin typeface="Frutiger 55 Roman" panose="020B0503040202020204" pitchFamily="34" charset="0"/>
                  </a:rPr>
                  <a:t>:</a:t>
                </a:r>
              </a:p>
              <a:p>
                <a:pPr/>
                <a14:m>
                  <m:oMathPara xmlns:m="http://schemas.openxmlformats.org/officeDocument/2006/math">
                    <m:oMathParaPr>
                      <m:jc m:val="centerGroup"/>
                    </m:oMathParaPr>
                    <m:oMath xmlns:m="http://schemas.openxmlformats.org/officeDocument/2006/math">
                      <m:r>
                        <a:rPr lang="pl-PL" altLang="zh-TW" sz="1800" i="1">
                          <a:latin typeface="Cambria Math" panose="02040503050406030204" pitchFamily="18" charset="0"/>
                        </a:rPr>
                        <m:t>𝑆</m:t>
                      </m:r>
                      <m:d>
                        <m:dPr>
                          <m:ctrlPr>
                            <a:rPr lang="pl-PL" altLang="zh-TW" sz="1800" i="1">
                              <a:latin typeface="Cambria Math" panose="02040503050406030204" pitchFamily="18" charset="0"/>
                            </a:rPr>
                          </m:ctrlPr>
                        </m:dPr>
                        <m:e>
                          <m:r>
                            <a:rPr lang="pl-PL" altLang="zh-TW" sz="1800" i="1">
                              <a:latin typeface="Cambria Math" panose="02040503050406030204" pitchFamily="18" charset="0"/>
                            </a:rPr>
                            <m:t>𝑡</m:t>
                          </m:r>
                        </m:e>
                      </m:d>
                      <m:r>
                        <a:rPr lang="pl-PL" altLang="zh-TW" sz="1800" i="1">
                          <a:latin typeface="Cambria Math" panose="02040503050406030204" pitchFamily="18" charset="0"/>
                        </a:rPr>
                        <m:t>=</m:t>
                      </m:r>
                      <m:sSub>
                        <m:sSubPr>
                          <m:ctrlPr>
                            <a:rPr lang="pt-BR" altLang="zh-TW" sz="1800" i="1">
                              <a:latin typeface="Cambria Math" panose="02040503050406030204" pitchFamily="18" charset="0"/>
                            </a:rPr>
                          </m:ctrlPr>
                        </m:sSubPr>
                        <m:e>
                          <m:r>
                            <a:rPr lang="pl-PL" altLang="zh-TW" sz="1800" i="1">
                              <a:latin typeface="Cambria Math" panose="02040503050406030204" pitchFamily="18" charset="0"/>
                            </a:rPr>
                            <m:t>𝑆</m:t>
                          </m:r>
                        </m:e>
                        <m:sub>
                          <m:r>
                            <a:rPr lang="pt-BR" altLang="zh-TW" sz="1800" i="1">
                              <a:latin typeface="Cambria Math" panose="02040503050406030204" pitchFamily="18" charset="0"/>
                            </a:rPr>
                            <m:t>0</m:t>
                          </m:r>
                        </m:sub>
                      </m:sSub>
                      <m:r>
                        <m:rPr>
                          <m:sty m:val="p"/>
                        </m:rPr>
                        <a:rPr lang="pl-PL" altLang="zh-TW" sz="1800" b="0" i="0" smtClean="0">
                          <a:latin typeface="Cambria Math" panose="02040503050406030204" pitchFamily="18" charset="0"/>
                        </a:rPr>
                        <m:t>exp</m:t>
                      </m:r>
                      <m:d>
                        <m:dPr>
                          <m:begChr m:val="{"/>
                          <m:endChr m:val="}"/>
                          <m:ctrlPr>
                            <a:rPr lang="pl-PL" altLang="zh-TW" sz="1800" b="0" i="1" smtClean="0">
                              <a:latin typeface="Cambria Math" panose="02040503050406030204" pitchFamily="18" charset="0"/>
                            </a:rPr>
                          </m:ctrlPr>
                        </m:dPr>
                        <m:e>
                          <m:d>
                            <m:dPr>
                              <m:ctrlPr>
                                <a:rPr lang="pl-PL" altLang="zh-TW" sz="1800" b="0" i="1" smtClean="0">
                                  <a:latin typeface="Cambria Math" panose="02040503050406030204" pitchFamily="18" charset="0"/>
                                </a:rPr>
                              </m:ctrlPr>
                            </m:dPr>
                            <m:e>
                              <m:r>
                                <a:rPr lang="pl-PL" altLang="zh-TW" sz="1800" b="0" i="1" smtClean="0">
                                  <a:latin typeface="Cambria Math" panose="02040503050406030204" pitchFamily="18" charset="0"/>
                                </a:rPr>
                                <m:t>𝑟</m:t>
                              </m:r>
                              <m:r>
                                <a:rPr lang="pl-PL" altLang="zh-TW" sz="1800" b="0" i="1" smtClean="0">
                                  <a:latin typeface="Cambria Math" panose="02040503050406030204" pitchFamily="18" charset="0"/>
                                </a:rPr>
                                <m:t>−</m:t>
                              </m:r>
                              <m:f>
                                <m:fPr>
                                  <m:ctrlPr>
                                    <a:rPr lang="pl-PL" altLang="zh-TW" sz="1800" b="0" i="1" smtClean="0">
                                      <a:latin typeface="Cambria Math" panose="02040503050406030204" pitchFamily="18" charset="0"/>
                                    </a:rPr>
                                  </m:ctrlPr>
                                </m:fPr>
                                <m:num>
                                  <m:r>
                                    <a:rPr lang="pl-PL" altLang="zh-TW" sz="1800" b="0" i="1" smtClean="0">
                                      <a:latin typeface="Cambria Math" panose="02040503050406030204" pitchFamily="18" charset="0"/>
                                    </a:rPr>
                                    <m:t>1</m:t>
                                  </m:r>
                                </m:num>
                                <m:den>
                                  <m:r>
                                    <a:rPr lang="pl-PL" altLang="zh-TW" sz="1800" b="0" i="1" smtClean="0">
                                      <a:latin typeface="Cambria Math" panose="02040503050406030204" pitchFamily="18" charset="0"/>
                                    </a:rPr>
                                    <m:t>2</m:t>
                                  </m:r>
                                </m:den>
                              </m:f>
                              <m:sSup>
                                <m:sSupPr>
                                  <m:ctrlPr>
                                    <a:rPr lang="pl-PL" altLang="zh-TW" sz="1800" b="0" i="1" smtClean="0">
                                      <a:latin typeface="Cambria Math" panose="02040503050406030204" pitchFamily="18" charset="0"/>
                                    </a:rPr>
                                  </m:ctrlPr>
                                </m:sSupPr>
                                <m:e>
                                  <m:r>
                                    <a:rPr lang="zh-TW" altLang="pl-PL" sz="1800" b="0" i="1" smtClean="0">
                                      <a:latin typeface="Cambria Math" panose="02040503050406030204" pitchFamily="18" charset="0"/>
                                    </a:rPr>
                                    <m:t>𝜎</m:t>
                                  </m:r>
                                </m:e>
                                <m:sup>
                                  <m:r>
                                    <a:rPr lang="pl-PL" altLang="zh-TW" sz="1800" b="0" i="1" smtClean="0">
                                      <a:latin typeface="Cambria Math" panose="02040503050406030204" pitchFamily="18" charset="0"/>
                                    </a:rPr>
                                    <m:t>2</m:t>
                                  </m:r>
                                </m:sup>
                              </m:sSup>
                            </m:e>
                          </m:d>
                          <m:r>
                            <a:rPr lang="pl-PL" altLang="zh-TW" sz="1800" b="0" i="1" smtClean="0">
                              <a:latin typeface="Cambria Math" panose="02040503050406030204" pitchFamily="18" charset="0"/>
                            </a:rPr>
                            <m:t>𝑡</m:t>
                          </m:r>
                          <m:r>
                            <a:rPr lang="pl-PL" altLang="zh-TW" sz="1800" b="0" i="1" smtClean="0">
                              <a:latin typeface="Cambria Math" panose="02040503050406030204" pitchFamily="18" charset="0"/>
                            </a:rPr>
                            <m:t>+</m:t>
                          </m:r>
                          <m:r>
                            <a:rPr lang="zh-TW" altLang="pl-PL" sz="1800" b="0" i="1" smtClean="0">
                              <a:latin typeface="Cambria Math" panose="02040503050406030204" pitchFamily="18" charset="0"/>
                            </a:rPr>
                            <m:t>𝜎</m:t>
                          </m:r>
                          <m:r>
                            <a:rPr lang="pl-PL" altLang="zh-TW" sz="1800" b="0" i="1" smtClean="0">
                              <a:latin typeface="Cambria Math" panose="02040503050406030204" pitchFamily="18" charset="0"/>
                            </a:rPr>
                            <m:t>𝑊</m:t>
                          </m:r>
                          <m:r>
                            <a:rPr lang="pl-PL" altLang="zh-TW" sz="1800" b="0" i="1" smtClean="0">
                              <a:latin typeface="Cambria Math" panose="02040503050406030204" pitchFamily="18" charset="0"/>
                            </a:rPr>
                            <m:t>(</m:t>
                          </m:r>
                          <m:r>
                            <a:rPr lang="pl-PL" altLang="zh-TW" sz="1800" b="0" i="1" smtClean="0">
                              <a:latin typeface="Cambria Math" panose="02040503050406030204" pitchFamily="18" charset="0"/>
                            </a:rPr>
                            <m:t>𝑡</m:t>
                          </m:r>
                          <m:r>
                            <a:rPr lang="pl-PL" altLang="zh-TW" sz="1800" b="0" i="1" smtClean="0">
                              <a:latin typeface="Cambria Math" panose="02040503050406030204" pitchFamily="18" charset="0"/>
                            </a:rPr>
                            <m:t>)</m:t>
                          </m:r>
                        </m:e>
                      </m:d>
                      <m:r>
                        <a:rPr lang="pl-PL" altLang="zh-TW" sz="1800" b="0" i="1" smtClean="0">
                          <a:latin typeface="Cambria Math" panose="02040503050406030204" pitchFamily="18" charset="0"/>
                        </a:rPr>
                        <m:t>⁡</m:t>
                      </m:r>
                      <m:r>
                        <a:rPr lang="pl-PL" altLang="zh-TW" sz="1800" i="1">
                          <a:latin typeface="Cambria Math" panose="02040503050406030204" pitchFamily="18" charset="0"/>
                        </a:rPr>
                        <m:t>,  </m:t>
                      </m:r>
                      <m:r>
                        <a:rPr lang="pl-PL" altLang="zh-TW" sz="1800" i="1">
                          <a:latin typeface="Cambria Math" panose="02040503050406030204" pitchFamily="18" charset="0"/>
                        </a:rPr>
                        <m:t>𝑆</m:t>
                      </m:r>
                      <m:d>
                        <m:dPr>
                          <m:ctrlPr>
                            <a:rPr lang="pl-PL" altLang="zh-TW" sz="1800" i="1">
                              <a:latin typeface="Cambria Math" panose="02040503050406030204" pitchFamily="18" charset="0"/>
                            </a:rPr>
                          </m:ctrlPr>
                        </m:dPr>
                        <m:e>
                          <m:r>
                            <a:rPr lang="pl-PL" altLang="zh-TW" sz="1800" i="1">
                              <a:latin typeface="Cambria Math" panose="02040503050406030204" pitchFamily="18" charset="0"/>
                            </a:rPr>
                            <m:t>0</m:t>
                          </m:r>
                        </m:e>
                      </m:d>
                      <m:r>
                        <a:rPr lang="pl-PL" altLang="zh-TW" sz="1800" i="1">
                          <a:latin typeface="Cambria Math" panose="02040503050406030204" pitchFamily="18" charset="0"/>
                        </a:rPr>
                        <m:t>=</m:t>
                      </m:r>
                      <m:sSub>
                        <m:sSubPr>
                          <m:ctrlPr>
                            <a:rPr lang="pt-BR" altLang="zh-TW" sz="1800" i="1">
                              <a:latin typeface="Cambria Math" panose="02040503050406030204" pitchFamily="18" charset="0"/>
                            </a:rPr>
                          </m:ctrlPr>
                        </m:sSubPr>
                        <m:e>
                          <m:r>
                            <a:rPr lang="pl-PL" altLang="zh-TW" sz="1800" i="1">
                              <a:latin typeface="Cambria Math" panose="02040503050406030204" pitchFamily="18" charset="0"/>
                            </a:rPr>
                            <m:t>𝑆</m:t>
                          </m:r>
                        </m:e>
                        <m:sub>
                          <m:r>
                            <a:rPr lang="pt-BR" altLang="zh-TW" sz="1800" i="1">
                              <a:latin typeface="Cambria Math" panose="02040503050406030204" pitchFamily="18" charset="0"/>
                            </a:rPr>
                            <m:t>0</m:t>
                          </m:r>
                        </m:sub>
                      </m:sSub>
                    </m:oMath>
                  </m:oMathPara>
                </a14:m>
                <a:endParaRPr lang="pl-PL" sz="1800" dirty="0">
                  <a:latin typeface="Frutiger 55 Roman" panose="020B0503040202020204" pitchFamily="34" charset="0"/>
                </a:endParaRPr>
              </a:p>
              <a:p>
                <a:pPr marL="0" indent="0">
                  <a:buNone/>
                </a:pPr>
                <a:r>
                  <a:rPr lang="pl-PL" sz="1800" dirty="0" err="1"/>
                  <a:t>After</a:t>
                </a:r>
                <a:r>
                  <a:rPr lang="pl-PL" sz="1800" dirty="0"/>
                  <a:t> </a:t>
                </a:r>
                <a:r>
                  <a:rPr lang="pl-PL" sz="1800" dirty="0" err="1"/>
                  <a:t>simple</a:t>
                </a:r>
                <a:r>
                  <a:rPr lang="pl-PL" sz="1800" dirty="0"/>
                  <a:t> </a:t>
                </a:r>
                <a:r>
                  <a:rPr lang="pl-PL" sz="1800" dirty="0" err="1"/>
                  <a:t>transformations</a:t>
                </a:r>
                <a:r>
                  <a:rPr lang="pl-PL" sz="1800" dirty="0"/>
                  <a:t> we </a:t>
                </a:r>
                <a:r>
                  <a:rPr lang="pl-PL" sz="1800" dirty="0" err="1"/>
                  <a:t>get</a:t>
                </a:r>
                <a:r>
                  <a:rPr lang="pl-PL" sz="1800" dirty="0"/>
                  <a:t>:</a:t>
                </a:r>
              </a:p>
              <a:p>
                <a:pPr marL="0" indent="0">
                  <a:lnSpc>
                    <a:spcPct val="150000"/>
                  </a:lnSpc>
                  <a:buNone/>
                </a:pPr>
                <a14:m>
                  <m:oMathPara xmlns:m="http://schemas.openxmlformats.org/officeDocument/2006/math">
                    <m:oMathParaPr>
                      <m:jc m:val="centerGroup"/>
                    </m:oMathParaPr>
                    <m:oMath xmlns:m="http://schemas.openxmlformats.org/officeDocument/2006/math">
                      <m:r>
                        <a:rPr lang="pl-PL" altLang="zh-TW" sz="1800" i="1">
                          <a:latin typeface="Cambria Math" panose="02040503050406030204" pitchFamily="18" charset="0"/>
                        </a:rPr>
                        <m:t>𝑆</m:t>
                      </m:r>
                      <m:d>
                        <m:dPr>
                          <m:ctrlPr>
                            <a:rPr lang="pl-PL" altLang="zh-TW" sz="1800" i="1">
                              <a:latin typeface="Cambria Math" panose="02040503050406030204" pitchFamily="18" charset="0"/>
                            </a:rPr>
                          </m:ctrlPr>
                        </m:dPr>
                        <m:e>
                          <m:sSub>
                            <m:sSubPr>
                              <m:ctrlPr>
                                <a:rPr lang="pl-PL" altLang="zh-TW" sz="1800" i="1">
                                  <a:latin typeface="Cambria Math" panose="02040503050406030204" pitchFamily="18" charset="0"/>
                                </a:rPr>
                              </m:ctrlPr>
                            </m:sSubPr>
                            <m:e>
                              <m:r>
                                <a:rPr lang="pl-PL" altLang="zh-TW" sz="1800" i="1">
                                  <a:latin typeface="Cambria Math" panose="02040503050406030204" pitchFamily="18" charset="0"/>
                                </a:rPr>
                                <m:t>𝑡</m:t>
                              </m:r>
                            </m:e>
                            <m:sub>
                              <m:r>
                                <a:rPr lang="pl-PL" altLang="zh-TW" sz="1800" i="1">
                                  <a:latin typeface="Cambria Math" panose="02040503050406030204" pitchFamily="18" charset="0"/>
                                </a:rPr>
                                <m:t>𝑖</m:t>
                              </m:r>
                              <m:r>
                                <a:rPr lang="pl-PL" altLang="zh-TW" sz="1800" i="1">
                                  <a:latin typeface="Cambria Math" panose="02040503050406030204" pitchFamily="18" charset="0"/>
                                </a:rPr>
                                <m:t>+1</m:t>
                              </m:r>
                            </m:sub>
                          </m:sSub>
                        </m:e>
                      </m:d>
                      <m:r>
                        <a:rPr lang="pl-PL" altLang="zh-TW" sz="1800" i="1">
                          <a:latin typeface="Cambria Math" panose="02040503050406030204" pitchFamily="18" charset="0"/>
                        </a:rPr>
                        <m:t>=</m:t>
                      </m:r>
                      <m:r>
                        <m:rPr>
                          <m:sty m:val="p"/>
                        </m:rPr>
                        <a:rPr lang="pl-PL" altLang="zh-TW" sz="1800">
                          <a:latin typeface="Cambria Math" panose="02040503050406030204" pitchFamily="18" charset="0"/>
                        </a:rPr>
                        <m:t>S</m:t>
                      </m:r>
                      <m:d>
                        <m:dPr>
                          <m:ctrlPr>
                            <a:rPr lang="pl-PL" altLang="zh-TW" sz="1800" i="1">
                              <a:latin typeface="Cambria Math" panose="02040503050406030204" pitchFamily="18" charset="0"/>
                            </a:rPr>
                          </m:ctrlPr>
                        </m:dPr>
                        <m:e>
                          <m:sSub>
                            <m:sSubPr>
                              <m:ctrlPr>
                                <a:rPr lang="pl-PL" altLang="zh-TW" sz="1800" i="1">
                                  <a:latin typeface="Cambria Math" panose="02040503050406030204" pitchFamily="18" charset="0"/>
                                </a:rPr>
                              </m:ctrlPr>
                            </m:sSubPr>
                            <m:e>
                              <m:r>
                                <a:rPr lang="pl-PL" altLang="zh-TW" sz="1800" i="1">
                                  <a:latin typeface="Cambria Math" panose="02040503050406030204" pitchFamily="18" charset="0"/>
                                </a:rPr>
                                <m:t>𝑡</m:t>
                              </m:r>
                            </m:e>
                            <m:sub>
                              <m:r>
                                <a:rPr lang="pl-PL" altLang="zh-TW" sz="1800" i="1">
                                  <a:latin typeface="Cambria Math" panose="02040503050406030204" pitchFamily="18" charset="0"/>
                                </a:rPr>
                                <m:t>𝑖</m:t>
                              </m:r>
                            </m:sub>
                          </m:sSub>
                        </m:e>
                      </m:d>
                      <m:r>
                        <m:rPr>
                          <m:sty m:val="p"/>
                        </m:rPr>
                        <a:rPr lang="pl-PL" altLang="zh-TW" sz="1800">
                          <a:latin typeface="Cambria Math" panose="02040503050406030204" pitchFamily="18" charset="0"/>
                        </a:rPr>
                        <m:t>exp</m:t>
                      </m:r>
                      <m:d>
                        <m:dPr>
                          <m:begChr m:val="{"/>
                          <m:endChr m:val="}"/>
                          <m:ctrlPr>
                            <a:rPr lang="pl-PL" altLang="zh-TW" sz="1800" i="1">
                              <a:latin typeface="Cambria Math" panose="02040503050406030204" pitchFamily="18" charset="0"/>
                            </a:rPr>
                          </m:ctrlPr>
                        </m:dPr>
                        <m:e>
                          <m:d>
                            <m:dPr>
                              <m:ctrlPr>
                                <a:rPr lang="pl-PL" altLang="zh-TW" sz="1800" i="1">
                                  <a:latin typeface="Cambria Math" panose="02040503050406030204" pitchFamily="18" charset="0"/>
                                </a:rPr>
                              </m:ctrlPr>
                            </m:dPr>
                            <m:e>
                              <m:r>
                                <a:rPr lang="pl-PL" altLang="zh-TW" sz="1800" i="1">
                                  <a:latin typeface="Cambria Math" panose="02040503050406030204" pitchFamily="18" charset="0"/>
                                </a:rPr>
                                <m:t>𝑟</m:t>
                              </m:r>
                              <m:r>
                                <a:rPr lang="pl-PL" altLang="zh-TW" sz="1800" i="1">
                                  <a:latin typeface="Cambria Math" panose="02040503050406030204" pitchFamily="18" charset="0"/>
                                </a:rPr>
                                <m:t>−</m:t>
                              </m:r>
                              <m:f>
                                <m:fPr>
                                  <m:ctrlPr>
                                    <a:rPr lang="pl-PL" altLang="zh-TW" sz="1800" i="1">
                                      <a:latin typeface="Cambria Math" panose="02040503050406030204" pitchFamily="18" charset="0"/>
                                    </a:rPr>
                                  </m:ctrlPr>
                                </m:fPr>
                                <m:num>
                                  <m:r>
                                    <a:rPr lang="pl-PL" altLang="zh-TW" sz="1800" i="1">
                                      <a:latin typeface="Cambria Math" panose="02040503050406030204" pitchFamily="18" charset="0"/>
                                    </a:rPr>
                                    <m:t>1</m:t>
                                  </m:r>
                                </m:num>
                                <m:den>
                                  <m:r>
                                    <a:rPr lang="pl-PL" altLang="zh-TW" sz="1800" i="1">
                                      <a:latin typeface="Cambria Math" panose="02040503050406030204" pitchFamily="18" charset="0"/>
                                    </a:rPr>
                                    <m:t>2</m:t>
                                  </m:r>
                                </m:den>
                              </m:f>
                              <m:sSup>
                                <m:sSupPr>
                                  <m:ctrlPr>
                                    <a:rPr lang="pl-PL" altLang="zh-TW" sz="1800" i="1">
                                      <a:latin typeface="Cambria Math" panose="02040503050406030204" pitchFamily="18" charset="0"/>
                                    </a:rPr>
                                  </m:ctrlPr>
                                </m:sSupPr>
                                <m:e>
                                  <m:r>
                                    <a:rPr lang="zh-TW" altLang="pl-PL" sz="1800" i="1">
                                      <a:latin typeface="Cambria Math" panose="02040503050406030204" pitchFamily="18" charset="0"/>
                                    </a:rPr>
                                    <m:t>𝜎</m:t>
                                  </m:r>
                                </m:e>
                                <m:sup>
                                  <m:r>
                                    <a:rPr lang="pl-PL" altLang="zh-TW" sz="1800" i="1">
                                      <a:latin typeface="Cambria Math" panose="02040503050406030204" pitchFamily="18" charset="0"/>
                                    </a:rPr>
                                    <m:t>2</m:t>
                                  </m:r>
                                </m:sup>
                              </m:sSup>
                            </m:e>
                          </m:d>
                          <m:r>
                            <a:rPr lang="pl-PL" altLang="zh-TW" sz="1800" i="1">
                              <a:latin typeface="Cambria Math" panose="02040503050406030204" pitchFamily="18" charset="0"/>
                            </a:rPr>
                            <m:t>(</m:t>
                          </m:r>
                          <m:sSub>
                            <m:sSubPr>
                              <m:ctrlPr>
                                <a:rPr lang="pl-PL" altLang="zh-TW" sz="1800" i="1">
                                  <a:latin typeface="Cambria Math" panose="02040503050406030204" pitchFamily="18" charset="0"/>
                                </a:rPr>
                              </m:ctrlPr>
                            </m:sSubPr>
                            <m:e>
                              <m:r>
                                <a:rPr lang="pl-PL" altLang="zh-TW" sz="1800" i="1">
                                  <a:latin typeface="Cambria Math" panose="02040503050406030204" pitchFamily="18" charset="0"/>
                                </a:rPr>
                                <m:t>𝑡</m:t>
                              </m:r>
                            </m:e>
                            <m:sub>
                              <m:r>
                                <a:rPr lang="pl-PL" altLang="zh-TW" sz="1800" i="1">
                                  <a:latin typeface="Cambria Math" panose="02040503050406030204" pitchFamily="18" charset="0"/>
                                </a:rPr>
                                <m:t>𝑖</m:t>
                              </m:r>
                              <m:r>
                                <a:rPr lang="pl-PL" altLang="zh-TW" sz="1800" i="1">
                                  <a:latin typeface="Cambria Math" panose="02040503050406030204" pitchFamily="18" charset="0"/>
                                </a:rPr>
                                <m:t>+1</m:t>
                              </m:r>
                            </m:sub>
                          </m:sSub>
                          <m:r>
                            <a:rPr lang="pl-PL" altLang="zh-TW" sz="1800" i="1">
                              <a:latin typeface="Cambria Math" panose="02040503050406030204" pitchFamily="18" charset="0"/>
                            </a:rPr>
                            <m:t>−</m:t>
                          </m:r>
                          <m:sSub>
                            <m:sSubPr>
                              <m:ctrlPr>
                                <a:rPr lang="pl-PL" altLang="zh-TW" sz="1800" i="1">
                                  <a:latin typeface="Cambria Math" panose="02040503050406030204" pitchFamily="18" charset="0"/>
                                </a:rPr>
                              </m:ctrlPr>
                            </m:sSubPr>
                            <m:e>
                              <m:r>
                                <a:rPr lang="pl-PL" altLang="zh-TW" sz="1800" i="1">
                                  <a:latin typeface="Cambria Math" panose="02040503050406030204" pitchFamily="18" charset="0"/>
                                </a:rPr>
                                <m:t>𝑡</m:t>
                              </m:r>
                            </m:e>
                            <m:sub>
                              <m:r>
                                <a:rPr lang="pl-PL" altLang="zh-TW" sz="1800" i="1">
                                  <a:latin typeface="Cambria Math" panose="02040503050406030204" pitchFamily="18" charset="0"/>
                                </a:rPr>
                                <m:t>𝑖</m:t>
                              </m:r>
                            </m:sub>
                          </m:sSub>
                          <m:r>
                            <a:rPr lang="pl-PL" altLang="zh-TW" sz="1800" i="1">
                              <a:latin typeface="Cambria Math" panose="02040503050406030204" pitchFamily="18" charset="0"/>
                            </a:rPr>
                            <m:t>)+</m:t>
                          </m:r>
                          <m:r>
                            <a:rPr lang="zh-TW" altLang="pl-PL" sz="1800" i="1">
                              <a:latin typeface="Cambria Math" panose="02040503050406030204" pitchFamily="18" charset="0"/>
                            </a:rPr>
                            <m:t>𝜎</m:t>
                          </m:r>
                          <m:rad>
                            <m:radPr>
                              <m:degHide m:val="on"/>
                              <m:ctrlPr>
                                <a:rPr lang="zh-TW" altLang="en-US" sz="1800" i="1">
                                  <a:latin typeface="Cambria Math" panose="02040503050406030204" pitchFamily="18" charset="0"/>
                                </a:rPr>
                              </m:ctrlPr>
                            </m:radPr>
                            <m:deg/>
                            <m:e>
                              <m:sSub>
                                <m:sSubPr>
                                  <m:ctrlPr>
                                    <a:rPr lang="pl-PL" altLang="zh-TW" sz="1800" i="1">
                                      <a:latin typeface="Cambria Math" panose="02040503050406030204" pitchFamily="18" charset="0"/>
                                    </a:rPr>
                                  </m:ctrlPr>
                                </m:sSubPr>
                                <m:e>
                                  <m:r>
                                    <a:rPr lang="pl-PL" altLang="zh-TW" sz="1800" i="1">
                                      <a:latin typeface="Cambria Math" panose="02040503050406030204" pitchFamily="18" charset="0"/>
                                    </a:rPr>
                                    <m:t>𝑡</m:t>
                                  </m:r>
                                </m:e>
                                <m:sub>
                                  <m:r>
                                    <a:rPr lang="pl-PL" altLang="zh-TW" sz="1800" i="1">
                                      <a:latin typeface="Cambria Math" panose="02040503050406030204" pitchFamily="18" charset="0"/>
                                    </a:rPr>
                                    <m:t>𝑖</m:t>
                                  </m:r>
                                  <m:r>
                                    <a:rPr lang="pl-PL" altLang="zh-TW" sz="1800" i="1">
                                      <a:latin typeface="Cambria Math" panose="02040503050406030204" pitchFamily="18" charset="0"/>
                                    </a:rPr>
                                    <m:t>+1</m:t>
                                  </m:r>
                                </m:sub>
                              </m:sSub>
                              <m:r>
                                <a:rPr lang="pl-PL" altLang="zh-TW" sz="1800" i="1">
                                  <a:latin typeface="Cambria Math" panose="02040503050406030204" pitchFamily="18" charset="0"/>
                                </a:rPr>
                                <m:t>−</m:t>
                              </m:r>
                              <m:sSub>
                                <m:sSubPr>
                                  <m:ctrlPr>
                                    <a:rPr lang="pl-PL" altLang="zh-TW" sz="1800" i="1">
                                      <a:latin typeface="Cambria Math" panose="02040503050406030204" pitchFamily="18" charset="0"/>
                                    </a:rPr>
                                  </m:ctrlPr>
                                </m:sSubPr>
                                <m:e>
                                  <m:r>
                                    <a:rPr lang="pl-PL" altLang="zh-TW" sz="1800" i="1">
                                      <a:latin typeface="Cambria Math" panose="02040503050406030204" pitchFamily="18" charset="0"/>
                                    </a:rPr>
                                    <m:t>𝑡</m:t>
                                  </m:r>
                                </m:e>
                                <m:sub>
                                  <m:r>
                                    <a:rPr lang="pl-PL" altLang="zh-TW" sz="1800" i="1">
                                      <a:latin typeface="Cambria Math" panose="02040503050406030204" pitchFamily="18" charset="0"/>
                                    </a:rPr>
                                    <m:t>𝑖</m:t>
                                  </m:r>
                                </m:sub>
                              </m:sSub>
                            </m:e>
                          </m:rad>
                          <m:sSub>
                            <m:sSubPr>
                              <m:ctrlPr>
                                <a:rPr lang="pl-PL" altLang="zh-TW" sz="1800" i="1">
                                  <a:latin typeface="Cambria Math" panose="02040503050406030204" pitchFamily="18" charset="0"/>
                                </a:rPr>
                              </m:ctrlPr>
                            </m:sSubPr>
                            <m:e>
                              <m:r>
                                <a:rPr lang="pl-PL" altLang="zh-TW" sz="1800" i="1">
                                  <a:latin typeface="Cambria Math" panose="02040503050406030204" pitchFamily="18" charset="0"/>
                                </a:rPr>
                                <m:t>𝑍</m:t>
                              </m:r>
                            </m:e>
                            <m:sub>
                              <m:r>
                                <a:rPr lang="pl-PL" altLang="zh-TW" sz="1800" i="1">
                                  <a:latin typeface="Cambria Math" panose="02040503050406030204" pitchFamily="18" charset="0"/>
                                </a:rPr>
                                <m:t>𝑖</m:t>
                              </m:r>
                              <m:r>
                                <a:rPr lang="pl-PL" altLang="zh-TW" sz="1800" i="1">
                                  <a:latin typeface="Cambria Math" panose="02040503050406030204" pitchFamily="18" charset="0"/>
                                </a:rPr>
                                <m:t>+1</m:t>
                              </m:r>
                            </m:sub>
                          </m:sSub>
                        </m:e>
                      </m:d>
                      <m:r>
                        <a:rPr lang="pl-PL" altLang="zh-TW" sz="1800" i="1">
                          <a:latin typeface="Cambria Math" panose="02040503050406030204" pitchFamily="18" charset="0"/>
                        </a:rPr>
                        <m:t>⁡,</m:t>
                      </m:r>
                    </m:oMath>
                  </m:oMathPara>
                </a14:m>
                <a:endParaRPr lang="pl-PL" sz="1800" dirty="0"/>
              </a:p>
              <a:p>
                <a:endParaRPr lang="pl-PL" sz="2400" dirty="0">
                  <a:latin typeface="Frutiger 55 Roman" panose="020B0503040202020204" pitchFamily="34" charset="0"/>
                </a:endParaRPr>
              </a:p>
              <a:p>
                <a:pPr algn="ctr"/>
                <a:endParaRPr lang="pl-PL" sz="2400" u="sng" dirty="0">
                  <a:solidFill>
                    <a:srgbClr val="FF0000"/>
                  </a:solidFill>
                  <a:latin typeface="Frutiger 55 Roman" panose="020B0503040202020204" pitchFamily="34" charset="0"/>
                </a:endParaRPr>
              </a:p>
              <a:p>
                <a:pPr algn="ctr"/>
                <a:endParaRPr lang="pl-PL" sz="2400" u="sng" dirty="0">
                  <a:solidFill>
                    <a:srgbClr val="FF0000"/>
                  </a:solidFill>
                  <a:latin typeface="Frutiger 55 Roman" panose="020B0503040202020204" pitchFamily="34" charset="0"/>
                </a:endParaRPr>
              </a:p>
              <a:p>
                <a:pPr algn="ctr"/>
                <a:endParaRPr lang="pl-PL" sz="2400" u="sng" dirty="0">
                  <a:solidFill>
                    <a:srgbClr val="FF0000"/>
                  </a:solidFill>
                  <a:latin typeface="Frutiger 55 Roman" panose="020B0503040202020204" pitchFamily="34" charset="0"/>
                </a:endParaRPr>
              </a:p>
              <a:p>
                <a:pPr algn="ctr"/>
                <a:endParaRPr lang="pl-PL" sz="2400" u="sng" dirty="0">
                  <a:solidFill>
                    <a:srgbClr val="FF0000"/>
                  </a:solidFill>
                  <a:latin typeface="Frutiger 55 Roman" panose="020B0503040202020204" pitchFamily="34" charset="0"/>
                </a:endParaRPr>
              </a:p>
              <a:p>
                <a:endParaRPr lang="en-GB" altLang="zh-TW" sz="2400" i="1" dirty="0">
                  <a:solidFill>
                    <a:srgbClr val="E60000"/>
                  </a:solidFill>
                  <a:latin typeface="Frutiger 55 Roman" panose="020B0503040202020204" pitchFamily="34" charset="0"/>
                </a:endParaRPr>
              </a:p>
              <a:p>
                <a:endParaRPr lang="en-GB" altLang="zh-TW" sz="2400" i="1" dirty="0">
                  <a:solidFill>
                    <a:srgbClr val="E60000"/>
                  </a:solidFill>
                  <a:latin typeface="Frutiger 55 Roman" panose="020B0503040202020204" pitchFamily="34" charset="0"/>
                </a:endParaRPr>
              </a:p>
            </p:txBody>
          </p:sp>
        </mc:Choice>
        <mc:Fallback xmlns="">
          <p:sp>
            <p:nvSpPr>
              <p:cNvPr id="42" name="LAYOUT HEADER">
                <a:extLst>
                  <a:ext uri="{FF2B5EF4-FFF2-40B4-BE49-F238E27FC236}">
                    <a16:creationId xmlns:a16="http://schemas.microsoft.com/office/drawing/2014/main" id="{DC294FB5-8365-4207-9E0E-7E49430029FA}"/>
                  </a:ext>
                </a:extLst>
              </p:cNvPr>
              <p:cNvSpPr txBox="1">
                <a:spLocks noRot="1" noChangeAspect="1" noMove="1" noResize="1" noEditPoints="1" noAdjustHandles="1" noChangeArrowheads="1" noChangeShapeType="1" noTextEdit="1"/>
              </p:cNvSpPr>
              <p:nvPr>
                <p:custDataLst>
                  <p:tags r:id="rId11"/>
                </p:custDataLst>
              </p:nvPr>
            </p:nvSpPr>
            <p:spPr bwMode="gray">
              <a:xfrm>
                <a:off x="485417" y="3664652"/>
                <a:ext cx="9189719" cy="1929320"/>
              </a:xfrm>
              <a:prstGeom prst="rect">
                <a:avLst/>
              </a:prstGeom>
              <a:blipFill>
                <a:blip r:embed="rId12"/>
                <a:stretch>
                  <a:fillRect l="-1593" t="-4101" b="-61199"/>
                </a:stretch>
              </a:blipFill>
              <a:ln w="19050" algn="ctr">
                <a:no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17961" dir="2700000" algn="ctr" rotWithShape="0">
                        <a:srgbClr val="999999"/>
                      </a:outerShdw>
                    </a:effectLst>
                  </a14:hiddenEffects>
                </a:ext>
              </a:extLst>
            </p:spPr>
            <p:txBody>
              <a:bodyPr/>
              <a:lstStyle/>
              <a:p>
                <a:r>
                  <a:rPr lang="en-GB">
                    <a:noFill/>
                  </a:rPr>
                  <a:t> </a:t>
                </a:r>
              </a:p>
            </p:txBody>
          </p:sp>
        </mc:Fallback>
      </mc:AlternateContent>
      <p:sp>
        <p:nvSpPr>
          <p:cNvPr id="44" name="TextBox 43">
            <a:extLst>
              <a:ext uri="{FF2B5EF4-FFF2-40B4-BE49-F238E27FC236}">
                <a16:creationId xmlns:a16="http://schemas.microsoft.com/office/drawing/2014/main" id="{A1D72AC8-B234-4D15-A4AF-88B35A8E2B4F}"/>
              </a:ext>
            </a:extLst>
          </p:cNvPr>
          <p:cNvSpPr txBox="1"/>
          <p:nvPr>
            <p:custDataLst>
              <p:tags r:id="rId2"/>
            </p:custDataLst>
          </p:nvPr>
        </p:nvSpPr>
        <p:spPr>
          <a:xfrm>
            <a:off x="420624" y="1133132"/>
            <a:ext cx="9189720" cy="274320"/>
          </a:xfrm>
          <a:prstGeom prst="rect">
            <a:avLst/>
          </a:prstGeom>
          <a:noFill/>
        </p:spPr>
        <p:txBody>
          <a:bodyPr vert="horz" wrap="square" lIns="0" tIns="0" rIns="0" bIns="0" rtlCol="0" anchor="t">
            <a:noAutofit/>
          </a:bodyPr>
          <a:lstStyle/>
          <a:p>
            <a:pPr eaLnBrk="1">
              <a:spcBef>
                <a:spcPts val="0"/>
              </a:spcBef>
              <a:spcAft>
                <a:spcPts val="600"/>
              </a:spcAft>
            </a:pPr>
            <a:r>
              <a:rPr lang="pl-PL" sz="2000" kern="0" dirty="0" err="1">
                <a:solidFill>
                  <a:srgbClr val="464749"/>
                </a:solidFill>
                <a:latin typeface="Frutiger 45 Light" panose="020B0603020202020204" pitchFamily="34" charset="0"/>
              </a:rPr>
              <a:t>Stochastic</a:t>
            </a:r>
            <a:r>
              <a:rPr lang="pl-PL" sz="2000" kern="0" dirty="0">
                <a:solidFill>
                  <a:srgbClr val="464749"/>
                </a:solidFill>
                <a:latin typeface="Frutiger 45 Light" panose="020B0603020202020204" pitchFamily="34" charset="0"/>
              </a:rPr>
              <a:t> </a:t>
            </a:r>
            <a:r>
              <a:rPr lang="pl-PL" sz="2000" kern="0" dirty="0" err="1">
                <a:solidFill>
                  <a:srgbClr val="464749"/>
                </a:solidFill>
                <a:latin typeface="Frutiger 45 Light" panose="020B0603020202020204" pitchFamily="34" charset="0"/>
              </a:rPr>
              <a:t>process</a:t>
            </a:r>
            <a:r>
              <a:rPr lang="pl-PL" sz="2000" kern="0" dirty="0">
                <a:solidFill>
                  <a:srgbClr val="464749"/>
                </a:solidFill>
                <a:latin typeface="Frutiger 45 Light" panose="020B0603020202020204" pitchFamily="34" charset="0"/>
              </a:rPr>
              <a:t> </a:t>
            </a:r>
            <a:r>
              <a:rPr lang="pl-PL" sz="2000" kern="0" dirty="0" err="1">
                <a:solidFill>
                  <a:srgbClr val="464749"/>
                </a:solidFill>
                <a:latin typeface="Frutiger 45 Light" panose="020B0603020202020204" pitchFamily="34" charset="0"/>
              </a:rPr>
              <a:t>path</a:t>
            </a:r>
            <a:r>
              <a:rPr lang="pl-PL" sz="2000" kern="0" dirty="0">
                <a:solidFill>
                  <a:srgbClr val="464749"/>
                </a:solidFill>
                <a:latin typeface="Frutiger 45 Light" panose="020B0603020202020204" pitchFamily="34" charset="0"/>
              </a:rPr>
              <a:t> </a:t>
            </a:r>
            <a:r>
              <a:rPr lang="pl-PL" sz="2000" kern="0" dirty="0" err="1">
                <a:solidFill>
                  <a:srgbClr val="464749"/>
                </a:solidFill>
                <a:latin typeface="Frutiger 45 Light" panose="020B0603020202020204" pitchFamily="34" charset="0"/>
              </a:rPr>
              <a:t>generation</a:t>
            </a:r>
            <a:r>
              <a:rPr lang="pl-PL" sz="2000" kern="0" dirty="0">
                <a:solidFill>
                  <a:srgbClr val="464749"/>
                </a:solidFill>
                <a:latin typeface="Frutiger 45 Light" panose="020B0603020202020204" pitchFamily="34" charset="0"/>
              </a:rPr>
              <a:t> </a:t>
            </a:r>
            <a:r>
              <a:rPr lang="pl-PL" sz="2000" kern="0" dirty="0" err="1">
                <a:solidFill>
                  <a:srgbClr val="464749"/>
                </a:solidFill>
                <a:latin typeface="Frutiger 45 Light" panose="020B0603020202020204" pitchFamily="34" charset="0"/>
              </a:rPr>
              <a:t>example</a:t>
            </a:r>
            <a:endParaRPr lang="en-US" sz="2000" kern="0" dirty="0">
              <a:solidFill>
                <a:srgbClr val="464749"/>
              </a:solidFill>
              <a:latin typeface="Frutiger 45 Light" panose="020B0603020202020204" pitchFamily="34" charset="0"/>
            </a:endParaRPr>
          </a:p>
        </p:txBody>
      </p:sp>
      <p:sp>
        <p:nvSpPr>
          <p:cNvPr id="5" name="TextBox 4">
            <a:extLst>
              <a:ext uri="{FF2B5EF4-FFF2-40B4-BE49-F238E27FC236}">
                <a16:creationId xmlns:a16="http://schemas.microsoft.com/office/drawing/2014/main" id="{1C7DF487-7555-B861-EF01-AA40BDF2E8BA}"/>
              </a:ext>
            </a:extLst>
          </p:cNvPr>
          <p:cNvSpPr txBox="1"/>
          <p:nvPr/>
        </p:nvSpPr>
        <p:spPr>
          <a:xfrm>
            <a:off x="4572000" y="3313355"/>
            <a:ext cx="914400" cy="914400"/>
          </a:xfrm>
          <a:prstGeom prst="rect">
            <a:avLst/>
          </a:prstGeom>
          <a:noFill/>
        </p:spPr>
        <p:txBody>
          <a:bodyPr wrap="square" lIns="0" tIns="0" rIns="0" bIns="0" rtlCol="0">
            <a:noAutofit/>
          </a:bodyPr>
          <a:lstStyle/>
          <a:p>
            <a:endParaRPr lang="en-GB" dirty="0"/>
          </a:p>
        </p:txBody>
      </p:sp>
      <p:sp>
        <p:nvSpPr>
          <p:cNvPr id="6" name="TextBox 5">
            <a:extLst>
              <a:ext uri="{FF2B5EF4-FFF2-40B4-BE49-F238E27FC236}">
                <a16:creationId xmlns:a16="http://schemas.microsoft.com/office/drawing/2014/main" id="{77EA3F79-CDDC-E03B-39ED-2A99BF8BE3A4}"/>
              </a:ext>
            </a:extLst>
          </p:cNvPr>
          <p:cNvSpPr txBox="1"/>
          <p:nvPr/>
        </p:nvSpPr>
        <p:spPr>
          <a:xfrm>
            <a:off x="10919012" y="5357308"/>
            <a:ext cx="914400" cy="914400"/>
          </a:xfrm>
          <a:prstGeom prst="rect">
            <a:avLst/>
          </a:prstGeom>
          <a:noFill/>
        </p:spPr>
        <p:txBody>
          <a:bodyPr wrap="none" lIns="0" tIns="0" rIns="0" bIns="0" rtlCol="0">
            <a:noAutofit/>
          </a:bodyPr>
          <a:lstStyle/>
          <a:p>
            <a:endParaRPr lang="en-GB" dirty="0"/>
          </a:p>
        </p:txBody>
      </p:sp>
    </p:spTree>
    <p:extLst>
      <p:ext uri="{BB962C8B-B14F-4D97-AF65-F5344CB8AC3E}">
        <p14:creationId xmlns:p14="http://schemas.microsoft.com/office/powerpoint/2010/main" val="356107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0" grpId="0"/>
      <p:bldP spid="21" grpId="0"/>
      <p:bldP spid="22" grpId="0"/>
      <p:bldP spid="24" grpId="0"/>
      <p:bldP spid="4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AGE HEADING"/>
          <p:cNvSpPr>
            <a:spLocks noGrp="1"/>
          </p:cNvSpPr>
          <p:nvPr>
            <p:ph type="title"/>
            <p:custDataLst>
              <p:tags r:id="rId2"/>
            </p:custDataLst>
          </p:nvPr>
        </p:nvSpPr>
        <p:spPr/>
        <p:txBody>
          <a:bodyPr>
            <a:normAutofit/>
          </a:bodyPr>
          <a:lstStyle/>
          <a:p>
            <a:r>
              <a:rPr lang="en-US" dirty="0"/>
              <a:t>Modelling Counterparty Credit Risk</a:t>
            </a:r>
          </a:p>
        </p:txBody>
      </p:sp>
      <p:sp>
        <p:nvSpPr>
          <p:cNvPr id="4" name="TextBox 3"/>
          <p:cNvSpPr txBox="1"/>
          <p:nvPr>
            <p:custDataLst>
              <p:tags r:id="rId3"/>
            </p:custDataLst>
          </p:nvPr>
        </p:nvSpPr>
        <p:spPr>
          <a:xfrm>
            <a:off x="420624" y="1120775"/>
            <a:ext cx="9189720" cy="274320"/>
          </a:xfrm>
          <a:prstGeom prst="rect">
            <a:avLst/>
          </a:prstGeom>
          <a:noFill/>
        </p:spPr>
        <p:txBody>
          <a:bodyPr vert="horz" wrap="square" lIns="0" tIns="0" rIns="0" bIns="0" rtlCol="0" anchor="t">
            <a:noAutofit/>
          </a:bodyPr>
          <a:lstStyle/>
          <a:p>
            <a:pPr eaLnBrk="1">
              <a:spcBef>
                <a:spcPts val="0"/>
              </a:spcBef>
              <a:spcAft>
                <a:spcPts val="600"/>
              </a:spcAft>
            </a:pPr>
            <a:r>
              <a:rPr lang="pl-PL" sz="2000" kern="0" dirty="0" err="1">
                <a:solidFill>
                  <a:srgbClr val="464749"/>
                </a:solidFill>
                <a:latin typeface="Frutiger 45 Light" panose="020B0603020202020204" pitchFamily="34" charset="0"/>
              </a:rPr>
              <a:t>Stochastic</a:t>
            </a:r>
            <a:r>
              <a:rPr lang="pl-PL" sz="2000" kern="0" dirty="0">
                <a:solidFill>
                  <a:srgbClr val="464749"/>
                </a:solidFill>
                <a:latin typeface="Frutiger 45 Light" panose="020B0603020202020204" pitchFamily="34" charset="0"/>
              </a:rPr>
              <a:t> </a:t>
            </a:r>
            <a:r>
              <a:rPr lang="pl-PL" sz="2000" kern="0" dirty="0" err="1">
                <a:solidFill>
                  <a:srgbClr val="464749"/>
                </a:solidFill>
                <a:latin typeface="Frutiger 45 Light" panose="020B0603020202020204" pitchFamily="34" charset="0"/>
              </a:rPr>
              <a:t>process</a:t>
            </a:r>
            <a:r>
              <a:rPr lang="pl-PL" sz="2000" kern="0" dirty="0">
                <a:solidFill>
                  <a:srgbClr val="464749"/>
                </a:solidFill>
                <a:latin typeface="Frutiger 45 Light" panose="020B0603020202020204" pitchFamily="34" charset="0"/>
              </a:rPr>
              <a:t> </a:t>
            </a:r>
            <a:r>
              <a:rPr lang="pl-PL" sz="2000" kern="0" dirty="0" err="1">
                <a:solidFill>
                  <a:srgbClr val="464749"/>
                </a:solidFill>
                <a:latin typeface="Frutiger 45 Light" panose="020B0603020202020204" pitchFamily="34" charset="0"/>
              </a:rPr>
              <a:t>path</a:t>
            </a:r>
            <a:r>
              <a:rPr lang="pl-PL" sz="2000" kern="0" dirty="0">
                <a:solidFill>
                  <a:srgbClr val="464749"/>
                </a:solidFill>
                <a:latin typeface="Frutiger 45 Light" panose="020B0603020202020204" pitchFamily="34" charset="0"/>
              </a:rPr>
              <a:t> </a:t>
            </a:r>
            <a:r>
              <a:rPr lang="pl-PL" sz="2000" kern="0" dirty="0" err="1">
                <a:solidFill>
                  <a:srgbClr val="464749"/>
                </a:solidFill>
                <a:latin typeface="Frutiger 45 Light" panose="020B0603020202020204" pitchFamily="34" charset="0"/>
              </a:rPr>
              <a:t>generation</a:t>
            </a:r>
            <a:r>
              <a:rPr lang="pl-PL" sz="2000" kern="0" dirty="0">
                <a:solidFill>
                  <a:srgbClr val="464749"/>
                </a:solidFill>
                <a:latin typeface="Frutiger 45 Light" panose="020B0603020202020204" pitchFamily="34" charset="0"/>
              </a:rPr>
              <a:t> – </a:t>
            </a:r>
            <a:r>
              <a:rPr lang="pl-PL" sz="2000" kern="0" dirty="0" err="1">
                <a:solidFill>
                  <a:srgbClr val="464749"/>
                </a:solidFill>
                <a:latin typeface="Frutiger 45 Light" panose="020B0603020202020204" pitchFamily="34" charset="0"/>
              </a:rPr>
              <a:t>general</a:t>
            </a:r>
            <a:r>
              <a:rPr lang="pl-PL" sz="2000" kern="0" dirty="0">
                <a:solidFill>
                  <a:srgbClr val="464749"/>
                </a:solidFill>
                <a:latin typeface="Frutiger 45 Light" panose="020B0603020202020204" pitchFamily="34" charset="0"/>
              </a:rPr>
              <a:t> </a:t>
            </a:r>
            <a:r>
              <a:rPr lang="pl-PL" sz="2000" kern="0" dirty="0" err="1">
                <a:solidFill>
                  <a:srgbClr val="464749"/>
                </a:solidFill>
                <a:latin typeface="Frutiger 45 Light" panose="020B0603020202020204" pitchFamily="34" charset="0"/>
              </a:rPr>
              <a:t>recipe</a:t>
            </a:r>
            <a:endParaRPr lang="en-US" sz="2000" kern="0" dirty="0">
              <a:solidFill>
                <a:srgbClr val="464749"/>
              </a:solidFill>
              <a:latin typeface="Frutiger 45 Light" panose="020B0603020202020204" pitchFamily="34" charset="0"/>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1313426E-C902-410F-BCC5-D4BF2B7DC6B4}"/>
                  </a:ext>
                </a:extLst>
              </p:cNvPr>
              <p:cNvSpPr txBox="1"/>
              <p:nvPr>
                <p:custDataLst>
                  <p:tags r:id="rId4"/>
                </p:custDataLst>
              </p:nvPr>
            </p:nvSpPr>
            <p:spPr>
              <a:xfrm>
                <a:off x="420624" y="1809539"/>
                <a:ext cx="9189720" cy="4974319"/>
              </a:xfrm>
              <a:prstGeom prst="rect">
                <a:avLst/>
              </a:prstGeom>
              <a:noFill/>
            </p:spPr>
            <p:txBody>
              <a:bodyPr vert="horz" wrap="square" lIns="0" tIns="0" rIns="0" bIns="0" rtlCol="0" anchor="t">
                <a:noAutofit/>
              </a:bodyPr>
              <a:lstStyle/>
              <a:p>
                <a:r>
                  <a:rPr lang="pl-PL" altLang="zh-TW" dirty="0">
                    <a:latin typeface="Frutiger 45 Light" panose="020B0603020202020204" pitchFamily="34" charset="0"/>
                  </a:rPr>
                  <a:t>How do we </a:t>
                </a:r>
                <a:r>
                  <a:rPr lang="pl-PL" altLang="zh-TW" dirty="0" err="1">
                    <a:latin typeface="Frutiger 45 Light" panose="020B0603020202020204" pitchFamily="34" charset="0"/>
                  </a:rPr>
                  <a:t>discretize</a:t>
                </a:r>
                <a:r>
                  <a:rPr lang="pl-PL" altLang="zh-TW" dirty="0">
                    <a:latin typeface="Frutiger 45 Light" panose="020B0603020202020204" pitchFamily="34" charset="0"/>
                  </a:rPr>
                  <a:t> and </a:t>
                </a:r>
                <a:r>
                  <a:rPr lang="pl-PL" altLang="zh-TW" dirty="0" err="1">
                    <a:latin typeface="Frutiger 45 Light" panose="020B0603020202020204" pitchFamily="34" charset="0"/>
                  </a:rPr>
                  <a:t>simulate</a:t>
                </a:r>
                <a:r>
                  <a:rPr lang="pl-PL" altLang="zh-TW" dirty="0">
                    <a:latin typeface="Frutiger 45 Light" panose="020B0603020202020204" pitchFamily="34" charset="0"/>
                  </a:rPr>
                  <a:t> a </a:t>
                </a:r>
                <a:r>
                  <a:rPr lang="pl-PL" altLang="zh-TW" dirty="0" err="1">
                    <a:latin typeface="Frutiger 45 Light" panose="020B0603020202020204" pitchFamily="34" charset="0"/>
                  </a:rPr>
                  <a:t>stochastic</a:t>
                </a:r>
                <a:r>
                  <a:rPr lang="pl-PL" altLang="zh-TW" dirty="0">
                    <a:latin typeface="Frutiger 45 Light" panose="020B0603020202020204" pitchFamily="34" charset="0"/>
                  </a:rPr>
                  <a:t> </a:t>
                </a:r>
                <a:r>
                  <a:rPr lang="pl-PL" altLang="zh-TW" dirty="0" err="1">
                    <a:latin typeface="Frutiger 45 Light" panose="020B0603020202020204" pitchFamily="34" charset="0"/>
                  </a:rPr>
                  <a:t>process</a:t>
                </a:r>
                <a:r>
                  <a:rPr lang="pl-PL" altLang="zh-TW" dirty="0">
                    <a:latin typeface="Frutiger 45 Light" panose="020B0603020202020204" pitchFamily="34" charset="0"/>
                  </a:rPr>
                  <a:t> in </a:t>
                </a:r>
                <a:r>
                  <a:rPr lang="pl-PL" altLang="zh-TW" dirty="0" err="1">
                    <a:latin typeface="Frutiger 45 Light" panose="020B0603020202020204" pitchFamily="34" charset="0"/>
                  </a:rPr>
                  <a:t>general</a:t>
                </a:r>
                <a:r>
                  <a:rPr lang="pl-PL" altLang="zh-TW" dirty="0">
                    <a:latin typeface="Frutiger 45 Light" panose="020B0603020202020204" pitchFamily="34" charset="0"/>
                  </a:rPr>
                  <a:t>?</a:t>
                </a:r>
              </a:p>
              <a:p>
                <a:endParaRPr lang="pl-PL" altLang="zh-TW" sz="2000" dirty="0">
                  <a:latin typeface="Frutiger 45 Light" panose="020B0603020202020204" pitchFamily="34" charset="0"/>
                </a:endParaRPr>
              </a:p>
              <a:p>
                <a:pPr/>
                <a14:m>
                  <m:oMathPara xmlns:m="http://schemas.openxmlformats.org/officeDocument/2006/math">
                    <m:oMathParaPr>
                      <m:jc m:val="centerGroup"/>
                    </m:oMathParaPr>
                    <m:oMath xmlns:m="http://schemas.openxmlformats.org/officeDocument/2006/math">
                      <m:r>
                        <a:rPr lang="pl-PL" altLang="zh-TW" sz="2000" b="0" i="1" smtClean="0">
                          <a:latin typeface="Cambria Math" panose="02040503050406030204" pitchFamily="18" charset="0"/>
                        </a:rPr>
                        <m:t>𝑑𝑋</m:t>
                      </m:r>
                      <m:d>
                        <m:dPr>
                          <m:ctrlPr>
                            <a:rPr lang="pl-PL" altLang="zh-TW" sz="2000" b="0" i="1" smtClean="0">
                              <a:latin typeface="Cambria Math" panose="02040503050406030204" pitchFamily="18" charset="0"/>
                            </a:rPr>
                          </m:ctrlPr>
                        </m:dPr>
                        <m:e>
                          <m:r>
                            <a:rPr lang="pl-PL" altLang="zh-TW" sz="2000" b="0" i="1" smtClean="0">
                              <a:latin typeface="Cambria Math" panose="02040503050406030204" pitchFamily="18" charset="0"/>
                            </a:rPr>
                            <m:t>𝑡</m:t>
                          </m:r>
                        </m:e>
                      </m:d>
                      <m:r>
                        <a:rPr lang="pl-PL" altLang="zh-TW" sz="2000" b="0" i="1" smtClean="0">
                          <a:latin typeface="Cambria Math" panose="02040503050406030204" pitchFamily="18" charset="0"/>
                        </a:rPr>
                        <m:t>=</m:t>
                      </m:r>
                      <m:r>
                        <a:rPr lang="pl-PL" altLang="zh-TW" sz="2000" b="0" i="1" smtClean="0">
                          <a:latin typeface="Cambria Math" panose="02040503050406030204" pitchFamily="18" charset="0"/>
                        </a:rPr>
                        <m:t>𝑎</m:t>
                      </m:r>
                      <m:r>
                        <a:rPr lang="pl-PL" altLang="zh-TW" sz="2000" b="0" i="1" smtClean="0">
                          <a:latin typeface="Cambria Math" panose="02040503050406030204" pitchFamily="18" charset="0"/>
                        </a:rPr>
                        <m:t>(</m:t>
                      </m:r>
                      <m:r>
                        <a:rPr lang="pl-PL" altLang="zh-TW" sz="2000" b="0" i="1" smtClean="0">
                          <a:latin typeface="Cambria Math" panose="02040503050406030204" pitchFamily="18" charset="0"/>
                        </a:rPr>
                        <m:t>𝑋</m:t>
                      </m:r>
                      <m:d>
                        <m:dPr>
                          <m:ctrlPr>
                            <a:rPr lang="pl-PL" altLang="zh-TW" sz="2000" b="0" i="1" smtClean="0">
                              <a:latin typeface="Cambria Math" panose="02040503050406030204" pitchFamily="18" charset="0"/>
                            </a:rPr>
                          </m:ctrlPr>
                        </m:dPr>
                        <m:e>
                          <m:r>
                            <a:rPr lang="pl-PL" altLang="zh-TW" sz="2000" b="0" i="1" smtClean="0">
                              <a:latin typeface="Cambria Math" panose="02040503050406030204" pitchFamily="18" charset="0"/>
                            </a:rPr>
                            <m:t>𝑡</m:t>
                          </m:r>
                        </m:e>
                      </m:d>
                      <m:r>
                        <a:rPr lang="pl-PL" altLang="zh-TW" sz="2000" b="0" i="1" smtClean="0">
                          <a:latin typeface="Cambria Math" panose="02040503050406030204" pitchFamily="18" charset="0"/>
                        </a:rPr>
                        <m:t>)</m:t>
                      </m:r>
                      <m:r>
                        <a:rPr lang="pl-PL" altLang="zh-TW" sz="2000" b="0" i="1" smtClean="0">
                          <a:latin typeface="Cambria Math" panose="02040503050406030204" pitchFamily="18" charset="0"/>
                        </a:rPr>
                        <m:t>𝑑𝑡</m:t>
                      </m:r>
                      <m:r>
                        <a:rPr lang="pl-PL" altLang="zh-TW" sz="2000" b="0" i="1" smtClean="0">
                          <a:latin typeface="Cambria Math" panose="02040503050406030204" pitchFamily="18" charset="0"/>
                        </a:rPr>
                        <m:t>+</m:t>
                      </m:r>
                      <m:r>
                        <a:rPr lang="pl-PL" altLang="zh-TW" sz="2000" b="0" i="1" smtClean="0">
                          <a:latin typeface="Cambria Math" panose="02040503050406030204" pitchFamily="18" charset="0"/>
                        </a:rPr>
                        <m:t>𝑏</m:t>
                      </m:r>
                      <m:r>
                        <a:rPr lang="pl-PL" altLang="zh-TW" sz="2000" b="0" i="1" smtClean="0">
                          <a:latin typeface="Cambria Math" panose="02040503050406030204" pitchFamily="18" charset="0"/>
                        </a:rPr>
                        <m:t>(</m:t>
                      </m:r>
                      <m:r>
                        <a:rPr lang="pl-PL" altLang="zh-TW" sz="2000" b="0" i="1" smtClean="0">
                          <a:latin typeface="Cambria Math" panose="02040503050406030204" pitchFamily="18" charset="0"/>
                        </a:rPr>
                        <m:t>𝑋</m:t>
                      </m:r>
                      <m:d>
                        <m:dPr>
                          <m:ctrlPr>
                            <a:rPr lang="pl-PL" altLang="zh-TW" sz="2000" b="0" i="1" smtClean="0">
                              <a:latin typeface="Cambria Math" panose="02040503050406030204" pitchFamily="18" charset="0"/>
                            </a:rPr>
                          </m:ctrlPr>
                        </m:dPr>
                        <m:e>
                          <m:r>
                            <a:rPr lang="pl-PL" altLang="zh-TW" sz="2000" b="0" i="1" smtClean="0">
                              <a:latin typeface="Cambria Math" panose="02040503050406030204" pitchFamily="18" charset="0"/>
                            </a:rPr>
                            <m:t>𝑡</m:t>
                          </m:r>
                        </m:e>
                      </m:d>
                      <m:r>
                        <a:rPr lang="pl-PL" altLang="zh-TW" sz="2000" b="0" i="1" smtClean="0">
                          <a:latin typeface="Cambria Math" panose="02040503050406030204" pitchFamily="18" charset="0"/>
                        </a:rPr>
                        <m:t>) </m:t>
                      </m:r>
                      <m:r>
                        <a:rPr lang="pl-PL" altLang="zh-TW" sz="2000" b="0" i="1" smtClean="0">
                          <a:latin typeface="Cambria Math" panose="02040503050406030204" pitchFamily="18" charset="0"/>
                        </a:rPr>
                        <m:t>𝑑𝑊</m:t>
                      </m:r>
                      <m:d>
                        <m:dPr>
                          <m:ctrlPr>
                            <a:rPr lang="pl-PL" altLang="zh-TW" sz="2000" b="0" i="1" smtClean="0">
                              <a:latin typeface="Cambria Math" panose="02040503050406030204" pitchFamily="18" charset="0"/>
                            </a:rPr>
                          </m:ctrlPr>
                        </m:dPr>
                        <m:e>
                          <m:r>
                            <a:rPr lang="pl-PL" altLang="zh-TW" sz="2000" b="0" i="1" smtClean="0">
                              <a:latin typeface="Cambria Math" panose="02040503050406030204" pitchFamily="18" charset="0"/>
                            </a:rPr>
                            <m:t>𝑡</m:t>
                          </m:r>
                        </m:e>
                      </m:d>
                      <m:r>
                        <a:rPr lang="pl-PL" altLang="zh-TW" sz="2000" b="0" i="1" smtClean="0">
                          <a:latin typeface="Cambria Math" panose="02040503050406030204" pitchFamily="18" charset="0"/>
                        </a:rPr>
                        <m:t>,  </m:t>
                      </m:r>
                      <m:r>
                        <a:rPr lang="pl-PL" altLang="zh-TW" sz="2000" b="0" i="1" smtClean="0">
                          <a:latin typeface="Cambria Math" panose="02040503050406030204" pitchFamily="18" charset="0"/>
                        </a:rPr>
                        <m:t>𝑋</m:t>
                      </m:r>
                      <m:d>
                        <m:dPr>
                          <m:ctrlPr>
                            <a:rPr lang="pl-PL" altLang="zh-TW" sz="2000" b="0" i="1" smtClean="0">
                              <a:latin typeface="Cambria Math" panose="02040503050406030204" pitchFamily="18" charset="0"/>
                            </a:rPr>
                          </m:ctrlPr>
                        </m:dPr>
                        <m:e>
                          <m:r>
                            <a:rPr lang="pl-PL" altLang="zh-TW" sz="2000" b="0" i="1" smtClean="0">
                              <a:latin typeface="Cambria Math" panose="02040503050406030204" pitchFamily="18" charset="0"/>
                            </a:rPr>
                            <m:t>0</m:t>
                          </m:r>
                        </m:e>
                      </m:d>
                      <m:r>
                        <a:rPr lang="pl-PL" altLang="zh-TW" sz="2000" b="0" i="1" smtClean="0">
                          <a:latin typeface="Cambria Math" panose="02040503050406030204" pitchFamily="18" charset="0"/>
                        </a:rPr>
                        <m:t>=</m:t>
                      </m:r>
                      <m:sSub>
                        <m:sSubPr>
                          <m:ctrlPr>
                            <a:rPr lang="pt-BR" altLang="zh-TW" sz="2000" b="0" i="1" smtClean="0">
                              <a:latin typeface="Cambria Math" panose="02040503050406030204" pitchFamily="18" charset="0"/>
                            </a:rPr>
                          </m:ctrlPr>
                        </m:sSubPr>
                        <m:e>
                          <m:r>
                            <a:rPr lang="pl-PL" altLang="zh-TW" sz="2000" b="0" i="1" smtClean="0">
                              <a:latin typeface="Cambria Math" panose="02040503050406030204" pitchFamily="18" charset="0"/>
                            </a:rPr>
                            <m:t>𝑋</m:t>
                          </m:r>
                        </m:e>
                        <m:sub>
                          <m:r>
                            <a:rPr lang="pt-BR" altLang="zh-TW" sz="2000" b="0" i="1" smtClean="0">
                              <a:latin typeface="Cambria Math" panose="02040503050406030204" pitchFamily="18" charset="0"/>
                            </a:rPr>
                            <m:t>0</m:t>
                          </m:r>
                        </m:sub>
                      </m:sSub>
                    </m:oMath>
                  </m:oMathPara>
                </a14:m>
                <a:endParaRPr lang="pl-PL" altLang="zh-TW" sz="2000" dirty="0">
                  <a:latin typeface="Frutiger 45 Light" panose="020B0603020202020204" pitchFamily="34" charset="0"/>
                </a:endParaRPr>
              </a:p>
              <a:p>
                <a:endParaRPr lang="pl-PL" altLang="zh-TW" sz="2000" dirty="0">
                  <a:latin typeface="Frutiger 45 Light" panose="020B0603020202020204" pitchFamily="34" charset="0"/>
                </a:endParaRPr>
              </a:p>
              <a:p>
                <a:r>
                  <a:rPr lang="pl-PL" altLang="zh-TW" dirty="0">
                    <a:latin typeface="Frutiger 45 Light" panose="020B0603020202020204" pitchFamily="34" charset="0"/>
                  </a:rPr>
                  <a:t>The </a:t>
                </a:r>
                <a:r>
                  <a:rPr lang="pl-PL" altLang="zh-TW" dirty="0" err="1">
                    <a:latin typeface="Frutiger 45 Light" panose="020B0603020202020204" pitchFamily="34" charset="0"/>
                  </a:rPr>
                  <a:t>Euler</a:t>
                </a:r>
                <a:r>
                  <a:rPr lang="pl-PL" altLang="zh-TW" dirty="0">
                    <a:latin typeface="Frutiger 45 Light" panose="020B0603020202020204" pitchFamily="34" charset="0"/>
                  </a:rPr>
                  <a:t> </a:t>
                </a:r>
                <a:r>
                  <a:rPr lang="pl-PL" altLang="zh-TW" dirty="0" err="1">
                    <a:latin typeface="Frutiger 45 Light" panose="020B0603020202020204" pitchFamily="34" charset="0"/>
                  </a:rPr>
                  <a:t>discretization</a:t>
                </a:r>
                <a:r>
                  <a:rPr lang="pl-PL" altLang="zh-TW" dirty="0">
                    <a:latin typeface="Frutiger 45 Light" panose="020B0603020202020204" pitchFamily="34" charset="0"/>
                  </a:rPr>
                  <a:t> </a:t>
                </a:r>
                <a:r>
                  <a:rPr lang="pl-PL" altLang="zh-TW" dirty="0" err="1">
                    <a:latin typeface="Frutiger 45 Light" panose="020B0603020202020204" pitchFamily="34" charset="0"/>
                  </a:rPr>
                  <a:t>scheme</a:t>
                </a:r>
                <a:r>
                  <a:rPr lang="pl-PL" altLang="zh-TW" dirty="0">
                    <a:latin typeface="Frutiger 45 Light" panose="020B0603020202020204" pitchFamily="34" charset="0"/>
                  </a:rPr>
                  <a:t>:</a:t>
                </a:r>
              </a:p>
              <a:p>
                <a:endParaRPr lang="pl-PL" altLang="zh-TW" sz="2000" dirty="0">
                  <a:latin typeface="Frutiger 45 Light" panose="020B0603020202020204" pitchFamily="34" charset="0"/>
                </a:endParaRPr>
              </a:p>
              <a:p>
                <a:pPr/>
                <a14:m>
                  <m:oMathPara xmlns:m="http://schemas.openxmlformats.org/officeDocument/2006/math">
                    <m:oMathParaPr>
                      <m:jc m:val="centerGroup"/>
                    </m:oMathParaPr>
                    <m:oMath xmlns:m="http://schemas.openxmlformats.org/officeDocument/2006/math">
                      <m:acc>
                        <m:accPr>
                          <m:chr m:val="̂"/>
                          <m:ctrlPr>
                            <a:rPr lang="pt-BR" altLang="zh-TW" sz="2000" i="1" smtClean="0">
                              <a:latin typeface="Cambria Math" panose="02040503050406030204" pitchFamily="18" charset="0"/>
                            </a:rPr>
                          </m:ctrlPr>
                        </m:accPr>
                        <m:e>
                          <m:r>
                            <a:rPr lang="pl-PL" altLang="zh-TW" sz="2000" b="0" i="1" smtClean="0">
                              <a:latin typeface="Cambria Math" panose="02040503050406030204" pitchFamily="18" charset="0"/>
                            </a:rPr>
                            <m:t>𝑋</m:t>
                          </m:r>
                        </m:e>
                      </m:acc>
                      <m:d>
                        <m:dPr>
                          <m:ctrlPr>
                            <a:rPr lang="pl-PL" altLang="zh-TW" sz="2000" b="0" i="1" smtClean="0">
                              <a:latin typeface="Cambria Math" panose="02040503050406030204" pitchFamily="18" charset="0"/>
                            </a:rPr>
                          </m:ctrlPr>
                        </m:dPr>
                        <m:e>
                          <m:sSub>
                            <m:sSubPr>
                              <m:ctrlPr>
                                <a:rPr lang="pl-PL" altLang="zh-TW" sz="2000" b="0" i="1" smtClean="0">
                                  <a:latin typeface="Cambria Math" panose="02040503050406030204" pitchFamily="18" charset="0"/>
                                </a:rPr>
                              </m:ctrlPr>
                            </m:sSubPr>
                            <m:e>
                              <m:r>
                                <a:rPr lang="pl-PL" altLang="zh-TW" sz="2000" b="0" i="1" smtClean="0">
                                  <a:latin typeface="Cambria Math" panose="02040503050406030204" pitchFamily="18" charset="0"/>
                                </a:rPr>
                                <m:t>𝑡</m:t>
                              </m:r>
                            </m:e>
                            <m:sub>
                              <m:r>
                                <a:rPr lang="pl-PL" altLang="zh-TW" sz="2000" b="0" i="1" smtClean="0">
                                  <a:latin typeface="Cambria Math" panose="02040503050406030204" pitchFamily="18" charset="0"/>
                                </a:rPr>
                                <m:t>𝑖</m:t>
                              </m:r>
                              <m:r>
                                <a:rPr lang="pl-PL" altLang="zh-TW" sz="2000" b="0" i="1" smtClean="0">
                                  <a:latin typeface="Cambria Math" panose="02040503050406030204" pitchFamily="18" charset="0"/>
                                </a:rPr>
                                <m:t>+1</m:t>
                              </m:r>
                            </m:sub>
                          </m:sSub>
                        </m:e>
                      </m:d>
                      <m:r>
                        <a:rPr lang="pt-BR" altLang="zh-TW" sz="2000" i="1" smtClean="0">
                          <a:latin typeface="Cambria Math" panose="02040503050406030204" pitchFamily="18" charset="0"/>
                        </a:rPr>
                        <m:t>=</m:t>
                      </m:r>
                      <m:acc>
                        <m:accPr>
                          <m:chr m:val="̂"/>
                          <m:ctrlPr>
                            <a:rPr lang="pt-BR" altLang="zh-TW" sz="2000" i="1">
                              <a:latin typeface="Cambria Math" panose="02040503050406030204" pitchFamily="18" charset="0"/>
                            </a:rPr>
                          </m:ctrlPr>
                        </m:accPr>
                        <m:e>
                          <m:r>
                            <a:rPr lang="pl-PL" altLang="zh-TW" sz="2000" i="1">
                              <a:latin typeface="Cambria Math" panose="02040503050406030204" pitchFamily="18" charset="0"/>
                            </a:rPr>
                            <m:t>𝑋</m:t>
                          </m:r>
                        </m:e>
                      </m:acc>
                      <m:d>
                        <m:dPr>
                          <m:ctrlPr>
                            <a:rPr lang="pl-PL" altLang="zh-TW" sz="2000" i="1">
                              <a:latin typeface="Cambria Math" panose="02040503050406030204" pitchFamily="18" charset="0"/>
                            </a:rPr>
                          </m:ctrlPr>
                        </m:dPr>
                        <m:e>
                          <m:sSub>
                            <m:sSubPr>
                              <m:ctrlPr>
                                <a:rPr lang="pl-PL" altLang="zh-TW" sz="2000" i="1">
                                  <a:latin typeface="Cambria Math" panose="02040503050406030204" pitchFamily="18" charset="0"/>
                                </a:rPr>
                              </m:ctrlPr>
                            </m:sSubPr>
                            <m:e>
                              <m:r>
                                <a:rPr lang="pl-PL" altLang="zh-TW" sz="2000" i="1">
                                  <a:latin typeface="Cambria Math" panose="02040503050406030204" pitchFamily="18" charset="0"/>
                                </a:rPr>
                                <m:t>𝑡</m:t>
                              </m:r>
                            </m:e>
                            <m:sub>
                              <m:r>
                                <a:rPr lang="pl-PL" altLang="zh-TW" sz="2000" i="1">
                                  <a:latin typeface="Cambria Math" panose="02040503050406030204" pitchFamily="18" charset="0"/>
                                </a:rPr>
                                <m:t>𝑖</m:t>
                              </m:r>
                            </m:sub>
                          </m:sSub>
                        </m:e>
                      </m:d>
                      <m:r>
                        <a:rPr lang="pl-PL" altLang="zh-TW" sz="2000" b="0" i="1" smtClean="0">
                          <a:latin typeface="Cambria Math" panose="02040503050406030204" pitchFamily="18" charset="0"/>
                        </a:rPr>
                        <m:t>+</m:t>
                      </m:r>
                      <m:r>
                        <a:rPr lang="pl-PL" altLang="zh-TW" sz="2000" b="0" i="1" smtClean="0">
                          <a:latin typeface="Cambria Math" panose="02040503050406030204" pitchFamily="18" charset="0"/>
                        </a:rPr>
                        <m:t>𝑎</m:t>
                      </m:r>
                      <m:d>
                        <m:dPr>
                          <m:ctrlPr>
                            <a:rPr lang="pl-PL" altLang="zh-TW" sz="2000" b="0" i="1" smtClean="0">
                              <a:latin typeface="Cambria Math" panose="02040503050406030204" pitchFamily="18" charset="0"/>
                            </a:rPr>
                          </m:ctrlPr>
                        </m:dPr>
                        <m:e>
                          <m:acc>
                            <m:accPr>
                              <m:chr m:val="̂"/>
                              <m:ctrlPr>
                                <a:rPr lang="pt-BR" altLang="zh-TW" sz="2000" i="1">
                                  <a:latin typeface="Cambria Math" panose="02040503050406030204" pitchFamily="18" charset="0"/>
                                </a:rPr>
                              </m:ctrlPr>
                            </m:accPr>
                            <m:e>
                              <m:r>
                                <a:rPr lang="pl-PL" altLang="zh-TW" sz="2000" i="1">
                                  <a:latin typeface="Cambria Math" panose="02040503050406030204" pitchFamily="18" charset="0"/>
                                </a:rPr>
                                <m:t>𝑋</m:t>
                              </m:r>
                            </m:e>
                          </m:acc>
                          <m:d>
                            <m:dPr>
                              <m:ctrlPr>
                                <a:rPr lang="pl-PL" altLang="zh-TW" sz="2000" i="1">
                                  <a:latin typeface="Cambria Math" panose="02040503050406030204" pitchFamily="18" charset="0"/>
                                </a:rPr>
                              </m:ctrlPr>
                            </m:dPr>
                            <m:e>
                              <m:sSub>
                                <m:sSubPr>
                                  <m:ctrlPr>
                                    <a:rPr lang="pl-PL" altLang="zh-TW" sz="2000" i="1">
                                      <a:latin typeface="Cambria Math" panose="02040503050406030204" pitchFamily="18" charset="0"/>
                                    </a:rPr>
                                  </m:ctrlPr>
                                </m:sSubPr>
                                <m:e>
                                  <m:r>
                                    <a:rPr lang="pl-PL" altLang="zh-TW" sz="2000" i="1">
                                      <a:latin typeface="Cambria Math" panose="02040503050406030204" pitchFamily="18" charset="0"/>
                                    </a:rPr>
                                    <m:t>𝑡</m:t>
                                  </m:r>
                                </m:e>
                                <m:sub>
                                  <m:r>
                                    <a:rPr lang="pl-PL" altLang="zh-TW" sz="2000" i="1">
                                      <a:latin typeface="Cambria Math" panose="02040503050406030204" pitchFamily="18" charset="0"/>
                                    </a:rPr>
                                    <m:t>𝑖</m:t>
                                  </m:r>
                                </m:sub>
                              </m:sSub>
                            </m:e>
                          </m:d>
                        </m:e>
                      </m:d>
                      <m:d>
                        <m:dPr>
                          <m:ctrlPr>
                            <a:rPr lang="pl-PL" altLang="zh-TW" sz="2000" b="0" i="1" smtClean="0">
                              <a:latin typeface="Cambria Math" panose="02040503050406030204" pitchFamily="18" charset="0"/>
                            </a:rPr>
                          </m:ctrlPr>
                        </m:dPr>
                        <m:e>
                          <m:sSub>
                            <m:sSubPr>
                              <m:ctrlPr>
                                <a:rPr lang="pl-PL" altLang="zh-TW" sz="2000" i="1">
                                  <a:latin typeface="Cambria Math" panose="02040503050406030204" pitchFamily="18" charset="0"/>
                                </a:rPr>
                              </m:ctrlPr>
                            </m:sSubPr>
                            <m:e>
                              <m:r>
                                <a:rPr lang="pl-PL" altLang="zh-TW" sz="2000" i="1">
                                  <a:latin typeface="Cambria Math" panose="02040503050406030204" pitchFamily="18" charset="0"/>
                                </a:rPr>
                                <m:t>𝑡</m:t>
                              </m:r>
                            </m:e>
                            <m:sub>
                              <m:r>
                                <a:rPr lang="pl-PL" altLang="zh-TW" sz="2000" i="1">
                                  <a:latin typeface="Cambria Math" panose="02040503050406030204" pitchFamily="18" charset="0"/>
                                </a:rPr>
                                <m:t>𝑖</m:t>
                              </m:r>
                              <m:r>
                                <a:rPr lang="pl-PL" altLang="zh-TW" sz="2000" i="1">
                                  <a:latin typeface="Cambria Math" panose="02040503050406030204" pitchFamily="18" charset="0"/>
                                </a:rPr>
                                <m:t>+1</m:t>
                              </m:r>
                            </m:sub>
                          </m:sSub>
                          <m:r>
                            <a:rPr lang="pl-PL" altLang="zh-TW" sz="2000" b="0" i="1" smtClean="0">
                              <a:latin typeface="Cambria Math" panose="02040503050406030204" pitchFamily="18" charset="0"/>
                            </a:rPr>
                            <m:t>−</m:t>
                          </m:r>
                          <m:sSub>
                            <m:sSubPr>
                              <m:ctrlPr>
                                <a:rPr lang="pl-PL" altLang="zh-TW" sz="2000" i="1">
                                  <a:latin typeface="Cambria Math" panose="02040503050406030204" pitchFamily="18" charset="0"/>
                                </a:rPr>
                              </m:ctrlPr>
                            </m:sSubPr>
                            <m:e>
                              <m:r>
                                <a:rPr lang="pl-PL" altLang="zh-TW" sz="2000" i="1">
                                  <a:latin typeface="Cambria Math" panose="02040503050406030204" pitchFamily="18" charset="0"/>
                                </a:rPr>
                                <m:t>𝑡</m:t>
                              </m:r>
                            </m:e>
                            <m:sub>
                              <m:r>
                                <a:rPr lang="pl-PL" altLang="zh-TW" sz="2000" i="1">
                                  <a:latin typeface="Cambria Math" panose="02040503050406030204" pitchFamily="18" charset="0"/>
                                </a:rPr>
                                <m:t>𝑖</m:t>
                              </m:r>
                            </m:sub>
                          </m:sSub>
                        </m:e>
                      </m:d>
                      <m:r>
                        <a:rPr lang="pl-PL" altLang="zh-TW" sz="2000" b="0" i="1" smtClean="0">
                          <a:latin typeface="Cambria Math" panose="02040503050406030204" pitchFamily="18" charset="0"/>
                        </a:rPr>
                        <m:t>+</m:t>
                      </m:r>
                      <m:r>
                        <a:rPr lang="pl-PL" altLang="zh-TW" sz="2000" b="0" i="1" smtClean="0">
                          <a:latin typeface="Cambria Math" panose="02040503050406030204" pitchFamily="18" charset="0"/>
                        </a:rPr>
                        <m:t>𝑏</m:t>
                      </m:r>
                      <m:d>
                        <m:dPr>
                          <m:ctrlPr>
                            <a:rPr lang="pl-PL" altLang="zh-TW" sz="2000" i="1">
                              <a:latin typeface="Cambria Math" panose="02040503050406030204" pitchFamily="18" charset="0"/>
                            </a:rPr>
                          </m:ctrlPr>
                        </m:dPr>
                        <m:e>
                          <m:acc>
                            <m:accPr>
                              <m:chr m:val="̂"/>
                              <m:ctrlPr>
                                <a:rPr lang="pt-BR" altLang="zh-TW" sz="2000" i="1">
                                  <a:latin typeface="Cambria Math" panose="02040503050406030204" pitchFamily="18" charset="0"/>
                                </a:rPr>
                              </m:ctrlPr>
                            </m:accPr>
                            <m:e>
                              <m:r>
                                <a:rPr lang="pl-PL" altLang="zh-TW" sz="2000" i="1">
                                  <a:latin typeface="Cambria Math" panose="02040503050406030204" pitchFamily="18" charset="0"/>
                                </a:rPr>
                                <m:t>𝑋</m:t>
                              </m:r>
                            </m:e>
                          </m:acc>
                          <m:d>
                            <m:dPr>
                              <m:ctrlPr>
                                <a:rPr lang="pl-PL" altLang="zh-TW" sz="2000" i="1">
                                  <a:latin typeface="Cambria Math" panose="02040503050406030204" pitchFamily="18" charset="0"/>
                                </a:rPr>
                              </m:ctrlPr>
                            </m:dPr>
                            <m:e>
                              <m:sSub>
                                <m:sSubPr>
                                  <m:ctrlPr>
                                    <a:rPr lang="pl-PL" altLang="zh-TW" sz="2000" i="1">
                                      <a:latin typeface="Cambria Math" panose="02040503050406030204" pitchFamily="18" charset="0"/>
                                    </a:rPr>
                                  </m:ctrlPr>
                                </m:sSubPr>
                                <m:e>
                                  <m:r>
                                    <a:rPr lang="pl-PL" altLang="zh-TW" sz="2000" i="1">
                                      <a:latin typeface="Cambria Math" panose="02040503050406030204" pitchFamily="18" charset="0"/>
                                    </a:rPr>
                                    <m:t>𝑡</m:t>
                                  </m:r>
                                </m:e>
                                <m:sub>
                                  <m:r>
                                    <a:rPr lang="pl-PL" altLang="zh-TW" sz="2000" i="1">
                                      <a:latin typeface="Cambria Math" panose="02040503050406030204" pitchFamily="18" charset="0"/>
                                    </a:rPr>
                                    <m:t>𝑖</m:t>
                                  </m:r>
                                </m:sub>
                              </m:sSub>
                            </m:e>
                          </m:d>
                        </m:e>
                      </m:d>
                      <m:rad>
                        <m:radPr>
                          <m:degHide m:val="on"/>
                          <m:ctrlPr>
                            <a:rPr lang="pl-PL" altLang="zh-TW" sz="2000" i="1" smtClean="0">
                              <a:latin typeface="Cambria Math" panose="02040503050406030204" pitchFamily="18" charset="0"/>
                            </a:rPr>
                          </m:ctrlPr>
                        </m:radPr>
                        <m:deg/>
                        <m:e>
                          <m:d>
                            <m:dPr>
                              <m:ctrlPr>
                                <a:rPr lang="pl-PL" altLang="zh-TW" sz="2000" i="1">
                                  <a:latin typeface="Cambria Math" panose="02040503050406030204" pitchFamily="18" charset="0"/>
                                </a:rPr>
                              </m:ctrlPr>
                            </m:dPr>
                            <m:e>
                              <m:sSub>
                                <m:sSubPr>
                                  <m:ctrlPr>
                                    <a:rPr lang="pl-PL" altLang="zh-TW" sz="2000" i="1">
                                      <a:latin typeface="Cambria Math" panose="02040503050406030204" pitchFamily="18" charset="0"/>
                                    </a:rPr>
                                  </m:ctrlPr>
                                </m:sSubPr>
                                <m:e>
                                  <m:r>
                                    <a:rPr lang="pl-PL" altLang="zh-TW" sz="2000" i="1">
                                      <a:latin typeface="Cambria Math" panose="02040503050406030204" pitchFamily="18" charset="0"/>
                                    </a:rPr>
                                    <m:t>𝑡</m:t>
                                  </m:r>
                                </m:e>
                                <m:sub>
                                  <m:r>
                                    <a:rPr lang="pl-PL" altLang="zh-TW" sz="2000" i="1">
                                      <a:latin typeface="Cambria Math" panose="02040503050406030204" pitchFamily="18" charset="0"/>
                                    </a:rPr>
                                    <m:t>𝑖</m:t>
                                  </m:r>
                                  <m:r>
                                    <a:rPr lang="pl-PL" altLang="zh-TW" sz="2000" i="1">
                                      <a:latin typeface="Cambria Math" panose="02040503050406030204" pitchFamily="18" charset="0"/>
                                    </a:rPr>
                                    <m:t>+1</m:t>
                                  </m:r>
                                </m:sub>
                              </m:sSub>
                              <m:r>
                                <a:rPr lang="pl-PL" altLang="zh-TW" sz="2000" i="1">
                                  <a:latin typeface="Cambria Math" panose="02040503050406030204" pitchFamily="18" charset="0"/>
                                </a:rPr>
                                <m:t>−</m:t>
                              </m:r>
                              <m:sSub>
                                <m:sSubPr>
                                  <m:ctrlPr>
                                    <a:rPr lang="pl-PL" altLang="zh-TW" sz="2000" i="1">
                                      <a:latin typeface="Cambria Math" panose="02040503050406030204" pitchFamily="18" charset="0"/>
                                    </a:rPr>
                                  </m:ctrlPr>
                                </m:sSubPr>
                                <m:e>
                                  <m:r>
                                    <a:rPr lang="pl-PL" altLang="zh-TW" sz="2000" i="1">
                                      <a:latin typeface="Cambria Math" panose="02040503050406030204" pitchFamily="18" charset="0"/>
                                    </a:rPr>
                                    <m:t>𝑡</m:t>
                                  </m:r>
                                </m:e>
                                <m:sub>
                                  <m:r>
                                    <a:rPr lang="pl-PL" altLang="zh-TW" sz="2000" i="1">
                                      <a:latin typeface="Cambria Math" panose="02040503050406030204" pitchFamily="18" charset="0"/>
                                    </a:rPr>
                                    <m:t>𝑖</m:t>
                                  </m:r>
                                </m:sub>
                              </m:sSub>
                            </m:e>
                          </m:d>
                        </m:e>
                      </m:rad>
                      <m:sSub>
                        <m:sSubPr>
                          <m:ctrlPr>
                            <a:rPr lang="pl-PL" altLang="zh-TW" sz="2000" i="1" smtClean="0">
                              <a:latin typeface="Cambria Math" panose="02040503050406030204" pitchFamily="18" charset="0"/>
                            </a:rPr>
                          </m:ctrlPr>
                        </m:sSubPr>
                        <m:e>
                          <m:r>
                            <a:rPr lang="pl-PL" altLang="zh-TW" sz="2000" b="0" i="1" smtClean="0">
                              <a:latin typeface="Cambria Math" panose="02040503050406030204" pitchFamily="18" charset="0"/>
                            </a:rPr>
                            <m:t>𝑍</m:t>
                          </m:r>
                        </m:e>
                        <m:sub>
                          <m:r>
                            <a:rPr lang="pl-PL" altLang="zh-TW" sz="2000" b="0" i="1" smtClean="0">
                              <a:latin typeface="Cambria Math" panose="02040503050406030204" pitchFamily="18" charset="0"/>
                            </a:rPr>
                            <m:t>𝑖</m:t>
                          </m:r>
                          <m:r>
                            <a:rPr lang="pl-PL" altLang="zh-TW" sz="2000" b="0" i="1" smtClean="0">
                              <a:latin typeface="Cambria Math" panose="02040503050406030204" pitchFamily="18" charset="0"/>
                            </a:rPr>
                            <m:t>+1</m:t>
                          </m:r>
                        </m:sub>
                      </m:sSub>
                      <m:r>
                        <a:rPr lang="pl-PL" altLang="zh-TW" sz="2000" b="0" i="1" smtClean="0">
                          <a:latin typeface="Cambria Math" panose="02040503050406030204" pitchFamily="18" charset="0"/>
                        </a:rPr>
                        <m:t>,</m:t>
                      </m:r>
                    </m:oMath>
                  </m:oMathPara>
                </a14:m>
                <a:endParaRPr lang="pl-PL" altLang="zh-TW" sz="2000" b="0" dirty="0">
                  <a:latin typeface="Frutiger 45 Light" panose="020B0603020202020204" pitchFamily="34" charset="0"/>
                </a:endParaRPr>
              </a:p>
              <a:p>
                <a:pPr/>
                <a14:m>
                  <m:oMathPara xmlns:m="http://schemas.openxmlformats.org/officeDocument/2006/math">
                    <m:oMathParaPr>
                      <m:jc m:val="centerGroup"/>
                    </m:oMathParaPr>
                    <m:oMath xmlns:m="http://schemas.openxmlformats.org/officeDocument/2006/math">
                      <m:r>
                        <a:rPr lang="pl-PL" altLang="zh-TW" sz="2000" b="0" i="1" smtClean="0">
                          <a:latin typeface="Cambria Math" panose="02040503050406030204" pitchFamily="18" charset="0"/>
                        </a:rPr>
                        <m:t>𝑖</m:t>
                      </m:r>
                      <m:r>
                        <a:rPr lang="pl-PL" altLang="zh-TW" sz="2000" b="0" i="1" smtClean="0">
                          <a:latin typeface="Cambria Math" panose="02040503050406030204" pitchFamily="18" charset="0"/>
                        </a:rPr>
                        <m:t>=0,…,</m:t>
                      </m:r>
                      <m:r>
                        <a:rPr lang="pl-PL" altLang="zh-TW" sz="2000" b="0" i="1" smtClean="0">
                          <a:latin typeface="Cambria Math" panose="02040503050406030204" pitchFamily="18" charset="0"/>
                        </a:rPr>
                        <m:t>𝑛</m:t>
                      </m:r>
                      <m:r>
                        <a:rPr lang="pl-PL" altLang="zh-TW" sz="2000" b="0" i="1" smtClean="0">
                          <a:latin typeface="Cambria Math" panose="02040503050406030204" pitchFamily="18" charset="0"/>
                        </a:rPr>
                        <m:t>−1,  </m:t>
                      </m:r>
                      <m:sSub>
                        <m:sSubPr>
                          <m:ctrlPr>
                            <a:rPr lang="pl-PL" altLang="zh-TW" sz="2000" i="1">
                              <a:latin typeface="Cambria Math" panose="02040503050406030204" pitchFamily="18" charset="0"/>
                            </a:rPr>
                          </m:ctrlPr>
                        </m:sSubPr>
                        <m:e>
                          <m:r>
                            <a:rPr lang="pl-PL" altLang="zh-TW" sz="2000" i="1">
                              <a:latin typeface="Cambria Math" panose="02040503050406030204" pitchFamily="18" charset="0"/>
                            </a:rPr>
                            <m:t>𝑍</m:t>
                          </m:r>
                        </m:e>
                        <m:sub>
                          <m:r>
                            <a:rPr lang="pl-PL" altLang="zh-TW" sz="2000" i="1">
                              <a:latin typeface="Cambria Math" panose="02040503050406030204" pitchFamily="18" charset="0"/>
                            </a:rPr>
                            <m:t>𝑖</m:t>
                          </m:r>
                        </m:sub>
                      </m:sSub>
                      <m:r>
                        <a:rPr lang="pl-PL" altLang="zh-TW" sz="2000" b="0" i="1" smtClean="0">
                          <a:latin typeface="Cambria Math" panose="02040503050406030204" pitchFamily="18" charset="0"/>
                        </a:rPr>
                        <m:t> −</m:t>
                      </m:r>
                      <m:r>
                        <a:rPr lang="pl-PL" altLang="zh-TW" sz="2000" b="0" i="1" smtClean="0">
                          <a:latin typeface="Cambria Math" panose="02040503050406030204" pitchFamily="18" charset="0"/>
                        </a:rPr>
                        <m:t>𝑖</m:t>
                      </m:r>
                      <m:r>
                        <a:rPr lang="pl-PL" altLang="zh-TW" sz="2000" b="0" i="1" smtClean="0">
                          <a:latin typeface="Cambria Math" panose="02040503050406030204" pitchFamily="18" charset="0"/>
                        </a:rPr>
                        <m:t>.</m:t>
                      </m:r>
                      <m:r>
                        <a:rPr lang="pl-PL" altLang="zh-TW" sz="2000" b="0" i="1" smtClean="0">
                          <a:latin typeface="Cambria Math" panose="02040503050406030204" pitchFamily="18" charset="0"/>
                        </a:rPr>
                        <m:t>𝑖</m:t>
                      </m:r>
                      <m:r>
                        <a:rPr lang="pl-PL" altLang="zh-TW" sz="2000" b="0" i="1" smtClean="0">
                          <a:latin typeface="Cambria Math" panose="02040503050406030204" pitchFamily="18" charset="0"/>
                        </a:rPr>
                        <m:t>.</m:t>
                      </m:r>
                      <m:r>
                        <a:rPr lang="pl-PL" altLang="zh-TW" sz="2000" b="0" i="1" smtClean="0">
                          <a:latin typeface="Cambria Math" panose="02040503050406030204" pitchFamily="18" charset="0"/>
                        </a:rPr>
                        <m:t>𝑑</m:t>
                      </m:r>
                      <m:r>
                        <a:rPr lang="pl-PL" altLang="zh-TW" sz="2000" b="0" i="1" smtClean="0">
                          <a:latin typeface="Cambria Math" panose="02040503050406030204" pitchFamily="18" charset="0"/>
                        </a:rPr>
                        <m:t>.   </m:t>
                      </m:r>
                      <m:r>
                        <a:rPr lang="pl-PL" altLang="zh-TW" sz="2000" b="0" i="1" smtClean="0">
                          <a:latin typeface="Cambria Math" panose="02040503050406030204" pitchFamily="18" charset="0"/>
                        </a:rPr>
                        <m:t>𝑁</m:t>
                      </m:r>
                      <m:r>
                        <a:rPr lang="pl-PL" altLang="zh-TW" sz="2000" b="0" i="1" smtClean="0">
                          <a:latin typeface="Cambria Math" panose="02040503050406030204" pitchFamily="18" charset="0"/>
                        </a:rPr>
                        <m:t>(0,1)</m:t>
                      </m:r>
                    </m:oMath>
                  </m:oMathPara>
                </a14:m>
                <a:endParaRPr lang="pl-PL" altLang="zh-TW" sz="2000" dirty="0">
                  <a:latin typeface="Frutiger 45 Light" panose="020B0603020202020204" pitchFamily="34" charset="0"/>
                </a:endParaRPr>
              </a:p>
            </p:txBody>
          </p:sp>
        </mc:Choice>
        <mc:Fallback xmlns="">
          <p:sp>
            <p:nvSpPr>
              <p:cNvPr id="21" name="TextBox 20">
                <a:extLst>
                  <a:ext uri="{FF2B5EF4-FFF2-40B4-BE49-F238E27FC236}">
                    <a16:creationId xmlns:a16="http://schemas.microsoft.com/office/drawing/2014/main" id="{1313426E-C902-410F-BCC5-D4BF2B7DC6B4}"/>
                  </a:ext>
                </a:extLst>
              </p:cNvPr>
              <p:cNvSpPr txBox="1">
                <a:spLocks noRot="1" noChangeAspect="1" noMove="1" noResize="1" noEditPoints="1" noAdjustHandles="1" noChangeArrowheads="1" noChangeShapeType="1" noTextEdit="1"/>
              </p:cNvSpPr>
              <p:nvPr>
                <p:custDataLst>
                  <p:tags r:id="rId6"/>
                </p:custDataLst>
              </p:nvPr>
            </p:nvSpPr>
            <p:spPr>
              <a:xfrm>
                <a:off x="420624" y="1809539"/>
                <a:ext cx="9189720" cy="4974319"/>
              </a:xfrm>
              <a:prstGeom prst="rect">
                <a:avLst/>
              </a:prstGeom>
              <a:blipFill>
                <a:blip r:embed="rId7"/>
                <a:stretch>
                  <a:fillRect l="-1525" t="-1593"/>
                </a:stretch>
              </a:blipFill>
            </p:spPr>
            <p:txBody>
              <a:bodyPr/>
              <a:lstStyle/>
              <a:p>
                <a:r>
                  <a:rPr lang="en-GB">
                    <a:noFill/>
                  </a:rPr>
                  <a:t> </a:t>
                </a:r>
              </a:p>
            </p:txBody>
          </p:sp>
        </mc:Fallback>
      </mc:AlternateContent>
    </p:spTree>
    <p:custDataLst>
      <p:tags r:id="rId1"/>
    </p:custDataLst>
    <p:extLst>
      <p:ext uri="{BB962C8B-B14F-4D97-AF65-F5344CB8AC3E}">
        <p14:creationId xmlns:p14="http://schemas.microsoft.com/office/powerpoint/2010/main" val="4276054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C5523F61-D9C0-492D-923E-695D1381F6AE}"/>
                  </a:ext>
                </a:extLst>
              </p:cNvPr>
              <p:cNvSpPr>
                <a:spLocks noGrp="1"/>
              </p:cNvSpPr>
              <p:nvPr>
                <p:ph idx="1"/>
              </p:nvPr>
            </p:nvSpPr>
            <p:spPr>
              <a:xfrm>
                <a:off x="420624" y="1675323"/>
                <a:ext cx="9304490" cy="5270247"/>
              </a:xfrm>
            </p:spPr>
            <p:txBody>
              <a:bodyPr/>
              <a:lstStyle/>
              <a:p>
                <a:pPr marL="0" indent="0">
                  <a:buNone/>
                </a:pPr>
                <a:r>
                  <a:rPr lang="pl-PL" dirty="0">
                    <a:latin typeface="Frutiger 45 Light" panose="020B0603020202020204" pitchFamily="34" charset="0"/>
                  </a:rPr>
                  <a:t>A </a:t>
                </a:r>
                <a:r>
                  <a:rPr lang="pl-PL" dirty="0" err="1">
                    <a:latin typeface="Frutiger 45 Light" panose="020B0603020202020204" pitchFamily="34" charset="0"/>
                  </a:rPr>
                  <a:t>recipe</a:t>
                </a:r>
                <a:r>
                  <a:rPr lang="pl-PL" dirty="0">
                    <a:latin typeface="Frutiger 45 Light" panose="020B0603020202020204" pitchFamily="34" charset="0"/>
                  </a:rPr>
                  <a:t> to </a:t>
                </a:r>
                <a:r>
                  <a:rPr lang="pl-PL" dirty="0" err="1">
                    <a:latin typeface="Frutiger 45 Light" panose="020B0603020202020204" pitchFamily="34" charset="0"/>
                  </a:rPr>
                  <a:t>generate</a:t>
                </a:r>
                <a:r>
                  <a:rPr lang="pl-PL" dirty="0">
                    <a:latin typeface="Frutiger 45 Light" panose="020B0603020202020204" pitchFamily="34" charset="0"/>
                  </a:rPr>
                  <a:t> Black-</a:t>
                </a:r>
                <a:r>
                  <a:rPr lang="pl-PL" dirty="0" err="1">
                    <a:latin typeface="Frutiger 45 Light" panose="020B0603020202020204" pitchFamily="34" charset="0"/>
                  </a:rPr>
                  <a:t>Scholes</a:t>
                </a:r>
                <a:r>
                  <a:rPr lang="pl-PL" dirty="0">
                    <a:latin typeface="Frutiger 45 Light" panose="020B0603020202020204" pitchFamily="34" charset="0"/>
                  </a:rPr>
                  <a:t> </a:t>
                </a:r>
                <a:r>
                  <a:rPr lang="pl-PL" dirty="0" err="1">
                    <a:latin typeface="Frutiger 45 Light" panose="020B0603020202020204" pitchFamily="34" charset="0"/>
                  </a:rPr>
                  <a:t>stock</a:t>
                </a:r>
                <a:r>
                  <a:rPr lang="pl-PL" dirty="0">
                    <a:latin typeface="Frutiger 45 Light" panose="020B0603020202020204" pitchFamily="34" charset="0"/>
                  </a:rPr>
                  <a:t> </a:t>
                </a:r>
                <a:r>
                  <a:rPr lang="pl-PL" dirty="0" err="1">
                    <a:latin typeface="Frutiger 45 Light" panose="020B0603020202020204" pitchFamily="34" charset="0"/>
                  </a:rPr>
                  <a:t>price</a:t>
                </a:r>
                <a:r>
                  <a:rPr lang="pl-PL" dirty="0">
                    <a:latin typeface="Frutiger 45 Light" panose="020B0603020202020204" pitchFamily="34" charset="0"/>
                  </a:rPr>
                  <a:t> </a:t>
                </a:r>
                <a:r>
                  <a:rPr lang="pl-PL" dirty="0" err="1">
                    <a:latin typeface="Frutiger 45 Light" panose="020B0603020202020204" pitchFamily="34" charset="0"/>
                  </a:rPr>
                  <a:t>path</a:t>
                </a:r>
                <a:r>
                  <a:rPr lang="pl-PL" dirty="0">
                    <a:latin typeface="Frutiger 45 Light" panose="020B0603020202020204" pitchFamily="34" charset="0"/>
                  </a:rPr>
                  <a:t>:</a:t>
                </a:r>
              </a:p>
              <a:p>
                <a:pPr marL="342900" indent="-342900">
                  <a:buClr>
                    <a:schemeClr val="tx1"/>
                  </a:buClr>
                  <a:buFont typeface="+mj-lt"/>
                  <a:buAutoNum type="arabicParenR"/>
                </a:pPr>
                <a:r>
                  <a:rPr lang="pl-PL" dirty="0">
                    <a:latin typeface="Frutiger 45 Light" panose="020B0603020202020204" pitchFamily="34" charset="0"/>
                  </a:rPr>
                  <a:t>Take</a:t>
                </a:r>
                <a14:m>
                  <m:oMath xmlns:m="http://schemas.openxmlformats.org/officeDocument/2006/math">
                    <m:r>
                      <a:rPr lang="pl-PL" altLang="zh-TW" i="1">
                        <a:latin typeface="Cambria Math" panose="02040503050406030204" pitchFamily="18" charset="0"/>
                      </a:rPr>
                      <m:t>  </m:t>
                    </m:r>
                    <m:r>
                      <a:rPr lang="pl-PL" altLang="zh-TW" i="1">
                        <a:latin typeface="Cambria Math" panose="02040503050406030204" pitchFamily="18" charset="0"/>
                      </a:rPr>
                      <m:t>𝑆</m:t>
                    </m:r>
                    <m:d>
                      <m:dPr>
                        <m:ctrlPr>
                          <a:rPr lang="pl-PL" altLang="zh-TW" i="1">
                            <a:latin typeface="Cambria Math" panose="02040503050406030204" pitchFamily="18" charset="0"/>
                          </a:rPr>
                        </m:ctrlPr>
                      </m:dPr>
                      <m:e>
                        <m:sSub>
                          <m:sSubPr>
                            <m:ctrlPr>
                              <a:rPr lang="pl-PL" altLang="zh-TW" i="1">
                                <a:latin typeface="Cambria Math" panose="02040503050406030204" pitchFamily="18" charset="0"/>
                              </a:rPr>
                            </m:ctrlPr>
                          </m:sSubPr>
                          <m:e>
                            <m:r>
                              <a:rPr lang="pl-PL" altLang="zh-TW" i="1">
                                <a:latin typeface="Cambria Math" panose="02040503050406030204" pitchFamily="18" charset="0"/>
                              </a:rPr>
                              <m:t>𝑡</m:t>
                            </m:r>
                          </m:e>
                          <m:sub>
                            <m:r>
                              <a:rPr lang="pl-PL" altLang="zh-TW" b="0" i="1" smtClean="0">
                                <a:latin typeface="Cambria Math" panose="02040503050406030204" pitchFamily="18" charset="0"/>
                              </a:rPr>
                              <m:t>0</m:t>
                            </m:r>
                          </m:sub>
                        </m:sSub>
                      </m:e>
                    </m:d>
                    <m:r>
                      <a:rPr lang="pl-PL" altLang="zh-TW" i="1">
                        <a:latin typeface="Cambria Math" panose="02040503050406030204" pitchFamily="18" charset="0"/>
                      </a:rPr>
                      <m:t>=</m:t>
                    </m:r>
                    <m:sSub>
                      <m:sSubPr>
                        <m:ctrlPr>
                          <a:rPr lang="pt-BR" altLang="zh-TW" i="1">
                            <a:latin typeface="Cambria Math" panose="02040503050406030204" pitchFamily="18" charset="0"/>
                          </a:rPr>
                        </m:ctrlPr>
                      </m:sSubPr>
                      <m:e>
                        <m:r>
                          <a:rPr lang="pl-PL" altLang="zh-TW" i="1">
                            <a:latin typeface="Cambria Math" panose="02040503050406030204" pitchFamily="18" charset="0"/>
                          </a:rPr>
                          <m:t>𝑆</m:t>
                        </m:r>
                      </m:e>
                      <m:sub>
                        <m:r>
                          <a:rPr lang="pt-BR" altLang="zh-TW" i="1">
                            <a:latin typeface="Cambria Math" panose="02040503050406030204" pitchFamily="18" charset="0"/>
                          </a:rPr>
                          <m:t>0</m:t>
                        </m:r>
                      </m:sub>
                    </m:sSub>
                  </m:oMath>
                </a14:m>
                <a:endParaRPr lang="pl-PL" dirty="0">
                  <a:latin typeface="Frutiger 45 Light" panose="020B0603020202020204" pitchFamily="34" charset="0"/>
                </a:endParaRPr>
              </a:p>
              <a:p>
                <a:pPr marL="342900" indent="-342900">
                  <a:buClr>
                    <a:schemeClr val="tx1"/>
                  </a:buClr>
                  <a:buFont typeface="+mj-lt"/>
                  <a:buAutoNum type="arabicParenR"/>
                </a:pPr>
                <a:r>
                  <a:rPr lang="pl-PL" dirty="0" err="1">
                    <a:latin typeface="Frutiger 45 Light" panose="020B0603020202020204" pitchFamily="34" charset="0"/>
                  </a:rPr>
                  <a:t>Generate</a:t>
                </a:r>
                <a:r>
                  <a:rPr lang="pl-PL" dirty="0">
                    <a:latin typeface="Frutiger 45 Light" panose="020B0603020202020204" pitchFamily="34" charset="0"/>
                  </a:rPr>
                  <a:t> a </a:t>
                </a:r>
                <a:r>
                  <a:rPr lang="pl-PL" dirty="0" err="1">
                    <a:latin typeface="Frutiger 45 Light" panose="020B0603020202020204" pitchFamily="34" charset="0"/>
                  </a:rPr>
                  <a:t>random</a:t>
                </a:r>
                <a:r>
                  <a:rPr lang="pl-PL" dirty="0">
                    <a:latin typeface="Frutiger 45 Light" panose="020B0603020202020204" pitchFamily="34" charset="0"/>
                  </a:rPr>
                  <a:t> numer from the standard </a:t>
                </a:r>
                <a:r>
                  <a:rPr lang="pl-PL" dirty="0" err="1">
                    <a:latin typeface="Frutiger 45 Light" panose="020B0603020202020204" pitchFamily="34" charset="0"/>
                  </a:rPr>
                  <a:t>normal</a:t>
                </a:r>
                <a:r>
                  <a:rPr lang="pl-PL" dirty="0">
                    <a:latin typeface="Frutiger 45 Light" panose="020B0603020202020204" pitchFamily="34" charset="0"/>
                  </a:rPr>
                  <a:t> </a:t>
                </a:r>
                <a:r>
                  <a:rPr lang="pl-PL" dirty="0" err="1">
                    <a:latin typeface="Frutiger 45 Light" panose="020B0603020202020204" pitchFamily="34" charset="0"/>
                  </a:rPr>
                  <a:t>distribution</a:t>
                </a:r>
                <a:r>
                  <a:rPr lang="pl-PL" dirty="0">
                    <a:latin typeface="Frutiger 45 Light" panose="020B0603020202020204" pitchFamily="34" charset="0"/>
                  </a:rPr>
                  <a:t> – </a:t>
                </a:r>
                <a14:m>
                  <m:oMath xmlns:m="http://schemas.openxmlformats.org/officeDocument/2006/math">
                    <m:sSub>
                      <m:sSubPr>
                        <m:ctrlPr>
                          <a:rPr lang="pl-PL" altLang="zh-TW" i="1">
                            <a:latin typeface="Cambria Math" panose="02040503050406030204" pitchFamily="18" charset="0"/>
                          </a:rPr>
                        </m:ctrlPr>
                      </m:sSubPr>
                      <m:e>
                        <m:r>
                          <a:rPr lang="pl-PL" altLang="zh-TW" i="1">
                            <a:latin typeface="Cambria Math" panose="02040503050406030204" pitchFamily="18" charset="0"/>
                          </a:rPr>
                          <m:t>𝑍</m:t>
                        </m:r>
                      </m:e>
                      <m:sub>
                        <m:r>
                          <a:rPr lang="pl-PL" altLang="zh-TW" b="0" i="1" smtClean="0">
                            <a:latin typeface="Cambria Math" panose="02040503050406030204" pitchFamily="18" charset="0"/>
                          </a:rPr>
                          <m:t>1</m:t>
                        </m:r>
                      </m:sub>
                    </m:sSub>
                  </m:oMath>
                </a14:m>
                <a:endParaRPr lang="pl-PL" dirty="0">
                  <a:latin typeface="Frutiger 45 Light" panose="020B0603020202020204" pitchFamily="34" charset="0"/>
                </a:endParaRPr>
              </a:p>
              <a:p>
                <a:pPr marL="342900" indent="-342900">
                  <a:buClr>
                    <a:schemeClr val="tx1"/>
                  </a:buClr>
                  <a:buFont typeface="+mj-lt"/>
                  <a:buAutoNum type="arabicParenR"/>
                </a:pPr>
                <a14:m>
                  <m:oMath xmlns:m="http://schemas.openxmlformats.org/officeDocument/2006/math">
                    <m:r>
                      <a:rPr lang="pl-PL" altLang="zh-TW" i="1">
                        <a:latin typeface="Cambria Math" panose="02040503050406030204" pitchFamily="18" charset="0"/>
                      </a:rPr>
                      <m:t>𝑆</m:t>
                    </m:r>
                    <m:d>
                      <m:dPr>
                        <m:ctrlPr>
                          <a:rPr lang="pl-PL" altLang="zh-TW" i="1">
                            <a:latin typeface="Cambria Math" panose="02040503050406030204" pitchFamily="18" charset="0"/>
                          </a:rPr>
                        </m:ctrlPr>
                      </m:dPr>
                      <m:e>
                        <m:sSub>
                          <m:sSubPr>
                            <m:ctrlPr>
                              <a:rPr lang="pl-PL" altLang="zh-TW" i="1">
                                <a:latin typeface="Cambria Math" panose="02040503050406030204" pitchFamily="18" charset="0"/>
                              </a:rPr>
                            </m:ctrlPr>
                          </m:sSubPr>
                          <m:e>
                            <m:r>
                              <a:rPr lang="pl-PL" altLang="zh-TW" i="1">
                                <a:latin typeface="Cambria Math" panose="02040503050406030204" pitchFamily="18" charset="0"/>
                              </a:rPr>
                              <m:t>𝑡</m:t>
                            </m:r>
                          </m:e>
                          <m:sub>
                            <m:r>
                              <a:rPr lang="pl-PL" altLang="zh-TW" i="1">
                                <a:latin typeface="Cambria Math" panose="02040503050406030204" pitchFamily="18" charset="0"/>
                              </a:rPr>
                              <m:t>1</m:t>
                            </m:r>
                          </m:sub>
                        </m:sSub>
                      </m:e>
                    </m:d>
                    <m:r>
                      <a:rPr lang="pl-PL" altLang="zh-TW" i="1">
                        <a:latin typeface="Cambria Math" panose="02040503050406030204" pitchFamily="18" charset="0"/>
                      </a:rPr>
                      <m:t>=</m:t>
                    </m:r>
                    <m:r>
                      <m:rPr>
                        <m:sty m:val="p"/>
                      </m:rPr>
                      <a:rPr lang="pl-PL" altLang="zh-TW">
                        <a:latin typeface="Cambria Math" panose="02040503050406030204" pitchFamily="18" charset="0"/>
                      </a:rPr>
                      <m:t>S</m:t>
                    </m:r>
                    <m:d>
                      <m:dPr>
                        <m:ctrlPr>
                          <a:rPr lang="pl-PL" altLang="zh-TW" i="1">
                            <a:latin typeface="Cambria Math" panose="02040503050406030204" pitchFamily="18" charset="0"/>
                          </a:rPr>
                        </m:ctrlPr>
                      </m:dPr>
                      <m:e>
                        <m:sSub>
                          <m:sSubPr>
                            <m:ctrlPr>
                              <a:rPr lang="pl-PL" altLang="zh-TW" i="1">
                                <a:latin typeface="Cambria Math" panose="02040503050406030204" pitchFamily="18" charset="0"/>
                              </a:rPr>
                            </m:ctrlPr>
                          </m:sSubPr>
                          <m:e>
                            <m:r>
                              <a:rPr lang="pl-PL" altLang="zh-TW" i="1">
                                <a:latin typeface="Cambria Math" panose="02040503050406030204" pitchFamily="18" charset="0"/>
                              </a:rPr>
                              <m:t>𝑡</m:t>
                            </m:r>
                          </m:e>
                          <m:sub>
                            <m:r>
                              <a:rPr lang="pl-PL" altLang="zh-TW" b="0" i="1" smtClean="0">
                                <a:latin typeface="Cambria Math" panose="02040503050406030204" pitchFamily="18" charset="0"/>
                              </a:rPr>
                              <m:t>0</m:t>
                            </m:r>
                          </m:sub>
                        </m:sSub>
                      </m:e>
                    </m:d>
                    <m:r>
                      <m:rPr>
                        <m:sty m:val="p"/>
                      </m:rPr>
                      <a:rPr lang="pl-PL" altLang="zh-TW">
                        <a:latin typeface="Cambria Math" panose="02040503050406030204" pitchFamily="18" charset="0"/>
                      </a:rPr>
                      <m:t>exp</m:t>
                    </m:r>
                    <m:d>
                      <m:dPr>
                        <m:begChr m:val="{"/>
                        <m:endChr m:val="}"/>
                        <m:ctrlPr>
                          <a:rPr lang="pl-PL" altLang="zh-TW" i="1">
                            <a:latin typeface="Cambria Math" panose="02040503050406030204" pitchFamily="18" charset="0"/>
                          </a:rPr>
                        </m:ctrlPr>
                      </m:dPr>
                      <m:e>
                        <m:d>
                          <m:dPr>
                            <m:ctrlPr>
                              <a:rPr lang="pl-PL" altLang="zh-TW" i="1">
                                <a:latin typeface="Cambria Math" panose="02040503050406030204" pitchFamily="18" charset="0"/>
                              </a:rPr>
                            </m:ctrlPr>
                          </m:dPr>
                          <m:e>
                            <m:r>
                              <a:rPr lang="pl-PL" altLang="zh-TW" i="1">
                                <a:latin typeface="Cambria Math" panose="02040503050406030204" pitchFamily="18" charset="0"/>
                              </a:rPr>
                              <m:t>𝑟</m:t>
                            </m:r>
                            <m:r>
                              <a:rPr lang="pl-PL" altLang="zh-TW" i="1">
                                <a:latin typeface="Cambria Math" panose="02040503050406030204" pitchFamily="18" charset="0"/>
                              </a:rPr>
                              <m:t>−</m:t>
                            </m:r>
                            <m:f>
                              <m:fPr>
                                <m:ctrlPr>
                                  <a:rPr lang="pl-PL" altLang="zh-TW" i="1">
                                    <a:latin typeface="Cambria Math" panose="02040503050406030204" pitchFamily="18" charset="0"/>
                                  </a:rPr>
                                </m:ctrlPr>
                              </m:fPr>
                              <m:num>
                                <m:r>
                                  <a:rPr lang="pl-PL" altLang="zh-TW" i="1">
                                    <a:latin typeface="Cambria Math" panose="02040503050406030204" pitchFamily="18" charset="0"/>
                                  </a:rPr>
                                  <m:t>1</m:t>
                                </m:r>
                              </m:num>
                              <m:den>
                                <m:r>
                                  <a:rPr lang="pl-PL" altLang="zh-TW" i="1">
                                    <a:latin typeface="Cambria Math" panose="02040503050406030204" pitchFamily="18" charset="0"/>
                                  </a:rPr>
                                  <m:t>2</m:t>
                                </m:r>
                              </m:den>
                            </m:f>
                            <m:sSup>
                              <m:sSupPr>
                                <m:ctrlPr>
                                  <a:rPr lang="pl-PL" altLang="zh-TW" i="1">
                                    <a:latin typeface="Cambria Math" panose="02040503050406030204" pitchFamily="18" charset="0"/>
                                  </a:rPr>
                                </m:ctrlPr>
                              </m:sSupPr>
                              <m:e>
                                <m:r>
                                  <a:rPr lang="zh-TW" altLang="pl-PL" i="1">
                                    <a:latin typeface="Cambria Math" panose="02040503050406030204" pitchFamily="18" charset="0"/>
                                  </a:rPr>
                                  <m:t>𝜎</m:t>
                                </m:r>
                              </m:e>
                              <m:sup>
                                <m:r>
                                  <a:rPr lang="pl-PL" altLang="zh-TW" i="1">
                                    <a:latin typeface="Cambria Math" panose="02040503050406030204" pitchFamily="18" charset="0"/>
                                  </a:rPr>
                                  <m:t>2</m:t>
                                </m:r>
                              </m:sup>
                            </m:sSup>
                          </m:e>
                        </m:d>
                        <m:r>
                          <a:rPr lang="pl-PL" altLang="zh-TW" i="1">
                            <a:latin typeface="Cambria Math" panose="02040503050406030204" pitchFamily="18" charset="0"/>
                          </a:rPr>
                          <m:t>(</m:t>
                        </m:r>
                        <m:sSub>
                          <m:sSubPr>
                            <m:ctrlPr>
                              <a:rPr lang="pl-PL" altLang="zh-TW" i="1">
                                <a:latin typeface="Cambria Math" panose="02040503050406030204" pitchFamily="18" charset="0"/>
                              </a:rPr>
                            </m:ctrlPr>
                          </m:sSubPr>
                          <m:e>
                            <m:r>
                              <a:rPr lang="pl-PL" altLang="zh-TW" i="1">
                                <a:latin typeface="Cambria Math" panose="02040503050406030204" pitchFamily="18" charset="0"/>
                              </a:rPr>
                              <m:t>𝑡</m:t>
                            </m:r>
                          </m:e>
                          <m:sub>
                            <m:r>
                              <a:rPr lang="pl-PL" altLang="zh-TW" i="1">
                                <a:latin typeface="Cambria Math" panose="02040503050406030204" pitchFamily="18" charset="0"/>
                              </a:rPr>
                              <m:t>1</m:t>
                            </m:r>
                          </m:sub>
                        </m:sSub>
                        <m:r>
                          <a:rPr lang="pl-PL" altLang="zh-TW" i="1">
                            <a:latin typeface="Cambria Math" panose="02040503050406030204" pitchFamily="18" charset="0"/>
                          </a:rPr>
                          <m:t>−</m:t>
                        </m:r>
                        <m:sSub>
                          <m:sSubPr>
                            <m:ctrlPr>
                              <a:rPr lang="pl-PL" altLang="zh-TW" i="1">
                                <a:latin typeface="Cambria Math" panose="02040503050406030204" pitchFamily="18" charset="0"/>
                              </a:rPr>
                            </m:ctrlPr>
                          </m:sSubPr>
                          <m:e>
                            <m:r>
                              <a:rPr lang="pl-PL" altLang="zh-TW" i="1">
                                <a:latin typeface="Cambria Math" panose="02040503050406030204" pitchFamily="18" charset="0"/>
                              </a:rPr>
                              <m:t>𝑡</m:t>
                            </m:r>
                          </m:e>
                          <m:sub>
                            <m:r>
                              <a:rPr lang="pl-PL" altLang="zh-TW" b="0" i="1" smtClean="0">
                                <a:latin typeface="Cambria Math" panose="02040503050406030204" pitchFamily="18" charset="0"/>
                              </a:rPr>
                              <m:t>0</m:t>
                            </m:r>
                          </m:sub>
                        </m:sSub>
                        <m:r>
                          <a:rPr lang="pl-PL" altLang="zh-TW" i="1">
                            <a:latin typeface="Cambria Math" panose="02040503050406030204" pitchFamily="18" charset="0"/>
                          </a:rPr>
                          <m:t>)+</m:t>
                        </m:r>
                        <m:r>
                          <a:rPr lang="zh-TW" altLang="pl-PL" i="1">
                            <a:latin typeface="Cambria Math" panose="02040503050406030204" pitchFamily="18" charset="0"/>
                          </a:rPr>
                          <m:t>𝜎</m:t>
                        </m:r>
                        <m:rad>
                          <m:radPr>
                            <m:degHide m:val="on"/>
                            <m:ctrlPr>
                              <a:rPr lang="zh-TW" altLang="en-US" i="1">
                                <a:latin typeface="Cambria Math" panose="02040503050406030204" pitchFamily="18" charset="0"/>
                              </a:rPr>
                            </m:ctrlPr>
                          </m:radPr>
                          <m:deg/>
                          <m:e>
                            <m:sSub>
                              <m:sSubPr>
                                <m:ctrlPr>
                                  <a:rPr lang="pl-PL" altLang="zh-TW" i="1">
                                    <a:latin typeface="Cambria Math" panose="02040503050406030204" pitchFamily="18" charset="0"/>
                                  </a:rPr>
                                </m:ctrlPr>
                              </m:sSubPr>
                              <m:e>
                                <m:r>
                                  <a:rPr lang="pl-PL" altLang="zh-TW" i="1">
                                    <a:latin typeface="Cambria Math" panose="02040503050406030204" pitchFamily="18" charset="0"/>
                                  </a:rPr>
                                  <m:t>𝑡</m:t>
                                </m:r>
                              </m:e>
                              <m:sub>
                                <m:r>
                                  <a:rPr lang="pl-PL" altLang="zh-TW" i="1">
                                    <a:latin typeface="Cambria Math" panose="02040503050406030204" pitchFamily="18" charset="0"/>
                                  </a:rPr>
                                  <m:t>1</m:t>
                                </m:r>
                              </m:sub>
                            </m:sSub>
                            <m:r>
                              <a:rPr lang="pl-PL" altLang="zh-TW" i="1">
                                <a:latin typeface="Cambria Math" panose="02040503050406030204" pitchFamily="18" charset="0"/>
                              </a:rPr>
                              <m:t>−</m:t>
                            </m:r>
                            <m:sSub>
                              <m:sSubPr>
                                <m:ctrlPr>
                                  <a:rPr lang="pl-PL" altLang="zh-TW" i="1">
                                    <a:latin typeface="Cambria Math" panose="02040503050406030204" pitchFamily="18" charset="0"/>
                                  </a:rPr>
                                </m:ctrlPr>
                              </m:sSubPr>
                              <m:e>
                                <m:r>
                                  <a:rPr lang="pl-PL" altLang="zh-TW" i="1">
                                    <a:latin typeface="Cambria Math" panose="02040503050406030204" pitchFamily="18" charset="0"/>
                                  </a:rPr>
                                  <m:t>𝑡</m:t>
                                </m:r>
                              </m:e>
                              <m:sub>
                                <m:r>
                                  <a:rPr lang="pl-PL" altLang="zh-TW" b="0" i="1" smtClean="0">
                                    <a:latin typeface="Cambria Math" panose="02040503050406030204" pitchFamily="18" charset="0"/>
                                  </a:rPr>
                                  <m:t>0</m:t>
                                </m:r>
                              </m:sub>
                            </m:sSub>
                          </m:e>
                        </m:rad>
                        <m:sSub>
                          <m:sSubPr>
                            <m:ctrlPr>
                              <a:rPr lang="pl-PL" altLang="zh-TW" i="1">
                                <a:latin typeface="Cambria Math" panose="02040503050406030204" pitchFamily="18" charset="0"/>
                              </a:rPr>
                            </m:ctrlPr>
                          </m:sSubPr>
                          <m:e>
                            <m:r>
                              <a:rPr lang="pl-PL" altLang="zh-TW" i="1">
                                <a:latin typeface="Cambria Math" panose="02040503050406030204" pitchFamily="18" charset="0"/>
                              </a:rPr>
                              <m:t>𝑍</m:t>
                            </m:r>
                          </m:e>
                          <m:sub>
                            <m:r>
                              <a:rPr lang="pl-PL" altLang="zh-TW" i="1">
                                <a:latin typeface="Cambria Math" panose="02040503050406030204" pitchFamily="18" charset="0"/>
                              </a:rPr>
                              <m:t>1</m:t>
                            </m:r>
                          </m:sub>
                        </m:sSub>
                      </m:e>
                    </m:d>
                    <m:r>
                      <a:rPr lang="pl-PL" altLang="zh-TW" i="1">
                        <a:latin typeface="Cambria Math" panose="02040503050406030204" pitchFamily="18" charset="0"/>
                      </a:rPr>
                      <m:t> </m:t>
                    </m:r>
                  </m:oMath>
                </a14:m>
                <a:endParaRPr lang="pl-PL" dirty="0">
                  <a:latin typeface="Frutiger 45 Light" panose="020B0603020202020204" pitchFamily="34" charset="0"/>
                </a:endParaRPr>
              </a:p>
              <a:p>
                <a:pPr marL="342900" indent="-342900">
                  <a:buClr>
                    <a:schemeClr val="tx1"/>
                  </a:buClr>
                  <a:buFont typeface="+mj-lt"/>
                  <a:buAutoNum type="arabicParenR"/>
                </a:pPr>
                <a:r>
                  <a:rPr lang="pl-PL" dirty="0">
                    <a:latin typeface="Frutiger 45 Light" panose="020B0603020202020204" pitchFamily="34" charset="0"/>
                  </a:rPr>
                  <a:t>Generate </a:t>
                </a:r>
                <a:r>
                  <a:rPr lang="pl-PL" dirty="0" err="1">
                    <a:latin typeface="Frutiger 45 Light" panose="020B0603020202020204" pitchFamily="34" charset="0"/>
                  </a:rPr>
                  <a:t>another</a:t>
                </a:r>
                <a:r>
                  <a:rPr lang="pl-PL" dirty="0">
                    <a:latin typeface="Frutiger 45 Light" panose="020B0603020202020204" pitchFamily="34" charset="0"/>
                  </a:rPr>
                  <a:t> </a:t>
                </a:r>
                <a:r>
                  <a:rPr lang="pl-PL" dirty="0" err="1">
                    <a:latin typeface="Frutiger 45 Light" panose="020B0603020202020204" pitchFamily="34" charset="0"/>
                  </a:rPr>
                  <a:t>random</a:t>
                </a:r>
                <a:r>
                  <a:rPr lang="pl-PL" dirty="0">
                    <a:latin typeface="Frutiger 45 Light" panose="020B0603020202020204" pitchFamily="34" charset="0"/>
                  </a:rPr>
                  <a:t> numer from the standard </a:t>
                </a:r>
                <a:r>
                  <a:rPr lang="pl-PL" dirty="0" err="1">
                    <a:latin typeface="Frutiger 45 Light" panose="020B0603020202020204" pitchFamily="34" charset="0"/>
                  </a:rPr>
                  <a:t>normal</a:t>
                </a:r>
                <a:r>
                  <a:rPr lang="pl-PL" dirty="0">
                    <a:latin typeface="Frutiger 45 Light" panose="020B0603020202020204" pitchFamily="34" charset="0"/>
                  </a:rPr>
                  <a:t> </a:t>
                </a:r>
                <a:r>
                  <a:rPr lang="pl-PL" dirty="0" err="1">
                    <a:latin typeface="Frutiger 45 Light" panose="020B0603020202020204" pitchFamily="34" charset="0"/>
                  </a:rPr>
                  <a:t>distribution</a:t>
                </a:r>
                <a:r>
                  <a:rPr lang="pl-PL" dirty="0">
                    <a:latin typeface="Frutiger 45 Light" panose="020B0603020202020204" pitchFamily="34" charset="0"/>
                  </a:rPr>
                  <a:t> – </a:t>
                </a:r>
                <a14:m>
                  <m:oMath xmlns:m="http://schemas.openxmlformats.org/officeDocument/2006/math">
                    <m:sSub>
                      <m:sSubPr>
                        <m:ctrlPr>
                          <a:rPr lang="pl-PL" altLang="zh-TW" i="1">
                            <a:latin typeface="Cambria Math" panose="02040503050406030204" pitchFamily="18" charset="0"/>
                          </a:rPr>
                        </m:ctrlPr>
                      </m:sSubPr>
                      <m:e>
                        <m:r>
                          <a:rPr lang="pl-PL" altLang="zh-TW" i="1">
                            <a:latin typeface="Cambria Math" panose="02040503050406030204" pitchFamily="18" charset="0"/>
                          </a:rPr>
                          <m:t>𝑍</m:t>
                        </m:r>
                      </m:e>
                      <m:sub>
                        <m:r>
                          <a:rPr lang="pl-PL" altLang="zh-TW" b="0" i="1" smtClean="0">
                            <a:latin typeface="Cambria Math" panose="02040503050406030204" pitchFamily="18" charset="0"/>
                          </a:rPr>
                          <m:t>2</m:t>
                        </m:r>
                      </m:sub>
                    </m:sSub>
                  </m:oMath>
                </a14:m>
                <a:endParaRPr lang="pl-PL" dirty="0">
                  <a:latin typeface="Frutiger 45 Light" panose="020B0603020202020204" pitchFamily="34" charset="0"/>
                </a:endParaRPr>
              </a:p>
              <a:p>
                <a:pPr marL="342900" indent="-342900">
                  <a:buClr>
                    <a:schemeClr val="tx1"/>
                  </a:buClr>
                  <a:buFont typeface="+mj-lt"/>
                  <a:buAutoNum type="arabicParenR"/>
                </a:pPr>
                <a14:m>
                  <m:oMath xmlns:m="http://schemas.openxmlformats.org/officeDocument/2006/math">
                    <m:r>
                      <a:rPr lang="pl-PL" altLang="zh-TW" i="1">
                        <a:latin typeface="Cambria Math" panose="02040503050406030204" pitchFamily="18" charset="0"/>
                      </a:rPr>
                      <m:t>𝑆</m:t>
                    </m:r>
                    <m:d>
                      <m:dPr>
                        <m:ctrlPr>
                          <a:rPr lang="pl-PL" altLang="zh-TW" i="1">
                            <a:latin typeface="Cambria Math" panose="02040503050406030204" pitchFamily="18" charset="0"/>
                          </a:rPr>
                        </m:ctrlPr>
                      </m:dPr>
                      <m:e>
                        <m:sSub>
                          <m:sSubPr>
                            <m:ctrlPr>
                              <a:rPr lang="pl-PL" altLang="zh-TW" i="1" smtClean="0">
                                <a:latin typeface="Cambria Math" panose="02040503050406030204" pitchFamily="18" charset="0"/>
                              </a:rPr>
                            </m:ctrlPr>
                          </m:sSubPr>
                          <m:e>
                            <m:r>
                              <a:rPr lang="pl-PL" altLang="zh-TW" i="1">
                                <a:latin typeface="Cambria Math" panose="02040503050406030204" pitchFamily="18" charset="0"/>
                              </a:rPr>
                              <m:t>𝑡</m:t>
                            </m:r>
                          </m:e>
                          <m:sub>
                            <m:r>
                              <a:rPr lang="pl-PL" altLang="zh-TW" b="0" i="1" smtClean="0">
                                <a:latin typeface="Cambria Math" panose="02040503050406030204" pitchFamily="18" charset="0"/>
                              </a:rPr>
                              <m:t>2</m:t>
                            </m:r>
                          </m:sub>
                        </m:sSub>
                      </m:e>
                    </m:d>
                    <m:r>
                      <a:rPr lang="pl-PL" altLang="zh-TW" i="1">
                        <a:latin typeface="Cambria Math" panose="02040503050406030204" pitchFamily="18" charset="0"/>
                      </a:rPr>
                      <m:t>=</m:t>
                    </m:r>
                    <m:r>
                      <m:rPr>
                        <m:sty m:val="p"/>
                      </m:rPr>
                      <a:rPr lang="pl-PL" altLang="zh-TW">
                        <a:latin typeface="Cambria Math" panose="02040503050406030204" pitchFamily="18" charset="0"/>
                      </a:rPr>
                      <m:t>S</m:t>
                    </m:r>
                    <m:d>
                      <m:dPr>
                        <m:ctrlPr>
                          <a:rPr lang="pl-PL" altLang="zh-TW" i="1">
                            <a:latin typeface="Cambria Math" panose="02040503050406030204" pitchFamily="18" charset="0"/>
                          </a:rPr>
                        </m:ctrlPr>
                      </m:dPr>
                      <m:e>
                        <m:sSub>
                          <m:sSubPr>
                            <m:ctrlPr>
                              <a:rPr lang="pl-PL" altLang="zh-TW" i="1">
                                <a:latin typeface="Cambria Math" panose="02040503050406030204" pitchFamily="18" charset="0"/>
                              </a:rPr>
                            </m:ctrlPr>
                          </m:sSubPr>
                          <m:e>
                            <m:r>
                              <a:rPr lang="pl-PL" altLang="zh-TW" i="1">
                                <a:latin typeface="Cambria Math" panose="02040503050406030204" pitchFamily="18" charset="0"/>
                              </a:rPr>
                              <m:t>𝑡</m:t>
                            </m:r>
                          </m:e>
                          <m:sub>
                            <m:r>
                              <a:rPr lang="pl-PL" altLang="zh-TW" b="0" i="1" smtClean="0">
                                <a:latin typeface="Cambria Math" panose="02040503050406030204" pitchFamily="18" charset="0"/>
                              </a:rPr>
                              <m:t>1</m:t>
                            </m:r>
                          </m:sub>
                        </m:sSub>
                      </m:e>
                    </m:d>
                    <m:r>
                      <m:rPr>
                        <m:sty m:val="p"/>
                      </m:rPr>
                      <a:rPr lang="pl-PL" altLang="zh-TW">
                        <a:latin typeface="Cambria Math" panose="02040503050406030204" pitchFamily="18" charset="0"/>
                      </a:rPr>
                      <m:t>exp</m:t>
                    </m:r>
                    <m:d>
                      <m:dPr>
                        <m:begChr m:val="{"/>
                        <m:endChr m:val="}"/>
                        <m:ctrlPr>
                          <a:rPr lang="pl-PL" altLang="zh-TW" i="1">
                            <a:latin typeface="Cambria Math" panose="02040503050406030204" pitchFamily="18" charset="0"/>
                          </a:rPr>
                        </m:ctrlPr>
                      </m:dPr>
                      <m:e>
                        <m:d>
                          <m:dPr>
                            <m:ctrlPr>
                              <a:rPr lang="pl-PL" altLang="zh-TW" i="1">
                                <a:latin typeface="Cambria Math" panose="02040503050406030204" pitchFamily="18" charset="0"/>
                              </a:rPr>
                            </m:ctrlPr>
                          </m:dPr>
                          <m:e>
                            <m:r>
                              <a:rPr lang="pl-PL" altLang="zh-TW" i="1">
                                <a:latin typeface="Cambria Math" panose="02040503050406030204" pitchFamily="18" charset="0"/>
                              </a:rPr>
                              <m:t>𝑟</m:t>
                            </m:r>
                            <m:r>
                              <a:rPr lang="pl-PL" altLang="zh-TW" i="1">
                                <a:latin typeface="Cambria Math" panose="02040503050406030204" pitchFamily="18" charset="0"/>
                              </a:rPr>
                              <m:t>−</m:t>
                            </m:r>
                            <m:f>
                              <m:fPr>
                                <m:ctrlPr>
                                  <a:rPr lang="pl-PL" altLang="zh-TW" i="1">
                                    <a:latin typeface="Cambria Math" panose="02040503050406030204" pitchFamily="18" charset="0"/>
                                  </a:rPr>
                                </m:ctrlPr>
                              </m:fPr>
                              <m:num>
                                <m:r>
                                  <a:rPr lang="pl-PL" altLang="zh-TW" i="1">
                                    <a:latin typeface="Cambria Math" panose="02040503050406030204" pitchFamily="18" charset="0"/>
                                  </a:rPr>
                                  <m:t>1</m:t>
                                </m:r>
                              </m:num>
                              <m:den>
                                <m:r>
                                  <a:rPr lang="pl-PL" altLang="zh-TW" i="1">
                                    <a:latin typeface="Cambria Math" panose="02040503050406030204" pitchFamily="18" charset="0"/>
                                  </a:rPr>
                                  <m:t>2</m:t>
                                </m:r>
                              </m:den>
                            </m:f>
                            <m:sSup>
                              <m:sSupPr>
                                <m:ctrlPr>
                                  <a:rPr lang="pl-PL" altLang="zh-TW" i="1">
                                    <a:latin typeface="Cambria Math" panose="02040503050406030204" pitchFamily="18" charset="0"/>
                                  </a:rPr>
                                </m:ctrlPr>
                              </m:sSupPr>
                              <m:e>
                                <m:r>
                                  <a:rPr lang="zh-TW" altLang="pl-PL" i="1">
                                    <a:latin typeface="Cambria Math" panose="02040503050406030204" pitchFamily="18" charset="0"/>
                                  </a:rPr>
                                  <m:t>𝜎</m:t>
                                </m:r>
                              </m:e>
                              <m:sup>
                                <m:r>
                                  <a:rPr lang="pl-PL" altLang="zh-TW" i="1">
                                    <a:latin typeface="Cambria Math" panose="02040503050406030204" pitchFamily="18" charset="0"/>
                                  </a:rPr>
                                  <m:t>2</m:t>
                                </m:r>
                              </m:sup>
                            </m:sSup>
                          </m:e>
                        </m:d>
                        <m:r>
                          <a:rPr lang="pl-PL" altLang="zh-TW" i="1">
                            <a:latin typeface="Cambria Math" panose="02040503050406030204" pitchFamily="18" charset="0"/>
                          </a:rPr>
                          <m:t>(</m:t>
                        </m:r>
                        <m:sSub>
                          <m:sSubPr>
                            <m:ctrlPr>
                              <a:rPr lang="pl-PL" altLang="zh-TW" i="1">
                                <a:latin typeface="Cambria Math" panose="02040503050406030204" pitchFamily="18" charset="0"/>
                              </a:rPr>
                            </m:ctrlPr>
                          </m:sSubPr>
                          <m:e>
                            <m:r>
                              <a:rPr lang="pl-PL" altLang="zh-TW" i="1">
                                <a:latin typeface="Cambria Math" panose="02040503050406030204" pitchFamily="18" charset="0"/>
                              </a:rPr>
                              <m:t>𝑡</m:t>
                            </m:r>
                          </m:e>
                          <m:sub>
                            <m:r>
                              <a:rPr lang="pl-PL" altLang="zh-TW" b="0" i="1" smtClean="0">
                                <a:latin typeface="Cambria Math" panose="02040503050406030204" pitchFamily="18" charset="0"/>
                              </a:rPr>
                              <m:t>2</m:t>
                            </m:r>
                          </m:sub>
                        </m:sSub>
                        <m:r>
                          <a:rPr lang="pl-PL" altLang="zh-TW" i="1">
                            <a:latin typeface="Cambria Math" panose="02040503050406030204" pitchFamily="18" charset="0"/>
                          </a:rPr>
                          <m:t>−</m:t>
                        </m:r>
                        <m:sSub>
                          <m:sSubPr>
                            <m:ctrlPr>
                              <a:rPr lang="pl-PL" altLang="zh-TW" i="1">
                                <a:latin typeface="Cambria Math" panose="02040503050406030204" pitchFamily="18" charset="0"/>
                              </a:rPr>
                            </m:ctrlPr>
                          </m:sSubPr>
                          <m:e>
                            <m:r>
                              <a:rPr lang="pl-PL" altLang="zh-TW" i="1">
                                <a:latin typeface="Cambria Math" panose="02040503050406030204" pitchFamily="18" charset="0"/>
                              </a:rPr>
                              <m:t>𝑡</m:t>
                            </m:r>
                          </m:e>
                          <m:sub>
                            <m:r>
                              <a:rPr lang="pl-PL" altLang="zh-TW" b="0" i="1" smtClean="0">
                                <a:latin typeface="Cambria Math" panose="02040503050406030204" pitchFamily="18" charset="0"/>
                              </a:rPr>
                              <m:t>1</m:t>
                            </m:r>
                          </m:sub>
                        </m:sSub>
                        <m:r>
                          <a:rPr lang="pl-PL" altLang="zh-TW" i="1">
                            <a:latin typeface="Cambria Math" panose="02040503050406030204" pitchFamily="18" charset="0"/>
                          </a:rPr>
                          <m:t>)+</m:t>
                        </m:r>
                        <m:r>
                          <a:rPr lang="zh-TW" altLang="pl-PL" i="1">
                            <a:latin typeface="Cambria Math" panose="02040503050406030204" pitchFamily="18" charset="0"/>
                          </a:rPr>
                          <m:t>𝜎</m:t>
                        </m:r>
                        <m:rad>
                          <m:radPr>
                            <m:degHide m:val="on"/>
                            <m:ctrlPr>
                              <a:rPr lang="zh-TW" altLang="en-US" i="1">
                                <a:latin typeface="Cambria Math" panose="02040503050406030204" pitchFamily="18" charset="0"/>
                              </a:rPr>
                            </m:ctrlPr>
                          </m:radPr>
                          <m:deg/>
                          <m:e>
                            <m:sSub>
                              <m:sSubPr>
                                <m:ctrlPr>
                                  <a:rPr lang="pl-PL" altLang="zh-TW" i="1">
                                    <a:latin typeface="Cambria Math" panose="02040503050406030204" pitchFamily="18" charset="0"/>
                                  </a:rPr>
                                </m:ctrlPr>
                              </m:sSubPr>
                              <m:e>
                                <m:r>
                                  <a:rPr lang="pl-PL" altLang="zh-TW" i="1">
                                    <a:latin typeface="Cambria Math" panose="02040503050406030204" pitchFamily="18" charset="0"/>
                                  </a:rPr>
                                  <m:t>𝑡</m:t>
                                </m:r>
                              </m:e>
                              <m:sub>
                                <m:r>
                                  <a:rPr lang="pl-PL" altLang="zh-TW" b="0" i="1" smtClean="0">
                                    <a:latin typeface="Cambria Math" panose="02040503050406030204" pitchFamily="18" charset="0"/>
                                  </a:rPr>
                                  <m:t>2</m:t>
                                </m:r>
                              </m:sub>
                            </m:sSub>
                            <m:r>
                              <a:rPr lang="pl-PL" altLang="zh-TW" i="1">
                                <a:latin typeface="Cambria Math" panose="02040503050406030204" pitchFamily="18" charset="0"/>
                              </a:rPr>
                              <m:t>−</m:t>
                            </m:r>
                            <m:sSub>
                              <m:sSubPr>
                                <m:ctrlPr>
                                  <a:rPr lang="pl-PL" altLang="zh-TW" i="1">
                                    <a:latin typeface="Cambria Math" panose="02040503050406030204" pitchFamily="18" charset="0"/>
                                  </a:rPr>
                                </m:ctrlPr>
                              </m:sSubPr>
                              <m:e>
                                <m:r>
                                  <a:rPr lang="pl-PL" altLang="zh-TW" i="1">
                                    <a:latin typeface="Cambria Math" panose="02040503050406030204" pitchFamily="18" charset="0"/>
                                  </a:rPr>
                                  <m:t>𝑡</m:t>
                                </m:r>
                              </m:e>
                              <m:sub>
                                <m:r>
                                  <a:rPr lang="pl-PL" altLang="zh-TW" b="0" i="1" smtClean="0">
                                    <a:latin typeface="Cambria Math" panose="02040503050406030204" pitchFamily="18" charset="0"/>
                                  </a:rPr>
                                  <m:t>1</m:t>
                                </m:r>
                              </m:sub>
                            </m:sSub>
                          </m:e>
                        </m:rad>
                        <m:sSub>
                          <m:sSubPr>
                            <m:ctrlPr>
                              <a:rPr lang="pl-PL" altLang="zh-TW" i="1" smtClean="0">
                                <a:latin typeface="Cambria Math" panose="02040503050406030204" pitchFamily="18" charset="0"/>
                              </a:rPr>
                            </m:ctrlPr>
                          </m:sSubPr>
                          <m:e>
                            <m:r>
                              <a:rPr lang="pl-PL" altLang="zh-TW" i="1">
                                <a:latin typeface="Cambria Math" panose="02040503050406030204" pitchFamily="18" charset="0"/>
                              </a:rPr>
                              <m:t>𝑍</m:t>
                            </m:r>
                          </m:e>
                          <m:sub>
                            <m:r>
                              <a:rPr lang="pl-PL" altLang="zh-TW" b="0" i="1" smtClean="0">
                                <a:latin typeface="Cambria Math" panose="02040503050406030204" pitchFamily="18" charset="0"/>
                              </a:rPr>
                              <m:t>2</m:t>
                            </m:r>
                          </m:sub>
                        </m:sSub>
                      </m:e>
                    </m:d>
                  </m:oMath>
                </a14:m>
                <a:endParaRPr lang="pl-PL" dirty="0">
                  <a:latin typeface="Frutiger 45 Light" panose="020B0603020202020204" pitchFamily="34" charset="0"/>
                </a:endParaRPr>
              </a:p>
              <a:p>
                <a:pPr marL="0" indent="0">
                  <a:buNone/>
                </a:pPr>
                <a:r>
                  <a:rPr lang="pl-PL" dirty="0">
                    <a:latin typeface="Frutiger 45 Light" panose="020B0603020202020204" pitchFamily="34" charset="0"/>
                  </a:rPr>
                  <a:t>	…</a:t>
                </a:r>
              </a:p>
              <a:p>
                <a:pPr marL="0" indent="0">
                  <a:buNone/>
                </a:pPr>
                <a:r>
                  <a:rPr lang="pl-PL" dirty="0">
                    <a:latin typeface="Frutiger 45 Light" panose="020B0603020202020204" pitchFamily="34" charset="0"/>
                  </a:rPr>
                  <a:t>	[</a:t>
                </a:r>
                <a:r>
                  <a:rPr lang="pl-PL" dirty="0" err="1">
                    <a:latin typeface="Frutiger 45 Light" panose="020B0603020202020204" pitchFamily="34" charset="0"/>
                  </a:rPr>
                  <a:t>Proceed</a:t>
                </a:r>
                <a:r>
                  <a:rPr lang="pl-PL" dirty="0">
                    <a:latin typeface="Frutiger 45 Light" panose="020B0603020202020204" pitchFamily="34" charset="0"/>
                  </a:rPr>
                  <a:t> </a:t>
                </a:r>
                <a:r>
                  <a:rPr lang="pl-PL" dirty="0" err="1">
                    <a:latin typeface="Frutiger 45 Light" panose="020B0603020202020204" pitchFamily="34" charset="0"/>
                  </a:rPr>
                  <a:t>recursevely</a:t>
                </a:r>
                <a:r>
                  <a:rPr lang="pl-PL" dirty="0">
                    <a:latin typeface="Frutiger 45 Light" panose="020B0603020202020204" pitchFamily="34" charset="0"/>
                  </a:rPr>
                  <a:t> </a:t>
                </a:r>
                <a:r>
                  <a:rPr lang="pl-PL" dirty="0" err="1">
                    <a:latin typeface="Frutiger 45 Light" panose="020B0603020202020204" pitchFamily="34" charset="0"/>
                  </a:rPr>
                  <a:t>like</a:t>
                </a:r>
                <a:r>
                  <a:rPr lang="pl-PL" dirty="0">
                    <a:latin typeface="Frutiger 45 Light" panose="020B0603020202020204" pitchFamily="34" charset="0"/>
                  </a:rPr>
                  <a:t> </a:t>
                </a:r>
                <a:r>
                  <a:rPr lang="pl-PL" dirty="0" err="1">
                    <a:latin typeface="Frutiger 45 Light" panose="020B0603020202020204" pitchFamily="34" charset="0"/>
                  </a:rPr>
                  <a:t>that</a:t>
                </a:r>
                <a:r>
                  <a:rPr lang="pl-PL" dirty="0">
                    <a:latin typeface="Frutiger 45 Light" panose="020B0603020202020204" pitchFamily="34" charset="0"/>
                  </a:rPr>
                  <a:t> </a:t>
                </a:r>
                <a:r>
                  <a:rPr lang="pl-PL" dirty="0" err="1">
                    <a:latin typeface="Frutiger 45 Light" panose="020B0603020202020204" pitchFamily="34" charset="0"/>
                  </a:rPr>
                  <a:t>until</a:t>
                </a:r>
                <a:r>
                  <a:rPr lang="pl-PL" dirty="0">
                    <a:latin typeface="Frutiger 45 Light" panose="020B0603020202020204" pitchFamily="34" charset="0"/>
                  </a:rPr>
                  <a:t> </a:t>
                </a:r>
                <a:r>
                  <a:rPr lang="pl-PL" dirty="0" err="1">
                    <a:latin typeface="Frutiger 45 Light" panose="020B0603020202020204" pitchFamily="34" charset="0"/>
                  </a:rPr>
                  <a:t>you</a:t>
                </a:r>
                <a:r>
                  <a:rPr lang="pl-PL" dirty="0">
                    <a:latin typeface="Frutiger 45 Light" panose="020B0603020202020204" pitchFamily="34" charset="0"/>
                  </a:rPr>
                  <a:t> </a:t>
                </a:r>
                <a:r>
                  <a:rPr lang="pl-PL" dirty="0" err="1">
                    <a:latin typeface="Frutiger 45 Light" panose="020B0603020202020204" pitchFamily="34" charset="0"/>
                  </a:rPr>
                  <a:t>reach</a:t>
                </a:r>
                <a:r>
                  <a:rPr lang="pl-PL" dirty="0">
                    <a:latin typeface="Frutiger 45 Light" panose="020B0603020202020204" pitchFamily="34" charset="0"/>
                  </a:rPr>
                  <a:t> </a:t>
                </a:r>
                <a14:m>
                  <m:oMath xmlns:m="http://schemas.openxmlformats.org/officeDocument/2006/math">
                    <m:sSub>
                      <m:sSubPr>
                        <m:ctrlPr>
                          <a:rPr lang="pl-PL" altLang="zh-TW" i="1">
                            <a:latin typeface="Cambria Math" panose="02040503050406030204" pitchFamily="18" charset="0"/>
                          </a:rPr>
                        </m:ctrlPr>
                      </m:sSubPr>
                      <m:e>
                        <m:r>
                          <a:rPr lang="pl-PL" altLang="zh-TW" i="1">
                            <a:latin typeface="Cambria Math" panose="02040503050406030204" pitchFamily="18" charset="0"/>
                          </a:rPr>
                          <m:t>𝑡</m:t>
                        </m:r>
                      </m:e>
                      <m:sub>
                        <m:r>
                          <a:rPr lang="pl-PL" altLang="zh-TW" b="0" i="1" smtClean="0">
                            <a:latin typeface="Cambria Math" panose="02040503050406030204" pitchFamily="18" charset="0"/>
                          </a:rPr>
                          <m:t>𝑛</m:t>
                        </m:r>
                      </m:sub>
                    </m:sSub>
                    <m:r>
                      <a:rPr lang="pl-PL" altLang="zh-TW" b="0" i="1" smtClean="0">
                        <a:latin typeface="Cambria Math" panose="02040503050406030204" pitchFamily="18" charset="0"/>
                      </a:rPr>
                      <m:t>=</m:t>
                    </m:r>
                    <m:r>
                      <a:rPr lang="pl-PL" altLang="zh-TW" b="0" i="1" smtClean="0">
                        <a:latin typeface="Cambria Math" panose="02040503050406030204" pitchFamily="18" charset="0"/>
                      </a:rPr>
                      <m:t>𝑇</m:t>
                    </m:r>
                    <m:r>
                      <a:rPr lang="pl-PL" altLang="zh-TW" b="0" i="1" smtClean="0">
                        <a:latin typeface="Cambria Math" panose="02040503050406030204" pitchFamily="18" charset="0"/>
                      </a:rPr>
                      <m:t>.]</m:t>
                    </m:r>
                  </m:oMath>
                </a14:m>
                <a:endParaRPr lang="pl-PL" dirty="0">
                  <a:latin typeface="Frutiger 45 Light" panose="020B0603020202020204" pitchFamily="34" charset="0"/>
                </a:endParaRPr>
              </a:p>
            </p:txBody>
          </p:sp>
        </mc:Choice>
        <mc:Fallback xmlns="">
          <p:sp>
            <p:nvSpPr>
              <p:cNvPr id="2" name="Content Placeholder 1">
                <a:extLst>
                  <a:ext uri="{FF2B5EF4-FFF2-40B4-BE49-F238E27FC236}">
                    <a16:creationId xmlns:a16="http://schemas.microsoft.com/office/drawing/2014/main" id="{C5523F61-D9C0-492D-923E-695D1381F6AE}"/>
                  </a:ext>
                </a:extLst>
              </p:cNvPr>
              <p:cNvSpPr>
                <a:spLocks noGrp="1" noRot="1" noChangeAspect="1" noMove="1" noResize="1" noEditPoints="1" noAdjustHandles="1" noChangeArrowheads="1" noChangeShapeType="1" noTextEdit="1"/>
              </p:cNvSpPr>
              <p:nvPr>
                <p:ph idx="1"/>
              </p:nvPr>
            </p:nvSpPr>
            <p:spPr>
              <a:xfrm>
                <a:off x="420624" y="1675323"/>
                <a:ext cx="9304490" cy="5270247"/>
              </a:xfrm>
              <a:blipFill>
                <a:blip r:embed="rId3"/>
                <a:stretch>
                  <a:fillRect l="-1507" t="-1505"/>
                </a:stretch>
              </a:blipFill>
            </p:spPr>
            <p:txBody>
              <a:bodyPr/>
              <a:lstStyle/>
              <a:p>
                <a:r>
                  <a:rPr lang="en-GB">
                    <a:noFill/>
                  </a:rPr>
                  <a:t> </a:t>
                </a:r>
              </a:p>
            </p:txBody>
          </p:sp>
        </mc:Fallback>
      </mc:AlternateContent>
      <p:sp>
        <p:nvSpPr>
          <p:cNvPr id="3" name="Title 2">
            <a:extLst>
              <a:ext uri="{FF2B5EF4-FFF2-40B4-BE49-F238E27FC236}">
                <a16:creationId xmlns:a16="http://schemas.microsoft.com/office/drawing/2014/main" id="{1BF73D4B-2C54-4EF1-BB67-2ABA6B21D1F5}"/>
              </a:ext>
            </a:extLst>
          </p:cNvPr>
          <p:cNvSpPr>
            <a:spLocks noGrp="1"/>
          </p:cNvSpPr>
          <p:nvPr>
            <p:ph type="title"/>
          </p:nvPr>
        </p:nvSpPr>
        <p:spPr/>
        <p:txBody>
          <a:bodyPr/>
          <a:lstStyle/>
          <a:p>
            <a:r>
              <a:rPr lang="pl-PL" dirty="0"/>
              <a:t>Monte Carlo </a:t>
            </a:r>
            <a:r>
              <a:rPr lang="pl-PL" dirty="0" err="1"/>
              <a:t>Simulations</a:t>
            </a:r>
            <a:endParaRPr lang="en-GB" dirty="0"/>
          </a:p>
        </p:txBody>
      </p:sp>
      <p:sp>
        <p:nvSpPr>
          <p:cNvPr id="16" name="TextBox 15">
            <a:extLst>
              <a:ext uri="{FF2B5EF4-FFF2-40B4-BE49-F238E27FC236}">
                <a16:creationId xmlns:a16="http://schemas.microsoft.com/office/drawing/2014/main" id="{1D287CA3-4448-4EB0-A7A3-B020B268954D}"/>
              </a:ext>
            </a:extLst>
          </p:cNvPr>
          <p:cNvSpPr txBox="1"/>
          <p:nvPr>
            <p:custDataLst>
              <p:tags r:id="rId1"/>
            </p:custDataLst>
          </p:nvPr>
        </p:nvSpPr>
        <p:spPr>
          <a:xfrm>
            <a:off x="420624" y="1133132"/>
            <a:ext cx="9189720" cy="274320"/>
          </a:xfrm>
          <a:prstGeom prst="rect">
            <a:avLst/>
          </a:prstGeom>
          <a:noFill/>
        </p:spPr>
        <p:txBody>
          <a:bodyPr vert="horz" wrap="square" lIns="0" tIns="0" rIns="0" bIns="0" rtlCol="0" anchor="t">
            <a:noAutofit/>
          </a:bodyPr>
          <a:lstStyle/>
          <a:p>
            <a:pPr eaLnBrk="1">
              <a:spcBef>
                <a:spcPts val="0"/>
              </a:spcBef>
              <a:spcAft>
                <a:spcPts val="600"/>
              </a:spcAft>
            </a:pPr>
            <a:r>
              <a:rPr lang="pl-PL" sz="2000" kern="0" dirty="0" err="1">
                <a:solidFill>
                  <a:srgbClr val="464749"/>
                </a:solidFill>
                <a:latin typeface="Frutiger 45 Light" panose="020B0603020202020204" pitchFamily="34" charset="0"/>
              </a:rPr>
              <a:t>Stochastic</a:t>
            </a:r>
            <a:r>
              <a:rPr lang="pl-PL" sz="2000" kern="0" dirty="0">
                <a:solidFill>
                  <a:srgbClr val="464749"/>
                </a:solidFill>
                <a:latin typeface="Frutiger 45 Light" panose="020B0603020202020204" pitchFamily="34" charset="0"/>
              </a:rPr>
              <a:t> </a:t>
            </a:r>
            <a:r>
              <a:rPr lang="pl-PL" sz="2000" kern="0" dirty="0" err="1">
                <a:solidFill>
                  <a:srgbClr val="464749"/>
                </a:solidFill>
                <a:latin typeface="Frutiger 45 Light" panose="020B0603020202020204" pitchFamily="34" charset="0"/>
              </a:rPr>
              <a:t>process</a:t>
            </a:r>
            <a:r>
              <a:rPr lang="pl-PL" sz="2000" kern="0" dirty="0">
                <a:solidFill>
                  <a:srgbClr val="464749"/>
                </a:solidFill>
                <a:latin typeface="Frutiger 45 Light" panose="020B0603020202020204" pitchFamily="34" charset="0"/>
              </a:rPr>
              <a:t> </a:t>
            </a:r>
            <a:r>
              <a:rPr lang="pl-PL" sz="2000" kern="0" dirty="0" err="1">
                <a:solidFill>
                  <a:srgbClr val="464749"/>
                </a:solidFill>
                <a:latin typeface="Frutiger 45 Light" panose="020B0603020202020204" pitchFamily="34" charset="0"/>
              </a:rPr>
              <a:t>path</a:t>
            </a:r>
            <a:r>
              <a:rPr lang="pl-PL" sz="2000" kern="0" dirty="0">
                <a:solidFill>
                  <a:srgbClr val="464749"/>
                </a:solidFill>
                <a:latin typeface="Frutiger 45 Light" panose="020B0603020202020204" pitchFamily="34" charset="0"/>
              </a:rPr>
              <a:t> </a:t>
            </a:r>
            <a:r>
              <a:rPr lang="pl-PL" sz="2000" kern="0" dirty="0" err="1">
                <a:solidFill>
                  <a:srgbClr val="464749"/>
                </a:solidFill>
                <a:latin typeface="Frutiger 45 Light" panose="020B0603020202020204" pitchFamily="34" charset="0"/>
              </a:rPr>
              <a:t>generation</a:t>
            </a:r>
            <a:r>
              <a:rPr lang="pl-PL" sz="2000" kern="0" dirty="0">
                <a:solidFill>
                  <a:srgbClr val="464749"/>
                </a:solidFill>
                <a:latin typeface="Frutiger 45 Light" panose="020B0603020202020204" pitchFamily="34" charset="0"/>
              </a:rPr>
              <a:t> </a:t>
            </a:r>
            <a:r>
              <a:rPr lang="pl-PL" sz="2000" kern="0" dirty="0" err="1">
                <a:solidFill>
                  <a:srgbClr val="464749"/>
                </a:solidFill>
                <a:latin typeface="Frutiger 45 Light" panose="020B0603020202020204" pitchFamily="34" charset="0"/>
              </a:rPr>
              <a:t>example</a:t>
            </a:r>
            <a:r>
              <a:rPr lang="pl-PL" sz="2000" kern="0" dirty="0">
                <a:solidFill>
                  <a:srgbClr val="464749"/>
                </a:solidFill>
                <a:latin typeface="Frutiger 45 Light" panose="020B0603020202020204" pitchFamily="34" charset="0"/>
              </a:rPr>
              <a:t> </a:t>
            </a:r>
            <a:r>
              <a:rPr lang="pl-PL" sz="2000" kern="0" dirty="0" err="1">
                <a:solidFill>
                  <a:srgbClr val="464749"/>
                </a:solidFill>
                <a:latin typeface="Frutiger 45 Light" panose="020B0603020202020204" pitchFamily="34" charset="0"/>
              </a:rPr>
              <a:t>cnt’d</a:t>
            </a:r>
            <a:endParaRPr lang="en-US" sz="2000" kern="0" dirty="0">
              <a:solidFill>
                <a:srgbClr val="464749"/>
              </a:solidFill>
              <a:latin typeface="Frutiger 45 Light" panose="020B0603020202020204" pitchFamily="34" charset="0"/>
            </a:endParaRPr>
          </a:p>
        </p:txBody>
      </p:sp>
    </p:spTree>
    <p:extLst>
      <p:ext uri="{BB962C8B-B14F-4D97-AF65-F5344CB8AC3E}">
        <p14:creationId xmlns:p14="http://schemas.microsoft.com/office/powerpoint/2010/main" val="1160414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AGE HEADING"/>
          <p:cNvSpPr>
            <a:spLocks noGrp="1"/>
          </p:cNvSpPr>
          <p:nvPr>
            <p:ph type="title"/>
            <p:custDataLst>
              <p:tags r:id="rId2"/>
            </p:custDataLst>
          </p:nvPr>
        </p:nvSpPr>
        <p:spPr/>
        <p:txBody>
          <a:bodyPr>
            <a:normAutofit/>
          </a:bodyPr>
          <a:lstStyle/>
          <a:p>
            <a:r>
              <a:rPr lang="en-US" dirty="0"/>
              <a:t>Modelling Counterparty Credit Risk</a:t>
            </a:r>
          </a:p>
        </p:txBody>
      </p:sp>
      <p:sp>
        <p:nvSpPr>
          <p:cNvPr id="4" name="TextBox 3"/>
          <p:cNvSpPr txBox="1"/>
          <p:nvPr>
            <p:custDataLst>
              <p:tags r:id="rId3"/>
            </p:custDataLst>
          </p:nvPr>
        </p:nvSpPr>
        <p:spPr>
          <a:xfrm>
            <a:off x="420624" y="1120775"/>
            <a:ext cx="9189720" cy="274320"/>
          </a:xfrm>
          <a:prstGeom prst="rect">
            <a:avLst/>
          </a:prstGeom>
          <a:noFill/>
        </p:spPr>
        <p:txBody>
          <a:bodyPr vert="horz" wrap="square" lIns="0" tIns="0" rIns="0" bIns="0" rtlCol="0" anchor="t">
            <a:noAutofit/>
          </a:bodyPr>
          <a:lstStyle/>
          <a:p>
            <a:pPr eaLnBrk="1">
              <a:spcBef>
                <a:spcPts val="0"/>
              </a:spcBef>
              <a:spcAft>
                <a:spcPts val="600"/>
              </a:spcAft>
            </a:pPr>
            <a:r>
              <a:rPr lang="pl-PL" sz="2000" kern="0" dirty="0" err="1">
                <a:solidFill>
                  <a:srgbClr val="464749"/>
                </a:solidFill>
                <a:latin typeface="Frutiger 45 Light" panose="020B0603020202020204" pitchFamily="34" charset="0"/>
              </a:rPr>
              <a:t>Simulation</a:t>
            </a:r>
            <a:r>
              <a:rPr lang="pl-PL" sz="2000" kern="0" dirty="0">
                <a:solidFill>
                  <a:srgbClr val="464749"/>
                </a:solidFill>
                <a:latin typeface="Frutiger 45 Light" panose="020B0603020202020204" pitchFamily="34" charset="0"/>
              </a:rPr>
              <a:t> of </a:t>
            </a:r>
            <a:r>
              <a:rPr lang="pl-PL" sz="2000" kern="0" dirty="0" err="1">
                <a:solidFill>
                  <a:srgbClr val="464749"/>
                </a:solidFill>
                <a:latin typeface="Frutiger 45 Light" panose="020B0603020202020204" pitchFamily="34" charset="0"/>
              </a:rPr>
              <a:t>correlated</a:t>
            </a:r>
            <a:r>
              <a:rPr lang="pl-PL" sz="2000" kern="0" dirty="0">
                <a:solidFill>
                  <a:srgbClr val="464749"/>
                </a:solidFill>
                <a:latin typeface="Frutiger 45 Light" panose="020B0603020202020204" pitchFamily="34" charset="0"/>
              </a:rPr>
              <a:t> </a:t>
            </a:r>
            <a:r>
              <a:rPr lang="pl-PL" sz="2000" kern="0" dirty="0" err="1">
                <a:solidFill>
                  <a:srgbClr val="464749"/>
                </a:solidFill>
                <a:latin typeface="Frutiger 45 Light" panose="020B0603020202020204" pitchFamily="34" charset="0"/>
              </a:rPr>
              <a:t>processes</a:t>
            </a:r>
            <a:endParaRPr lang="en-US" sz="2000" kern="0" dirty="0">
              <a:solidFill>
                <a:srgbClr val="464749"/>
              </a:solidFill>
              <a:latin typeface="Frutiger 45 Light" panose="020B0603020202020204" pitchFamily="34" charset="0"/>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1313426E-C902-410F-BCC5-D4BF2B7DC6B4}"/>
                  </a:ext>
                </a:extLst>
              </p:cNvPr>
              <p:cNvSpPr txBox="1"/>
              <p:nvPr>
                <p:custDataLst>
                  <p:tags r:id="rId4"/>
                </p:custDataLst>
              </p:nvPr>
            </p:nvSpPr>
            <p:spPr>
              <a:xfrm>
                <a:off x="420624" y="1809539"/>
                <a:ext cx="9189720" cy="4974319"/>
              </a:xfrm>
              <a:prstGeom prst="rect">
                <a:avLst/>
              </a:prstGeom>
              <a:noFill/>
            </p:spPr>
            <p:txBody>
              <a:bodyPr vert="horz" wrap="square" lIns="0" tIns="0" rIns="0" bIns="0" rtlCol="0" anchor="t">
                <a:noAutofit/>
              </a:bodyPr>
              <a:lstStyle/>
              <a:p>
                <a:r>
                  <a:rPr lang="pl-PL" altLang="zh-TW" dirty="0">
                    <a:latin typeface="Frutiger 45 Light" panose="020B0603020202020204" pitchFamily="34" charset="0"/>
                  </a:rPr>
                  <a:t>If </a:t>
                </a:r>
                <a14:m>
                  <m:oMath xmlns:m="http://schemas.openxmlformats.org/officeDocument/2006/math">
                    <m:sSub>
                      <m:sSubPr>
                        <m:ctrlPr>
                          <a:rPr lang="pl-PL" altLang="zh-TW" i="1" smtClean="0">
                            <a:latin typeface="Cambria Math" panose="02040503050406030204" pitchFamily="18" charset="0"/>
                          </a:rPr>
                        </m:ctrlPr>
                      </m:sSubPr>
                      <m:e>
                        <m:r>
                          <a:rPr lang="pl-PL" altLang="zh-TW" b="0" i="1" smtClean="0">
                            <a:latin typeface="Cambria Math" panose="02040503050406030204" pitchFamily="18" charset="0"/>
                          </a:rPr>
                          <m:t>𝑊</m:t>
                        </m:r>
                      </m:e>
                      <m:sub>
                        <m:r>
                          <a:rPr lang="pl-PL" altLang="zh-TW" b="0" i="1" smtClean="0">
                            <a:latin typeface="Cambria Math" panose="02040503050406030204" pitchFamily="18" charset="0"/>
                          </a:rPr>
                          <m:t>1</m:t>
                        </m:r>
                      </m:sub>
                    </m:sSub>
                    <m:d>
                      <m:dPr>
                        <m:ctrlPr>
                          <a:rPr lang="pl-PL" altLang="zh-TW" b="0" i="1" smtClean="0">
                            <a:latin typeface="Cambria Math" panose="02040503050406030204" pitchFamily="18" charset="0"/>
                          </a:rPr>
                        </m:ctrlPr>
                      </m:dPr>
                      <m:e>
                        <m:r>
                          <a:rPr lang="pl-PL" altLang="zh-TW" b="0" i="1" smtClean="0">
                            <a:latin typeface="Cambria Math" panose="02040503050406030204" pitchFamily="18" charset="0"/>
                          </a:rPr>
                          <m:t>𝑡</m:t>
                        </m:r>
                      </m:e>
                    </m:d>
                  </m:oMath>
                </a14:m>
                <a:r>
                  <a:rPr lang="pl-PL" altLang="zh-TW" dirty="0">
                    <a:latin typeface="Frutiger 45 Light" panose="020B0603020202020204" pitchFamily="34" charset="0"/>
                  </a:rPr>
                  <a:t> and </a:t>
                </a:r>
                <a14:m>
                  <m:oMath xmlns:m="http://schemas.openxmlformats.org/officeDocument/2006/math">
                    <m:sSub>
                      <m:sSubPr>
                        <m:ctrlPr>
                          <a:rPr lang="pl-PL" altLang="zh-TW" i="1">
                            <a:latin typeface="Cambria Math" panose="02040503050406030204" pitchFamily="18" charset="0"/>
                          </a:rPr>
                        </m:ctrlPr>
                      </m:sSubPr>
                      <m:e>
                        <m:r>
                          <a:rPr lang="pl-PL" altLang="zh-TW" i="1">
                            <a:latin typeface="Cambria Math" panose="02040503050406030204" pitchFamily="18" charset="0"/>
                          </a:rPr>
                          <m:t>𝑊</m:t>
                        </m:r>
                      </m:e>
                      <m:sub>
                        <m:r>
                          <a:rPr lang="pl-PL" altLang="zh-TW" b="0" i="1" smtClean="0">
                            <a:latin typeface="Cambria Math" panose="02040503050406030204" pitchFamily="18" charset="0"/>
                          </a:rPr>
                          <m:t>2</m:t>
                        </m:r>
                      </m:sub>
                    </m:sSub>
                    <m:d>
                      <m:dPr>
                        <m:ctrlPr>
                          <a:rPr lang="pl-PL" altLang="zh-TW" i="1">
                            <a:latin typeface="Cambria Math" panose="02040503050406030204" pitchFamily="18" charset="0"/>
                          </a:rPr>
                        </m:ctrlPr>
                      </m:dPr>
                      <m:e>
                        <m:r>
                          <a:rPr lang="pl-PL" altLang="zh-TW" i="1">
                            <a:latin typeface="Cambria Math" panose="02040503050406030204" pitchFamily="18" charset="0"/>
                          </a:rPr>
                          <m:t>𝑡</m:t>
                        </m:r>
                      </m:e>
                    </m:d>
                  </m:oMath>
                </a14:m>
                <a:r>
                  <a:rPr lang="pl-PL" altLang="zh-TW" dirty="0">
                    <a:latin typeface="Frutiger 45 Light" panose="020B0603020202020204" pitchFamily="34" charset="0"/>
                  </a:rPr>
                  <a:t> </a:t>
                </a:r>
                <a:r>
                  <a:rPr lang="pl-PL" altLang="zh-TW" dirty="0" err="1">
                    <a:latin typeface="Frutiger 45 Light" panose="020B0603020202020204" pitchFamily="34" charset="0"/>
                  </a:rPr>
                  <a:t>are</a:t>
                </a:r>
                <a:r>
                  <a:rPr lang="pl-PL" altLang="zh-TW" dirty="0">
                    <a:latin typeface="Frutiger 45 Light" panose="020B0603020202020204" pitchFamily="34" charset="0"/>
                  </a:rPr>
                  <a:t> </a:t>
                </a:r>
                <a:r>
                  <a:rPr lang="pl-PL" altLang="zh-TW" dirty="0" err="1">
                    <a:latin typeface="Frutiger 45 Light" panose="020B0603020202020204" pitchFamily="34" charset="0"/>
                  </a:rPr>
                  <a:t>two</a:t>
                </a:r>
                <a:r>
                  <a:rPr lang="pl-PL" altLang="zh-TW" dirty="0">
                    <a:latin typeface="Frutiger 45 Light" panose="020B0603020202020204" pitchFamily="34" charset="0"/>
                  </a:rPr>
                  <a:t> independent Wiener </a:t>
                </a:r>
                <a:r>
                  <a:rPr lang="pl-PL" altLang="zh-TW" dirty="0" err="1">
                    <a:latin typeface="Frutiger 45 Light" panose="020B0603020202020204" pitchFamily="34" charset="0"/>
                  </a:rPr>
                  <a:t>processes</a:t>
                </a:r>
                <a:r>
                  <a:rPr lang="pl-PL" altLang="zh-TW" dirty="0">
                    <a:latin typeface="Frutiger 45 Light" panose="020B0603020202020204" pitchFamily="34" charset="0"/>
                  </a:rPr>
                  <a:t> and </a:t>
                </a:r>
                <a:r>
                  <a:rPr lang="en-GB" dirty="0"/>
                  <a:t>ρ</a:t>
                </a:r>
                <a14:m>
                  <m:oMath xmlns:m="http://schemas.openxmlformats.org/officeDocument/2006/math">
                    <m:r>
                      <a:rPr lang="en-GB" i="1" smtClean="0">
                        <a:latin typeface="Cambria Math" panose="02040503050406030204" pitchFamily="18" charset="0"/>
                        <a:ea typeface="Cambria Math" panose="02040503050406030204" pitchFamily="18" charset="0"/>
                      </a:rPr>
                      <m:t>∈</m:t>
                    </m:r>
                    <m:r>
                      <a:rPr lang="pl-PL" b="0" i="1" smtClean="0">
                        <a:latin typeface="Cambria Math" panose="02040503050406030204" pitchFamily="18" charset="0"/>
                        <a:ea typeface="Cambria Math" panose="02040503050406030204" pitchFamily="18" charset="0"/>
                      </a:rPr>
                      <m:t>[−1,1]</m:t>
                    </m:r>
                  </m:oMath>
                </a14:m>
                <a:r>
                  <a:rPr lang="pl-PL" altLang="zh-TW" dirty="0">
                    <a:latin typeface="Frutiger 45 Light" panose="020B0603020202020204" pitchFamily="34" charset="0"/>
                  </a:rPr>
                  <a:t>, </a:t>
                </a:r>
                <a:r>
                  <a:rPr lang="pl-PL" altLang="zh-TW" dirty="0" err="1">
                    <a:latin typeface="Frutiger 45 Light" panose="020B0603020202020204" pitchFamily="34" charset="0"/>
                  </a:rPr>
                  <a:t>then</a:t>
                </a:r>
                <a:r>
                  <a:rPr lang="pl-PL" altLang="zh-TW" dirty="0">
                    <a:latin typeface="Frutiger 45 Light" panose="020B0603020202020204" pitchFamily="34" charset="0"/>
                  </a:rPr>
                  <a:t> </a:t>
                </a:r>
                <a:endParaRPr lang="pl-PL" altLang="zh-TW" sz="2000" dirty="0">
                  <a:latin typeface="Frutiger 45 Light" panose="020B0603020202020204" pitchFamily="34" charset="0"/>
                </a:endParaRPr>
              </a:p>
              <a:p>
                <a:r>
                  <a:rPr lang="pl-PL" altLang="zh-TW" sz="2000" b="0" dirty="0"/>
                  <a:t>			</a:t>
                </a:r>
                <a14:m>
                  <m:oMath xmlns:m="http://schemas.openxmlformats.org/officeDocument/2006/math">
                    <m:acc>
                      <m:accPr>
                        <m:chr m:val="̃"/>
                        <m:ctrlPr>
                          <a:rPr lang="pl-PL" altLang="zh-TW" sz="2000" b="0" i="1" smtClean="0">
                            <a:latin typeface="Cambria Math" panose="02040503050406030204" pitchFamily="18" charset="0"/>
                          </a:rPr>
                        </m:ctrlPr>
                      </m:accPr>
                      <m:e>
                        <m:sSub>
                          <m:sSubPr>
                            <m:ctrlPr>
                              <a:rPr lang="pl-PL" altLang="zh-TW" sz="2000" b="0" i="1" smtClean="0">
                                <a:latin typeface="Cambria Math" panose="02040503050406030204" pitchFamily="18" charset="0"/>
                              </a:rPr>
                            </m:ctrlPr>
                          </m:sSubPr>
                          <m:e>
                            <m:r>
                              <a:rPr lang="pl-PL" altLang="zh-TW" sz="2000" b="0" i="1" smtClean="0">
                                <a:latin typeface="Cambria Math" panose="02040503050406030204" pitchFamily="18" charset="0"/>
                              </a:rPr>
                              <m:t>𝑊</m:t>
                            </m:r>
                          </m:e>
                          <m:sub>
                            <m:r>
                              <a:rPr lang="pl-PL" altLang="zh-TW" sz="2000" b="0" i="1" smtClean="0">
                                <a:latin typeface="Cambria Math" panose="02040503050406030204" pitchFamily="18" charset="0"/>
                              </a:rPr>
                              <m:t>1</m:t>
                            </m:r>
                          </m:sub>
                        </m:sSub>
                      </m:e>
                    </m:acc>
                  </m:oMath>
                </a14:m>
                <a:r>
                  <a:rPr lang="pl-PL" altLang="zh-TW" sz="2000" dirty="0">
                    <a:latin typeface="Frutiger 45 Light" panose="020B0603020202020204" pitchFamily="34" charset="0"/>
                  </a:rPr>
                  <a:t> = </a:t>
                </a:r>
                <a14:m>
                  <m:oMath xmlns:m="http://schemas.openxmlformats.org/officeDocument/2006/math">
                    <m:sSub>
                      <m:sSubPr>
                        <m:ctrlPr>
                          <a:rPr lang="pl-PL" altLang="zh-TW" sz="2000" i="1">
                            <a:latin typeface="Cambria Math" panose="02040503050406030204" pitchFamily="18" charset="0"/>
                          </a:rPr>
                        </m:ctrlPr>
                      </m:sSubPr>
                      <m:e>
                        <m:r>
                          <a:rPr lang="pl-PL" altLang="zh-TW" sz="2000" i="1">
                            <a:latin typeface="Cambria Math" panose="02040503050406030204" pitchFamily="18" charset="0"/>
                          </a:rPr>
                          <m:t>𝑊</m:t>
                        </m:r>
                      </m:e>
                      <m:sub>
                        <m:r>
                          <a:rPr lang="pl-PL" altLang="zh-TW" sz="2000" i="1">
                            <a:latin typeface="Cambria Math" panose="02040503050406030204" pitchFamily="18" charset="0"/>
                          </a:rPr>
                          <m:t>1</m:t>
                        </m:r>
                      </m:sub>
                    </m:sSub>
                  </m:oMath>
                </a14:m>
                <a:endParaRPr lang="pl-PL" altLang="zh-TW" sz="2000" dirty="0">
                  <a:latin typeface="Frutiger 45 Light" panose="020B0603020202020204" pitchFamily="34" charset="0"/>
                </a:endParaRPr>
              </a:p>
              <a:p>
                <a:r>
                  <a:rPr lang="pl-PL" altLang="zh-TW" sz="2000" dirty="0">
                    <a:latin typeface="Frutiger 45 Light" panose="020B0603020202020204" pitchFamily="34" charset="0"/>
                  </a:rPr>
                  <a:t>			</a:t>
                </a:r>
                <a14:m>
                  <m:oMath xmlns:m="http://schemas.openxmlformats.org/officeDocument/2006/math">
                    <m:acc>
                      <m:accPr>
                        <m:chr m:val="̃"/>
                        <m:ctrlPr>
                          <a:rPr lang="pl-PL" altLang="zh-TW" sz="2000" i="1">
                            <a:latin typeface="Cambria Math" panose="02040503050406030204" pitchFamily="18" charset="0"/>
                          </a:rPr>
                        </m:ctrlPr>
                      </m:accPr>
                      <m:e>
                        <m:sSub>
                          <m:sSubPr>
                            <m:ctrlPr>
                              <a:rPr lang="pl-PL" altLang="zh-TW" sz="2000" i="1">
                                <a:latin typeface="Cambria Math" panose="02040503050406030204" pitchFamily="18" charset="0"/>
                              </a:rPr>
                            </m:ctrlPr>
                          </m:sSubPr>
                          <m:e>
                            <m:r>
                              <a:rPr lang="pl-PL" altLang="zh-TW" sz="2000" i="1">
                                <a:latin typeface="Cambria Math" panose="02040503050406030204" pitchFamily="18" charset="0"/>
                              </a:rPr>
                              <m:t>𝑊</m:t>
                            </m:r>
                          </m:e>
                          <m:sub>
                            <m:r>
                              <a:rPr lang="pl-PL" altLang="zh-TW" sz="2000" b="0" i="1" smtClean="0">
                                <a:latin typeface="Cambria Math" panose="02040503050406030204" pitchFamily="18" charset="0"/>
                              </a:rPr>
                              <m:t>2</m:t>
                            </m:r>
                          </m:sub>
                        </m:sSub>
                      </m:e>
                    </m:acc>
                  </m:oMath>
                </a14:m>
                <a:r>
                  <a:rPr lang="pl-PL" altLang="zh-TW" sz="2000" dirty="0">
                    <a:latin typeface="Frutiger 45 Light" panose="020B0603020202020204" pitchFamily="34" charset="0"/>
                  </a:rPr>
                  <a:t> = </a:t>
                </a:r>
                <a14:m>
                  <m:oMath xmlns:m="http://schemas.openxmlformats.org/officeDocument/2006/math">
                    <m:sSub>
                      <m:sSubPr>
                        <m:ctrlPr>
                          <a:rPr lang="pl-PL" altLang="zh-TW" sz="2000" i="1">
                            <a:latin typeface="Cambria Math" panose="02040503050406030204" pitchFamily="18" charset="0"/>
                          </a:rPr>
                        </m:ctrlPr>
                      </m:sSubPr>
                      <m:e>
                        <m:r>
                          <m:rPr>
                            <m:nor/>
                          </m:rPr>
                          <a:rPr lang="en-GB" sz="2000" dirty="0"/>
                          <m:t>ρ</m:t>
                        </m:r>
                        <m:r>
                          <a:rPr lang="pl-PL" altLang="zh-TW" sz="2000" i="1">
                            <a:latin typeface="Cambria Math" panose="02040503050406030204" pitchFamily="18" charset="0"/>
                          </a:rPr>
                          <m:t>𝑊</m:t>
                        </m:r>
                      </m:e>
                      <m:sub>
                        <m:r>
                          <a:rPr lang="pl-PL" altLang="zh-TW" sz="2000" i="1">
                            <a:latin typeface="Cambria Math" panose="02040503050406030204" pitchFamily="18" charset="0"/>
                          </a:rPr>
                          <m:t>1</m:t>
                        </m:r>
                      </m:sub>
                    </m:sSub>
                  </m:oMath>
                </a14:m>
                <a:r>
                  <a:rPr lang="pl-PL" altLang="zh-TW" sz="2000" dirty="0">
                    <a:latin typeface="Frutiger 45 Light" panose="020B0603020202020204" pitchFamily="34" charset="0"/>
                  </a:rPr>
                  <a:t>+</a:t>
                </a:r>
                <a14:m>
                  <m:oMath xmlns:m="http://schemas.openxmlformats.org/officeDocument/2006/math">
                    <m:rad>
                      <m:radPr>
                        <m:degHide m:val="on"/>
                        <m:ctrlPr>
                          <a:rPr lang="pl-PL" altLang="zh-TW" sz="2000" i="1" dirty="0" smtClean="0">
                            <a:latin typeface="Cambria Math" panose="02040503050406030204" pitchFamily="18" charset="0"/>
                          </a:rPr>
                        </m:ctrlPr>
                      </m:radPr>
                      <m:deg/>
                      <m:e>
                        <m:r>
                          <a:rPr lang="pl-PL" altLang="zh-TW" sz="2000" b="0" i="1" dirty="0" smtClean="0">
                            <a:latin typeface="Cambria Math" panose="02040503050406030204" pitchFamily="18" charset="0"/>
                          </a:rPr>
                          <m:t>1−</m:t>
                        </m:r>
                        <m:sSup>
                          <m:sSupPr>
                            <m:ctrlPr>
                              <a:rPr lang="pl-PL" altLang="zh-TW" sz="2000" b="0" i="1" dirty="0" smtClean="0">
                                <a:latin typeface="Cambria Math" panose="02040503050406030204" pitchFamily="18" charset="0"/>
                              </a:rPr>
                            </m:ctrlPr>
                          </m:sSupPr>
                          <m:e>
                            <m:r>
                              <m:rPr>
                                <m:nor/>
                              </m:rPr>
                              <a:rPr lang="en-GB" sz="2000" dirty="0"/>
                              <m:t>ρ</m:t>
                            </m:r>
                          </m:e>
                          <m:sup>
                            <m:r>
                              <a:rPr lang="pl-PL" altLang="zh-TW" sz="2000" b="0" i="1" dirty="0" smtClean="0">
                                <a:latin typeface="Cambria Math" panose="02040503050406030204" pitchFamily="18" charset="0"/>
                              </a:rPr>
                              <m:t>2</m:t>
                            </m:r>
                          </m:sup>
                        </m:sSup>
                      </m:e>
                    </m:rad>
                    <m:sSub>
                      <m:sSubPr>
                        <m:ctrlPr>
                          <a:rPr lang="pl-PL" altLang="zh-TW" sz="2000" i="1">
                            <a:latin typeface="Cambria Math" panose="02040503050406030204" pitchFamily="18" charset="0"/>
                          </a:rPr>
                        </m:ctrlPr>
                      </m:sSubPr>
                      <m:e>
                        <m:r>
                          <a:rPr lang="pl-PL" altLang="zh-TW" sz="2000" i="1">
                            <a:latin typeface="Cambria Math" panose="02040503050406030204" pitchFamily="18" charset="0"/>
                          </a:rPr>
                          <m:t>𝑊</m:t>
                        </m:r>
                      </m:e>
                      <m:sub>
                        <m:r>
                          <a:rPr lang="pl-PL" altLang="zh-TW" sz="2000" b="0" i="1" smtClean="0">
                            <a:latin typeface="Cambria Math" panose="02040503050406030204" pitchFamily="18" charset="0"/>
                          </a:rPr>
                          <m:t>2</m:t>
                        </m:r>
                      </m:sub>
                    </m:sSub>
                  </m:oMath>
                </a14:m>
                <a:endParaRPr lang="pl-PL" altLang="zh-TW" sz="2000" dirty="0">
                  <a:latin typeface="Frutiger 45 Light" panose="020B0603020202020204" pitchFamily="34" charset="0"/>
                </a:endParaRPr>
              </a:p>
              <a:p>
                <a:r>
                  <a:rPr lang="pl-PL" altLang="zh-TW" sz="2000" dirty="0" err="1">
                    <a:latin typeface="Frutiger 45 Light" panose="020B0603020202020204" pitchFamily="34" charset="0"/>
                  </a:rPr>
                  <a:t>Are</a:t>
                </a:r>
                <a:r>
                  <a:rPr lang="pl-PL" altLang="zh-TW" sz="2000" dirty="0">
                    <a:latin typeface="Frutiger 45 Light" panose="020B0603020202020204" pitchFamily="34" charset="0"/>
                  </a:rPr>
                  <a:t> </a:t>
                </a:r>
                <a:r>
                  <a:rPr lang="pl-PL" altLang="zh-TW" sz="2000" dirty="0" err="1">
                    <a:latin typeface="Frutiger 45 Light" panose="020B0603020202020204" pitchFamily="34" charset="0"/>
                  </a:rPr>
                  <a:t>correlated</a:t>
                </a:r>
                <a:r>
                  <a:rPr lang="pl-PL" altLang="zh-TW" sz="2000" dirty="0">
                    <a:latin typeface="Frutiger 45 Light" panose="020B0603020202020204" pitchFamily="34" charset="0"/>
                  </a:rPr>
                  <a:t> Wiener </a:t>
                </a:r>
                <a:r>
                  <a:rPr lang="pl-PL" altLang="zh-TW" sz="2000" dirty="0" err="1">
                    <a:latin typeface="Frutiger 45 Light" panose="020B0603020202020204" pitchFamily="34" charset="0"/>
                  </a:rPr>
                  <a:t>processes</a:t>
                </a:r>
                <a:r>
                  <a:rPr lang="pl-PL" altLang="zh-TW" sz="2000" dirty="0">
                    <a:latin typeface="Frutiger 45 Light" panose="020B0603020202020204" pitchFamily="34" charset="0"/>
                  </a:rPr>
                  <a:t> with </a:t>
                </a:r>
                <a:r>
                  <a:rPr lang="pl-PL" altLang="zh-TW" sz="2000" dirty="0" err="1">
                    <a:latin typeface="Frutiger 45 Light" panose="020B0603020202020204" pitchFamily="34" charset="0"/>
                  </a:rPr>
                  <a:t>correlation</a:t>
                </a:r>
                <a:r>
                  <a:rPr lang="pl-PL" altLang="zh-TW" sz="2000" dirty="0">
                    <a:latin typeface="Frutiger 45 Light" panose="020B0603020202020204" pitchFamily="34" charset="0"/>
                  </a:rPr>
                  <a:t> </a:t>
                </a:r>
                <a:r>
                  <a:rPr lang="en-GB" dirty="0"/>
                  <a:t>ρ</a:t>
                </a:r>
                <a:r>
                  <a:rPr lang="pl-PL" dirty="0"/>
                  <a:t>.</a:t>
                </a:r>
              </a:p>
              <a:p>
                <a:endParaRPr lang="en-GB" dirty="0"/>
              </a:p>
              <a:p>
                <a:r>
                  <a:rPr lang="pl-PL" altLang="zh-TW" sz="2000" dirty="0">
                    <a:latin typeface="Frutiger 45 Light" panose="020B0603020202020204" pitchFamily="34" charset="0"/>
                  </a:rPr>
                  <a:t>In a </a:t>
                </a:r>
                <a:r>
                  <a:rPr lang="pl-PL" altLang="zh-TW" sz="2000" dirty="0" err="1">
                    <a:latin typeface="Frutiger 45 Light" panose="020B0603020202020204" pitchFamily="34" charset="0"/>
                  </a:rPr>
                  <a:t>generalized</a:t>
                </a:r>
                <a:r>
                  <a:rPr lang="pl-PL" altLang="zh-TW" sz="2000" dirty="0">
                    <a:latin typeface="Frutiger 45 Light" panose="020B0603020202020204" pitchFamily="34" charset="0"/>
                  </a:rPr>
                  <a:t> </a:t>
                </a:r>
                <a:r>
                  <a:rPr lang="pl-PL" altLang="zh-TW" sz="2000" dirty="0" err="1">
                    <a:latin typeface="Frutiger 45 Light" panose="020B0603020202020204" pitchFamily="34" charset="0"/>
                  </a:rPr>
                  <a:t>case</a:t>
                </a:r>
                <a:r>
                  <a:rPr lang="pl-PL" altLang="zh-TW" sz="2000" dirty="0">
                    <a:latin typeface="Frutiger 45 Light" panose="020B0603020202020204" pitchFamily="34" charset="0"/>
                  </a:rPr>
                  <a:t>, </a:t>
                </a:r>
                <a:r>
                  <a:rPr lang="pl-PL" altLang="zh-TW" sz="2000" dirty="0" err="1">
                    <a:latin typeface="Frutiger 45 Light" panose="020B0603020202020204" pitchFamily="34" charset="0"/>
                  </a:rPr>
                  <a:t>using</a:t>
                </a:r>
                <a:r>
                  <a:rPr lang="pl-PL" altLang="zh-TW" sz="2000" dirty="0">
                    <a:latin typeface="Frutiger 45 Light" panose="020B0603020202020204" pitchFamily="34" charset="0"/>
                  </a:rPr>
                  <a:t> the </a:t>
                </a:r>
                <a:r>
                  <a:rPr lang="pl-PL" altLang="zh-TW" sz="2000" dirty="0" err="1">
                    <a:latin typeface="Frutiger 45 Light" panose="020B0603020202020204" pitchFamily="34" charset="0"/>
                  </a:rPr>
                  <a:t>fact</a:t>
                </a:r>
                <a:r>
                  <a:rPr lang="pl-PL" altLang="zh-TW" sz="2000" dirty="0">
                    <a:latin typeface="Frutiger 45 Light" panose="020B0603020202020204" pitchFamily="34" charset="0"/>
                  </a:rPr>
                  <a:t> </a:t>
                </a:r>
                <a:r>
                  <a:rPr lang="pl-PL" altLang="zh-TW" sz="2000" dirty="0" err="1">
                    <a:latin typeface="Frutiger 45 Light" panose="020B0603020202020204" pitchFamily="34" charset="0"/>
                  </a:rPr>
                  <a:t>that</a:t>
                </a:r>
                <a:r>
                  <a:rPr lang="pl-PL" altLang="zh-TW" sz="2000" dirty="0">
                    <a:latin typeface="Frutiger 45 Light" panose="020B0603020202020204" pitchFamily="34" charset="0"/>
                  </a:rPr>
                  <a:t> if </a:t>
                </a:r>
                <a14:m>
                  <m:oMath xmlns:m="http://schemas.openxmlformats.org/officeDocument/2006/math">
                    <m:r>
                      <a:rPr lang="pl-PL" altLang="zh-TW" sz="2000" b="0" i="1" smtClean="0">
                        <a:latin typeface="Cambria Math" panose="02040503050406030204" pitchFamily="18" charset="0"/>
                      </a:rPr>
                      <m:t>𝑍</m:t>
                    </m:r>
                    <m:r>
                      <a:rPr lang="pl-PL" altLang="zh-TW" sz="2000" b="0" i="1" smtClean="0">
                        <a:latin typeface="Cambria Math" panose="02040503050406030204" pitchFamily="18" charset="0"/>
                        <a:ea typeface="Cambria Math" panose="02040503050406030204" pitchFamily="18" charset="0"/>
                      </a:rPr>
                      <m:t>~</m:t>
                    </m:r>
                    <m:sSub>
                      <m:sSubPr>
                        <m:ctrlPr>
                          <a:rPr lang="pl-PL" altLang="zh-TW" sz="2000" b="0" i="1" smtClean="0">
                            <a:latin typeface="Cambria Math" panose="02040503050406030204" pitchFamily="18" charset="0"/>
                            <a:ea typeface="Cambria Math" panose="02040503050406030204" pitchFamily="18" charset="0"/>
                          </a:rPr>
                        </m:ctrlPr>
                      </m:sSubPr>
                      <m:e>
                        <m:r>
                          <a:rPr lang="pl-PL" altLang="zh-TW" sz="2000" b="0" i="1" smtClean="0">
                            <a:latin typeface="Cambria Math" panose="02040503050406030204" pitchFamily="18" charset="0"/>
                            <a:ea typeface="Cambria Math" panose="02040503050406030204" pitchFamily="18" charset="0"/>
                          </a:rPr>
                          <m:t>𝑁</m:t>
                        </m:r>
                      </m:e>
                      <m:sub>
                        <m:r>
                          <a:rPr lang="pl-PL" altLang="zh-TW" sz="2000" b="0" i="1" smtClean="0">
                            <a:latin typeface="Cambria Math" panose="02040503050406030204" pitchFamily="18" charset="0"/>
                            <a:ea typeface="Cambria Math" panose="02040503050406030204" pitchFamily="18" charset="0"/>
                          </a:rPr>
                          <m:t>𝑘</m:t>
                        </m:r>
                      </m:sub>
                    </m:sSub>
                    <m:d>
                      <m:dPr>
                        <m:ctrlPr>
                          <a:rPr lang="pl-PL" altLang="zh-TW" sz="2000" b="0" i="1" smtClean="0">
                            <a:latin typeface="Cambria Math" panose="02040503050406030204" pitchFamily="18" charset="0"/>
                            <a:ea typeface="Cambria Math" panose="02040503050406030204" pitchFamily="18" charset="0"/>
                          </a:rPr>
                        </m:ctrlPr>
                      </m:dPr>
                      <m:e>
                        <m:r>
                          <a:rPr lang="pl-PL" altLang="zh-TW" sz="2000" b="0" i="1" smtClean="0">
                            <a:latin typeface="Cambria Math" panose="02040503050406030204" pitchFamily="18" charset="0"/>
                            <a:ea typeface="Cambria Math" panose="02040503050406030204" pitchFamily="18" charset="0"/>
                          </a:rPr>
                          <m:t>0,</m:t>
                        </m:r>
                        <m:r>
                          <a:rPr lang="pl-PL" altLang="zh-TW" sz="2000" b="0" i="1" smtClean="0">
                            <a:latin typeface="Cambria Math" panose="02040503050406030204" pitchFamily="18" charset="0"/>
                            <a:ea typeface="Cambria Math" panose="02040503050406030204" pitchFamily="18" charset="0"/>
                          </a:rPr>
                          <m:t>𝐼</m:t>
                        </m:r>
                      </m:e>
                    </m:d>
                  </m:oMath>
                </a14:m>
                <a:r>
                  <a:rPr lang="pl-PL" altLang="zh-TW" sz="2000" dirty="0">
                    <a:latin typeface="Frutiger 45 Light" panose="020B0603020202020204" pitchFamily="34" charset="0"/>
                  </a:rPr>
                  <a:t> </a:t>
                </a:r>
                <a:r>
                  <a:rPr lang="pl-PL" altLang="zh-TW" sz="2000" dirty="0" err="1">
                    <a:latin typeface="Frutiger 45 Light" panose="020B0603020202020204" pitchFamily="34" charset="0"/>
                  </a:rPr>
                  <a:t>then</a:t>
                </a:r>
                <a:r>
                  <a:rPr lang="pl-PL" altLang="zh-TW" sz="2000" dirty="0">
                    <a:latin typeface="Frutiger 45 Light" panose="020B0603020202020204" pitchFamily="34" charset="0"/>
                  </a:rPr>
                  <a:t> </a:t>
                </a:r>
                <a14:m>
                  <m:oMath xmlns:m="http://schemas.openxmlformats.org/officeDocument/2006/math">
                    <m:r>
                      <a:rPr lang="pl-PL" altLang="zh-TW" sz="2000" b="0" i="1" smtClean="0">
                        <a:latin typeface="Cambria Math" panose="02040503050406030204" pitchFamily="18" charset="0"/>
                      </a:rPr>
                      <m:t>𝑋</m:t>
                    </m:r>
                    <m:r>
                      <a:rPr lang="pl-PL" altLang="zh-TW" sz="2000" i="1" smtClean="0">
                        <a:latin typeface="Cambria Math" panose="02040503050406030204" pitchFamily="18" charset="0"/>
                      </a:rPr>
                      <m:t>=</m:t>
                    </m:r>
                    <m:r>
                      <a:rPr lang="pl-PL" altLang="zh-TW" sz="2000" b="0" i="1" smtClean="0">
                        <a:latin typeface="Cambria Math" panose="02040503050406030204" pitchFamily="18" charset="0"/>
                      </a:rPr>
                      <m:t>𝐽𝑍</m:t>
                    </m:r>
                    <m:r>
                      <a:rPr lang="pl-PL" altLang="zh-TW" sz="2000" b="0" i="1" smtClean="0">
                        <a:latin typeface="Cambria Math" panose="02040503050406030204" pitchFamily="18" charset="0"/>
                      </a:rPr>
                      <m:t> ~</m:t>
                    </m:r>
                    <m:sSub>
                      <m:sSubPr>
                        <m:ctrlPr>
                          <a:rPr lang="pl-PL" altLang="zh-TW" sz="2000" i="1">
                            <a:latin typeface="Cambria Math" panose="02040503050406030204" pitchFamily="18" charset="0"/>
                            <a:ea typeface="Cambria Math" panose="02040503050406030204" pitchFamily="18" charset="0"/>
                          </a:rPr>
                        </m:ctrlPr>
                      </m:sSubPr>
                      <m:e>
                        <m:r>
                          <a:rPr lang="pl-PL" altLang="zh-TW" sz="2000" b="0" i="1" smtClean="0">
                            <a:latin typeface="Cambria Math" panose="02040503050406030204" pitchFamily="18" charset="0"/>
                            <a:ea typeface="Cambria Math" panose="02040503050406030204" pitchFamily="18" charset="0"/>
                          </a:rPr>
                          <m:t> </m:t>
                        </m:r>
                        <m:r>
                          <a:rPr lang="pl-PL" altLang="zh-TW" sz="2000" i="1">
                            <a:latin typeface="Cambria Math" panose="02040503050406030204" pitchFamily="18" charset="0"/>
                            <a:ea typeface="Cambria Math" panose="02040503050406030204" pitchFamily="18" charset="0"/>
                          </a:rPr>
                          <m:t>𝑁</m:t>
                        </m:r>
                      </m:e>
                      <m:sub>
                        <m:r>
                          <a:rPr lang="pl-PL" altLang="zh-TW" sz="2000" i="1">
                            <a:latin typeface="Cambria Math" panose="02040503050406030204" pitchFamily="18" charset="0"/>
                            <a:ea typeface="Cambria Math" panose="02040503050406030204" pitchFamily="18" charset="0"/>
                          </a:rPr>
                          <m:t>𝑘</m:t>
                        </m:r>
                      </m:sub>
                    </m:sSub>
                    <m:d>
                      <m:dPr>
                        <m:ctrlPr>
                          <a:rPr lang="pl-PL" altLang="zh-TW" sz="2000" i="1">
                            <a:latin typeface="Cambria Math" panose="02040503050406030204" pitchFamily="18" charset="0"/>
                            <a:ea typeface="Cambria Math" panose="02040503050406030204" pitchFamily="18" charset="0"/>
                          </a:rPr>
                        </m:ctrlPr>
                      </m:dPr>
                      <m:e>
                        <m:r>
                          <a:rPr lang="pl-PL" altLang="zh-TW" sz="2000" i="1">
                            <a:latin typeface="Cambria Math" panose="02040503050406030204" pitchFamily="18" charset="0"/>
                            <a:ea typeface="Cambria Math" panose="02040503050406030204" pitchFamily="18" charset="0"/>
                          </a:rPr>
                          <m:t>0,</m:t>
                        </m:r>
                        <m:r>
                          <a:rPr lang="pl-PL" altLang="zh-TW" sz="2000" b="0" i="1" smtClean="0">
                            <a:latin typeface="Cambria Math" panose="02040503050406030204" pitchFamily="18" charset="0"/>
                            <a:ea typeface="Cambria Math" panose="02040503050406030204" pitchFamily="18" charset="0"/>
                          </a:rPr>
                          <m:t>𝐽</m:t>
                        </m:r>
                        <m:sSup>
                          <m:sSupPr>
                            <m:ctrlPr>
                              <a:rPr lang="pl-PL" altLang="zh-TW" sz="2000" b="0" i="1" smtClean="0">
                                <a:latin typeface="Cambria Math" panose="02040503050406030204" pitchFamily="18" charset="0"/>
                                <a:ea typeface="Cambria Math" panose="02040503050406030204" pitchFamily="18" charset="0"/>
                              </a:rPr>
                            </m:ctrlPr>
                          </m:sSupPr>
                          <m:e>
                            <m:r>
                              <a:rPr lang="pl-PL" altLang="zh-TW" sz="2000" b="0" i="1" smtClean="0">
                                <a:latin typeface="Cambria Math" panose="02040503050406030204" pitchFamily="18" charset="0"/>
                                <a:ea typeface="Cambria Math" panose="02040503050406030204" pitchFamily="18" charset="0"/>
                              </a:rPr>
                              <m:t>𝐽</m:t>
                            </m:r>
                          </m:e>
                          <m:sup>
                            <m:r>
                              <a:rPr lang="pl-PL" altLang="zh-TW" sz="2000" b="0" i="1" smtClean="0">
                                <a:latin typeface="Cambria Math" panose="02040503050406030204" pitchFamily="18" charset="0"/>
                                <a:ea typeface="Cambria Math" panose="02040503050406030204" pitchFamily="18" charset="0"/>
                              </a:rPr>
                              <m:t>𝑇</m:t>
                            </m:r>
                          </m:sup>
                        </m:sSup>
                      </m:e>
                    </m:d>
                  </m:oMath>
                </a14:m>
                <a:endParaRPr lang="pl-PL" altLang="zh-TW" sz="2000" dirty="0">
                  <a:latin typeface="Frutiger 45 Light" panose="020B0603020202020204" pitchFamily="34" charset="0"/>
                </a:endParaRPr>
              </a:p>
              <a:p>
                <a:r>
                  <a:rPr lang="pl-PL" altLang="zh-TW" sz="2000" dirty="0" err="1">
                    <a:latin typeface="Frutiger 45 Light" panose="020B0603020202020204" pitchFamily="34" charset="0"/>
                  </a:rPr>
                  <a:t>If</a:t>
                </a:r>
                <a:r>
                  <a:rPr lang="pl-PL" altLang="zh-TW" sz="2000" dirty="0">
                    <a:latin typeface="Frutiger 45 Light" panose="020B0603020202020204" pitchFamily="34" charset="0"/>
                  </a:rPr>
                  <a:t> we want to </a:t>
                </a:r>
                <a:r>
                  <a:rPr lang="pl-PL" altLang="zh-TW" sz="2000" dirty="0" err="1">
                    <a:latin typeface="Frutiger 45 Light" panose="020B0603020202020204" pitchFamily="34" charset="0"/>
                  </a:rPr>
                  <a:t>simulate</a:t>
                </a:r>
                <a:r>
                  <a:rPr lang="pl-PL" altLang="zh-TW" sz="2000" dirty="0">
                    <a:latin typeface="Frutiger 45 Light" panose="020B0603020202020204" pitchFamily="34" charset="0"/>
                  </a:rPr>
                  <a:t> a </a:t>
                </a:r>
                <a:r>
                  <a:rPr lang="pl-PL" altLang="zh-TW" sz="2000" dirty="0" err="1">
                    <a:latin typeface="Frutiger 45 Light" panose="020B0603020202020204" pitchFamily="34" charset="0"/>
                  </a:rPr>
                  <a:t>sample</a:t>
                </a:r>
                <a:r>
                  <a:rPr lang="pl-PL" altLang="zh-TW" sz="2000" dirty="0">
                    <a:latin typeface="Frutiger 45 Light" panose="020B0603020202020204" pitchFamily="34" charset="0"/>
                  </a:rPr>
                  <a:t> from </a:t>
                </a:r>
                <a:r>
                  <a:rPr lang="pl-PL" altLang="zh-TW" sz="2000" dirty="0" err="1">
                    <a:latin typeface="Frutiger 45 Light" panose="020B0603020202020204" pitchFamily="34" charset="0"/>
                  </a:rPr>
                  <a:t>multivariate</a:t>
                </a:r>
                <a:r>
                  <a:rPr lang="pl-PL" altLang="zh-TW" sz="2000" dirty="0">
                    <a:latin typeface="Frutiger 45 Light" panose="020B0603020202020204" pitchFamily="34" charset="0"/>
                  </a:rPr>
                  <a:t> </a:t>
                </a:r>
                <a:r>
                  <a:rPr lang="pl-PL" altLang="zh-TW" sz="2000" dirty="0" err="1">
                    <a:latin typeface="Frutiger 45 Light" panose="020B0603020202020204" pitchFamily="34" charset="0"/>
                  </a:rPr>
                  <a:t>normal</a:t>
                </a:r>
                <a:r>
                  <a:rPr lang="pl-PL" altLang="zh-TW" sz="2000" dirty="0">
                    <a:latin typeface="Frutiger 45 Light" panose="020B0603020202020204" pitchFamily="34" charset="0"/>
                  </a:rPr>
                  <a:t> </a:t>
                </a:r>
                <a:r>
                  <a:rPr lang="pl-PL" altLang="zh-TW" sz="2000" dirty="0" err="1">
                    <a:latin typeface="Frutiger 45 Light" panose="020B0603020202020204" pitchFamily="34" charset="0"/>
                  </a:rPr>
                  <a:t>distrubtion</a:t>
                </a:r>
                <a:r>
                  <a:rPr lang="pl-PL" altLang="zh-TW" sz="2000" dirty="0">
                    <a:latin typeface="Frutiger 45 Light" panose="020B0603020202020204" pitchFamily="34" charset="0"/>
                  </a:rPr>
                  <a:t> with </a:t>
                </a:r>
                <a:r>
                  <a:rPr lang="pl-PL" altLang="zh-TW" sz="2000" dirty="0" err="1">
                    <a:latin typeface="Frutiger 45 Light" panose="020B0603020202020204" pitchFamily="34" charset="0"/>
                  </a:rPr>
                  <a:t>covariance</a:t>
                </a:r>
                <a:r>
                  <a:rPr lang="pl-PL" altLang="zh-TW" sz="2000" dirty="0">
                    <a:latin typeface="Frutiger 45 Light" panose="020B0603020202020204" pitchFamily="34" charset="0"/>
                  </a:rPr>
                  <a:t> matrix </a:t>
                </a:r>
                <a14:m>
                  <m:oMath xmlns:m="http://schemas.openxmlformats.org/officeDocument/2006/math">
                    <m:r>
                      <m:rPr>
                        <m:sty m:val="p"/>
                      </m:rPr>
                      <a:rPr lang="pl-PL" altLang="zh-TW" sz="2000" b="0" i="0" smtClean="0">
                        <a:latin typeface="Cambria Math" panose="02040503050406030204" pitchFamily="18" charset="0"/>
                      </a:rPr>
                      <m:t>Σ</m:t>
                    </m:r>
                  </m:oMath>
                </a14:m>
                <a:r>
                  <a:rPr lang="pl-PL" altLang="zh-TW" sz="2000" dirty="0">
                    <a:latin typeface="Frutiger 45 Light" panose="020B0603020202020204" pitchFamily="34" charset="0"/>
                  </a:rPr>
                  <a:t>, we </a:t>
                </a:r>
                <a:r>
                  <a:rPr lang="pl-PL" altLang="zh-TW" sz="2000" dirty="0" err="1">
                    <a:latin typeface="Frutiger 45 Light" panose="020B0603020202020204" pitchFamily="34" charset="0"/>
                  </a:rPr>
                  <a:t>have</a:t>
                </a:r>
                <a:r>
                  <a:rPr lang="pl-PL" altLang="zh-TW" sz="2000" dirty="0">
                    <a:latin typeface="Frutiger 45 Light" panose="020B0603020202020204" pitchFamily="34" charset="0"/>
                  </a:rPr>
                  <a:t> to </a:t>
                </a:r>
                <a:r>
                  <a:rPr lang="pl-PL" altLang="zh-TW" sz="2000" dirty="0" err="1">
                    <a:latin typeface="Frutiger 45 Light" panose="020B0603020202020204" pitchFamily="34" charset="0"/>
                  </a:rPr>
                  <a:t>find</a:t>
                </a:r>
                <a:r>
                  <a:rPr lang="pl-PL" altLang="zh-TW" sz="2000" dirty="0">
                    <a:latin typeface="Frutiger 45 Light" panose="020B0603020202020204" pitchFamily="34" charset="0"/>
                  </a:rPr>
                  <a:t> </a:t>
                </a:r>
                <a14:m>
                  <m:oMath xmlns:m="http://schemas.openxmlformats.org/officeDocument/2006/math">
                    <m:r>
                      <a:rPr lang="pl-PL" altLang="zh-TW" sz="2000" i="1">
                        <a:latin typeface="Cambria Math" panose="02040503050406030204" pitchFamily="18" charset="0"/>
                      </a:rPr>
                      <m:t>𝐽</m:t>
                    </m:r>
                  </m:oMath>
                </a14:m>
                <a:r>
                  <a:rPr lang="pl-PL" altLang="zh-TW" sz="2000" dirty="0">
                    <a:latin typeface="Frutiger 45 Light" panose="020B0603020202020204" pitchFamily="34" charset="0"/>
                  </a:rPr>
                  <a:t> </a:t>
                </a:r>
                <a:r>
                  <a:rPr lang="pl-PL" altLang="zh-TW" sz="2000" dirty="0" err="1">
                    <a:latin typeface="Frutiger 45 Light" panose="020B0603020202020204" pitchFamily="34" charset="0"/>
                  </a:rPr>
                  <a:t>so</a:t>
                </a:r>
                <a:r>
                  <a:rPr lang="pl-PL" altLang="zh-TW" sz="2000" dirty="0">
                    <a:latin typeface="Frutiger 45 Light" panose="020B0603020202020204" pitchFamily="34" charset="0"/>
                  </a:rPr>
                  <a:t> </a:t>
                </a:r>
                <a:r>
                  <a:rPr lang="pl-PL" altLang="zh-TW" sz="2000" dirty="0" err="1">
                    <a:latin typeface="Frutiger 45 Light" panose="020B0603020202020204" pitchFamily="34" charset="0"/>
                  </a:rPr>
                  <a:t>that</a:t>
                </a:r>
                <a:r>
                  <a:rPr lang="pl-PL" altLang="zh-TW" sz="2000" dirty="0">
                    <a:latin typeface="Frutiger 45 Light" panose="020B0603020202020204" pitchFamily="34" charset="0"/>
                  </a:rPr>
                  <a:t> </a:t>
                </a:r>
                <a14:m>
                  <m:oMath xmlns:m="http://schemas.openxmlformats.org/officeDocument/2006/math">
                    <m:r>
                      <a:rPr lang="pl-PL" altLang="zh-TW" sz="2000" i="1">
                        <a:latin typeface="Cambria Math" panose="02040503050406030204" pitchFamily="18" charset="0"/>
                        <a:ea typeface="Cambria Math" panose="02040503050406030204" pitchFamily="18" charset="0"/>
                      </a:rPr>
                      <m:t>𝐽</m:t>
                    </m:r>
                    <m:sSup>
                      <m:sSupPr>
                        <m:ctrlPr>
                          <a:rPr lang="pl-PL" altLang="zh-TW" sz="2000" i="1">
                            <a:latin typeface="Cambria Math" panose="02040503050406030204" pitchFamily="18" charset="0"/>
                            <a:ea typeface="Cambria Math" panose="02040503050406030204" pitchFamily="18" charset="0"/>
                          </a:rPr>
                        </m:ctrlPr>
                      </m:sSupPr>
                      <m:e>
                        <m:r>
                          <a:rPr lang="pl-PL" altLang="zh-TW" sz="2000" i="1">
                            <a:latin typeface="Cambria Math" panose="02040503050406030204" pitchFamily="18" charset="0"/>
                            <a:ea typeface="Cambria Math" panose="02040503050406030204" pitchFamily="18" charset="0"/>
                          </a:rPr>
                          <m:t>𝐽</m:t>
                        </m:r>
                      </m:e>
                      <m:sup>
                        <m:r>
                          <a:rPr lang="pl-PL" altLang="zh-TW" sz="2000" i="1">
                            <a:latin typeface="Cambria Math" panose="02040503050406030204" pitchFamily="18" charset="0"/>
                            <a:ea typeface="Cambria Math" panose="02040503050406030204" pitchFamily="18" charset="0"/>
                          </a:rPr>
                          <m:t>𝑇</m:t>
                        </m:r>
                      </m:sup>
                    </m:sSup>
                    <m:r>
                      <a:rPr lang="pl-PL" altLang="zh-TW" sz="2000" b="0" i="1" smtClean="0">
                        <a:latin typeface="Cambria Math" panose="02040503050406030204" pitchFamily="18" charset="0"/>
                        <a:ea typeface="Cambria Math" panose="02040503050406030204" pitchFamily="18" charset="0"/>
                      </a:rPr>
                      <m:t>=</m:t>
                    </m:r>
                  </m:oMath>
                </a14:m>
                <a:r>
                  <a:rPr lang="pl-PL" altLang="zh-TW" sz="2000" dirty="0">
                    <a:latin typeface="Frutiger 45 Light" panose="020B0603020202020204" pitchFamily="34" charset="0"/>
                  </a:rPr>
                  <a:t> </a:t>
                </a:r>
                <a14:m>
                  <m:oMath xmlns:m="http://schemas.openxmlformats.org/officeDocument/2006/math">
                    <m:r>
                      <m:rPr>
                        <m:sty m:val="p"/>
                      </m:rPr>
                      <a:rPr lang="pl-PL" altLang="zh-TW" sz="2000">
                        <a:latin typeface="Cambria Math" panose="02040503050406030204" pitchFamily="18" charset="0"/>
                      </a:rPr>
                      <m:t>Σ</m:t>
                    </m:r>
                  </m:oMath>
                </a14:m>
                <a:r>
                  <a:rPr lang="pl-PL" altLang="zh-TW" sz="2000" dirty="0">
                    <a:latin typeface="Frutiger 45 Light" panose="020B0603020202020204" pitchFamily="34" charset="0"/>
                  </a:rPr>
                  <a:t>.</a:t>
                </a:r>
              </a:p>
              <a:p>
                <a:r>
                  <a:rPr lang="pl-PL" altLang="zh-TW" sz="2000" dirty="0">
                    <a:latin typeface="Frutiger 45 Light" panose="020B0603020202020204" pitchFamily="34" charset="0"/>
                  </a:rPr>
                  <a:t>We </a:t>
                </a:r>
                <a:r>
                  <a:rPr lang="pl-PL" altLang="zh-TW" sz="2000" dirty="0" err="1">
                    <a:latin typeface="Frutiger 45 Light" panose="020B0603020202020204" pitchFamily="34" charset="0"/>
                  </a:rPr>
                  <a:t>can</a:t>
                </a:r>
                <a:r>
                  <a:rPr lang="pl-PL" altLang="zh-TW" sz="2000" dirty="0">
                    <a:latin typeface="Frutiger 45 Light" panose="020B0603020202020204" pitchFamily="34" charset="0"/>
                  </a:rPr>
                  <a:t> transfer </a:t>
                </a:r>
                <a:r>
                  <a:rPr lang="pl-PL" altLang="zh-TW" sz="2000" dirty="0" err="1">
                    <a:latin typeface="Frutiger 45 Light" panose="020B0603020202020204" pitchFamily="34" charset="0"/>
                  </a:rPr>
                  <a:t>that</a:t>
                </a:r>
                <a:r>
                  <a:rPr lang="pl-PL" altLang="zh-TW" sz="2000" dirty="0">
                    <a:latin typeface="Frutiger 45 Light" panose="020B0603020202020204" pitchFamily="34" charset="0"/>
                  </a:rPr>
                  <a:t> to Wiener </a:t>
                </a:r>
                <a:r>
                  <a:rPr lang="pl-PL" altLang="zh-TW" sz="2000" dirty="0" err="1">
                    <a:latin typeface="Frutiger 45 Light" panose="020B0603020202020204" pitchFamily="34" charset="0"/>
                  </a:rPr>
                  <a:t>processes</a:t>
                </a:r>
                <a:r>
                  <a:rPr lang="pl-PL" altLang="zh-TW" sz="2000" dirty="0">
                    <a:latin typeface="Frutiger 45 Light" panose="020B0603020202020204" pitchFamily="34" charset="0"/>
                  </a:rPr>
                  <a:t>:</a:t>
                </a:r>
              </a:p>
              <a:p>
                <a14:m>
                  <m:oMath xmlns:m="http://schemas.openxmlformats.org/officeDocument/2006/math">
                    <m:sSup>
                      <m:sSupPr>
                        <m:ctrlPr>
                          <a:rPr lang="pl-PL" altLang="zh-TW" sz="2000" b="0" i="1" smtClean="0">
                            <a:latin typeface="Cambria Math" panose="02040503050406030204" pitchFamily="18" charset="0"/>
                          </a:rPr>
                        </m:ctrlPr>
                      </m:sSupPr>
                      <m:e>
                        <m:r>
                          <a:rPr lang="pl-PL" altLang="zh-TW" sz="2000" i="1">
                            <a:latin typeface="Cambria Math" panose="02040503050406030204" pitchFamily="18" charset="0"/>
                          </a:rPr>
                          <m:t>[</m:t>
                        </m:r>
                        <m:acc>
                          <m:accPr>
                            <m:chr m:val="̃"/>
                            <m:ctrlPr>
                              <a:rPr lang="pl-PL" altLang="zh-TW" sz="2000" i="1">
                                <a:latin typeface="Cambria Math" panose="02040503050406030204" pitchFamily="18" charset="0"/>
                              </a:rPr>
                            </m:ctrlPr>
                          </m:accPr>
                          <m:e>
                            <m:sSub>
                              <m:sSubPr>
                                <m:ctrlPr>
                                  <a:rPr lang="pl-PL" altLang="zh-TW" sz="2000" i="1">
                                    <a:latin typeface="Cambria Math" panose="02040503050406030204" pitchFamily="18" charset="0"/>
                                  </a:rPr>
                                </m:ctrlPr>
                              </m:sSubPr>
                              <m:e>
                                <m:r>
                                  <a:rPr lang="pl-PL" altLang="zh-TW" sz="2000" i="1">
                                    <a:latin typeface="Cambria Math" panose="02040503050406030204" pitchFamily="18" charset="0"/>
                                  </a:rPr>
                                  <m:t>𝑊</m:t>
                                </m:r>
                              </m:e>
                              <m:sub>
                                <m:r>
                                  <a:rPr lang="pl-PL" altLang="zh-TW" sz="2000" i="1">
                                    <a:latin typeface="Cambria Math" panose="02040503050406030204" pitchFamily="18" charset="0"/>
                                  </a:rPr>
                                  <m:t>1</m:t>
                                </m:r>
                              </m:sub>
                            </m:sSub>
                          </m:e>
                        </m:acc>
                        <m:d>
                          <m:dPr>
                            <m:ctrlPr>
                              <a:rPr lang="pl-PL" altLang="zh-TW" sz="2000" i="1">
                                <a:latin typeface="Cambria Math" panose="02040503050406030204" pitchFamily="18" charset="0"/>
                              </a:rPr>
                            </m:ctrlPr>
                          </m:dPr>
                          <m:e>
                            <m:r>
                              <a:rPr lang="pl-PL" altLang="zh-TW" sz="2000" i="1">
                                <a:latin typeface="Cambria Math" panose="02040503050406030204" pitchFamily="18" charset="0"/>
                              </a:rPr>
                              <m:t>𝑡</m:t>
                            </m:r>
                          </m:e>
                        </m:d>
                        <m:r>
                          <a:rPr lang="pl-PL" altLang="zh-TW" sz="2000" i="1">
                            <a:latin typeface="Cambria Math" panose="02040503050406030204" pitchFamily="18" charset="0"/>
                          </a:rPr>
                          <m:t>,…,</m:t>
                        </m:r>
                        <m:acc>
                          <m:accPr>
                            <m:chr m:val="̃"/>
                            <m:ctrlPr>
                              <a:rPr lang="pl-PL" altLang="zh-TW" sz="2000" i="1">
                                <a:latin typeface="Cambria Math" panose="02040503050406030204" pitchFamily="18" charset="0"/>
                              </a:rPr>
                            </m:ctrlPr>
                          </m:accPr>
                          <m:e>
                            <m:sSub>
                              <m:sSubPr>
                                <m:ctrlPr>
                                  <a:rPr lang="pl-PL" altLang="zh-TW" sz="2000" i="1">
                                    <a:latin typeface="Cambria Math" panose="02040503050406030204" pitchFamily="18" charset="0"/>
                                  </a:rPr>
                                </m:ctrlPr>
                              </m:sSubPr>
                              <m:e>
                                <m:r>
                                  <a:rPr lang="pl-PL" altLang="zh-TW" sz="2000" i="1">
                                    <a:latin typeface="Cambria Math" panose="02040503050406030204" pitchFamily="18" charset="0"/>
                                  </a:rPr>
                                  <m:t>𝑊</m:t>
                                </m:r>
                              </m:e>
                              <m:sub>
                                <m:r>
                                  <a:rPr lang="pl-PL" altLang="zh-TW" sz="2000" i="1">
                                    <a:latin typeface="Cambria Math" panose="02040503050406030204" pitchFamily="18" charset="0"/>
                                  </a:rPr>
                                  <m:t>𝑘</m:t>
                                </m:r>
                              </m:sub>
                            </m:sSub>
                          </m:e>
                        </m:acc>
                        <m:d>
                          <m:dPr>
                            <m:ctrlPr>
                              <a:rPr lang="pl-PL" altLang="zh-TW" sz="2000" i="1">
                                <a:latin typeface="Cambria Math" panose="02040503050406030204" pitchFamily="18" charset="0"/>
                              </a:rPr>
                            </m:ctrlPr>
                          </m:dPr>
                          <m:e>
                            <m:r>
                              <a:rPr lang="pl-PL" altLang="zh-TW" sz="2000" i="1">
                                <a:latin typeface="Cambria Math" panose="02040503050406030204" pitchFamily="18" charset="0"/>
                              </a:rPr>
                              <m:t>𝑡</m:t>
                            </m:r>
                          </m:e>
                        </m:d>
                        <m:r>
                          <a:rPr lang="pl-PL" altLang="zh-TW" sz="2000" i="1">
                            <a:latin typeface="Cambria Math" panose="02040503050406030204" pitchFamily="18" charset="0"/>
                          </a:rPr>
                          <m:t>]</m:t>
                        </m:r>
                      </m:e>
                      <m:sup>
                        <m:r>
                          <a:rPr lang="pl-PL" altLang="zh-TW" sz="2000" b="0" i="1" smtClean="0">
                            <a:latin typeface="Cambria Math" panose="02040503050406030204" pitchFamily="18" charset="0"/>
                          </a:rPr>
                          <m:t>𝑇</m:t>
                        </m:r>
                      </m:sup>
                    </m:sSup>
                    <m:r>
                      <a:rPr lang="pl-PL" altLang="zh-TW" sz="2000" i="1" smtClean="0">
                        <a:latin typeface="Cambria Math" panose="02040503050406030204" pitchFamily="18" charset="0"/>
                      </a:rPr>
                      <m:t>=</m:t>
                    </m:r>
                    <m:sSup>
                      <m:sSupPr>
                        <m:ctrlPr>
                          <a:rPr lang="pl-PL" altLang="zh-TW" sz="2000" i="1">
                            <a:latin typeface="Cambria Math" panose="02040503050406030204" pitchFamily="18" charset="0"/>
                          </a:rPr>
                        </m:ctrlPr>
                      </m:sSupPr>
                      <m:e>
                        <m:r>
                          <a:rPr lang="pl-PL" altLang="zh-TW" sz="2000" b="0" i="1" smtClean="0">
                            <a:latin typeface="Cambria Math" panose="02040503050406030204" pitchFamily="18" charset="0"/>
                          </a:rPr>
                          <m:t>𝐽</m:t>
                        </m:r>
                        <m:r>
                          <a:rPr lang="pl-PL" altLang="zh-TW" sz="2000" i="1">
                            <a:latin typeface="Cambria Math" panose="02040503050406030204" pitchFamily="18" charset="0"/>
                          </a:rPr>
                          <m:t>[</m:t>
                        </m:r>
                        <m:sSub>
                          <m:sSubPr>
                            <m:ctrlPr>
                              <a:rPr lang="pl-PL" altLang="zh-TW" sz="2000" i="1">
                                <a:latin typeface="Cambria Math" panose="02040503050406030204" pitchFamily="18" charset="0"/>
                              </a:rPr>
                            </m:ctrlPr>
                          </m:sSubPr>
                          <m:e>
                            <m:r>
                              <a:rPr lang="pl-PL" altLang="zh-TW" sz="2000" i="1">
                                <a:latin typeface="Cambria Math" panose="02040503050406030204" pitchFamily="18" charset="0"/>
                              </a:rPr>
                              <m:t>𝑊</m:t>
                            </m:r>
                          </m:e>
                          <m:sub>
                            <m:r>
                              <a:rPr lang="pl-PL" altLang="zh-TW" sz="2000" i="1">
                                <a:latin typeface="Cambria Math" panose="02040503050406030204" pitchFamily="18" charset="0"/>
                              </a:rPr>
                              <m:t>1</m:t>
                            </m:r>
                          </m:sub>
                        </m:sSub>
                        <m:d>
                          <m:dPr>
                            <m:ctrlPr>
                              <a:rPr lang="pl-PL" altLang="zh-TW" sz="2000" i="1">
                                <a:latin typeface="Cambria Math" panose="02040503050406030204" pitchFamily="18" charset="0"/>
                              </a:rPr>
                            </m:ctrlPr>
                          </m:dPr>
                          <m:e>
                            <m:r>
                              <a:rPr lang="pl-PL" altLang="zh-TW" sz="2000" i="1">
                                <a:latin typeface="Cambria Math" panose="02040503050406030204" pitchFamily="18" charset="0"/>
                              </a:rPr>
                              <m:t>𝑡</m:t>
                            </m:r>
                          </m:e>
                        </m:d>
                        <m:r>
                          <a:rPr lang="pl-PL" altLang="zh-TW" sz="2000" i="1">
                            <a:latin typeface="Cambria Math" panose="02040503050406030204" pitchFamily="18" charset="0"/>
                          </a:rPr>
                          <m:t>,…,</m:t>
                        </m:r>
                        <m:sSub>
                          <m:sSubPr>
                            <m:ctrlPr>
                              <a:rPr lang="pl-PL" altLang="zh-TW" sz="2000" i="1" smtClean="0">
                                <a:latin typeface="Cambria Math" panose="02040503050406030204" pitchFamily="18" charset="0"/>
                              </a:rPr>
                            </m:ctrlPr>
                          </m:sSubPr>
                          <m:e>
                            <m:r>
                              <a:rPr lang="pl-PL" altLang="zh-TW" sz="2000" i="1">
                                <a:latin typeface="Cambria Math" panose="02040503050406030204" pitchFamily="18" charset="0"/>
                              </a:rPr>
                              <m:t>𝑊</m:t>
                            </m:r>
                          </m:e>
                          <m:sub>
                            <m:r>
                              <a:rPr lang="pl-PL" altLang="zh-TW" sz="2000" b="0" i="1" smtClean="0">
                                <a:latin typeface="Cambria Math" panose="02040503050406030204" pitchFamily="18" charset="0"/>
                              </a:rPr>
                              <m:t>𝑘</m:t>
                            </m:r>
                          </m:sub>
                        </m:sSub>
                        <m:d>
                          <m:dPr>
                            <m:ctrlPr>
                              <a:rPr lang="pl-PL" altLang="zh-TW" sz="2000" i="1">
                                <a:latin typeface="Cambria Math" panose="02040503050406030204" pitchFamily="18" charset="0"/>
                              </a:rPr>
                            </m:ctrlPr>
                          </m:dPr>
                          <m:e>
                            <m:r>
                              <a:rPr lang="pl-PL" altLang="zh-TW" sz="2000" i="1">
                                <a:latin typeface="Cambria Math" panose="02040503050406030204" pitchFamily="18" charset="0"/>
                              </a:rPr>
                              <m:t>𝑡</m:t>
                            </m:r>
                          </m:e>
                        </m:d>
                        <m:r>
                          <a:rPr lang="pl-PL" altLang="zh-TW" sz="2000" i="1">
                            <a:latin typeface="Cambria Math" panose="02040503050406030204" pitchFamily="18" charset="0"/>
                          </a:rPr>
                          <m:t>]</m:t>
                        </m:r>
                      </m:e>
                      <m:sup>
                        <m:r>
                          <a:rPr lang="pl-PL" altLang="zh-TW" sz="2000" i="1">
                            <a:latin typeface="Cambria Math" panose="02040503050406030204" pitchFamily="18" charset="0"/>
                          </a:rPr>
                          <m:t>𝑇</m:t>
                        </m:r>
                      </m:sup>
                    </m:sSup>
                  </m:oMath>
                </a14:m>
                <a:r>
                  <a:rPr lang="pl-PL" altLang="zh-TW" sz="2000" dirty="0">
                    <a:latin typeface="Frutiger 45 Light" panose="020B0603020202020204" pitchFamily="34" charset="0"/>
                  </a:rPr>
                  <a:t> </a:t>
                </a:r>
                <a:r>
                  <a:rPr lang="pl-PL" altLang="zh-TW" sz="2000" dirty="0" err="1">
                    <a:latin typeface="Frutiger 45 Light" panose="020B0603020202020204" pitchFamily="34" charset="0"/>
                  </a:rPr>
                  <a:t>are</a:t>
                </a:r>
                <a:r>
                  <a:rPr lang="pl-PL" altLang="zh-TW" sz="2000" dirty="0">
                    <a:latin typeface="Frutiger 45 Light" panose="020B0603020202020204" pitchFamily="34" charset="0"/>
                  </a:rPr>
                  <a:t> </a:t>
                </a:r>
                <a:r>
                  <a:rPr lang="pl-PL" altLang="zh-TW" sz="2000" dirty="0" err="1">
                    <a:latin typeface="Frutiger 45 Light" panose="020B0603020202020204" pitchFamily="34" charset="0"/>
                  </a:rPr>
                  <a:t>correlated</a:t>
                </a:r>
                <a:r>
                  <a:rPr lang="pl-PL" altLang="zh-TW" sz="2000" dirty="0">
                    <a:latin typeface="Frutiger 45 Light" panose="020B0603020202020204" pitchFamily="34" charset="0"/>
                  </a:rPr>
                  <a:t> and </a:t>
                </a:r>
                <a:r>
                  <a:rPr lang="pl-PL" altLang="zh-TW" sz="2000" dirty="0" err="1">
                    <a:latin typeface="Frutiger 45 Light" panose="020B0603020202020204" pitchFamily="34" charset="0"/>
                  </a:rPr>
                  <a:t>their</a:t>
                </a:r>
                <a:r>
                  <a:rPr lang="pl-PL" altLang="zh-TW" sz="2000" dirty="0">
                    <a:latin typeface="Frutiger 45 Light" panose="020B0603020202020204" pitchFamily="34" charset="0"/>
                  </a:rPr>
                  <a:t> </a:t>
                </a:r>
                <a:r>
                  <a:rPr lang="pl-PL" altLang="zh-TW" sz="2000" dirty="0" err="1">
                    <a:latin typeface="Frutiger 45 Light" panose="020B0603020202020204" pitchFamily="34" charset="0"/>
                  </a:rPr>
                  <a:t>covariance</a:t>
                </a:r>
                <a:r>
                  <a:rPr lang="pl-PL" altLang="zh-TW" sz="2000" dirty="0">
                    <a:latin typeface="Frutiger 45 Light" panose="020B0603020202020204" pitchFamily="34" charset="0"/>
                  </a:rPr>
                  <a:t> matrix </a:t>
                </a:r>
                <a:r>
                  <a:rPr lang="pl-PL" altLang="zh-TW" sz="2000" dirty="0" err="1">
                    <a:latin typeface="Frutiger 45 Light" panose="020B0603020202020204" pitchFamily="34" charset="0"/>
                  </a:rPr>
                  <a:t>is</a:t>
                </a:r>
                <a:r>
                  <a:rPr lang="pl-PL" altLang="zh-TW" sz="2000" dirty="0">
                    <a:latin typeface="Frutiger 45 Light" panose="020B0603020202020204" pitchFamily="34" charset="0"/>
                  </a:rPr>
                  <a:t> </a:t>
                </a:r>
                <a14:m>
                  <m:oMath xmlns:m="http://schemas.openxmlformats.org/officeDocument/2006/math">
                    <m:r>
                      <m:rPr>
                        <m:sty m:val="p"/>
                      </m:rPr>
                      <a:rPr lang="pl-PL" altLang="zh-TW" sz="2000">
                        <a:latin typeface="Cambria Math" panose="02040503050406030204" pitchFamily="18" charset="0"/>
                      </a:rPr>
                      <m:t>Σ</m:t>
                    </m:r>
                  </m:oMath>
                </a14:m>
                <a:r>
                  <a:rPr lang="pl-PL" altLang="zh-TW" sz="2000" dirty="0">
                    <a:latin typeface="Frutiger 45 Light" panose="020B0603020202020204" pitchFamily="34" charset="0"/>
                  </a:rPr>
                  <a:t>, i</a:t>
                </a:r>
                <a14:m>
                  <m:oMath xmlns:m="http://schemas.openxmlformats.org/officeDocument/2006/math">
                    <m:r>
                      <m:rPr>
                        <m:sty m:val="p"/>
                      </m:rPr>
                      <a:rPr lang="pl-PL" altLang="zh-TW" sz="2000" b="0" i="0" smtClean="0">
                        <a:latin typeface="Cambria Math" panose="02040503050406030204" pitchFamily="18" charset="0"/>
                      </a:rPr>
                      <m:t>f</m:t>
                    </m:r>
                    <m:r>
                      <a:rPr lang="pl-PL" altLang="zh-TW" sz="2000" b="0" i="0" smtClean="0">
                        <a:latin typeface="Cambria Math" panose="02040503050406030204" pitchFamily="18" charset="0"/>
                      </a:rPr>
                      <m:t> </m:t>
                    </m:r>
                    <m:r>
                      <a:rPr lang="pl-PL" altLang="zh-TW" sz="2000" i="1">
                        <a:latin typeface="Cambria Math" panose="02040503050406030204" pitchFamily="18" charset="0"/>
                      </a:rPr>
                      <m:t>𝐽</m:t>
                    </m:r>
                  </m:oMath>
                </a14:m>
                <a:r>
                  <a:rPr lang="pl-PL" altLang="zh-TW" sz="2000" dirty="0">
                    <a:latin typeface="Frutiger 45 Light" panose="020B0603020202020204" pitchFamily="34" charset="0"/>
                  </a:rPr>
                  <a:t> </a:t>
                </a:r>
                <a:r>
                  <a:rPr lang="pl-PL" altLang="zh-TW" sz="2000" dirty="0" err="1">
                    <a:latin typeface="Frutiger 45 Light" panose="020B0603020202020204" pitchFamily="34" charset="0"/>
                  </a:rPr>
                  <a:t>so</a:t>
                </a:r>
                <a:r>
                  <a:rPr lang="pl-PL" altLang="zh-TW" sz="2000" dirty="0">
                    <a:latin typeface="Frutiger 45 Light" panose="020B0603020202020204" pitchFamily="34" charset="0"/>
                  </a:rPr>
                  <a:t> </a:t>
                </a:r>
                <a:r>
                  <a:rPr lang="pl-PL" altLang="zh-TW" sz="2000" dirty="0" err="1">
                    <a:latin typeface="Frutiger 45 Light" panose="020B0603020202020204" pitchFamily="34" charset="0"/>
                  </a:rPr>
                  <a:t>that</a:t>
                </a:r>
                <a:r>
                  <a:rPr lang="pl-PL" altLang="zh-TW" sz="2000" dirty="0">
                    <a:latin typeface="Frutiger 45 Light" panose="020B0603020202020204" pitchFamily="34" charset="0"/>
                  </a:rPr>
                  <a:t> </a:t>
                </a:r>
                <a14:m>
                  <m:oMath xmlns:m="http://schemas.openxmlformats.org/officeDocument/2006/math">
                    <m:r>
                      <a:rPr lang="pl-PL" altLang="zh-TW" sz="2000" i="1">
                        <a:latin typeface="Cambria Math" panose="02040503050406030204" pitchFamily="18" charset="0"/>
                        <a:ea typeface="Cambria Math" panose="02040503050406030204" pitchFamily="18" charset="0"/>
                      </a:rPr>
                      <m:t>𝐽</m:t>
                    </m:r>
                    <m:sSup>
                      <m:sSupPr>
                        <m:ctrlPr>
                          <a:rPr lang="pl-PL" altLang="zh-TW" sz="2000" i="1">
                            <a:latin typeface="Cambria Math" panose="02040503050406030204" pitchFamily="18" charset="0"/>
                            <a:ea typeface="Cambria Math" panose="02040503050406030204" pitchFamily="18" charset="0"/>
                          </a:rPr>
                        </m:ctrlPr>
                      </m:sSupPr>
                      <m:e>
                        <m:r>
                          <a:rPr lang="pl-PL" altLang="zh-TW" sz="2000" i="1">
                            <a:latin typeface="Cambria Math" panose="02040503050406030204" pitchFamily="18" charset="0"/>
                            <a:ea typeface="Cambria Math" panose="02040503050406030204" pitchFamily="18" charset="0"/>
                          </a:rPr>
                          <m:t>𝐽</m:t>
                        </m:r>
                      </m:e>
                      <m:sup>
                        <m:r>
                          <a:rPr lang="pl-PL" altLang="zh-TW" sz="2000" i="1">
                            <a:latin typeface="Cambria Math" panose="02040503050406030204" pitchFamily="18" charset="0"/>
                            <a:ea typeface="Cambria Math" panose="02040503050406030204" pitchFamily="18" charset="0"/>
                          </a:rPr>
                          <m:t>𝑇</m:t>
                        </m:r>
                      </m:sup>
                    </m:sSup>
                    <m:r>
                      <a:rPr lang="pl-PL" altLang="zh-TW" sz="2000" i="1">
                        <a:latin typeface="Cambria Math" panose="02040503050406030204" pitchFamily="18" charset="0"/>
                        <a:ea typeface="Cambria Math" panose="02040503050406030204" pitchFamily="18" charset="0"/>
                      </a:rPr>
                      <m:t>=</m:t>
                    </m:r>
                  </m:oMath>
                </a14:m>
                <a:r>
                  <a:rPr lang="pl-PL" altLang="zh-TW" sz="2000" dirty="0">
                    <a:latin typeface="Frutiger 45 Light" panose="020B0603020202020204" pitchFamily="34" charset="0"/>
                  </a:rPr>
                  <a:t> </a:t>
                </a:r>
                <a14:m>
                  <m:oMath xmlns:m="http://schemas.openxmlformats.org/officeDocument/2006/math">
                    <m:r>
                      <m:rPr>
                        <m:sty m:val="p"/>
                      </m:rPr>
                      <a:rPr lang="pl-PL" altLang="zh-TW" sz="2000">
                        <a:latin typeface="Cambria Math" panose="02040503050406030204" pitchFamily="18" charset="0"/>
                      </a:rPr>
                      <m:t>Σ</m:t>
                    </m:r>
                  </m:oMath>
                </a14:m>
                <a:r>
                  <a:rPr lang="pl-PL" altLang="zh-TW" sz="2000" dirty="0">
                    <a:latin typeface="Frutiger 45 Light" panose="020B0603020202020204" pitchFamily="34" charset="0"/>
                  </a:rPr>
                  <a:t>.</a:t>
                </a:r>
              </a:p>
              <a:p>
                <a:endParaRPr lang="pl-PL" altLang="zh-TW" sz="2000" dirty="0">
                  <a:latin typeface="Frutiger 45 Light" panose="020B0603020202020204" pitchFamily="34" charset="0"/>
                </a:endParaRPr>
              </a:p>
              <a:p>
                <a:endParaRPr lang="pl-PL" altLang="zh-TW" sz="2000" dirty="0">
                  <a:latin typeface="Frutiger 45 Light" panose="020B0603020202020204" pitchFamily="34" charset="0"/>
                </a:endParaRPr>
              </a:p>
            </p:txBody>
          </p:sp>
        </mc:Choice>
        <mc:Fallback xmlns="">
          <p:sp>
            <p:nvSpPr>
              <p:cNvPr id="21" name="TextBox 20">
                <a:extLst>
                  <a:ext uri="{FF2B5EF4-FFF2-40B4-BE49-F238E27FC236}">
                    <a16:creationId xmlns:a16="http://schemas.microsoft.com/office/drawing/2014/main" id="{1313426E-C902-410F-BCC5-D4BF2B7DC6B4}"/>
                  </a:ext>
                </a:extLst>
              </p:cNvPr>
              <p:cNvSpPr txBox="1">
                <a:spLocks noRot="1" noChangeAspect="1" noMove="1" noResize="1" noEditPoints="1" noAdjustHandles="1" noChangeArrowheads="1" noChangeShapeType="1" noTextEdit="1"/>
              </p:cNvSpPr>
              <p:nvPr>
                <p:custDataLst>
                  <p:tags r:id="rId6"/>
                </p:custDataLst>
              </p:nvPr>
            </p:nvSpPr>
            <p:spPr>
              <a:xfrm>
                <a:off x="420624" y="1809539"/>
                <a:ext cx="9189720" cy="4974319"/>
              </a:xfrm>
              <a:prstGeom prst="rect">
                <a:avLst/>
              </a:prstGeom>
              <a:blipFill>
                <a:blip r:embed="rId7"/>
                <a:stretch>
                  <a:fillRect l="-1658" t="-1103" r="-1592"/>
                </a:stretch>
              </a:blipFill>
            </p:spPr>
            <p:txBody>
              <a:bodyPr/>
              <a:lstStyle/>
              <a:p>
                <a:r>
                  <a:rPr lang="en-GB">
                    <a:noFill/>
                  </a:rPr>
                  <a:t> </a:t>
                </a:r>
              </a:p>
            </p:txBody>
          </p:sp>
        </mc:Fallback>
      </mc:AlternateContent>
    </p:spTree>
    <p:custDataLst>
      <p:tags r:id="rId1"/>
    </p:custDataLst>
    <p:extLst>
      <p:ext uri="{BB962C8B-B14F-4D97-AF65-F5344CB8AC3E}">
        <p14:creationId xmlns:p14="http://schemas.microsoft.com/office/powerpoint/2010/main" val="29273440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AGE HEADING"/>
          <p:cNvSpPr>
            <a:spLocks noGrp="1"/>
          </p:cNvSpPr>
          <p:nvPr>
            <p:ph type="title"/>
            <p:custDataLst>
              <p:tags r:id="rId2"/>
            </p:custDataLst>
          </p:nvPr>
        </p:nvSpPr>
        <p:spPr/>
        <p:txBody>
          <a:bodyPr>
            <a:normAutofit/>
          </a:bodyPr>
          <a:lstStyle/>
          <a:p>
            <a:r>
              <a:rPr lang="en-US" dirty="0"/>
              <a:t>Modelling Counterparty Credit Risk</a:t>
            </a:r>
          </a:p>
        </p:txBody>
      </p:sp>
      <p:sp>
        <p:nvSpPr>
          <p:cNvPr id="4" name="TextBox 3"/>
          <p:cNvSpPr txBox="1"/>
          <p:nvPr>
            <p:custDataLst>
              <p:tags r:id="rId3"/>
            </p:custDataLst>
          </p:nvPr>
        </p:nvSpPr>
        <p:spPr>
          <a:xfrm>
            <a:off x="420624" y="1120775"/>
            <a:ext cx="9189720" cy="274320"/>
          </a:xfrm>
          <a:prstGeom prst="rect">
            <a:avLst/>
          </a:prstGeom>
          <a:noFill/>
        </p:spPr>
        <p:txBody>
          <a:bodyPr vert="horz" wrap="square" lIns="0" tIns="0" rIns="0" bIns="0" rtlCol="0" anchor="t">
            <a:noAutofit/>
          </a:bodyPr>
          <a:lstStyle/>
          <a:p>
            <a:pPr eaLnBrk="1">
              <a:spcBef>
                <a:spcPts val="0"/>
              </a:spcBef>
              <a:spcAft>
                <a:spcPts val="600"/>
              </a:spcAft>
            </a:pPr>
            <a:r>
              <a:rPr lang="pl-PL" sz="2000" kern="0" dirty="0" err="1">
                <a:solidFill>
                  <a:srgbClr val="464749"/>
                </a:solidFill>
                <a:latin typeface="Frutiger 45 Light" panose="020B0603020202020204" pitchFamily="34" charset="0"/>
              </a:rPr>
              <a:t>Simulation</a:t>
            </a:r>
            <a:r>
              <a:rPr lang="pl-PL" sz="2000" kern="0" dirty="0">
                <a:solidFill>
                  <a:srgbClr val="464749"/>
                </a:solidFill>
                <a:latin typeface="Frutiger 45 Light" panose="020B0603020202020204" pitchFamily="34" charset="0"/>
              </a:rPr>
              <a:t> of </a:t>
            </a:r>
            <a:r>
              <a:rPr lang="pl-PL" sz="2000" kern="0" dirty="0" err="1">
                <a:solidFill>
                  <a:srgbClr val="464749"/>
                </a:solidFill>
                <a:latin typeface="Frutiger 45 Light" panose="020B0603020202020204" pitchFamily="34" charset="0"/>
              </a:rPr>
              <a:t>correlated</a:t>
            </a:r>
            <a:r>
              <a:rPr lang="pl-PL" sz="2000" kern="0" dirty="0">
                <a:solidFill>
                  <a:srgbClr val="464749"/>
                </a:solidFill>
                <a:latin typeface="Frutiger 45 Light" panose="020B0603020202020204" pitchFamily="34" charset="0"/>
              </a:rPr>
              <a:t> </a:t>
            </a:r>
            <a:r>
              <a:rPr lang="pl-PL" sz="2000" kern="0" dirty="0" err="1">
                <a:solidFill>
                  <a:srgbClr val="464749"/>
                </a:solidFill>
                <a:latin typeface="Frutiger 45 Light" panose="020B0603020202020204" pitchFamily="34" charset="0"/>
              </a:rPr>
              <a:t>processes</a:t>
            </a:r>
            <a:endParaRPr lang="en-US" sz="2000" kern="0" dirty="0">
              <a:solidFill>
                <a:srgbClr val="464749"/>
              </a:solidFill>
              <a:latin typeface="Frutiger 45 Light" panose="020B0603020202020204" pitchFamily="34" charset="0"/>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1313426E-C902-410F-BCC5-D4BF2B7DC6B4}"/>
                  </a:ext>
                </a:extLst>
              </p:cNvPr>
              <p:cNvSpPr txBox="1"/>
              <p:nvPr>
                <p:custDataLst>
                  <p:tags r:id="rId4"/>
                </p:custDataLst>
              </p:nvPr>
            </p:nvSpPr>
            <p:spPr>
              <a:xfrm>
                <a:off x="420624" y="1809539"/>
                <a:ext cx="9189720" cy="4974319"/>
              </a:xfrm>
              <a:prstGeom prst="rect">
                <a:avLst/>
              </a:prstGeom>
              <a:noFill/>
            </p:spPr>
            <p:txBody>
              <a:bodyPr vert="horz" wrap="square" lIns="0" tIns="0" rIns="0" bIns="0" rtlCol="0" anchor="t">
                <a:noAutofit/>
              </a:bodyPr>
              <a:lstStyle/>
              <a:p>
                <a:r>
                  <a:rPr lang="pl-PL" altLang="zh-TW" dirty="0">
                    <a:latin typeface="Frutiger 45 Light" panose="020B0603020202020204" pitchFamily="34" charset="0"/>
                  </a:rPr>
                  <a:t>Methods of </a:t>
                </a:r>
                <a:r>
                  <a:rPr lang="pl-PL" altLang="zh-TW" dirty="0" err="1">
                    <a:latin typeface="Frutiger 45 Light" panose="020B0603020202020204" pitchFamily="34" charset="0"/>
                  </a:rPr>
                  <a:t>determining</a:t>
                </a:r>
                <a:r>
                  <a:rPr lang="pl-PL" altLang="zh-TW" dirty="0">
                    <a:latin typeface="Frutiger 45 Light" panose="020B0603020202020204" pitchFamily="34" charset="0"/>
                  </a:rPr>
                  <a:t> ``</a:t>
                </a:r>
                <a:r>
                  <a:rPr lang="pl-PL" altLang="zh-TW" dirty="0" err="1">
                    <a:latin typeface="Frutiger 45 Light" panose="020B0603020202020204" pitchFamily="34" charset="0"/>
                  </a:rPr>
                  <a:t>square-root</a:t>
                </a:r>
                <a:r>
                  <a:rPr lang="pl-PL" altLang="zh-TW" dirty="0">
                    <a:latin typeface="Frutiger 45 Light" panose="020B0603020202020204" pitchFamily="34" charset="0"/>
                  </a:rPr>
                  <a:t>’’ o</a:t>
                </a:r>
                <a:r>
                  <a:rPr lang="en-GB" altLang="zh-TW" dirty="0">
                    <a:latin typeface="Frutiger 45 Light" panose="020B0603020202020204" pitchFamily="34" charset="0"/>
                  </a:rPr>
                  <a:t>f</a:t>
                </a:r>
                <a:r>
                  <a:rPr lang="pl-PL" altLang="zh-TW" dirty="0">
                    <a:latin typeface="Frutiger 45 Light" panose="020B0603020202020204" pitchFamily="34" charset="0"/>
                  </a:rPr>
                  <a:t> a matrix</a:t>
                </a:r>
                <a:endParaRPr lang="pl-PL" altLang="zh-TW" sz="2000" dirty="0">
                  <a:latin typeface="Frutiger 45 Light" panose="020B0603020202020204" pitchFamily="34" charset="0"/>
                </a:endParaRPr>
              </a:p>
              <a:p>
                <a:pPr marL="342900" indent="-342900">
                  <a:buFont typeface="Arial" panose="020B0604020202020204" pitchFamily="34" charset="0"/>
                  <a:buChar char="•"/>
                </a:pPr>
                <a:r>
                  <a:rPr lang="pl-PL" altLang="zh-TW" sz="2000" dirty="0" err="1">
                    <a:latin typeface="Frutiger 45 Light" panose="020B0603020202020204" pitchFamily="34" charset="0"/>
                  </a:rPr>
                  <a:t>Cholesky</a:t>
                </a:r>
                <a:r>
                  <a:rPr lang="pl-PL" altLang="zh-TW" sz="2000" dirty="0">
                    <a:latin typeface="Frutiger 45 Light" panose="020B0603020202020204" pitchFamily="34" charset="0"/>
                  </a:rPr>
                  <a:t> </a:t>
                </a:r>
                <a:r>
                  <a:rPr lang="pl-PL" altLang="zh-TW" sz="2000" dirty="0" err="1">
                    <a:latin typeface="Frutiger 45 Light" panose="020B0603020202020204" pitchFamily="34" charset="0"/>
                  </a:rPr>
                  <a:t>decomposition</a:t>
                </a:r>
                <a:endParaRPr lang="pl-PL" altLang="zh-TW" sz="2000" dirty="0">
                  <a:latin typeface="Frutiger 45 Light" panose="020B0603020202020204" pitchFamily="34" charset="0"/>
                </a:endParaRPr>
              </a:p>
              <a:p>
                <a:pPr lvl="1"/>
                <a:r>
                  <a:rPr lang="pl-PL" altLang="zh-TW" sz="2000" dirty="0">
                    <a:latin typeface="Frutiger 45 Light" panose="020B0603020202020204" pitchFamily="34" charset="0"/>
                  </a:rPr>
                  <a:t>For a </a:t>
                </a:r>
                <a:r>
                  <a:rPr lang="pl-PL" altLang="zh-TW" sz="2000" dirty="0" err="1">
                    <a:latin typeface="Frutiger 45 Light" panose="020B0603020202020204" pitchFamily="34" charset="0"/>
                  </a:rPr>
                  <a:t>positively</a:t>
                </a:r>
                <a:r>
                  <a:rPr lang="pl-PL" altLang="zh-TW" sz="2000" dirty="0">
                    <a:latin typeface="Frutiger 45 Light" panose="020B0603020202020204" pitchFamily="34" charset="0"/>
                  </a:rPr>
                  <a:t> </a:t>
                </a:r>
                <a:r>
                  <a:rPr lang="pl-PL" altLang="zh-TW" sz="2000" dirty="0" err="1">
                    <a:latin typeface="Frutiger 45 Light" panose="020B0603020202020204" pitchFamily="34" charset="0"/>
                  </a:rPr>
                  <a:t>definite</a:t>
                </a:r>
                <a:r>
                  <a:rPr lang="pl-PL" altLang="zh-TW" sz="2000" dirty="0">
                    <a:latin typeface="Frutiger 45 Light" panose="020B0603020202020204" pitchFamily="34" charset="0"/>
                  </a:rPr>
                  <a:t>, </a:t>
                </a:r>
                <a:r>
                  <a:rPr lang="pl-PL" altLang="zh-TW" sz="2000" dirty="0" err="1">
                    <a:latin typeface="Frutiger 45 Light" panose="020B0603020202020204" pitchFamily="34" charset="0"/>
                  </a:rPr>
                  <a:t>symmetric</a:t>
                </a:r>
                <a:r>
                  <a:rPr lang="pl-PL" altLang="zh-TW" sz="2000" dirty="0">
                    <a:latin typeface="Frutiger 45 Light" panose="020B0603020202020204" pitchFamily="34" charset="0"/>
                  </a:rPr>
                  <a:t> matrix A </a:t>
                </a:r>
                <a:r>
                  <a:rPr lang="pl-PL" altLang="zh-TW" sz="2000" dirty="0" err="1">
                    <a:latin typeface="Frutiger 45 Light" panose="020B0603020202020204" pitchFamily="34" charset="0"/>
                  </a:rPr>
                  <a:t>there</a:t>
                </a:r>
                <a:r>
                  <a:rPr lang="pl-PL" altLang="zh-TW" sz="2000" dirty="0">
                    <a:latin typeface="Frutiger 45 Light" panose="020B0603020202020204" pitchFamily="34" charset="0"/>
                  </a:rPr>
                  <a:t> </a:t>
                </a:r>
                <a:r>
                  <a:rPr lang="pl-PL" altLang="zh-TW" sz="2000" dirty="0" err="1">
                    <a:latin typeface="Frutiger 45 Light" panose="020B0603020202020204" pitchFamily="34" charset="0"/>
                  </a:rPr>
                  <a:t>exists</a:t>
                </a:r>
                <a:r>
                  <a:rPr lang="pl-PL" altLang="zh-TW" sz="2000" dirty="0">
                    <a:latin typeface="Frutiger 45 Light" panose="020B0603020202020204" pitchFamily="34" charset="0"/>
                  </a:rPr>
                  <a:t> a m</a:t>
                </a:r>
                <a:r>
                  <a:rPr lang="en-GB" altLang="zh-TW" sz="2000" dirty="0">
                    <a:latin typeface="Frutiger 45 Light" panose="020B0603020202020204" pitchFamily="34" charset="0"/>
                  </a:rPr>
                  <a:t>a</a:t>
                </a:r>
                <a:r>
                  <a:rPr lang="pl-PL" altLang="zh-TW" sz="2000" dirty="0" err="1">
                    <a:latin typeface="Frutiger 45 Light" panose="020B0603020202020204" pitchFamily="34" charset="0"/>
                  </a:rPr>
                  <a:t>trix</a:t>
                </a:r>
                <a:r>
                  <a:rPr lang="pl-PL" altLang="zh-TW" sz="2000" dirty="0">
                    <a:latin typeface="Frutiger 45 Light" panose="020B0603020202020204" pitchFamily="34" charset="0"/>
                  </a:rPr>
                  <a:t> L </a:t>
                </a:r>
                <a:r>
                  <a:rPr lang="pl-PL" altLang="zh-TW" sz="2000" dirty="0" err="1">
                    <a:latin typeface="Frutiger 45 Light" panose="020B0603020202020204" pitchFamily="34" charset="0"/>
                  </a:rPr>
                  <a:t>so</a:t>
                </a:r>
                <a:r>
                  <a:rPr lang="pl-PL" altLang="zh-TW" sz="2000" dirty="0">
                    <a:latin typeface="Frutiger 45 Light" panose="020B0603020202020204" pitchFamily="34" charset="0"/>
                  </a:rPr>
                  <a:t> </a:t>
                </a:r>
                <a:r>
                  <a:rPr lang="pl-PL" altLang="zh-TW" sz="2000" dirty="0" err="1">
                    <a:latin typeface="Frutiger 45 Light" panose="020B0603020202020204" pitchFamily="34" charset="0"/>
                  </a:rPr>
                  <a:t>that</a:t>
                </a:r>
                <a:r>
                  <a:rPr lang="pl-PL" altLang="zh-TW" sz="2000" dirty="0">
                    <a:latin typeface="Frutiger 45 Light" panose="020B0603020202020204" pitchFamily="34" charset="0"/>
                  </a:rPr>
                  <a:t> </a:t>
                </a:r>
                <a14:m>
                  <m:oMath xmlns:m="http://schemas.openxmlformats.org/officeDocument/2006/math">
                    <m:r>
                      <a:rPr lang="pl-PL" altLang="zh-TW" sz="2000" i="1" smtClean="0">
                        <a:latin typeface="Cambria Math" panose="02040503050406030204" pitchFamily="18" charset="0"/>
                      </a:rPr>
                      <m:t>𝐴</m:t>
                    </m:r>
                    <m:r>
                      <a:rPr lang="pl-PL" altLang="zh-TW" sz="2000" i="1" smtClean="0">
                        <a:latin typeface="Cambria Math" panose="02040503050406030204" pitchFamily="18" charset="0"/>
                      </a:rPr>
                      <m:t>=</m:t>
                    </m:r>
                    <m:sSup>
                      <m:sSupPr>
                        <m:ctrlPr>
                          <a:rPr lang="pl-PL" altLang="zh-TW" sz="2000" i="1" smtClean="0">
                            <a:latin typeface="Cambria Math" panose="02040503050406030204" pitchFamily="18" charset="0"/>
                          </a:rPr>
                        </m:ctrlPr>
                      </m:sSupPr>
                      <m:e>
                        <m:r>
                          <a:rPr lang="pl-PL" altLang="zh-TW" sz="2000" b="0" i="1" smtClean="0">
                            <a:latin typeface="Cambria Math" panose="02040503050406030204" pitchFamily="18" charset="0"/>
                          </a:rPr>
                          <m:t>𝐿</m:t>
                        </m:r>
                      </m:e>
                      <m:sup>
                        <m:r>
                          <a:rPr lang="pl-PL" altLang="zh-TW" sz="2000" b="0" i="1" smtClean="0">
                            <a:latin typeface="Cambria Math" panose="02040503050406030204" pitchFamily="18" charset="0"/>
                          </a:rPr>
                          <m:t>𝑇</m:t>
                        </m:r>
                      </m:sup>
                    </m:sSup>
                    <m:r>
                      <a:rPr lang="pl-PL" altLang="zh-TW" sz="2000" b="0" i="1" smtClean="0">
                        <a:latin typeface="Cambria Math" panose="02040503050406030204" pitchFamily="18" charset="0"/>
                      </a:rPr>
                      <m:t>𝐿</m:t>
                    </m:r>
                  </m:oMath>
                </a14:m>
                <a:r>
                  <a:rPr lang="pl-PL" altLang="zh-TW" sz="2000" dirty="0">
                    <a:latin typeface="Frutiger 45 Light" panose="020B0603020202020204" pitchFamily="34" charset="0"/>
                  </a:rPr>
                  <a:t>. Matrix L </a:t>
                </a:r>
                <a:r>
                  <a:rPr lang="pl-PL" altLang="zh-TW" sz="2000" dirty="0" err="1">
                    <a:latin typeface="Frutiger 45 Light" panose="020B0603020202020204" pitchFamily="34" charset="0"/>
                  </a:rPr>
                  <a:t>is</a:t>
                </a:r>
                <a:r>
                  <a:rPr lang="pl-PL" altLang="zh-TW" sz="2000" dirty="0">
                    <a:latin typeface="Frutiger 45 Light" panose="020B0603020202020204" pitchFamily="34" charset="0"/>
                  </a:rPr>
                  <a:t> a </a:t>
                </a:r>
                <a:r>
                  <a:rPr lang="pl-PL" altLang="zh-TW" sz="2000" dirty="0" err="1">
                    <a:latin typeface="Frutiger 45 Light" panose="020B0603020202020204" pitchFamily="34" charset="0"/>
                  </a:rPr>
                  <a:t>lower</a:t>
                </a:r>
                <a:r>
                  <a:rPr lang="pl-PL" altLang="zh-TW" sz="2000" dirty="0">
                    <a:latin typeface="Frutiger 45 Light" panose="020B0603020202020204" pitchFamily="34" charset="0"/>
                  </a:rPr>
                  <a:t>-triangle matrix, and </a:t>
                </a:r>
                <a:r>
                  <a:rPr lang="pl-PL" altLang="zh-TW" sz="2000" dirty="0" err="1">
                    <a:latin typeface="Frutiger 45 Light" panose="020B0603020202020204" pitchFamily="34" charset="0"/>
                  </a:rPr>
                  <a:t>it</a:t>
                </a:r>
                <a:r>
                  <a:rPr lang="pl-PL" altLang="zh-TW" sz="2000" dirty="0">
                    <a:latin typeface="Frutiger 45 Light" panose="020B0603020202020204" pitchFamily="34" charset="0"/>
                  </a:rPr>
                  <a:t> </a:t>
                </a:r>
                <a:r>
                  <a:rPr lang="pl-PL" altLang="zh-TW" sz="2000" dirty="0" err="1">
                    <a:latin typeface="Frutiger 45 Light" panose="020B0603020202020204" pitchFamily="34" charset="0"/>
                  </a:rPr>
                  <a:t>can</a:t>
                </a:r>
                <a:r>
                  <a:rPr lang="pl-PL" altLang="zh-TW" sz="2000" dirty="0">
                    <a:latin typeface="Frutiger 45 Light" panose="020B0603020202020204" pitchFamily="34" charset="0"/>
                  </a:rPr>
                  <a:t> be </a:t>
                </a:r>
                <a:r>
                  <a:rPr lang="pl-PL" altLang="zh-TW" sz="2000" dirty="0" err="1">
                    <a:latin typeface="Frutiger 45 Light" panose="020B0603020202020204" pitchFamily="34" charset="0"/>
                  </a:rPr>
                  <a:t>constructed</a:t>
                </a:r>
                <a:r>
                  <a:rPr lang="pl-PL" altLang="zh-TW" sz="2000" dirty="0">
                    <a:latin typeface="Frutiger 45 Light" panose="020B0603020202020204" pitchFamily="34" charset="0"/>
                  </a:rPr>
                  <a:t> with </a:t>
                </a:r>
                <a:r>
                  <a:rPr lang="pl-PL" altLang="zh-TW" sz="2000" dirty="0" err="1">
                    <a:latin typeface="Frutiger 45 Light" panose="020B0603020202020204" pitchFamily="34" charset="0"/>
                  </a:rPr>
                  <a:t>Cholesky</a:t>
                </a:r>
                <a:r>
                  <a:rPr lang="pl-PL" altLang="zh-TW" sz="2000" dirty="0">
                    <a:latin typeface="Frutiger 45 Light" panose="020B0603020202020204" pitchFamily="34" charset="0"/>
                  </a:rPr>
                  <a:t>-Banachiewicz </a:t>
                </a:r>
                <a:r>
                  <a:rPr lang="pl-PL" altLang="zh-TW" sz="2000" dirty="0" err="1">
                    <a:latin typeface="Frutiger 45 Light" panose="020B0603020202020204" pitchFamily="34" charset="0"/>
                  </a:rPr>
                  <a:t>algorithm</a:t>
                </a:r>
                <a:r>
                  <a:rPr lang="pl-PL" altLang="zh-TW" sz="2000" dirty="0">
                    <a:latin typeface="Frutiger 45 Light" panose="020B0603020202020204" pitchFamily="34" charset="0"/>
                  </a:rPr>
                  <a:t>.</a:t>
                </a:r>
              </a:p>
              <a:p>
                <a:pPr marL="342900" indent="-342900">
                  <a:buFont typeface="Arial" panose="020B0604020202020204" pitchFamily="34" charset="0"/>
                  <a:buChar char="•"/>
                </a:pPr>
                <a:r>
                  <a:rPr lang="pl-PL" altLang="zh-TW" sz="2000" dirty="0" err="1">
                    <a:latin typeface="Frutiger 45 Light" panose="020B0603020202020204" pitchFamily="34" charset="0"/>
                  </a:rPr>
                  <a:t>Singular-value</a:t>
                </a:r>
                <a:r>
                  <a:rPr lang="pl-PL" altLang="zh-TW" sz="2000" dirty="0">
                    <a:latin typeface="Frutiger 45 Light" panose="020B0603020202020204" pitchFamily="34" charset="0"/>
                  </a:rPr>
                  <a:t> </a:t>
                </a:r>
                <a:r>
                  <a:rPr lang="pl-PL" altLang="zh-TW" sz="2000" dirty="0" err="1">
                    <a:latin typeface="Frutiger 45 Light" panose="020B0603020202020204" pitchFamily="34" charset="0"/>
                  </a:rPr>
                  <a:t>decomposition</a:t>
                </a:r>
                <a:r>
                  <a:rPr lang="pl-PL" altLang="zh-TW" sz="2000" dirty="0">
                    <a:latin typeface="Frutiger 45 Light" panose="020B0603020202020204" pitchFamily="34" charset="0"/>
                  </a:rPr>
                  <a:t> (SVD)</a:t>
                </a:r>
              </a:p>
              <a:p>
                <a:pPr lvl="1"/>
                <a:r>
                  <a:rPr lang="pl-PL" altLang="zh-TW" sz="2000" dirty="0">
                    <a:latin typeface="Frutiger 45 Light" panose="020B0603020202020204" pitchFamily="34" charset="0"/>
                  </a:rPr>
                  <a:t>A </a:t>
                </a:r>
                <a:r>
                  <a:rPr lang="pl-PL" altLang="zh-TW" sz="2000" dirty="0" err="1">
                    <a:latin typeface="Frutiger 45 Light" panose="020B0603020202020204" pitchFamily="34" charset="0"/>
                  </a:rPr>
                  <a:t>symmetric</a:t>
                </a:r>
                <a:r>
                  <a:rPr lang="pl-PL" altLang="zh-TW" sz="2000" dirty="0">
                    <a:latin typeface="Frutiger 45 Light" panose="020B0603020202020204" pitchFamily="34" charset="0"/>
                  </a:rPr>
                  <a:t>, </a:t>
                </a:r>
                <a:r>
                  <a:rPr lang="pl-PL" altLang="zh-TW" sz="2000" dirty="0" err="1">
                    <a:latin typeface="Frutiger 45 Light" panose="020B0603020202020204" pitchFamily="34" charset="0"/>
                  </a:rPr>
                  <a:t>positevely</a:t>
                </a:r>
                <a:r>
                  <a:rPr lang="pl-PL" altLang="zh-TW" sz="2000" dirty="0">
                    <a:latin typeface="Frutiger 45 Light" panose="020B0603020202020204" pitchFamily="34" charset="0"/>
                  </a:rPr>
                  <a:t> </a:t>
                </a:r>
                <a:r>
                  <a:rPr lang="pl-PL" altLang="zh-TW" sz="2000" dirty="0" err="1">
                    <a:latin typeface="Frutiger 45 Light" panose="020B0603020202020204" pitchFamily="34" charset="0"/>
                  </a:rPr>
                  <a:t>semidefinite</a:t>
                </a:r>
                <a:r>
                  <a:rPr lang="pl-PL" altLang="zh-TW" sz="2000" dirty="0">
                    <a:latin typeface="Frutiger 45 Light" panose="020B0603020202020204" pitchFamily="34" charset="0"/>
                  </a:rPr>
                  <a:t> matrix A </a:t>
                </a:r>
                <a:r>
                  <a:rPr lang="pl-PL" altLang="zh-TW" sz="2000" dirty="0" err="1">
                    <a:latin typeface="Frutiger 45 Light" panose="020B0603020202020204" pitchFamily="34" charset="0"/>
                  </a:rPr>
                  <a:t>can</a:t>
                </a:r>
                <a:r>
                  <a:rPr lang="pl-PL" altLang="zh-TW" sz="2000" dirty="0">
                    <a:latin typeface="Frutiger 45 Light" panose="020B0603020202020204" pitchFamily="34" charset="0"/>
                  </a:rPr>
                  <a:t> be </a:t>
                </a:r>
                <a:r>
                  <a:rPr lang="pl-PL" altLang="zh-TW" sz="2000" dirty="0" err="1">
                    <a:latin typeface="Frutiger 45 Light" panose="020B0603020202020204" pitchFamily="34" charset="0"/>
                  </a:rPr>
                  <a:t>expressed</a:t>
                </a:r>
                <a:r>
                  <a:rPr lang="pl-PL" altLang="zh-TW" sz="2000" dirty="0">
                    <a:latin typeface="Frutiger 45 Light" panose="020B0603020202020204" pitchFamily="34" charset="0"/>
                  </a:rPr>
                  <a:t> as </a:t>
                </a:r>
                <a14:m>
                  <m:oMath xmlns:m="http://schemas.openxmlformats.org/officeDocument/2006/math">
                    <m:r>
                      <a:rPr lang="pl-PL" altLang="zh-TW" sz="2000" i="1" smtClean="0">
                        <a:latin typeface="Cambria Math" panose="02040503050406030204" pitchFamily="18" charset="0"/>
                      </a:rPr>
                      <m:t>𝐴</m:t>
                    </m:r>
                    <m:r>
                      <a:rPr lang="pl-PL" altLang="zh-TW" sz="2000" i="1" smtClean="0">
                        <a:latin typeface="Cambria Math" panose="02040503050406030204" pitchFamily="18" charset="0"/>
                      </a:rPr>
                      <m:t>=</m:t>
                    </m:r>
                    <m:sSup>
                      <m:sSupPr>
                        <m:ctrlPr>
                          <a:rPr lang="pl-PL" altLang="zh-TW" sz="2000" i="1" smtClean="0">
                            <a:latin typeface="Cambria Math" panose="02040503050406030204" pitchFamily="18" charset="0"/>
                          </a:rPr>
                        </m:ctrlPr>
                      </m:sSupPr>
                      <m:e>
                        <m:r>
                          <a:rPr lang="pl-PL" altLang="zh-TW" sz="2000" b="0" i="1" smtClean="0">
                            <a:latin typeface="Cambria Math" panose="02040503050406030204" pitchFamily="18" charset="0"/>
                          </a:rPr>
                          <m:t>𝑉𝑆𝑉</m:t>
                        </m:r>
                      </m:e>
                      <m:sup>
                        <m:r>
                          <a:rPr lang="pl-PL" altLang="zh-TW" sz="2000" b="0" i="1" smtClean="0">
                            <a:latin typeface="Cambria Math" panose="02040503050406030204" pitchFamily="18" charset="0"/>
                          </a:rPr>
                          <m:t>𝑇</m:t>
                        </m:r>
                      </m:sup>
                    </m:sSup>
                    <m:r>
                      <a:rPr lang="pl-PL" altLang="zh-TW" sz="2000" b="0" i="1" smtClean="0">
                        <a:latin typeface="Cambria Math" panose="02040503050406030204" pitchFamily="18" charset="0"/>
                      </a:rPr>
                      <m:t>,</m:t>
                    </m:r>
                  </m:oMath>
                </a14:m>
                <a:endParaRPr lang="pl-PL" altLang="zh-TW" sz="2000" b="0" dirty="0">
                  <a:latin typeface="Frutiger 45 Light" panose="020B0603020202020204" pitchFamily="34" charset="0"/>
                </a:endParaRPr>
              </a:p>
              <a:p>
                <a:pPr lvl="1"/>
                <a:r>
                  <a:rPr lang="pl-PL" altLang="zh-TW" sz="2000" dirty="0" err="1">
                    <a:latin typeface="Frutiger 45 Light" panose="020B0603020202020204" pitchFamily="34" charset="0"/>
                  </a:rPr>
                  <a:t>Where</a:t>
                </a:r>
                <a:r>
                  <a:rPr lang="pl-PL" altLang="zh-TW" sz="2000" dirty="0">
                    <a:latin typeface="Frutiger 45 Light" panose="020B0603020202020204" pitchFamily="34" charset="0"/>
                  </a:rPr>
                  <a:t> V </a:t>
                </a:r>
                <a:r>
                  <a:rPr lang="pl-PL" altLang="zh-TW" sz="2000" dirty="0" err="1">
                    <a:latin typeface="Frutiger 45 Light" panose="020B0603020202020204" pitchFamily="34" charset="0"/>
                  </a:rPr>
                  <a:t>is</a:t>
                </a:r>
                <a:r>
                  <a:rPr lang="pl-PL" altLang="zh-TW" sz="2000" dirty="0">
                    <a:latin typeface="Frutiger 45 Light" panose="020B0603020202020204" pitchFamily="34" charset="0"/>
                  </a:rPr>
                  <a:t> a </a:t>
                </a:r>
                <a:r>
                  <a:rPr lang="pl-PL" altLang="zh-TW" sz="2000" dirty="0" err="1">
                    <a:latin typeface="Frutiger 45 Light" panose="020B0603020202020204" pitchFamily="34" charset="0"/>
                  </a:rPr>
                  <a:t>ortonormal</a:t>
                </a:r>
                <a:r>
                  <a:rPr lang="pl-PL" altLang="zh-TW" sz="2000" dirty="0">
                    <a:latin typeface="Frutiger 45 Light" panose="020B0603020202020204" pitchFamily="34" charset="0"/>
                  </a:rPr>
                  <a:t> matrix, </a:t>
                </a:r>
                <a:r>
                  <a:rPr lang="pl-PL" altLang="zh-TW" sz="2000" dirty="0" err="1">
                    <a:latin typeface="Frutiger 45 Light" panose="020B0603020202020204" pitchFamily="34" charset="0"/>
                  </a:rPr>
                  <a:t>whose</a:t>
                </a:r>
                <a:r>
                  <a:rPr lang="pl-PL" altLang="zh-TW" sz="2000" dirty="0">
                    <a:latin typeface="Frutiger 45 Light" panose="020B0603020202020204" pitchFamily="34" charset="0"/>
                  </a:rPr>
                  <a:t> </a:t>
                </a:r>
                <a:r>
                  <a:rPr lang="pl-PL" altLang="zh-TW" sz="2000" dirty="0" err="1">
                    <a:latin typeface="Frutiger 45 Light" panose="020B0603020202020204" pitchFamily="34" charset="0"/>
                  </a:rPr>
                  <a:t>columns</a:t>
                </a:r>
                <a:r>
                  <a:rPr lang="pl-PL" altLang="zh-TW" sz="2000" dirty="0">
                    <a:latin typeface="Frutiger 45 Light" panose="020B0603020202020204" pitchFamily="34" charset="0"/>
                  </a:rPr>
                  <a:t> </a:t>
                </a:r>
                <a:r>
                  <a:rPr lang="pl-PL" altLang="zh-TW" sz="2000" dirty="0" err="1">
                    <a:latin typeface="Frutiger 45 Light" panose="020B0603020202020204" pitchFamily="34" charset="0"/>
                  </a:rPr>
                  <a:t>are</a:t>
                </a:r>
                <a:r>
                  <a:rPr lang="pl-PL" altLang="zh-TW" sz="2000" dirty="0">
                    <a:latin typeface="Frutiger 45 Light" panose="020B0603020202020204" pitchFamily="34" charset="0"/>
                  </a:rPr>
                  <a:t> </a:t>
                </a:r>
                <a:r>
                  <a:rPr lang="pl-PL" altLang="zh-TW" sz="2000" dirty="0" err="1">
                    <a:latin typeface="Frutiger 45 Light" panose="020B0603020202020204" pitchFamily="34" charset="0"/>
                  </a:rPr>
                  <a:t>eigenvectors</a:t>
                </a:r>
                <a:r>
                  <a:rPr lang="pl-PL" altLang="zh-TW" sz="2000" dirty="0">
                    <a:latin typeface="Frutiger 45 Light" panose="020B0603020202020204" pitchFamily="34" charset="0"/>
                  </a:rPr>
                  <a:t> of A, and matrix S=</a:t>
                </a:r>
                <a:r>
                  <a:rPr lang="pl-PL" altLang="zh-TW" sz="2000" dirty="0" err="1">
                    <a:latin typeface="Frutiger 45 Light" panose="020B0603020202020204" pitchFamily="34" charset="0"/>
                  </a:rPr>
                  <a:t>diag</a:t>
                </a:r>
                <a:r>
                  <a:rPr lang="pl-PL" altLang="zh-TW" sz="2000" dirty="0">
                    <a:latin typeface="Frutiger 45 Light" panose="020B0603020202020204" pitchFamily="34" charset="0"/>
                  </a:rPr>
                  <a:t>([</a:t>
                </a:r>
                <a14:m>
                  <m:oMath xmlns:m="http://schemas.openxmlformats.org/officeDocument/2006/math">
                    <m:sSub>
                      <m:sSubPr>
                        <m:ctrlPr>
                          <a:rPr lang="pl-PL" altLang="zh-TW" sz="2000" i="1" smtClean="0">
                            <a:latin typeface="Cambria Math" panose="02040503050406030204" pitchFamily="18" charset="0"/>
                          </a:rPr>
                        </m:ctrlPr>
                      </m:sSubPr>
                      <m:e>
                        <m:r>
                          <a:rPr lang="pl-PL" altLang="zh-TW" sz="2000" b="0" i="1" smtClean="0">
                            <a:latin typeface="Cambria Math" panose="02040503050406030204" pitchFamily="18" charset="0"/>
                          </a:rPr>
                          <m:t>𝑠</m:t>
                        </m:r>
                      </m:e>
                      <m:sub>
                        <m:r>
                          <a:rPr lang="pl-PL" altLang="zh-TW" sz="2000" b="0" i="1" smtClean="0">
                            <a:latin typeface="Cambria Math" panose="02040503050406030204" pitchFamily="18" charset="0"/>
                          </a:rPr>
                          <m:t>1</m:t>
                        </m:r>
                      </m:sub>
                    </m:sSub>
                    <m:r>
                      <a:rPr lang="pl-PL" altLang="zh-TW" sz="2000" b="0" i="1" smtClean="0">
                        <a:latin typeface="Cambria Math" panose="02040503050406030204" pitchFamily="18" charset="0"/>
                      </a:rPr>
                      <m:t>,…, </m:t>
                    </m:r>
                    <m:sSub>
                      <m:sSubPr>
                        <m:ctrlPr>
                          <a:rPr lang="pl-PL" altLang="zh-TW" sz="2000" b="0" i="1" smtClean="0">
                            <a:latin typeface="Cambria Math" panose="02040503050406030204" pitchFamily="18" charset="0"/>
                          </a:rPr>
                        </m:ctrlPr>
                      </m:sSubPr>
                      <m:e>
                        <m:r>
                          <a:rPr lang="pl-PL" altLang="zh-TW" sz="2000" b="0" i="1" smtClean="0">
                            <a:latin typeface="Cambria Math" panose="02040503050406030204" pitchFamily="18" charset="0"/>
                          </a:rPr>
                          <m:t>𝑠</m:t>
                        </m:r>
                      </m:e>
                      <m:sub>
                        <m:r>
                          <a:rPr lang="pl-PL" altLang="zh-TW" sz="2000" b="0" i="1" smtClean="0">
                            <a:latin typeface="Cambria Math" panose="02040503050406030204" pitchFamily="18" charset="0"/>
                          </a:rPr>
                          <m:t>𝑘</m:t>
                        </m:r>
                      </m:sub>
                    </m:sSub>
                  </m:oMath>
                </a14:m>
                <a:r>
                  <a:rPr lang="pl-PL" altLang="zh-TW" sz="2000" dirty="0">
                    <a:latin typeface="Frutiger 45 Light" panose="020B0603020202020204" pitchFamily="34" charset="0"/>
                  </a:rPr>
                  <a:t>]), </a:t>
                </a:r>
                <a:r>
                  <a:rPr lang="pl-PL" altLang="zh-TW" sz="2000" dirty="0" err="1">
                    <a:latin typeface="Frutiger 45 Light" panose="020B0603020202020204" pitchFamily="34" charset="0"/>
                  </a:rPr>
                  <a:t>where</a:t>
                </a:r>
                <a:r>
                  <a:rPr lang="pl-PL" altLang="zh-TW" sz="2000" dirty="0">
                    <a:latin typeface="Frutiger 45 Light" panose="020B0603020202020204" pitchFamily="34" charset="0"/>
                  </a:rPr>
                  <a:t> </a:t>
                </a:r>
                <a14:m>
                  <m:oMath xmlns:m="http://schemas.openxmlformats.org/officeDocument/2006/math">
                    <m:sSub>
                      <m:sSubPr>
                        <m:ctrlPr>
                          <a:rPr lang="pl-PL" altLang="zh-TW" sz="2000" i="1">
                            <a:latin typeface="Cambria Math" panose="02040503050406030204" pitchFamily="18" charset="0"/>
                          </a:rPr>
                        </m:ctrlPr>
                      </m:sSubPr>
                      <m:e>
                        <m:r>
                          <a:rPr lang="pl-PL" altLang="zh-TW" sz="2000" i="1">
                            <a:latin typeface="Cambria Math" panose="02040503050406030204" pitchFamily="18" charset="0"/>
                          </a:rPr>
                          <m:t>𝑠</m:t>
                        </m:r>
                      </m:e>
                      <m:sub>
                        <m:r>
                          <a:rPr lang="pl-PL" altLang="zh-TW" sz="2000" b="0" i="1" smtClean="0">
                            <a:latin typeface="Cambria Math" panose="02040503050406030204" pitchFamily="18" charset="0"/>
                          </a:rPr>
                          <m:t>𝑖</m:t>
                        </m:r>
                      </m:sub>
                    </m:sSub>
                  </m:oMath>
                </a14:m>
                <a:r>
                  <a:rPr lang="pl-PL" altLang="zh-TW" sz="2000" dirty="0">
                    <a:latin typeface="Frutiger 45 Light" panose="020B0603020202020204" pitchFamily="34" charset="0"/>
                  </a:rPr>
                  <a:t> </a:t>
                </a:r>
                <a:r>
                  <a:rPr lang="pl-PL" altLang="zh-TW" sz="2000" dirty="0" err="1">
                    <a:latin typeface="Frutiger 45 Light" panose="020B0603020202020204" pitchFamily="34" charset="0"/>
                  </a:rPr>
                  <a:t>are</a:t>
                </a:r>
                <a:r>
                  <a:rPr lang="pl-PL" altLang="zh-TW" sz="2000" dirty="0">
                    <a:latin typeface="Frutiger 45 Light" panose="020B0603020202020204" pitchFamily="34" charset="0"/>
                  </a:rPr>
                  <a:t> </a:t>
                </a:r>
                <a:r>
                  <a:rPr lang="pl-PL" altLang="zh-TW" sz="2000" dirty="0" err="1">
                    <a:latin typeface="Frutiger 45 Light" panose="020B0603020202020204" pitchFamily="34" charset="0"/>
                  </a:rPr>
                  <a:t>eigenvalues</a:t>
                </a:r>
                <a:r>
                  <a:rPr lang="pl-PL" altLang="zh-TW" sz="2000" dirty="0">
                    <a:latin typeface="Frutiger 45 Light" panose="020B0603020202020204" pitchFamily="34" charset="0"/>
                  </a:rPr>
                  <a:t> of A</a:t>
                </a:r>
              </a:p>
              <a:p>
                <a:pPr lvl="1"/>
                <a:r>
                  <a:rPr lang="pl-PL" altLang="zh-TW" sz="2000" dirty="0">
                    <a:latin typeface="Frutiger 45 Light" panose="020B0603020202020204" pitchFamily="34" charset="0"/>
                  </a:rPr>
                  <a:t>Then </a:t>
                </a:r>
                <a14:m>
                  <m:oMath xmlns:m="http://schemas.openxmlformats.org/officeDocument/2006/math">
                    <m:r>
                      <m:rPr>
                        <m:sty m:val="p"/>
                      </m:rPr>
                      <a:rPr lang="pl-PL" altLang="zh-TW" sz="2000" b="0" i="0" smtClean="0">
                        <a:latin typeface="Cambria Math" panose="02040503050406030204" pitchFamily="18" charset="0"/>
                      </a:rPr>
                      <m:t>J</m:t>
                    </m:r>
                    <m:r>
                      <a:rPr lang="pl-PL" altLang="zh-TW" sz="2000" i="1" smtClean="0">
                        <a:latin typeface="Cambria Math" panose="02040503050406030204" pitchFamily="18" charset="0"/>
                      </a:rPr>
                      <m:t>=</m:t>
                    </m:r>
                    <m:sSup>
                      <m:sSupPr>
                        <m:ctrlPr>
                          <a:rPr lang="pl-PL" altLang="zh-TW" sz="2000" i="1" smtClean="0">
                            <a:latin typeface="Cambria Math" panose="02040503050406030204" pitchFamily="18" charset="0"/>
                          </a:rPr>
                        </m:ctrlPr>
                      </m:sSupPr>
                      <m:e>
                        <m:r>
                          <a:rPr lang="pl-PL" altLang="zh-TW" sz="2000" b="0" i="1" smtClean="0">
                            <a:latin typeface="Cambria Math" panose="02040503050406030204" pitchFamily="18" charset="0"/>
                          </a:rPr>
                          <m:t>𝑉𝑆</m:t>
                        </m:r>
                      </m:e>
                      <m:sup>
                        <m:r>
                          <a:rPr lang="pl-PL" altLang="zh-TW" sz="2000" b="0" i="1" smtClean="0">
                            <a:latin typeface="Cambria Math" panose="02040503050406030204" pitchFamily="18" charset="0"/>
                          </a:rPr>
                          <m:t>1/2</m:t>
                        </m:r>
                      </m:sup>
                    </m:sSup>
                    <m:sSup>
                      <m:sSupPr>
                        <m:ctrlPr>
                          <a:rPr lang="pl-PL" altLang="zh-TW" sz="2000" i="1">
                            <a:latin typeface="Cambria Math" panose="02040503050406030204" pitchFamily="18" charset="0"/>
                          </a:rPr>
                        </m:ctrlPr>
                      </m:sSupPr>
                      <m:e>
                        <m:r>
                          <a:rPr lang="pl-PL" altLang="zh-TW" sz="2000" b="0" i="1" smtClean="0">
                            <a:latin typeface="Cambria Math" panose="02040503050406030204" pitchFamily="18" charset="0"/>
                          </a:rPr>
                          <m:t>𝑉</m:t>
                        </m:r>
                      </m:e>
                      <m:sup>
                        <m:r>
                          <a:rPr lang="pl-PL" altLang="zh-TW" sz="2000" i="1">
                            <a:latin typeface="Cambria Math" panose="02040503050406030204" pitchFamily="18" charset="0"/>
                          </a:rPr>
                          <m:t>𝑇</m:t>
                        </m:r>
                      </m:sup>
                    </m:sSup>
                  </m:oMath>
                </a14:m>
                <a:r>
                  <a:rPr lang="pl-PL" altLang="zh-TW" sz="2000" dirty="0">
                    <a:latin typeface="Frutiger 45 Light" panose="020B0603020202020204" pitchFamily="34" charset="0"/>
                  </a:rPr>
                  <a:t>, </a:t>
                </a:r>
                <a14:m>
                  <m:oMath xmlns:m="http://schemas.openxmlformats.org/officeDocument/2006/math">
                    <m:sSup>
                      <m:sSupPr>
                        <m:ctrlPr>
                          <a:rPr lang="pl-PL" altLang="zh-TW" sz="2000" i="1">
                            <a:latin typeface="Cambria Math" panose="02040503050406030204" pitchFamily="18" charset="0"/>
                          </a:rPr>
                        </m:ctrlPr>
                      </m:sSupPr>
                      <m:e>
                        <m:r>
                          <a:rPr lang="pl-PL" altLang="zh-TW" sz="2000" i="1">
                            <a:latin typeface="Cambria Math" panose="02040503050406030204" pitchFamily="18" charset="0"/>
                          </a:rPr>
                          <m:t>𝑆</m:t>
                        </m:r>
                      </m:e>
                      <m:sup>
                        <m:r>
                          <a:rPr lang="pl-PL" altLang="zh-TW" sz="2000" i="1">
                            <a:latin typeface="Cambria Math" panose="02040503050406030204" pitchFamily="18" charset="0"/>
                          </a:rPr>
                          <m:t>1/2</m:t>
                        </m:r>
                      </m:sup>
                    </m:sSup>
                  </m:oMath>
                </a14:m>
                <a:r>
                  <a:rPr lang="pl-PL" altLang="zh-TW" sz="2000" dirty="0">
                    <a:latin typeface="Frutiger 45 Light" panose="020B0603020202020204" pitchFamily="34" charset="0"/>
                  </a:rPr>
                  <a:t>= diag([</a:t>
                </a:r>
                <a14:m>
                  <m:oMath xmlns:m="http://schemas.openxmlformats.org/officeDocument/2006/math">
                    <m:rad>
                      <m:radPr>
                        <m:degHide m:val="on"/>
                        <m:ctrlPr>
                          <a:rPr lang="pl-PL" altLang="zh-TW" sz="2000" i="1" smtClean="0">
                            <a:latin typeface="Cambria Math" panose="02040503050406030204" pitchFamily="18" charset="0"/>
                          </a:rPr>
                        </m:ctrlPr>
                      </m:radPr>
                      <m:deg/>
                      <m:e>
                        <m:sSub>
                          <m:sSubPr>
                            <m:ctrlPr>
                              <a:rPr lang="pl-PL" altLang="zh-TW" sz="2000" i="1">
                                <a:latin typeface="Cambria Math" panose="02040503050406030204" pitchFamily="18" charset="0"/>
                              </a:rPr>
                            </m:ctrlPr>
                          </m:sSubPr>
                          <m:e>
                            <m:r>
                              <a:rPr lang="pl-PL" altLang="zh-TW" sz="2000" i="1">
                                <a:latin typeface="Cambria Math" panose="02040503050406030204" pitchFamily="18" charset="0"/>
                              </a:rPr>
                              <m:t>𝑠</m:t>
                            </m:r>
                          </m:e>
                          <m:sub>
                            <m:r>
                              <a:rPr lang="pl-PL" altLang="zh-TW" sz="2000" i="1">
                                <a:latin typeface="Cambria Math" panose="02040503050406030204" pitchFamily="18" charset="0"/>
                              </a:rPr>
                              <m:t>1</m:t>
                            </m:r>
                          </m:sub>
                        </m:sSub>
                      </m:e>
                    </m:rad>
                    <m:r>
                      <a:rPr lang="pl-PL" altLang="zh-TW" sz="2000" i="1">
                        <a:latin typeface="Cambria Math" panose="02040503050406030204" pitchFamily="18" charset="0"/>
                      </a:rPr>
                      <m:t>,…,</m:t>
                    </m:r>
                    <m:rad>
                      <m:radPr>
                        <m:degHide m:val="on"/>
                        <m:ctrlPr>
                          <a:rPr lang="pl-PL" altLang="zh-TW" sz="2000" i="1">
                            <a:latin typeface="Cambria Math" panose="02040503050406030204" pitchFamily="18" charset="0"/>
                          </a:rPr>
                        </m:ctrlPr>
                      </m:radPr>
                      <m:deg/>
                      <m:e>
                        <m:sSub>
                          <m:sSubPr>
                            <m:ctrlPr>
                              <a:rPr lang="pl-PL" altLang="zh-TW" sz="2000" i="1">
                                <a:latin typeface="Cambria Math" panose="02040503050406030204" pitchFamily="18" charset="0"/>
                              </a:rPr>
                            </m:ctrlPr>
                          </m:sSubPr>
                          <m:e>
                            <m:r>
                              <a:rPr lang="pl-PL" altLang="zh-TW" sz="2000" i="1">
                                <a:latin typeface="Cambria Math" panose="02040503050406030204" pitchFamily="18" charset="0"/>
                              </a:rPr>
                              <m:t>𝑠</m:t>
                            </m:r>
                          </m:e>
                          <m:sub>
                            <m:r>
                              <a:rPr lang="pl-PL" altLang="zh-TW" sz="2000" b="0" i="1" smtClean="0">
                                <a:latin typeface="Cambria Math" panose="02040503050406030204" pitchFamily="18" charset="0"/>
                              </a:rPr>
                              <m:t>𝑘</m:t>
                            </m:r>
                          </m:sub>
                        </m:sSub>
                      </m:e>
                    </m:rad>
                  </m:oMath>
                </a14:m>
                <a:r>
                  <a:rPr lang="pl-PL" altLang="zh-TW" sz="2000" dirty="0">
                    <a:latin typeface="Frutiger 45 Light" panose="020B0603020202020204" pitchFamily="34" charset="0"/>
                  </a:rPr>
                  <a:t>]) </a:t>
                </a:r>
                <a:r>
                  <a:rPr lang="pl-PL" altLang="zh-TW" sz="2000" dirty="0" err="1">
                    <a:latin typeface="Frutiger 45 Light" panose="020B0603020202020204" pitchFamily="34" charset="0"/>
                  </a:rPr>
                  <a:t>is</a:t>
                </a:r>
                <a:r>
                  <a:rPr lang="pl-PL" altLang="zh-TW" sz="2000" dirty="0">
                    <a:latin typeface="Frutiger 45 Light" panose="020B0603020202020204" pitchFamily="34" charset="0"/>
                  </a:rPr>
                  <a:t> a </a:t>
                </a:r>
                <a:r>
                  <a:rPr lang="pl-PL" altLang="zh-TW" sz="2000" dirty="0" err="1">
                    <a:latin typeface="Frutiger 45 Light" panose="020B0603020202020204" pitchFamily="34" charset="0"/>
                  </a:rPr>
                  <a:t>symmetric</a:t>
                </a:r>
                <a:r>
                  <a:rPr lang="pl-PL" altLang="zh-TW" sz="2000" dirty="0">
                    <a:latin typeface="Frutiger 45 Light" panose="020B0603020202020204" pitchFamily="34" charset="0"/>
                  </a:rPr>
                  <a:t>, </a:t>
                </a:r>
                <a:r>
                  <a:rPr lang="pl-PL" altLang="zh-TW" sz="2000" dirty="0" err="1">
                    <a:latin typeface="Frutiger 45 Light" panose="020B0603020202020204" pitchFamily="34" charset="0"/>
                  </a:rPr>
                  <a:t>positevely</a:t>
                </a:r>
                <a:r>
                  <a:rPr lang="pl-PL" altLang="zh-TW" sz="2000" dirty="0">
                    <a:latin typeface="Frutiger 45 Light" panose="020B0603020202020204" pitchFamily="34" charset="0"/>
                  </a:rPr>
                  <a:t> </a:t>
                </a:r>
                <a:r>
                  <a:rPr lang="pl-PL" altLang="zh-TW" sz="2000" dirty="0" err="1">
                    <a:latin typeface="Frutiger 45 Light" panose="020B0603020202020204" pitchFamily="34" charset="0"/>
                  </a:rPr>
                  <a:t>semidefinite</a:t>
                </a:r>
                <a:r>
                  <a:rPr lang="pl-PL" altLang="zh-TW" sz="2000" dirty="0">
                    <a:latin typeface="Frutiger 45 Light" panose="020B0603020202020204" pitchFamily="34" charset="0"/>
                  </a:rPr>
                  <a:t> matrix and A=</a:t>
                </a:r>
                <a:r>
                  <a:rPr lang="pl-PL" altLang="zh-TW" sz="2000" dirty="0">
                    <a:ea typeface="Cambria Math" panose="02040503050406030204" pitchFamily="18" charset="0"/>
                  </a:rPr>
                  <a:t> </a:t>
                </a:r>
                <a14:m>
                  <m:oMath xmlns:m="http://schemas.openxmlformats.org/officeDocument/2006/math">
                    <m:r>
                      <a:rPr lang="pl-PL" altLang="zh-TW" sz="2000" i="1">
                        <a:latin typeface="Cambria Math" panose="02040503050406030204" pitchFamily="18" charset="0"/>
                        <a:ea typeface="Cambria Math" panose="02040503050406030204" pitchFamily="18" charset="0"/>
                      </a:rPr>
                      <m:t>𝐽</m:t>
                    </m:r>
                    <m:sSup>
                      <m:sSupPr>
                        <m:ctrlPr>
                          <a:rPr lang="pl-PL" altLang="zh-TW" sz="2000" i="1">
                            <a:latin typeface="Cambria Math" panose="02040503050406030204" pitchFamily="18" charset="0"/>
                            <a:ea typeface="Cambria Math" panose="02040503050406030204" pitchFamily="18" charset="0"/>
                          </a:rPr>
                        </m:ctrlPr>
                      </m:sSupPr>
                      <m:e>
                        <m:r>
                          <a:rPr lang="pl-PL" altLang="zh-TW" sz="2000" i="1">
                            <a:latin typeface="Cambria Math" panose="02040503050406030204" pitchFamily="18" charset="0"/>
                            <a:ea typeface="Cambria Math" panose="02040503050406030204" pitchFamily="18" charset="0"/>
                          </a:rPr>
                          <m:t>𝐽</m:t>
                        </m:r>
                      </m:e>
                      <m:sup>
                        <m:r>
                          <a:rPr lang="pl-PL" altLang="zh-TW" sz="2000" i="1">
                            <a:latin typeface="Cambria Math" panose="02040503050406030204" pitchFamily="18" charset="0"/>
                            <a:ea typeface="Cambria Math" panose="02040503050406030204" pitchFamily="18" charset="0"/>
                          </a:rPr>
                          <m:t>𝑇</m:t>
                        </m:r>
                      </m:sup>
                    </m:sSup>
                  </m:oMath>
                </a14:m>
                <a:r>
                  <a:rPr lang="pl-PL" altLang="zh-TW" sz="2000" dirty="0">
                    <a:latin typeface="Frutiger 45 Light" panose="020B0603020202020204" pitchFamily="34" charset="0"/>
                  </a:rPr>
                  <a:t> holds.</a:t>
                </a:r>
              </a:p>
            </p:txBody>
          </p:sp>
        </mc:Choice>
        <mc:Fallback xmlns="">
          <p:sp>
            <p:nvSpPr>
              <p:cNvPr id="21" name="TextBox 20">
                <a:extLst>
                  <a:ext uri="{FF2B5EF4-FFF2-40B4-BE49-F238E27FC236}">
                    <a16:creationId xmlns:a16="http://schemas.microsoft.com/office/drawing/2014/main" id="{1313426E-C902-410F-BCC5-D4BF2B7DC6B4}"/>
                  </a:ext>
                </a:extLst>
              </p:cNvPr>
              <p:cNvSpPr txBox="1">
                <a:spLocks noRot="1" noChangeAspect="1" noMove="1" noResize="1" noEditPoints="1" noAdjustHandles="1" noChangeArrowheads="1" noChangeShapeType="1" noTextEdit="1"/>
              </p:cNvSpPr>
              <p:nvPr>
                <p:custDataLst>
                  <p:tags r:id="rId6"/>
                </p:custDataLst>
              </p:nvPr>
            </p:nvSpPr>
            <p:spPr>
              <a:xfrm>
                <a:off x="420624" y="1809539"/>
                <a:ext cx="9189720" cy="4974319"/>
              </a:xfrm>
              <a:prstGeom prst="rect">
                <a:avLst/>
              </a:prstGeom>
              <a:blipFill>
                <a:blip r:embed="rId7"/>
                <a:stretch>
                  <a:fillRect l="-1592" t="-1103" r="-1194"/>
                </a:stretch>
              </a:blipFill>
            </p:spPr>
            <p:txBody>
              <a:bodyPr/>
              <a:lstStyle/>
              <a:p>
                <a:r>
                  <a:rPr lang="en-GB">
                    <a:noFill/>
                  </a:rPr>
                  <a:t> </a:t>
                </a:r>
              </a:p>
            </p:txBody>
          </p:sp>
        </mc:Fallback>
      </mc:AlternateContent>
    </p:spTree>
    <p:custDataLst>
      <p:tags r:id="rId1"/>
    </p:custDataLst>
    <p:extLst>
      <p:ext uri="{BB962C8B-B14F-4D97-AF65-F5344CB8AC3E}">
        <p14:creationId xmlns:p14="http://schemas.microsoft.com/office/powerpoint/2010/main" val="4522107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DIVIDER TITLE"/>
          <p:cNvSpPr>
            <a:spLocks noGrp="1"/>
          </p:cNvSpPr>
          <p:nvPr>
            <p:ph type="subTitle" idx="1"/>
            <p:custDataLst>
              <p:tags r:id="rId2"/>
            </p:custDataLst>
          </p:nvPr>
        </p:nvSpPr>
        <p:spPr/>
        <p:txBody>
          <a:bodyPr/>
          <a:lstStyle/>
          <a:p>
            <a:r>
              <a:rPr lang="en-US" dirty="0"/>
              <a:t>Modelling Counterparty Credit Risk</a:t>
            </a:r>
          </a:p>
        </p:txBody>
      </p:sp>
      <p:sp>
        <p:nvSpPr>
          <p:cNvPr id="20" name="DIVIDER NUMBER"/>
          <p:cNvSpPr>
            <a:spLocks noGrp="1"/>
          </p:cNvSpPr>
          <p:nvPr>
            <p:ph type="ctrTitle"/>
            <p:custDataLst>
              <p:tags r:id="rId3"/>
            </p:custDataLst>
          </p:nvPr>
        </p:nvSpPr>
        <p:spPr/>
        <p:txBody>
          <a:bodyPr/>
          <a:lstStyle/>
          <a:p>
            <a:r>
              <a:rPr lang="en-US"/>
              <a:t>Section 3</a:t>
            </a:r>
          </a:p>
        </p:txBody>
      </p:sp>
    </p:spTree>
    <p:custDataLst>
      <p:tags r:id="rId1"/>
    </p:custDataLst>
    <p:extLst>
      <p:ext uri="{BB962C8B-B14F-4D97-AF65-F5344CB8AC3E}">
        <p14:creationId xmlns:p14="http://schemas.microsoft.com/office/powerpoint/2010/main" val="9258272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CF87D-B0D7-5D6B-BC11-249FF50876E3}"/>
            </a:ext>
          </a:extLst>
        </p:cNvPr>
        <p:cNvGrpSpPr/>
        <p:nvPr/>
      </p:nvGrpSpPr>
      <p:grpSpPr>
        <a:xfrm>
          <a:off x="0" y="0"/>
          <a:ext cx="0" cy="0"/>
          <a:chOff x="0" y="0"/>
          <a:chExt cx="0" cy="0"/>
        </a:xfrm>
      </p:grpSpPr>
      <p:sp>
        <p:nvSpPr>
          <p:cNvPr id="2" name="LAYOUT BODY">
            <a:extLst>
              <a:ext uri="{FF2B5EF4-FFF2-40B4-BE49-F238E27FC236}">
                <a16:creationId xmlns:a16="http://schemas.microsoft.com/office/drawing/2014/main" id="{5DBFA700-B201-B561-6976-BF9892979B97}"/>
              </a:ext>
            </a:extLst>
          </p:cNvPr>
          <p:cNvSpPr>
            <a:spLocks noGrp="1"/>
          </p:cNvSpPr>
          <p:nvPr>
            <p:ph idx="1"/>
            <p:custDataLst>
              <p:tags r:id="rId2"/>
            </p:custDataLst>
          </p:nvPr>
        </p:nvSpPr>
        <p:spPr>
          <a:xfrm>
            <a:off x="420624" y="1635096"/>
            <a:ext cx="9189720" cy="4759691"/>
          </a:xfrm>
        </p:spPr>
        <p:txBody>
          <a:bodyPr/>
          <a:lstStyle/>
          <a:p>
            <a:pPr marL="0" lvl="1" indent="0">
              <a:spcBef>
                <a:spcPts val="1400"/>
              </a:spcBef>
              <a:buClr>
                <a:schemeClr val="tx2"/>
              </a:buClr>
              <a:buSzPct val="100000"/>
              <a:buNone/>
            </a:pPr>
            <a:r>
              <a:rPr lang="en-GB" sz="1800" dirty="0">
                <a:latin typeface="Frutiger 45 Light" panose="020B0603020202020204" pitchFamily="34" charset="0"/>
              </a:rPr>
              <a:t>We can simulate the evolution of the portfolio value over time</a:t>
            </a:r>
          </a:p>
          <a:p>
            <a:pPr marL="234950" lvl="1" indent="-234950">
              <a:spcBef>
                <a:spcPts val="1400"/>
              </a:spcBef>
              <a:buClr>
                <a:schemeClr val="tx2"/>
              </a:buClr>
              <a:buSzPct val="100000"/>
              <a:buFont typeface="Symbol" pitchFamily="18" charset="2"/>
              <a:buChar char="·"/>
            </a:pPr>
            <a:endParaRPr lang="en-GB" dirty="0">
              <a:latin typeface="Frutiger 45 Light" panose="020B0603020202020204" pitchFamily="34" charset="0"/>
            </a:endParaRPr>
          </a:p>
          <a:p>
            <a:pPr marL="234950" lvl="1" indent="-234950">
              <a:spcBef>
                <a:spcPts val="1400"/>
              </a:spcBef>
              <a:buClr>
                <a:schemeClr val="tx2"/>
              </a:buClr>
              <a:buSzPct val="100000"/>
              <a:buFont typeface="Symbol" pitchFamily="18" charset="2"/>
              <a:buChar char="·"/>
            </a:pPr>
            <a:endParaRPr lang="en-GB" dirty="0">
              <a:latin typeface="Frutiger 45 Light" panose="020B0603020202020204" pitchFamily="34" charset="0"/>
            </a:endParaRPr>
          </a:p>
          <a:p>
            <a:pPr marL="234950" lvl="1" indent="-234950">
              <a:spcBef>
                <a:spcPts val="1400"/>
              </a:spcBef>
              <a:buClr>
                <a:schemeClr val="tx2"/>
              </a:buClr>
              <a:buSzPct val="100000"/>
              <a:buFont typeface="Symbol" pitchFamily="18" charset="2"/>
              <a:buChar char="·"/>
            </a:pPr>
            <a:endParaRPr lang="en-GB" dirty="0">
              <a:latin typeface="Frutiger 45 Light" panose="020B0603020202020204" pitchFamily="34" charset="0"/>
            </a:endParaRPr>
          </a:p>
          <a:p>
            <a:pPr marL="234950" lvl="1" indent="-234950">
              <a:spcBef>
                <a:spcPts val="1400"/>
              </a:spcBef>
              <a:buClr>
                <a:schemeClr val="tx2"/>
              </a:buClr>
              <a:buSzPct val="100000"/>
              <a:buFont typeface="Symbol" pitchFamily="18" charset="2"/>
              <a:buChar char="·"/>
            </a:pPr>
            <a:endParaRPr lang="en-GB" dirty="0">
              <a:latin typeface="Frutiger 45 Light" panose="020B0603020202020204" pitchFamily="34" charset="0"/>
            </a:endParaRPr>
          </a:p>
          <a:p>
            <a:pPr marL="234950" lvl="1" indent="-234950">
              <a:spcBef>
                <a:spcPts val="1400"/>
              </a:spcBef>
              <a:buClr>
                <a:schemeClr val="tx2"/>
              </a:buClr>
              <a:buSzPct val="100000"/>
              <a:buFont typeface="Symbol" pitchFamily="18" charset="2"/>
              <a:buChar char="·"/>
            </a:pPr>
            <a:endParaRPr lang="en-GB" dirty="0">
              <a:latin typeface="Frutiger 45 Light" panose="020B0603020202020204" pitchFamily="34" charset="0"/>
            </a:endParaRPr>
          </a:p>
          <a:p>
            <a:pPr marL="234950" lvl="1" indent="-234950">
              <a:spcBef>
                <a:spcPts val="1400"/>
              </a:spcBef>
              <a:buClr>
                <a:schemeClr val="tx2"/>
              </a:buClr>
              <a:buSzPct val="100000"/>
              <a:buFont typeface="Symbol" pitchFamily="18" charset="2"/>
              <a:buChar char="·"/>
            </a:pPr>
            <a:endParaRPr lang="en-GB" dirty="0">
              <a:latin typeface="Frutiger 45 Light" panose="020B0603020202020204" pitchFamily="34" charset="0"/>
            </a:endParaRPr>
          </a:p>
          <a:p>
            <a:pPr marL="234950" lvl="1" indent="-234950">
              <a:spcBef>
                <a:spcPts val="1400"/>
              </a:spcBef>
              <a:buClr>
                <a:schemeClr val="tx2"/>
              </a:buClr>
              <a:buSzPct val="100000"/>
              <a:buFont typeface="Symbol" pitchFamily="18" charset="2"/>
              <a:buChar char="·"/>
            </a:pPr>
            <a:endParaRPr lang="en-GB" dirty="0">
              <a:latin typeface="Frutiger 45 Light" panose="020B0603020202020204" pitchFamily="34" charset="0"/>
            </a:endParaRPr>
          </a:p>
          <a:p>
            <a:pPr marL="234950" lvl="1" indent="-234950">
              <a:spcBef>
                <a:spcPts val="1400"/>
              </a:spcBef>
              <a:buClr>
                <a:schemeClr val="tx2"/>
              </a:buClr>
              <a:buSzPct val="100000"/>
              <a:buFont typeface="Symbol" pitchFamily="18" charset="2"/>
              <a:buChar char="·"/>
            </a:pPr>
            <a:endParaRPr lang="en-GB" dirty="0">
              <a:latin typeface="Frutiger 45 Light" panose="020B0603020202020204" pitchFamily="34" charset="0"/>
            </a:endParaRPr>
          </a:p>
          <a:p>
            <a:endParaRPr lang="en-US" dirty="0">
              <a:latin typeface="Frutiger 45 Light" panose="020B0603020202020204" pitchFamily="34" charset="0"/>
            </a:endParaRPr>
          </a:p>
        </p:txBody>
      </p:sp>
      <p:sp>
        <p:nvSpPr>
          <p:cNvPr id="3" name="PAGE HEADING">
            <a:extLst>
              <a:ext uri="{FF2B5EF4-FFF2-40B4-BE49-F238E27FC236}">
                <a16:creationId xmlns:a16="http://schemas.microsoft.com/office/drawing/2014/main" id="{8ECB5786-1BE8-3384-EC60-124C7F1ECE33}"/>
              </a:ext>
            </a:extLst>
          </p:cNvPr>
          <p:cNvSpPr>
            <a:spLocks noGrp="1"/>
          </p:cNvSpPr>
          <p:nvPr>
            <p:ph type="title"/>
            <p:custDataLst>
              <p:tags r:id="rId3"/>
            </p:custDataLst>
          </p:nvPr>
        </p:nvSpPr>
        <p:spPr/>
        <p:txBody>
          <a:bodyPr>
            <a:normAutofit/>
          </a:bodyPr>
          <a:lstStyle/>
          <a:p>
            <a:r>
              <a:rPr lang="en-US"/>
              <a:t>Modelling Counterparty Credit Risk</a:t>
            </a:r>
          </a:p>
        </p:txBody>
      </p:sp>
      <p:sp>
        <p:nvSpPr>
          <p:cNvPr id="4" name="TextBox 3">
            <a:extLst>
              <a:ext uri="{FF2B5EF4-FFF2-40B4-BE49-F238E27FC236}">
                <a16:creationId xmlns:a16="http://schemas.microsoft.com/office/drawing/2014/main" id="{D1D66153-2FE2-F236-6B31-A30F86AC4CF7}"/>
              </a:ext>
            </a:extLst>
          </p:cNvPr>
          <p:cNvSpPr txBox="1"/>
          <p:nvPr>
            <p:custDataLst>
              <p:tags r:id="rId4"/>
            </p:custDataLst>
          </p:nvPr>
        </p:nvSpPr>
        <p:spPr>
          <a:xfrm>
            <a:off x="420624" y="1120775"/>
            <a:ext cx="9189720" cy="274320"/>
          </a:xfrm>
          <a:prstGeom prst="rect">
            <a:avLst/>
          </a:prstGeom>
          <a:noFill/>
        </p:spPr>
        <p:txBody>
          <a:bodyPr vert="horz" wrap="square" lIns="0" tIns="0" rIns="0" bIns="0" rtlCol="0" anchor="t">
            <a:noAutofit/>
          </a:bodyPr>
          <a:lstStyle/>
          <a:p>
            <a:pPr eaLnBrk="1">
              <a:spcBef>
                <a:spcPts val="0"/>
              </a:spcBef>
              <a:spcAft>
                <a:spcPts val="600"/>
              </a:spcAft>
            </a:pPr>
            <a:r>
              <a:rPr lang="en-US" sz="2000" kern="0" dirty="0">
                <a:solidFill>
                  <a:srgbClr val="464749"/>
                </a:solidFill>
                <a:latin typeface="Frutiger 45 Light" panose="020B0603020202020204" pitchFamily="34" charset="0"/>
              </a:rPr>
              <a:t>Expected Loss in the context of derivatives</a:t>
            </a:r>
          </a:p>
        </p:txBody>
      </p:sp>
      <p:pic>
        <p:nvPicPr>
          <p:cNvPr id="5" name="Picture 4">
            <a:extLst>
              <a:ext uri="{FF2B5EF4-FFF2-40B4-BE49-F238E27FC236}">
                <a16:creationId xmlns:a16="http://schemas.microsoft.com/office/drawing/2014/main" id="{1E6EB07A-9AEE-D0B7-736D-03F406F71BD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89588" y="2178958"/>
            <a:ext cx="5907431" cy="29002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9" name="Group 8">
            <a:extLst>
              <a:ext uri="{FF2B5EF4-FFF2-40B4-BE49-F238E27FC236}">
                <a16:creationId xmlns:a16="http://schemas.microsoft.com/office/drawing/2014/main" id="{1070BE98-ED89-F98F-955A-D102B652D066}"/>
              </a:ext>
            </a:extLst>
          </p:cNvPr>
          <p:cNvGrpSpPr/>
          <p:nvPr/>
        </p:nvGrpSpPr>
        <p:grpSpPr>
          <a:xfrm>
            <a:off x="374754" y="5543951"/>
            <a:ext cx="9278799" cy="1452778"/>
            <a:chOff x="288000" y="4817383"/>
            <a:chExt cx="9278799" cy="1452778"/>
          </a:xfrm>
        </p:grpSpPr>
        <p:grpSp>
          <p:nvGrpSpPr>
            <p:cNvPr id="10" name="Group 9">
              <a:extLst>
                <a:ext uri="{FF2B5EF4-FFF2-40B4-BE49-F238E27FC236}">
                  <a16:creationId xmlns:a16="http://schemas.microsoft.com/office/drawing/2014/main" id="{209C22A0-9297-E764-E077-5810EA993985}"/>
                </a:ext>
              </a:extLst>
            </p:cNvPr>
            <p:cNvGrpSpPr/>
            <p:nvPr/>
          </p:nvGrpSpPr>
          <p:grpSpPr>
            <a:xfrm>
              <a:off x="288000" y="4817383"/>
              <a:ext cx="9185693" cy="1452778"/>
              <a:chOff x="288000" y="4817383"/>
              <a:chExt cx="9185693" cy="1452778"/>
            </a:xfrm>
          </p:grpSpPr>
          <p:pic>
            <p:nvPicPr>
              <p:cNvPr id="14" name="Picture 3">
                <a:extLst>
                  <a:ext uri="{FF2B5EF4-FFF2-40B4-BE49-F238E27FC236}">
                    <a16:creationId xmlns:a16="http://schemas.microsoft.com/office/drawing/2014/main" id="{ADCB453A-DC5B-8C51-5BF6-60E490A0D881}"/>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288000" y="5654150"/>
                <a:ext cx="3931745" cy="5227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5" name="Group 14">
                <a:extLst>
                  <a:ext uri="{FF2B5EF4-FFF2-40B4-BE49-F238E27FC236}">
                    <a16:creationId xmlns:a16="http://schemas.microsoft.com/office/drawing/2014/main" id="{F87AE4A1-EA6D-FB45-6381-F296E1B6FA7B}"/>
                  </a:ext>
                </a:extLst>
              </p:cNvPr>
              <p:cNvGrpSpPr/>
              <p:nvPr/>
            </p:nvGrpSpPr>
            <p:grpSpPr>
              <a:xfrm>
                <a:off x="288000" y="4817383"/>
                <a:ext cx="9185693" cy="1452778"/>
                <a:chOff x="288000" y="4817383"/>
                <a:chExt cx="9185693" cy="1452778"/>
              </a:xfrm>
            </p:grpSpPr>
            <p:sp>
              <p:nvSpPr>
                <p:cNvPr id="16" name="TextBox 15">
                  <a:extLst>
                    <a:ext uri="{FF2B5EF4-FFF2-40B4-BE49-F238E27FC236}">
                      <a16:creationId xmlns:a16="http://schemas.microsoft.com/office/drawing/2014/main" id="{118D1031-A134-1E71-E86B-73031970C885}"/>
                    </a:ext>
                  </a:extLst>
                </p:cNvPr>
                <p:cNvSpPr txBox="1"/>
                <p:nvPr/>
              </p:nvSpPr>
              <p:spPr>
                <a:xfrm>
                  <a:off x="1542297" y="5390521"/>
                  <a:ext cx="363079" cy="189978"/>
                </a:xfrm>
                <a:prstGeom prst="rect">
                  <a:avLst/>
                </a:prstGeom>
                <a:noFill/>
              </p:spPr>
              <p:txBody>
                <a:bodyPr wrap="square" lIns="0" tIns="0" rIns="0" bIns="0" rtlCol="0">
                  <a:noAutofit/>
                </a:bodyPr>
                <a:lstStyle/>
                <a:p>
                  <a:r>
                    <a:rPr lang="en-GB" sz="1300" dirty="0">
                      <a:solidFill>
                        <a:srgbClr val="C00000"/>
                      </a:solidFill>
                    </a:rPr>
                    <a:t>LGD</a:t>
                  </a:r>
                </a:p>
              </p:txBody>
            </p:sp>
            <p:sp>
              <p:nvSpPr>
                <p:cNvPr id="17" name="TextBox 16">
                  <a:extLst>
                    <a:ext uri="{FF2B5EF4-FFF2-40B4-BE49-F238E27FC236}">
                      <a16:creationId xmlns:a16="http://schemas.microsoft.com/office/drawing/2014/main" id="{987B1C15-E76C-9847-6C70-3132C315435F}"/>
                    </a:ext>
                  </a:extLst>
                </p:cNvPr>
                <p:cNvSpPr txBox="1"/>
                <p:nvPr/>
              </p:nvSpPr>
              <p:spPr>
                <a:xfrm>
                  <a:off x="3340311" y="5361995"/>
                  <a:ext cx="703856" cy="280755"/>
                </a:xfrm>
                <a:prstGeom prst="rect">
                  <a:avLst/>
                </a:prstGeom>
                <a:noFill/>
              </p:spPr>
              <p:txBody>
                <a:bodyPr wrap="square" lIns="0" tIns="0" rIns="0" bIns="0" rtlCol="0">
                  <a:noAutofit/>
                </a:bodyPr>
                <a:lstStyle/>
                <a:p>
                  <a:r>
                    <a:rPr lang="en-GB" sz="1300" dirty="0">
                      <a:solidFill>
                        <a:srgbClr val="C00000"/>
                      </a:solidFill>
                    </a:rPr>
                    <a:t>PD part</a:t>
                  </a:r>
                </a:p>
              </p:txBody>
            </p:sp>
            <p:sp>
              <p:nvSpPr>
                <p:cNvPr id="18" name="TextBox 17">
                  <a:extLst>
                    <a:ext uri="{FF2B5EF4-FFF2-40B4-BE49-F238E27FC236}">
                      <a16:creationId xmlns:a16="http://schemas.microsoft.com/office/drawing/2014/main" id="{9B20CE0B-7125-E560-CC36-A1B92900F43D}"/>
                    </a:ext>
                  </a:extLst>
                </p:cNvPr>
                <p:cNvSpPr txBox="1"/>
                <p:nvPr/>
              </p:nvSpPr>
              <p:spPr>
                <a:xfrm>
                  <a:off x="2485059" y="5372834"/>
                  <a:ext cx="803848" cy="215574"/>
                </a:xfrm>
                <a:prstGeom prst="rect">
                  <a:avLst/>
                </a:prstGeom>
                <a:noFill/>
              </p:spPr>
              <p:txBody>
                <a:bodyPr wrap="square" lIns="0" tIns="0" rIns="0" bIns="0" rtlCol="0">
                  <a:noAutofit/>
                </a:bodyPr>
                <a:lstStyle/>
                <a:p>
                  <a:r>
                    <a:rPr lang="en-GB" sz="1300" dirty="0">
                      <a:solidFill>
                        <a:srgbClr val="C00000"/>
                      </a:solidFill>
                    </a:rPr>
                    <a:t>EAD part</a:t>
                  </a:r>
                </a:p>
              </p:txBody>
            </p:sp>
            <p:sp>
              <p:nvSpPr>
                <p:cNvPr id="19" name="Left Brace 18">
                  <a:extLst>
                    <a:ext uri="{FF2B5EF4-FFF2-40B4-BE49-F238E27FC236}">
                      <a16:creationId xmlns:a16="http://schemas.microsoft.com/office/drawing/2014/main" id="{3D799ACC-A8FD-B096-6552-99D77E149312}"/>
                    </a:ext>
                  </a:extLst>
                </p:cNvPr>
                <p:cNvSpPr/>
                <p:nvPr/>
              </p:nvSpPr>
              <p:spPr>
                <a:xfrm rot="5400000">
                  <a:off x="1621698" y="5452017"/>
                  <a:ext cx="146215" cy="495755"/>
                </a:xfrm>
                <a:prstGeom prst="lef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lIns="83119" tIns="41559" rIns="83119" bIns="41559" rtlCol="0" anchor="ctr"/>
                <a:lstStyle/>
                <a:p>
                  <a:pPr algn="ctr"/>
                  <a:endParaRPr lang="en-GB" b="1" dirty="0">
                    <a:solidFill>
                      <a:srgbClr val="C00000"/>
                    </a:solidFill>
                  </a:endParaRPr>
                </a:p>
              </p:txBody>
            </p:sp>
            <p:sp>
              <p:nvSpPr>
                <p:cNvPr id="20" name="Left Brace 19">
                  <a:extLst>
                    <a:ext uri="{FF2B5EF4-FFF2-40B4-BE49-F238E27FC236}">
                      <a16:creationId xmlns:a16="http://schemas.microsoft.com/office/drawing/2014/main" id="{E9CC247B-C53A-D4AB-A83B-AE76B0F80B77}"/>
                    </a:ext>
                  </a:extLst>
                </p:cNvPr>
                <p:cNvSpPr/>
                <p:nvPr/>
              </p:nvSpPr>
              <p:spPr>
                <a:xfrm rot="5400000">
                  <a:off x="2805841" y="5380428"/>
                  <a:ext cx="140265" cy="628462"/>
                </a:xfrm>
                <a:prstGeom prst="lef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lIns="83119" tIns="41559" rIns="83119" bIns="41559" rtlCol="0" anchor="ctr"/>
                <a:lstStyle/>
                <a:p>
                  <a:pPr algn="ctr"/>
                  <a:endParaRPr lang="en-GB" b="1" dirty="0">
                    <a:solidFill>
                      <a:srgbClr val="C00000"/>
                    </a:solidFill>
                  </a:endParaRPr>
                </a:p>
              </p:txBody>
            </p:sp>
            <p:sp>
              <p:nvSpPr>
                <p:cNvPr id="21" name="Left Brace 20">
                  <a:extLst>
                    <a:ext uri="{FF2B5EF4-FFF2-40B4-BE49-F238E27FC236}">
                      <a16:creationId xmlns:a16="http://schemas.microsoft.com/office/drawing/2014/main" id="{AD6CBA68-1325-D4EE-039F-805A2B0021A7}"/>
                    </a:ext>
                  </a:extLst>
                </p:cNvPr>
                <p:cNvSpPr/>
                <p:nvPr/>
              </p:nvSpPr>
              <p:spPr>
                <a:xfrm rot="5400000">
                  <a:off x="3388956" y="5551655"/>
                  <a:ext cx="146215" cy="280052"/>
                </a:xfrm>
                <a:prstGeom prst="lef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lIns="83119" tIns="41559" rIns="83119" bIns="41559" rtlCol="0" anchor="ctr"/>
                <a:lstStyle/>
                <a:p>
                  <a:pPr algn="ctr"/>
                  <a:endParaRPr lang="en-GB" b="1" dirty="0">
                    <a:solidFill>
                      <a:srgbClr val="C00000"/>
                    </a:solidFill>
                  </a:endParaRPr>
                </a:p>
              </p:txBody>
            </p:sp>
            <p:sp>
              <p:nvSpPr>
                <p:cNvPr id="22" name="LAYOUT BODY">
                  <a:extLst>
                    <a:ext uri="{FF2B5EF4-FFF2-40B4-BE49-F238E27FC236}">
                      <a16:creationId xmlns:a16="http://schemas.microsoft.com/office/drawing/2014/main" id="{34A778ED-8A61-2AC3-BF7B-CC2F0161ED65}"/>
                    </a:ext>
                  </a:extLst>
                </p:cNvPr>
                <p:cNvSpPr txBox="1">
                  <a:spLocks/>
                </p:cNvSpPr>
                <p:nvPr>
                  <p:custDataLst>
                    <p:tags r:id="rId5"/>
                  </p:custDataLst>
                </p:nvPr>
              </p:nvSpPr>
              <p:spPr>
                <a:xfrm>
                  <a:off x="288000" y="4817383"/>
                  <a:ext cx="8549080" cy="702527"/>
                </a:xfrm>
                <a:prstGeom prst="rect">
                  <a:avLst/>
                </a:prstGeom>
              </p:spPr>
              <p:txBody>
                <a:bodyPr vert="horz" lIns="0" tIns="0" rIns="0" bIns="0" rtlCol="0">
                  <a:noAutofit/>
                </a:bodyPr>
                <a:lstStyle>
                  <a:lvl1pPr marL="234950" indent="-234950" algn="l" defTabSz="1005505" rtl="0" eaLnBrk="1" latinLnBrk="0" hangingPunct="1">
                    <a:spcBef>
                      <a:spcPts val="1400"/>
                    </a:spcBef>
                    <a:buClr>
                      <a:schemeClr val="tx2"/>
                    </a:buClr>
                    <a:buSzPct val="100000"/>
                    <a:buFont typeface="Symbol" pitchFamily="18" charset="2"/>
                    <a:buChar char="·"/>
                    <a:defRPr sz="1800" b="0" kern="1200">
                      <a:solidFill>
                        <a:schemeClr val="tx1"/>
                      </a:solidFill>
                      <a:latin typeface="Frutiger 55 Roman"/>
                      <a:ea typeface="+mn-ea"/>
                      <a:cs typeface="+mn-cs"/>
                    </a:defRPr>
                  </a:lvl1pPr>
                  <a:lvl2pPr marL="461963" indent="-236538" algn="l" defTabSz="1005505" rtl="0" eaLnBrk="1" latinLnBrk="0" hangingPunct="1">
                    <a:spcBef>
                      <a:spcPts val="700"/>
                    </a:spcBef>
                    <a:buClr>
                      <a:schemeClr val="tx1"/>
                    </a:buClr>
                    <a:buFont typeface="Arial" pitchFamily="34" charset="0"/>
                    <a:buChar char="–"/>
                    <a:defRPr sz="1600" kern="1200">
                      <a:solidFill>
                        <a:schemeClr val="tx1"/>
                      </a:solidFill>
                      <a:latin typeface="Frutiger 55 Roman"/>
                      <a:ea typeface="+mn-ea"/>
                      <a:cs typeface="+mn-cs"/>
                    </a:defRPr>
                  </a:lvl2pPr>
                  <a:lvl3pPr marL="688975" indent="-227013" algn="l" defTabSz="1005505" rtl="0" eaLnBrk="1" latinLnBrk="0" hangingPunct="1">
                    <a:spcBef>
                      <a:spcPts val="700"/>
                    </a:spcBef>
                    <a:buClr>
                      <a:schemeClr val="tx1"/>
                    </a:buClr>
                    <a:buFont typeface="Arial" pitchFamily="34" charset="0"/>
                    <a:buChar char="–"/>
                    <a:defRPr sz="1600" kern="1200">
                      <a:solidFill>
                        <a:schemeClr val="tx1"/>
                      </a:solidFill>
                      <a:latin typeface="Frutiger 55 Roman"/>
                      <a:ea typeface="+mn-ea"/>
                      <a:cs typeface="+mn-cs"/>
                    </a:defRPr>
                  </a:lvl3pPr>
                  <a:lvl4pPr marL="914400" indent="-225425" algn="l" defTabSz="1005505" rtl="0" eaLnBrk="1" latinLnBrk="0" hangingPunct="1">
                    <a:spcBef>
                      <a:spcPts val="300"/>
                    </a:spcBef>
                    <a:buClr>
                      <a:schemeClr val="tx1"/>
                    </a:buClr>
                    <a:buSzPct val="84000"/>
                    <a:buFont typeface="Arial" pitchFamily="34" charset="0"/>
                    <a:buChar char="–"/>
                    <a:defRPr sz="1600" kern="1200">
                      <a:solidFill>
                        <a:schemeClr val="tx1"/>
                      </a:solidFill>
                      <a:latin typeface="Frutiger 55 Roman"/>
                      <a:ea typeface="+mn-ea"/>
                      <a:cs typeface="+mn-cs"/>
                    </a:defRPr>
                  </a:lvl4pPr>
                  <a:lvl5pPr marL="1152144" indent="-237744" algn="l" defTabSz="1005505" rtl="0" eaLnBrk="1" latinLnBrk="0" hangingPunct="1">
                    <a:spcBef>
                      <a:spcPts val="300"/>
                    </a:spcBef>
                    <a:buClr>
                      <a:schemeClr val="tx1"/>
                    </a:buClr>
                    <a:buSzPct val="84000"/>
                    <a:buFont typeface="Arial" pitchFamily="34" charset="0"/>
                    <a:buChar char="–"/>
                    <a:defRPr sz="1600" kern="1200">
                      <a:solidFill>
                        <a:schemeClr val="tx1"/>
                      </a:solidFill>
                      <a:latin typeface="Frutiger 55 Roman"/>
                      <a:ea typeface="+mn-ea"/>
                      <a:cs typeface="+mn-cs"/>
                    </a:defRPr>
                  </a:lvl5pPr>
                  <a:lvl6pPr marL="1152144" indent="-237744" algn="l" defTabSz="1005505" rtl="0" eaLnBrk="1" latinLnBrk="0" hangingPunct="1">
                    <a:spcBef>
                      <a:spcPts val="300"/>
                    </a:spcBef>
                    <a:buClr>
                      <a:schemeClr val="tx1"/>
                    </a:buClr>
                    <a:buSzPct val="84000"/>
                    <a:buFont typeface="Frutiger 55 Roman" pitchFamily="34" charset="0"/>
                    <a:buChar char="–"/>
                    <a:defRPr sz="1600" kern="1200">
                      <a:solidFill>
                        <a:schemeClr val="tx1"/>
                      </a:solidFill>
                      <a:latin typeface="+mn-lt"/>
                      <a:ea typeface="+mn-ea"/>
                      <a:cs typeface="+mn-cs"/>
                    </a:defRPr>
                  </a:lvl6pPr>
                  <a:lvl7pPr marL="1152144" indent="-237744" algn="l" defTabSz="1005505" rtl="0" eaLnBrk="1" latinLnBrk="0" hangingPunct="1">
                    <a:spcBef>
                      <a:spcPts val="300"/>
                    </a:spcBef>
                    <a:buClr>
                      <a:schemeClr val="tx1"/>
                    </a:buClr>
                    <a:buSzPct val="84000"/>
                    <a:buFont typeface="Frutiger 55 Roman" pitchFamily="34" charset="0"/>
                    <a:buChar char="–"/>
                    <a:defRPr sz="1600" kern="1200">
                      <a:solidFill>
                        <a:schemeClr val="tx1"/>
                      </a:solidFill>
                      <a:latin typeface="+mn-lt"/>
                      <a:ea typeface="+mn-ea"/>
                      <a:cs typeface="+mn-cs"/>
                    </a:defRPr>
                  </a:lvl7pPr>
                  <a:lvl8pPr marL="1152144" indent="-237744" algn="l" defTabSz="1005505" rtl="0" eaLnBrk="1" latinLnBrk="0" hangingPunct="1">
                    <a:spcBef>
                      <a:spcPts val="300"/>
                    </a:spcBef>
                    <a:buClr>
                      <a:schemeClr val="tx1"/>
                    </a:buClr>
                    <a:buSzPct val="84000"/>
                    <a:buFont typeface="Frutiger 55 Roman" pitchFamily="34" charset="0"/>
                    <a:buChar char="–"/>
                    <a:defRPr sz="1600" kern="1200">
                      <a:solidFill>
                        <a:schemeClr val="tx1"/>
                      </a:solidFill>
                      <a:latin typeface="+mn-lt"/>
                      <a:ea typeface="+mn-ea"/>
                      <a:cs typeface="+mn-cs"/>
                    </a:defRPr>
                  </a:lvl8pPr>
                  <a:lvl9pPr marL="1152144" indent="-237744" algn="l" defTabSz="1005505" rtl="0" eaLnBrk="1" latinLnBrk="0" hangingPunct="1">
                    <a:spcBef>
                      <a:spcPts val="300"/>
                    </a:spcBef>
                    <a:buClr>
                      <a:schemeClr val="tx1"/>
                    </a:buClr>
                    <a:buSzPct val="84000"/>
                    <a:buFont typeface="Frutiger 55 Roman" pitchFamily="34" charset="0"/>
                    <a:buChar char="–"/>
                    <a:defRPr sz="1600" kern="1200">
                      <a:solidFill>
                        <a:schemeClr val="tx1"/>
                      </a:solidFill>
                      <a:latin typeface="+mn-lt"/>
                      <a:ea typeface="+mn-ea"/>
                      <a:cs typeface="+mn-cs"/>
                    </a:defRPr>
                  </a:lvl9pPr>
                </a:lstStyle>
                <a:p>
                  <a:pPr marL="0" indent="0">
                    <a:buNone/>
                  </a:pPr>
                  <a:r>
                    <a:rPr lang="en-GB" dirty="0">
                      <a:latin typeface="Frutiger 45 Light" panose="020B0603020202020204" pitchFamily="34" charset="0"/>
                    </a:rPr>
                    <a:t>The equivalent of Expected Loss in derivatives world is called CVA (Credit Valuation Adjustments): </a:t>
                  </a: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4A5D792A-D3D8-6451-77A1-2301B898C6AF}"/>
                        </a:ext>
                      </a:extLst>
                    </p:cNvPr>
                    <p:cNvSpPr txBox="1"/>
                    <p:nvPr/>
                  </p:nvSpPr>
                  <p:spPr>
                    <a:xfrm>
                      <a:off x="4799428" y="5560692"/>
                      <a:ext cx="4674265" cy="709469"/>
                    </a:xfrm>
                    <a:prstGeom prst="rect">
                      <a:avLst/>
                    </a:prstGeom>
                    <a:noFill/>
                    <a:ln>
                      <a:solidFill>
                        <a:srgbClr val="C00000"/>
                      </a:solidFill>
                    </a:ln>
                  </p:spPr>
                  <p:txBody>
                    <a:bodyPr wrap="square" lIns="0" tIns="0" rIns="0" bIns="0" rtlCol="0" anchor="ctr">
                      <a:noAutofit/>
                    </a:bodyPr>
                    <a:lstStyle/>
                    <a:p>
                      <a:pPr algn="ctr"/>
                      <a14:m>
                        <m:oMath xmlns:m="http://schemas.openxmlformats.org/officeDocument/2006/math">
                          <m:r>
                            <a:rPr lang="en-GB" sz="1600" b="0" i="1" smtClean="0">
                              <a:solidFill>
                                <a:srgbClr val="C00000"/>
                              </a:solidFill>
                              <a:latin typeface="Cambria Math"/>
                            </a:rPr>
                            <m:t>𝐶𝑉𝐴</m:t>
                          </m:r>
                          <m:r>
                            <a:rPr lang="en-GB" sz="1600" b="0" i="1" smtClean="0">
                              <a:solidFill>
                                <a:srgbClr val="C00000"/>
                              </a:solidFill>
                              <a:latin typeface="Cambria Math"/>
                            </a:rPr>
                            <m:t>=</m:t>
                          </m:r>
                          <m:nary>
                            <m:naryPr>
                              <m:chr m:val="∑"/>
                              <m:ctrlPr>
                                <a:rPr lang="pt-BR" sz="1600" i="1" dirty="0" smtClean="0">
                                  <a:solidFill>
                                    <a:srgbClr val="C00000"/>
                                  </a:solidFill>
                                  <a:latin typeface="Cambria Math" panose="02040503050406030204" pitchFamily="18" charset="0"/>
                                </a:rPr>
                              </m:ctrlPr>
                            </m:naryPr>
                            <m:sub>
                              <m:r>
                                <a:rPr lang="pt-BR" sz="1600" i="1" dirty="0" smtClean="0">
                                  <a:solidFill>
                                    <a:srgbClr val="C00000"/>
                                  </a:solidFill>
                                  <a:latin typeface="Cambria Math"/>
                                </a:rPr>
                                <m:t>𝑛</m:t>
                              </m:r>
                              <m:r>
                                <a:rPr lang="pt-BR" sz="1600" i="1" dirty="0" smtClean="0">
                                  <a:solidFill>
                                    <a:srgbClr val="C00000"/>
                                  </a:solidFill>
                                  <a:latin typeface="Cambria Math"/>
                                </a:rPr>
                                <m:t>=1</m:t>
                              </m:r>
                            </m:sub>
                            <m:sup>
                              <m:r>
                                <a:rPr lang="en-GB" sz="1600" b="0" i="1" dirty="0" smtClean="0">
                                  <a:solidFill>
                                    <a:srgbClr val="C00000"/>
                                  </a:solidFill>
                                  <a:latin typeface="Cambria Math"/>
                                </a:rPr>
                                <m:t>𝑁</m:t>
                              </m:r>
                            </m:sup>
                            <m:e>
                              <m:r>
                                <a:rPr lang="en-GB" sz="1600" i="1">
                                  <a:solidFill>
                                    <a:srgbClr val="C00000"/>
                                  </a:solidFill>
                                  <a:latin typeface="Cambria Math"/>
                                </a:rPr>
                                <m:t>𝐿𝐺𝐷</m:t>
                              </m:r>
                              <m:r>
                                <a:rPr lang="en-GB" sz="1600" i="1">
                                  <a:solidFill>
                                    <a:srgbClr val="C00000"/>
                                  </a:solidFill>
                                  <a:latin typeface="Cambria Math"/>
                                </a:rPr>
                                <m:t> ∗</m:t>
                              </m:r>
                              <m:r>
                                <a:rPr lang="en-GB" sz="1600" b="0" i="1" dirty="0" smtClean="0">
                                  <a:solidFill>
                                    <a:srgbClr val="C00000"/>
                                  </a:solidFill>
                                  <a:latin typeface="Cambria Math"/>
                                </a:rPr>
                                <m:t>𝑃𝐷</m:t>
                              </m:r>
                              <m:r>
                                <a:rPr lang="en-GB" sz="1600" b="0" i="1" dirty="0" smtClean="0">
                                  <a:solidFill>
                                    <a:srgbClr val="C00000"/>
                                  </a:solidFill>
                                  <a:latin typeface="Cambria Math"/>
                                </a:rPr>
                                <m:t>(</m:t>
                              </m:r>
                              <m:sSub>
                                <m:sSubPr>
                                  <m:ctrlPr>
                                    <a:rPr lang="en-GB" sz="1600" b="0" i="1" dirty="0" smtClean="0">
                                      <a:solidFill>
                                        <a:srgbClr val="C00000"/>
                                      </a:solidFill>
                                      <a:latin typeface="Cambria Math" panose="02040503050406030204" pitchFamily="18" charset="0"/>
                                    </a:rPr>
                                  </m:ctrlPr>
                                </m:sSubPr>
                                <m:e>
                                  <m:r>
                                    <a:rPr lang="en-GB" sz="1600" b="0" i="1" dirty="0" smtClean="0">
                                      <a:solidFill>
                                        <a:srgbClr val="C00000"/>
                                      </a:solidFill>
                                      <a:latin typeface="Cambria Math"/>
                                    </a:rPr>
                                    <m:t>𝑇</m:t>
                                  </m:r>
                                </m:e>
                                <m:sub>
                                  <m:r>
                                    <a:rPr lang="en-GB" sz="1600" b="0" i="1" dirty="0" smtClean="0">
                                      <a:solidFill>
                                        <a:srgbClr val="C00000"/>
                                      </a:solidFill>
                                      <a:latin typeface="Cambria Math"/>
                                    </a:rPr>
                                    <m:t>𝑛</m:t>
                                  </m:r>
                                  <m:r>
                                    <a:rPr lang="en-GB" sz="1600" b="0" i="1" dirty="0" smtClean="0">
                                      <a:solidFill>
                                        <a:srgbClr val="C00000"/>
                                      </a:solidFill>
                                      <a:latin typeface="Cambria Math"/>
                                    </a:rPr>
                                    <m:t>−1</m:t>
                                  </m:r>
                                </m:sub>
                              </m:sSub>
                              <m:r>
                                <a:rPr lang="en-GB" sz="1600" i="1" dirty="0">
                                  <a:solidFill>
                                    <a:srgbClr val="C00000"/>
                                  </a:solidFill>
                                  <a:latin typeface="Cambria Math"/>
                                </a:rPr>
                                <m:t>,</m:t>
                              </m:r>
                              <m:sSub>
                                <m:sSubPr>
                                  <m:ctrlPr>
                                    <a:rPr lang="en-GB" sz="1600" i="1" dirty="0">
                                      <a:solidFill>
                                        <a:srgbClr val="C00000"/>
                                      </a:solidFill>
                                      <a:latin typeface="Cambria Math" panose="02040503050406030204" pitchFamily="18" charset="0"/>
                                    </a:rPr>
                                  </m:ctrlPr>
                                </m:sSubPr>
                                <m:e>
                                  <m:r>
                                    <a:rPr lang="en-GB" sz="1600" i="1" dirty="0">
                                      <a:solidFill>
                                        <a:srgbClr val="C00000"/>
                                      </a:solidFill>
                                      <a:latin typeface="Cambria Math"/>
                                    </a:rPr>
                                    <m:t>𝑇</m:t>
                                  </m:r>
                                </m:e>
                                <m:sub>
                                  <m:r>
                                    <a:rPr lang="en-GB" sz="1600" i="1" dirty="0">
                                      <a:solidFill>
                                        <a:srgbClr val="C00000"/>
                                      </a:solidFill>
                                      <a:latin typeface="Cambria Math"/>
                                    </a:rPr>
                                    <m:t>𝑛</m:t>
                                  </m:r>
                                </m:sub>
                              </m:sSub>
                              <m:r>
                                <a:rPr lang="en-GB" sz="1600" i="1" dirty="0">
                                  <a:solidFill>
                                    <a:srgbClr val="C00000"/>
                                  </a:solidFill>
                                  <a:latin typeface="Cambria Math"/>
                                </a:rPr>
                                <m:t>)</m:t>
                              </m:r>
                            </m:e>
                          </m:nary>
                          <m:r>
                            <a:rPr lang="en-GB" sz="1600" b="0" i="1" dirty="0" smtClean="0">
                              <a:solidFill>
                                <a:srgbClr val="C00000"/>
                              </a:solidFill>
                              <a:latin typeface="Cambria Math"/>
                            </a:rPr>
                            <m:t> ∗</m:t>
                          </m:r>
                          <m:r>
                            <a:rPr lang="en-GB" sz="1600" b="0" i="1" dirty="0" smtClean="0">
                              <a:solidFill>
                                <a:srgbClr val="C00000"/>
                              </a:solidFill>
                              <a:latin typeface="Cambria Math"/>
                            </a:rPr>
                            <m:t>𝐸𝐸𝑃𝑉</m:t>
                          </m:r>
                        </m:oMath>
                      </a14:m>
                      <a:r>
                        <a:rPr lang="en-GB" sz="1600" dirty="0">
                          <a:solidFill>
                            <a:srgbClr val="C00000"/>
                          </a:solidFill>
                        </a:rPr>
                        <a:t> </a:t>
                      </a:r>
                      <a14:m>
                        <m:oMath xmlns:m="http://schemas.openxmlformats.org/officeDocument/2006/math">
                          <m:r>
                            <a:rPr lang="en-GB" sz="1600" i="1" dirty="0">
                              <a:solidFill>
                                <a:srgbClr val="C00000"/>
                              </a:solidFill>
                              <a:latin typeface="Cambria Math"/>
                            </a:rPr>
                            <m:t>(</m:t>
                          </m:r>
                          <m:sSub>
                            <m:sSubPr>
                              <m:ctrlPr>
                                <a:rPr lang="en-GB" sz="1600" i="1" dirty="0">
                                  <a:solidFill>
                                    <a:srgbClr val="C00000"/>
                                  </a:solidFill>
                                  <a:latin typeface="Cambria Math" panose="02040503050406030204" pitchFamily="18" charset="0"/>
                                </a:rPr>
                              </m:ctrlPr>
                            </m:sSubPr>
                            <m:e>
                              <m:r>
                                <a:rPr lang="en-GB" sz="1600" i="1" dirty="0">
                                  <a:solidFill>
                                    <a:srgbClr val="C00000"/>
                                  </a:solidFill>
                                  <a:latin typeface="Cambria Math"/>
                                </a:rPr>
                                <m:t>𝑇</m:t>
                              </m:r>
                            </m:e>
                            <m:sub>
                              <m:r>
                                <a:rPr lang="en-GB" sz="1600" i="1" dirty="0">
                                  <a:solidFill>
                                    <a:srgbClr val="C00000"/>
                                  </a:solidFill>
                                  <a:latin typeface="Cambria Math"/>
                                </a:rPr>
                                <m:t>𝑛</m:t>
                              </m:r>
                              <m:r>
                                <a:rPr lang="en-GB" sz="1600" i="1" dirty="0">
                                  <a:solidFill>
                                    <a:srgbClr val="C00000"/>
                                  </a:solidFill>
                                  <a:latin typeface="Cambria Math"/>
                                </a:rPr>
                                <m:t>−1</m:t>
                              </m:r>
                            </m:sub>
                          </m:sSub>
                          <m:r>
                            <a:rPr lang="en-GB" sz="1600" i="1" dirty="0">
                              <a:solidFill>
                                <a:srgbClr val="C00000"/>
                              </a:solidFill>
                              <a:latin typeface="Cambria Math"/>
                            </a:rPr>
                            <m:t>,</m:t>
                          </m:r>
                          <m:sSub>
                            <m:sSubPr>
                              <m:ctrlPr>
                                <a:rPr lang="en-GB" sz="1600" i="1" dirty="0">
                                  <a:solidFill>
                                    <a:srgbClr val="C00000"/>
                                  </a:solidFill>
                                  <a:latin typeface="Cambria Math" panose="02040503050406030204" pitchFamily="18" charset="0"/>
                                </a:rPr>
                              </m:ctrlPr>
                            </m:sSubPr>
                            <m:e>
                              <m:r>
                                <a:rPr lang="en-GB" sz="1600" i="1" dirty="0">
                                  <a:solidFill>
                                    <a:srgbClr val="C00000"/>
                                  </a:solidFill>
                                  <a:latin typeface="Cambria Math"/>
                                </a:rPr>
                                <m:t>𝑇</m:t>
                              </m:r>
                            </m:e>
                            <m:sub>
                              <m:r>
                                <a:rPr lang="en-GB" sz="1600" i="1" dirty="0">
                                  <a:solidFill>
                                    <a:srgbClr val="C00000"/>
                                  </a:solidFill>
                                  <a:latin typeface="Cambria Math"/>
                                </a:rPr>
                                <m:t>𝑛</m:t>
                              </m:r>
                            </m:sub>
                          </m:sSub>
                          <m:r>
                            <a:rPr lang="en-GB" sz="1600" i="1" dirty="0">
                              <a:solidFill>
                                <a:srgbClr val="C00000"/>
                              </a:solidFill>
                              <a:latin typeface="Cambria Math"/>
                            </a:rPr>
                            <m:t>)</m:t>
                          </m:r>
                        </m:oMath>
                      </a14:m>
                      <a:endParaRPr lang="en-GB" sz="1600" dirty="0">
                        <a:solidFill>
                          <a:srgbClr val="C00000"/>
                        </a:solidFill>
                      </a:endParaRPr>
                    </a:p>
                  </p:txBody>
                </p:sp>
              </mc:Choice>
              <mc:Fallback xmlns="">
                <p:sp>
                  <p:nvSpPr>
                    <p:cNvPr id="23" name="TextBox 22">
                      <a:extLst>
                        <a:ext uri="{FF2B5EF4-FFF2-40B4-BE49-F238E27FC236}">
                          <a16:creationId xmlns:a16="http://schemas.microsoft.com/office/drawing/2014/main" id="{4A5D792A-D3D8-6451-77A1-2301B898C6AF}"/>
                        </a:ext>
                      </a:extLst>
                    </p:cNvPr>
                    <p:cNvSpPr txBox="1">
                      <a:spLocks noRot="1" noChangeAspect="1" noMove="1" noResize="1" noEditPoints="1" noAdjustHandles="1" noChangeArrowheads="1" noChangeShapeType="1" noTextEdit="1"/>
                    </p:cNvSpPr>
                    <p:nvPr/>
                  </p:nvSpPr>
                  <p:spPr>
                    <a:xfrm>
                      <a:off x="4799428" y="5560692"/>
                      <a:ext cx="4674265" cy="709469"/>
                    </a:xfrm>
                    <a:prstGeom prst="rect">
                      <a:avLst/>
                    </a:prstGeom>
                    <a:blipFill>
                      <a:blip r:embed="rId10"/>
                      <a:stretch>
                        <a:fillRect t="-23529" b="-53782"/>
                      </a:stretch>
                    </a:blipFill>
                    <a:ln>
                      <a:solidFill>
                        <a:srgbClr val="C00000"/>
                      </a:solidFill>
                    </a:ln>
                  </p:spPr>
                  <p:txBody>
                    <a:bodyPr/>
                    <a:lstStyle/>
                    <a:p>
                      <a:r>
                        <a:rPr lang="en-GB">
                          <a:noFill/>
                        </a:rPr>
                        <a:t> </a:t>
                      </a:r>
                    </a:p>
                  </p:txBody>
                </p:sp>
              </mc:Fallback>
            </mc:AlternateContent>
            <p:cxnSp>
              <p:nvCxnSpPr>
                <p:cNvPr id="24" name="Straight Arrow Connector 23">
                  <a:extLst>
                    <a:ext uri="{FF2B5EF4-FFF2-40B4-BE49-F238E27FC236}">
                      <a16:creationId xmlns:a16="http://schemas.microsoft.com/office/drawing/2014/main" id="{0EFCCBB8-07BC-4A10-8DFE-26EC8B7C40BF}"/>
                    </a:ext>
                  </a:extLst>
                </p:cNvPr>
                <p:cNvCxnSpPr/>
                <p:nvPr/>
              </p:nvCxnSpPr>
              <p:spPr>
                <a:xfrm flipV="1">
                  <a:off x="8347451" y="5507809"/>
                  <a:ext cx="130198" cy="140378"/>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25" name="Right Arrow 24">
                  <a:extLst>
                    <a:ext uri="{FF2B5EF4-FFF2-40B4-BE49-F238E27FC236}">
                      <a16:creationId xmlns:a16="http://schemas.microsoft.com/office/drawing/2014/main" id="{E3FA8967-169F-84F7-91D9-28789E8FC457}"/>
                    </a:ext>
                  </a:extLst>
                </p:cNvPr>
                <p:cNvSpPr/>
                <p:nvPr/>
              </p:nvSpPr>
              <p:spPr>
                <a:xfrm>
                  <a:off x="4203000" y="5801985"/>
                  <a:ext cx="356259" cy="182697"/>
                </a:xfrm>
                <a:prstGeom prst="rightArrow">
                  <a:avLst/>
                </a:prstGeom>
                <a:solidFill>
                  <a:srgbClr val="C00000"/>
                </a:solid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GB" dirty="0">
                    <a:solidFill>
                      <a:schemeClr val="tx1"/>
                    </a:solidFill>
                  </a:endParaRPr>
                </a:p>
              </p:txBody>
            </p:sp>
            <p:sp>
              <p:nvSpPr>
                <p:cNvPr id="26" name="TextBox 25">
                  <a:extLst>
                    <a:ext uri="{FF2B5EF4-FFF2-40B4-BE49-F238E27FC236}">
                      <a16:creationId xmlns:a16="http://schemas.microsoft.com/office/drawing/2014/main" id="{7C1DF10F-3DC1-0F81-82D4-3933F4D47AD1}"/>
                    </a:ext>
                  </a:extLst>
                </p:cNvPr>
                <p:cNvSpPr txBox="1"/>
                <p:nvPr/>
              </p:nvSpPr>
              <p:spPr>
                <a:xfrm>
                  <a:off x="4149963" y="5989406"/>
                  <a:ext cx="613174" cy="280755"/>
                </a:xfrm>
                <a:prstGeom prst="rect">
                  <a:avLst/>
                </a:prstGeom>
                <a:noFill/>
              </p:spPr>
              <p:txBody>
                <a:bodyPr wrap="square" lIns="0" tIns="0" rIns="0" bIns="0" rtlCol="0">
                  <a:noAutofit/>
                </a:bodyPr>
                <a:lstStyle/>
                <a:p>
                  <a:r>
                    <a:rPr lang="en-GB" sz="1000" dirty="0">
                      <a:solidFill>
                        <a:srgbClr val="C00000"/>
                      </a:solidFill>
                    </a:rPr>
                    <a:t>approx.</a:t>
                  </a:r>
                </a:p>
              </p:txBody>
            </p:sp>
          </p:grpSp>
        </p:grpSp>
        <p:grpSp>
          <p:nvGrpSpPr>
            <p:cNvPr id="11" name="Group 10">
              <a:extLst>
                <a:ext uri="{FF2B5EF4-FFF2-40B4-BE49-F238E27FC236}">
                  <a16:creationId xmlns:a16="http://schemas.microsoft.com/office/drawing/2014/main" id="{495482D8-9C69-3793-2AA9-E9E6D9C9883D}"/>
                </a:ext>
              </a:extLst>
            </p:cNvPr>
            <p:cNvGrpSpPr/>
            <p:nvPr/>
          </p:nvGrpSpPr>
          <p:grpSpPr>
            <a:xfrm>
              <a:off x="299532" y="5242500"/>
              <a:ext cx="9267267" cy="874863"/>
              <a:chOff x="299532" y="5242500"/>
              <a:chExt cx="9267267" cy="874863"/>
            </a:xfrm>
          </p:grpSpPr>
          <p:sp>
            <p:nvSpPr>
              <p:cNvPr id="12" name="Rectangle 11">
                <a:extLst>
                  <a:ext uri="{FF2B5EF4-FFF2-40B4-BE49-F238E27FC236}">
                    <a16:creationId xmlns:a16="http://schemas.microsoft.com/office/drawing/2014/main" id="{30F93D67-8B5D-5C48-C4E0-DC821043D774}"/>
                  </a:ext>
                </a:extLst>
              </p:cNvPr>
              <p:cNvSpPr/>
              <p:nvPr/>
            </p:nvSpPr>
            <p:spPr>
              <a:xfrm>
                <a:off x="299532" y="5657562"/>
                <a:ext cx="3671282" cy="459801"/>
              </a:xfrm>
              <a:prstGeom prst="rect">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GB" dirty="0">
                  <a:ln w="9525">
                    <a:solidFill>
                      <a:schemeClr val="tx1"/>
                    </a:solidFill>
                  </a:ln>
                  <a:solidFill>
                    <a:schemeClr val="tx1"/>
                  </a:solidFill>
                </a:endParaRPr>
              </a:p>
            </p:txBody>
          </p:sp>
          <p:sp>
            <p:nvSpPr>
              <p:cNvPr id="13" name="TextBox 12">
                <a:extLst>
                  <a:ext uri="{FF2B5EF4-FFF2-40B4-BE49-F238E27FC236}">
                    <a16:creationId xmlns:a16="http://schemas.microsoft.com/office/drawing/2014/main" id="{7EEE5FA7-D113-DFD6-5C24-5A26742A75EC}"/>
                  </a:ext>
                </a:extLst>
              </p:cNvPr>
              <p:cNvSpPr txBox="1"/>
              <p:nvPr/>
            </p:nvSpPr>
            <p:spPr>
              <a:xfrm>
                <a:off x="7748139" y="5242500"/>
                <a:ext cx="1818660" cy="318192"/>
              </a:xfrm>
              <a:prstGeom prst="rect">
                <a:avLst/>
              </a:prstGeom>
              <a:noFill/>
            </p:spPr>
            <p:txBody>
              <a:bodyPr wrap="square" lIns="0" tIns="0" rIns="0" bIns="0" rtlCol="0" anchor="ctr">
                <a:noAutofit/>
              </a:bodyPr>
              <a:lstStyle/>
              <a:p>
                <a:pPr algn="ctr"/>
                <a:r>
                  <a:rPr lang="en-GB" sz="1300" dirty="0">
                    <a:solidFill>
                      <a:srgbClr val="C00000"/>
                    </a:solidFill>
                  </a:rPr>
                  <a:t>Present Value of EPE</a:t>
                </a:r>
              </a:p>
            </p:txBody>
          </p:sp>
        </p:grpSp>
      </p:grpSp>
    </p:spTree>
    <p:custDataLst>
      <p:tags r:id="rId1"/>
    </p:custDataLst>
    <p:extLst>
      <p:ext uri="{BB962C8B-B14F-4D97-AF65-F5344CB8AC3E}">
        <p14:creationId xmlns:p14="http://schemas.microsoft.com/office/powerpoint/2010/main" val="3687939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AGE HEADING"/>
          <p:cNvSpPr>
            <a:spLocks noGrp="1"/>
          </p:cNvSpPr>
          <p:nvPr>
            <p:ph type="title"/>
            <p:custDataLst>
              <p:tags r:id="rId2"/>
            </p:custDataLst>
          </p:nvPr>
        </p:nvSpPr>
        <p:spPr/>
        <p:txBody>
          <a:bodyPr>
            <a:normAutofit/>
          </a:bodyPr>
          <a:lstStyle/>
          <a:p>
            <a:r>
              <a:rPr lang="en-US" dirty="0"/>
              <a:t>Modelling Counterparty Credit Risk</a:t>
            </a:r>
          </a:p>
        </p:txBody>
      </p:sp>
      <p:sp>
        <p:nvSpPr>
          <p:cNvPr id="4" name="TextBox 3"/>
          <p:cNvSpPr txBox="1"/>
          <p:nvPr>
            <p:custDataLst>
              <p:tags r:id="rId3"/>
            </p:custDataLst>
          </p:nvPr>
        </p:nvSpPr>
        <p:spPr>
          <a:xfrm>
            <a:off x="420624" y="1120775"/>
            <a:ext cx="9189720" cy="274320"/>
          </a:xfrm>
          <a:prstGeom prst="rect">
            <a:avLst/>
          </a:prstGeom>
          <a:noFill/>
        </p:spPr>
        <p:txBody>
          <a:bodyPr vert="horz" wrap="square" lIns="0" tIns="0" rIns="0" bIns="0" rtlCol="0" anchor="t">
            <a:noAutofit/>
          </a:bodyPr>
          <a:lstStyle/>
          <a:p>
            <a:pPr eaLnBrk="1">
              <a:spcBef>
                <a:spcPts val="0"/>
              </a:spcBef>
              <a:spcAft>
                <a:spcPts val="600"/>
              </a:spcAft>
            </a:pPr>
            <a:r>
              <a:rPr lang="en-US" sz="2000" kern="0" dirty="0">
                <a:solidFill>
                  <a:srgbClr val="464749"/>
                </a:solidFill>
                <a:latin typeface="Frutiger 45 Light" panose="020B0603020202020204" pitchFamily="34" charset="0"/>
              </a:rPr>
              <a:t>Portfolio Simulation</a:t>
            </a:r>
          </a:p>
        </p:txBody>
      </p:sp>
      <p:grpSp>
        <p:nvGrpSpPr>
          <p:cNvPr id="5" name="Group 4"/>
          <p:cNvGrpSpPr/>
          <p:nvPr/>
        </p:nvGrpSpPr>
        <p:grpSpPr>
          <a:xfrm>
            <a:off x="1958544" y="1631862"/>
            <a:ext cx="5486400" cy="1219200"/>
            <a:chOff x="1524000" y="1143000"/>
            <a:chExt cx="5486400" cy="1219200"/>
          </a:xfrm>
        </p:grpSpPr>
        <p:sp>
          <p:nvSpPr>
            <p:cNvPr id="6" name="Rectangle 5"/>
            <p:cNvSpPr/>
            <p:nvPr/>
          </p:nvSpPr>
          <p:spPr>
            <a:xfrm>
              <a:off x="1524000" y="1143000"/>
              <a:ext cx="1905000" cy="1219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UBS</a:t>
              </a:r>
            </a:p>
          </p:txBody>
        </p:sp>
        <p:sp>
          <p:nvSpPr>
            <p:cNvPr id="7" name="Rectangle 6"/>
            <p:cNvSpPr/>
            <p:nvPr/>
          </p:nvSpPr>
          <p:spPr>
            <a:xfrm>
              <a:off x="5105400" y="1143000"/>
              <a:ext cx="1905000" cy="1219200"/>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Counterparty</a:t>
              </a:r>
            </a:p>
          </p:txBody>
        </p:sp>
        <p:cxnSp>
          <p:nvCxnSpPr>
            <p:cNvPr id="10" name="Straight Arrow Connector 9"/>
            <p:cNvCxnSpPr/>
            <p:nvPr/>
          </p:nvCxnSpPr>
          <p:spPr>
            <a:xfrm>
              <a:off x="3429000" y="1447800"/>
              <a:ext cx="16764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3429000" y="1600200"/>
              <a:ext cx="16764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H="1">
              <a:off x="3429000" y="1752600"/>
              <a:ext cx="16764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H="1">
              <a:off x="3429000" y="1905000"/>
              <a:ext cx="16764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H="1">
              <a:off x="3429000" y="2057400"/>
              <a:ext cx="16764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H="1">
              <a:off x="3429000" y="2209800"/>
              <a:ext cx="16764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pic>
        <p:nvPicPr>
          <p:cNvPr id="16"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53744" y="3078304"/>
            <a:ext cx="2975070" cy="2095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54144" y="3087829"/>
            <a:ext cx="3015639" cy="2124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19557" y="5059502"/>
            <a:ext cx="2850226" cy="20805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71559" y="5059502"/>
            <a:ext cx="2939439" cy="21127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0" name="TextBox 19"/>
          <p:cNvSpPr txBox="1"/>
          <p:nvPr/>
        </p:nvSpPr>
        <p:spPr>
          <a:xfrm>
            <a:off x="4142686" y="1385156"/>
            <a:ext cx="1295400" cy="461665"/>
          </a:xfrm>
          <a:prstGeom prst="rect">
            <a:avLst/>
          </a:prstGeom>
          <a:noFill/>
        </p:spPr>
        <p:txBody>
          <a:bodyPr wrap="square" rtlCol="0">
            <a:spAutoFit/>
          </a:bodyPr>
          <a:lstStyle/>
          <a:p>
            <a:r>
              <a:rPr lang="en-US" sz="1200" dirty="0"/>
              <a:t>Portfolio of Derivatives</a:t>
            </a:r>
          </a:p>
        </p:txBody>
      </p:sp>
    </p:spTree>
    <p:custDataLst>
      <p:tags r:id="rId1"/>
    </p:custDataLst>
    <p:extLst>
      <p:ext uri="{BB962C8B-B14F-4D97-AF65-F5344CB8AC3E}">
        <p14:creationId xmlns:p14="http://schemas.microsoft.com/office/powerpoint/2010/main" val="2371232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AGE HEADING"/>
          <p:cNvSpPr>
            <a:spLocks noGrp="1"/>
          </p:cNvSpPr>
          <p:nvPr>
            <p:ph type="title"/>
            <p:custDataLst>
              <p:tags r:id="rId2"/>
            </p:custDataLst>
          </p:nvPr>
        </p:nvSpPr>
        <p:spPr/>
        <p:txBody>
          <a:bodyPr>
            <a:normAutofit/>
          </a:bodyPr>
          <a:lstStyle/>
          <a:p>
            <a:r>
              <a:rPr lang="en-US" dirty="0"/>
              <a:t>Modelling Counterparty Credit Risk</a:t>
            </a:r>
          </a:p>
        </p:txBody>
      </p:sp>
      <p:sp>
        <p:nvSpPr>
          <p:cNvPr id="4" name="TextBox 3"/>
          <p:cNvSpPr txBox="1"/>
          <p:nvPr>
            <p:custDataLst>
              <p:tags r:id="rId3"/>
            </p:custDataLst>
          </p:nvPr>
        </p:nvSpPr>
        <p:spPr>
          <a:xfrm>
            <a:off x="445162" y="1185143"/>
            <a:ext cx="9189720" cy="274320"/>
          </a:xfrm>
          <a:prstGeom prst="rect">
            <a:avLst/>
          </a:prstGeom>
          <a:noFill/>
        </p:spPr>
        <p:txBody>
          <a:bodyPr vert="horz" wrap="square" lIns="0" tIns="0" rIns="0" bIns="0" rtlCol="0" anchor="t">
            <a:noAutofit/>
          </a:bodyPr>
          <a:lstStyle/>
          <a:p>
            <a:pPr eaLnBrk="1">
              <a:spcBef>
                <a:spcPts val="0"/>
              </a:spcBef>
              <a:spcAft>
                <a:spcPts val="600"/>
              </a:spcAft>
            </a:pPr>
            <a:r>
              <a:rPr lang="en-US" sz="2000" kern="0" dirty="0">
                <a:solidFill>
                  <a:srgbClr val="464749"/>
                </a:solidFill>
                <a:latin typeface="Frutiger 45 Light" panose="020B0603020202020204" pitchFamily="34" charset="0"/>
              </a:rPr>
              <a:t>General CCR Modelling Recipe</a:t>
            </a:r>
          </a:p>
        </p:txBody>
      </p:sp>
      <p:graphicFrame>
        <p:nvGraphicFramePr>
          <p:cNvPr id="6" name="Table 5"/>
          <p:cNvGraphicFramePr>
            <a:graphicFrameLocks noGrp="1"/>
          </p:cNvGraphicFramePr>
          <p:nvPr>
            <p:extLst>
              <p:ext uri="{D42A27DB-BD31-4B8C-83A1-F6EECF244321}">
                <p14:modId xmlns:p14="http://schemas.microsoft.com/office/powerpoint/2010/main" val="751131041"/>
              </p:ext>
            </p:extLst>
          </p:nvPr>
        </p:nvGraphicFramePr>
        <p:xfrm>
          <a:off x="741714" y="2251415"/>
          <a:ext cx="8402286" cy="3826288"/>
        </p:xfrm>
        <a:graphic>
          <a:graphicData uri="http://schemas.openxmlformats.org/drawingml/2006/table">
            <a:tbl>
              <a:tblPr firstRow="1" firstCol="1" bandRow="1">
                <a:tableStyleId>{21E4AEA4-8DFA-4A89-87EB-49C32662AFE0}</a:tableStyleId>
              </a:tblPr>
              <a:tblGrid>
                <a:gridCol w="1538075">
                  <a:extLst>
                    <a:ext uri="{9D8B030D-6E8A-4147-A177-3AD203B41FA5}">
                      <a16:colId xmlns:a16="http://schemas.microsoft.com/office/drawing/2014/main" val="20000"/>
                    </a:ext>
                  </a:extLst>
                </a:gridCol>
                <a:gridCol w="6864211">
                  <a:extLst>
                    <a:ext uri="{9D8B030D-6E8A-4147-A177-3AD203B41FA5}">
                      <a16:colId xmlns:a16="http://schemas.microsoft.com/office/drawing/2014/main" val="20001"/>
                    </a:ext>
                  </a:extLst>
                </a:gridCol>
              </a:tblGrid>
              <a:tr h="372269">
                <a:tc>
                  <a:txBody>
                    <a:bodyPr/>
                    <a:lstStyle/>
                    <a:p>
                      <a:pPr algn="ctr">
                        <a:lnSpc>
                          <a:spcPts val="1400"/>
                        </a:lnSpc>
                        <a:spcAft>
                          <a:spcPts val="0"/>
                        </a:spcAft>
                      </a:pPr>
                      <a:r>
                        <a:rPr lang="de-CH" sz="1600" dirty="0">
                          <a:solidFill>
                            <a:srgbClr val="FFFFFF"/>
                          </a:solidFill>
                          <a:effectLst/>
                        </a:rPr>
                        <a:t>Goal</a:t>
                      </a:r>
                      <a:endParaRPr lang="en-US" sz="1600" b="1" dirty="0">
                        <a:solidFill>
                          <a:srgbClr val="FFFFFF"/>
                        </a:solidFill>
                        <a:effectLst/>
                        <a:latin typeface="Frutiger 45 Light" panose="020B0603020202020204" pitchFamily="34" charset="0"/>
                        <a:ea typeface="Times New Roman"/>
                        <a:cs typeface="Times New Roman"/>
                      </a:endParaRPr>
                    </a:p>
                  </a:txBody>
                  <a:tcPr marL="72000" marR="54667" marT="72000" marB="54000" anchor="ctr">
                    <a:solidFill>
                      <a:srgbClr val="DFAD22"/>
                    </a:solidFill>
                  </a:tcPr>
                </a:tc>
                <a:tc>
                  <a:txBody>
                    <a:bodyPr/>
                    <a:lstStyle/>
                    <a:p>
                      <a:pPr>
                        <a:lnSpc>
                          <a:spcPts val="1400"/>
                        </a:lnSpc>
                        <a:spcAft>
                          <a:spcPts val="0"/>
                        </a:spcAft>
                      </a:pPr>
                      <a:endParaRPr lang="en-US" sz="1600" dirty="0">
                        <a:solidFill>
                          <a:srgbClr val="000000"/>
                        </a:solidFill>
                        <a:effectLst/>
                      </a:endParaRPr>
                    </a:p>
                    <a:p>
                      <a:pPr>
                        <a:lnSpc>
                          <a:spcPts val="1400"/>
                        </a:lnSpc>
                        <a:spcAft>
                          <a:spcPts val="0"/>
                        </a:spcAft>
                      </a:pPr>
                      <a:r>
                        <a:rPr lang="en-US" sz="1600" dirty="0">
                          <a:solidFill>
                            <a:srgbClr val="000000"/>
                          </a:solidFill>
                          <a:effectLst/>
                        </a:rPr>
                        <a:t>Obtain risk</a:t>
                      </a:r>
                      <a:r>
                        <a:rPr lang="en-US" sz="1600" baseline="0" dirty="0">
                          <a:solidFill>
                            <a:srgbClr val="000000"/>
                          </a:solidFill>
                          <a:effectLst/>
                        </a:rPr>
                        <a:t> profiles (EPE, PFE) for a given portfolio</a:t>
                      </a:r>
                    </a:p>
                    <a:p>
                      <a:pPr>
                        <a:lnSpc>
                          <a:spcPts val="1400"/>
                        </a:lnSpc>
                        <a:spcAft>
                          <a:spcPts val="0"/>
                        </a:spcAft>
                      </a:pPr>
                      <a:endParaRPr lang="en-US" sz="1600" baseline="0" dirty="0">
                        <a:solidFill>
                          <a:srgbClr val="000000"/>
                        </a:solidFill>
                        <a:effectLst/>
                      </a:endParaRPr>
                    </a:p>
                    <a:p>
                      <a:pPr>
                        <a:lnSpc>
                          <a:spcPts val="1400"/>
                        </a:lnSpc>
                        <a:spcAft>
                          <a:spcPts val="0"/>
                        </a:spcAft>
                      </a:pPr>
                      <a:r>
                        <a:rPr lang="pl-PL" sz="1600" baseline="0" dirty="0">
                          <a:solidFill>
                            <a:srgbClr val="000000"/>
                          </a:solidFill>
                          <a:effectLst/>
                        </a:rPr>
                        <a:t>i</a:t>
                      </a:r>
                      <a:r>
                        <a:rPr lang="en-US" sz="1600" baseline="0" dirty="0">
                          <a:solidFill>
                            <a:srgbClr val="000000"/>
                          </a:solidFill>
                          <a:effectLst/>
                        </a:rPr>
                        <a:t>n order to compute CVA, RWA and regulatory capital.</a:t>
                      </a:r>
                    </a:p>
                    <a:p>
                      <a:pPr>
                        <a:lnSpc>
                          <a:spcPts val="1400"/>
                        </a:lnSpc>
                        <a:spcAft>
                          <a:spcPts val="0"/>
                        </a:spcAft>
                      </a:pPr>
                      <a:endParaRPr lang="en-US" sz="1600" dirty="0">
                        <a:solidFill>
                          <a:srgbClr val="000000"/>
                        </a:solidFill>
                        <a:effectLst/>
                        <a:latin typeface="Frutiger 45 Light" panose="020B0603020202020204" pitchFamily="34" charset="0"/>
                        <a:ea typeface="Times New Roman"/>
                        <a:cs typeface="Times New Roman"/>
                      </a:endParaRPr>
                    </a:p>
                  </a:txBody>
                  <a:tcPr marL="72000" marR="54667" marT="72000" marB="54000" anchor="ctr">
                    <a:solidFill>
                      <a:srgbClr val="EDD79D"/>
                    </a:solidFill>
                  </a:tcPr>
                </a:tc>
                <a:extLst>
                  <a:ext uri="{0D108BD9-81ED-4DB2-BD59-A6C34878D82A}">
                    <a16:rowId xmlns:a16="http://schemas.microsoft.com/office/drawing/2014/main" val="10000"/>
                  </a:ext>
                </a:extLst>
              </a:tr>
              <a:tr h="1819595">
                <a:tc>
                  <a:txBody>
                    <a:bodyPr/>
                    <a:lstStyle/>
                    <a:p>
                      <a:pPr algn="ctr">
                        <a:lnSpc>
                          <a:spcPts val="1400"/>
                        </a:lnSpc>
                        <a:spcAft>
                          <a:spcPts val="0"/>
                        </a:spcAft>
                      </a:pPr>
                      <a:endParaRPr lang="en-US" sz="1600" dirty="0">
                        <a:solidFill>
                          <a:srgbClr val="FFFFFF"/>
                        </a:solidFill>
                        <a:effectLst/>
                      </a:endParaRPr>
                    </a:p>
                    <a:p>
                      <a:pPr algn="ctr">
                        <a:lnSpc>
                          <a:spcPts val="1400"/>
                        </a:lnSpc>
                        <a:spcAft>
                          <a:spcPts val="0"/>
                        </a:spcAft>
                      </a:pPr>
                      <a:r>
                        <a:rPr lang="en-US" sz="1600" dirty="0">
                          <a:solidFill>
                            <a:srgbClr val="FFFFFF"/>
                          </a:solidFill>
                          <a:effectLst/>
                        </a:rPr>
                        <a:t>Recipe</a:t>
                      </a:r>
                      <a:endParaRPr lang="en-US" sz="1600" b="1" dirty="0">
                        <a:solidFill>
                          <a:srgbClr val="FFFFFF"/>
                        </a:solidFill>
                        <a:effectLst/>
                        <a:latin typeface="Frutiger 45 Light" panose="020B0603020202020204" pitchFamily="34" charset="0"/>
                        <a:ea typeface="Times New Roman"/>
                        <a:cs typeface="Times New Roman"/>
                      </a:endParaRPr>
                    </a:p>
                  </a:txBody>
                  <a:tcPr marL="72000" marR="54667" marT="72000" marB="54000">
                    <a:solidFill>
                      <a:srgbClr val="DFAD22"/>
                    </a:solidFill>
                  </a:tcPr>
                </a:tc>
                <a:tc>
                  <a:txBody>
                    <a:bodyPr/>
                    <a:lstStyle/>
                    <a:p>
                      <a:pPr>
                        <a:lnSpc>
                          <a:spcPts val="1400"/>
                        </a:lnSpc>
                        <a:spcAft>
                          <a:spcPts val="0"/>
                        </a:spcAft>
                      </a:pPr>
                      <a:endParaRPr lang="en-US" sz="1600" dirty="0">
                        <a:solidFill>
                          <a:srgbClr val="000000"/>
                        </a:solidFill>
                        <a:effectLst/>
                      </a:endParaRPr>
                    </a:p>
                    <a:p>
                      <a:pPr marL="342900" indent="-342900">
                        <a:lnSpc>
                          <a:spcPts val="1400"/>
                        </a:lnSpc>
                        <a:spcAft>
                          <a:spcPts val="0"/>
                        </a:spcAft>
                        <a:buFont typeface="+mj-lt"/>
                        <a:buAutoNum type="arabicPeriod"/>
                      </a:pPr>
                      <a:r>
                        <a:rPr lang="en-US" sz="1600" baseline="0" dirty="0">
                          <a:solidFill>
                            <a:srgbClr val="000000"/>
                          </a:solidFill>
                          <a:effectLst/>
                        </a:rPr>
                        <a:t>Choose a suitable risk factor model</a:t>
                      </a:r>
                    </a:p>
                    <a:p>
                      <a:pPr marL="342900" indent="-342900">
                        <a:lnSpc>
                          <a:spcPts val="1400"/>
                        </a:lnSpc>
                        <a:spcAft>
                          <a:spcPts val="0"/>
                        </a:spcAft>
                        <a:buFont typeface="+mj-lt"/>
                        <a:buAutoNum type="arabicPeriod"/>
                      </a:pPr>
                      <a:endParaRPr lang="en-US" sz="1600" baseline="0" dirty="0">
                        <a:solidFill>
                          <a:srgbClr val="000000"/>
                        </a:solidFill>
                        <a:effectLst/>
                      </a:endParaRPr>
                    </a:p>
                    <a:p>
                      <a:pPr marL="342900" indent="-342900">
                        <a:lnSpc>
                          <a:spcPts val="1400"/>
                        </a:lnSpc>
                        <a:spcAft>
                          <a:spcPts val="0"/>
                        </a:spcAft>
                        <a:buFont typeface="+mj-lt"/>
                        <a:buAutoNum type="arabicPeriod"/>
                      </a:pPr>
                      <a:r>
                        <a:rPr lang="en-US" sz="1600" baseline="0" dirty="0">
                          <a:solidFill>
                            <a:srgbClr val="000000"/>
                          </a:solidFill>
                          <a:effectLst/>
                        </a:rPr>
                        <a:t>Calibrate the model  – Bootstrapping, Minimum Squared Error, Closed Form Pricing</a:t>
                      </a:r>
                    </a:p>
                    <a:p>
                      <a:pPr marL="342900" indent="-342900">
                        <a:lnSpc>
                          <a:spcPts val="1400"/>
                        </a:lnSpc>
                        <a:spcAft>
                          <a:spcPts val="0"/>
                        </a:spcAft>
                        <a:buFont typeface="+mj-lt"/>
                        <a:buAutoNum type="arabicPeriod"/>
                      </a:pPr>
                      <a:endParaRPr lang="en-US" sz="1600" baseline="0" dirty="0">
                        <a:solidFill>
                          <a:srgbClr val="000000"/>
                        </a:solidFill>
                        <a:effectLst/>
                      </a:endParaRPr>
                    </a:p>
                    <a:p>
                      <a:pPr marL="342900" indent="-342900">
                        <a:lnSpc>
                          <a:spcPts val="1400"/>
                        </a:lnSpc>
                        <a:spcAft>
                          <a:spcPts val="0"/>
                        </a:spcAft>
                        <a:buFont typeface="+mj-lt"/>
                        <a:buAutoNum type="arabicPeriod"/>
                      </a:pPr>
                      <a:r>
                        <a:rPr lang="en-US" sz="1600" baseline="0" dirty="0">
                          <a:solidFill>
                            <a:srgbClr val="000000"/>
                          </a:solidFill>
                          <a:effectLst/>
                        </a:rPr>
                        <a:t>Generate simulated paths, </a:t>
                      </a:r>
                      <a:r>
                        <a:rPr lang="en-US" sz="1600" baseline="0" dirty="0" err="1">
                          <a:solidFill>
                            <a:srgbClr val="000000"/>
                          </a:solidFill>
                          <a:effectLst/>
                        </a:rPr>
                        <a:t>ie</a:t>
                      </a:r>
                      <a:r>
                        <a:rPr lang="en-US" sz="1600" baseline="0" dirty="0">
                          <a:solidFill>
                            <a:srgbClr val="000000"/>
                          </a:solidFill>
                          <a:effectLst/>
                        </a:rPr>
                        <a:t>, simulate a variable of interest, </a:t>
                      </a:r>
                      <a:r>
                        <a:rPr lang="en-US" sz="1600" baseline="0" dirty="0" err="1">
                          <a:solidFill>
                            <a:srgbClr val="000000"/>
                          </a:solidFill>
                          <a:effectLst/>
                        </a:rPr>
                        <a:t>eg.</a:t>
                      </a:r>
                      <a:r>
                        <a:rPr lang="en-US" sz="1600" baseline="0" dirty="0">
                          <a:solidFill>
                            <a:srgbClr val="000000"/>
                          </a:solidFill>
                          <a:effectLst/>
                        </a:rPr>
                        <a:t>: short rate, stock price, spot </a:t>
                      </a:r>
                      <a:r>
                        <a:rPr lang="pl-PL" sz="1600" baseline="0" dirty="0">
                          <a:solidFill>
                            <a:srgbClr val="000000"/>
                          </a:solidFill>
                          <a:effectLst/>
                        </a:rPr>
                        <a:t>FX</a:t>
                      </a:r>
                      <a:r>
                        <a:rPr lang="en-US" sz="1600" baseline="0" dirty="0">
                          <a:solidFill>
                            <a:srgbClr val="000000"/>
                          </a:solidFill>
                          <a:effectLst/>
                        </a:rPr>
                        <a:t>;</a:t>
                      </a:r>
                    </a:p>
                    <a:p>
                      <a:pPr marL="342900" indent="-342900">
                        <a:lnSpc>
                          <a:spcPts val="1400"/>
                        </a:lnSpc>
                        <a:spcAft>
                          <a:spcPts val="0"/>
                        </a:spcAft>
                        <a:buFont typeface="+mj-lt"/>
                        <a:buAutoNum type="arabicPeriod"/>
                      </a:pPr>
                      <a:endParaRPr lang="en-US" sz="1600" baseline="0" dirty="0">
                        <a:solidFill>
                          <a:srgbClr val="000000"/>
                        </a:solidFill>
                        <a:effectLst/>
                      </a:endParaRPr>
                    </a:p>
                    <a:p>
                      <a:pPr marL="342900" marR="0" lvl="0" indent="-342900" algn="l" defTabSz="1005505" rtl="0" eaLnBrk="1" fontAlgn="auto" latinLnBrk="0" hangingPunct="1">
                        <a:lnSpc>
                          <a:spcPts val="1400"/>
                        </a:lnSpc>
                        <a:spcBef>
                          <a:spcPts val="0"/>
                        </a:spcBef>
                        <a:spcAft>
                          <a:spcPts val="0"/>
                        </a:spcAft>
                        <a:buClrTx/>
                        <a:buSzTx/>
                        <a:buFont typeface="+mj-lt"/>
                        <a:buAutoNum type="arabicPeriod"/>
                        <a:tabLst/>
                        <a:defRPr/>
                      </a:pPr>
                      <a:r>
                        <a:rPr lang="en-US" sz="1600" baseline="0" dirty="0">
                          <a:solidFill>
                            <a:srgbClr val="000000"/>
                          </a:solidFill>
                          <a:effectLst/>
                        </a:rPr>
                        <a:t>Price the portfolio - Backward Induction / AMC</a:t>
                      </a:r>
                    </a:p>
                    <a:p>
                      <a:pPr marL="342900" indent="-342900">
                        <a:lnSpc>
                          <a:spcPts val="1400"/>
                        </a:lnSpc>
                        <a:spcAft>
                          <a:spcPts val="0"/>
                        </a:spcAft>
                        <a:buFont typeface="+mj-lt"/>
                        <a:buAutoNum type="arabicPeriod"/>
                      </a:pPr>
                      <a:endParaRPr lang="en-US" sz="1600" baseline="0" dirty="0">
                        <a:solidFill>
                          <a:srgbClr val="000000"/>
                        </a:solidFill>
                        <a:effectLst/>
                      </a:endParaRPr>
                    </a:p>
                    <a:p>
                      <a:pPr marL="342900" indent="-342900">
                        <a:lnSpc>
                          <a:spcPts val="1400"/>
                        </a:lnSpc>
                        <a:spcAft>
                          <a:spcPts val="0"/>
                        </a:spcAft>
                        <a:buFont typeface="+mj-lt"/>
                        <a:buAutoNum type="arabicPeriod"/>
                      </a:pPr>
                      <a:r>
                        <a:rPr lang="en-US" sz="1600" baseline="0" dirty="0">
                          <a:solidFill>
                            <a:srgbClr val="000000"/>
                          </a:solidFill>
                          <a:effectLst/>
                        </a:rPr>
                        <a:t>Compute profiles</a:t>
                      </a:r>
                    </a:p>
                    <a:p>
                      <a:pPr marL="342900" indent="-342900">
                        <a:lnSpc>
                          <a:spcPts val="1400"/>
                        </a:lnSpc>
                        <a:spcAft>
                          <a:spcPts val="0"/>
                        </a:spcAft>
                        <a:buFont typeface="+mj-lt"/>
                        <a:buAutoNum type="arabicPeriod"/>
                      </a:pPr>
                      <a:endParaRPr lang="en-US" sz="1600" baseline="0" dirty="0">
                        <a:solidFill>
                          <a:srgbClr val="000000"/>
                        </a:solidFill>
                        <a:effectLst/>
                      </a:endParaRPr>
                    </a:p>
                    <a:p>
                      <a:pPr marL="342900" indent="-342900">
                        <a:lnSpc>
                          <a:spcPts val="1400"/>
                        </a:lnSpc>
                        <a:spcAft>
                          <a:spcPts val="0"/>
                        </a:spcAft>
                        <a:buFont typeface="+mj-lt"/>
                        <a:buAutoNum type="arabicPeriod"/>
                      </a:pPr>
                      <a:r>
                        <a:rPr lang="en-US" sz="1600" dirty="0">
                          <a:solidFill>
                            <a:srgbClr val="000000"/>
                          </a:solidFill>
                          <a:effectLst/>
                        </a:rPr>
                        <a:t>Compute measures</a:t>
                      </a:r>
                      <a:r>
                        <a:rPr lang="en-US" sz="1600" baseline="0" dirty="0">
                          <a:solidFill>
                            <a:srgbClr val="000000"/>
                          </a:solidFill>
                          <a:effectLst/>
                        </a:rPr>
                        <a:t> like CVA, FVA, RWA, Regulatory Capital</a:t>
                      </a:r>
                    </a:p>
                    <a:p>
                      <a:pPr>
                        <a:lnSpc>
                          <a:spcPts val="1400"/>
                        </a:lnSpc>
                        <a:spcAft>
                          <a:spcPts val="0"/>
                        </a:spcAft>
                      </a:pPr>
                      <a:endParaRPr lang="en-US" sz="1600" i="1" dirty="0">
                        <a:solidFill>
                          <a:srgbClr val="000000"/>
                        </a:solidFill>
                        <a:effectLst/>
                        <a:latin typeface="Frutiger 45 Light" panose="020B0603020202020204" pitchFamily="34" charset="0"/>
                        <a:ea typeface="Times New Roman"/>
                        <a:cs typeface="Times New Roman"/>
                      </a:endParaRPr>
                    </a:p>
                  </a:txBody>
                  <a:tcPr marL="72000" marR="54667" marT="72000" marB="54000">
                    <a:solidFill>
                      <a:srgbClr val="EDD79D"/>
                    </a:solidFill>
                  </a:tcPr>
                </a:tc>
                <a:extLst>
                  <a:ext uri="{0D108BD9-81ED-4DB2-BD59-A6C34878D82A}">
                    <a16:rowId xmlns:a16="http://schemas.microsoft.com/office/drawing/2014/main" val="10001"/>
                  </a:ext>
                </a:extLst>
              </a:tr>
            </a:tbl>
          </a:graphicData>
        </a:graphic>
      </p:graphicFrame>
    </p:spTree>
    <p:custDataLst>
      <p:tags r:id="rId1"/>
    </p:custDataLst>
    <p:extLst>
      <p:ext uri="{BB962C8B-B14F-4D97-AF65-F5344CB8AC3E}">
        <p14:creationId xmlns:p14="http://schemas.microsoft.com/office/powerpoint/2010/main" val="33501384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AGE HEADING"/>
          <p:cNvSpPr>
            <a:spLocks noGrp="1"/>
          </p:cNvSpPr>
          <p:nvPr>
            <p:ph type="title"/>
            <p:custDataLst>
              <p:tags r:id="rId2"/>
            </p:custDataLst>
          </p:nvPr>
        </p:nvSpPr>
        <p:spPr/>
        <p:txBody>
          <a:bodyPr>
            <a:normAutofit/>
          </a:bodyPr>
          <a:lstStyle/>
          <a:p>
            <a:r>
              <a:rPr lang="en-US"/>
              <a:t>Modelling Counterparty Credit Risk</a:t>
            </a:r>
          </a:p>
        </p:txBody>
      </p:sp>
      <p:sp>
        <p:nvSpPr>
          <p:cNvPr id="5" name="LAYOUT HEADER">
            <a:extLst>
              <a:ext uri="{FF2B5EF4-FFF2-40B4-BE49-F238E27FC236}">
                <a16:creationId xmlns:a16="http://schemas.microsoft.com/office/drawing/2014/main" id="{73A4B0B6-450D-4760-8A94-71E8A74CA195}"/>
              </a:ext>
            </a:extLst>
          </p:cNvPr>
          <p:cNvSpPr txBox="1">
            <a:spLocks noChangeArrowheads="1"/>
          </p:cNvSpPr>
          <p:nvPr>
            <p:custDataLst>
              <p:tags r:id="rId3"/>
            </p:custDataLst>
          </p:nvPr>
        </p:nvSpPr>
        <p:spPr bwMode="gray">
          <a:xfrm>
            <a:off x="420624" y="1629401"/>
            <a:ext cx="9189719" cy="304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chemeClr val="accent3"/>
                </a:solidFill>
                <a:miter lim="800000"/>
                <a:headEnd/>
                <a:tailEnd/>
              </a14:hiddenLine>
            </a:ext>
            <a:ext uri="{AF507438-7753-43E0-B8FC-AC1667EBCBE1}">
              <a14:hiddenEffects xmlns:a14="http://schemas.microsoft.com/office/drawing/2010/main">
                <a:effectLst>
                  <a:outerShdw dist="17961" dir="2700000" algn="ctr" rotWithShape="0">
                    <a:srgbClr val="999999"/>
                  </a:outerShdw>
                </a:effectLst>
              </a14:hiddenEffects>
            </a:ext>
          </a:extLst>
        </p:spPr>
        <p:txBody>
          <a:bodyPr lIns="0" tIns="0" rIns="0" bIns="38100"/>
          <a:lstStyle>
            <a:lvl1pPr>
              <a:defRPr sz="1100">
                <a:solidFill>
                  <a:schemeClr val="tx1"/>
                </a:solidFill>
                <a:latin typeface="Frutiger 45 Light" pitchFamily="34" charset="0"/>
                <a:ea typeface="Arial Unicode MS" pitchFamily="34" charset="-128"/>
                <a:cs typeface="Arial Unicode MS" pitchFamily="34" charset="-128"/>
              </a:defRPr>
            </a:lvl1pPr>
            <a:lvl2pPr marL="742950" indent="-285750">
              <a:defRPr sz="1100">
                <a:solidFill>
                  <a:schemeClr val="tx1"/>
                </a:solidFill>
                <a:latin typeface="Frutiger 45 Light" pitchFamily="34" charset="0"/>
                <a:ea typeface="Arial Unicode MS" pitchFamily="34" charset="-128"/>
                <a:cs typeface="Arial Unicode MS" pitchFamily="34" charset="-128"/>
              </a:defRPr>
            </a:lvl2pPr>
            <a:lvl3pPr marL="1143000" indent="-228600">
              <a:defRPr sz="1100">
                <a:solidFill>
                  <a:schemeClr val="tx1"/>
                </a:solidFill>
                <a:latin typeface="Frutiger 45 Light" pitchFamily="34" charset="0"/>
                <a:ea typeface="Arial Unicode MS" pitchFamily="34" charset="-128"/>
                <a:cs typeface="Arial Unicode MS" pitchFamily="34" charset="-128"/>
              </a:defRPr>
            </a:lvl3pPr>
            <a:lvl4pPr marL="1600200" indent="-228600">
              <a:defRPr sz="1100">
                <a:solidFill>
                  <a:schemeClr val="tx1"/>
                </a:solidFill>
                <a:latin typeface="Frutiger 45 Light" pitchFamily="34" charset="0"/>
                <a:ea typeface="Arial Unicode MS" pitchFamily="34" charset="-128"/>
                <a:cs typeface="Arial Unicode MS" pitchFamily="34" charset="-128"/>
              </a:defRPr>
            </a:lvl4pPr>
            <a:lvl5pPr marL="2057400" indent="-228600">
              <a:defRPr sz="1100">
                <a:solidFill>
                  <a:schemeClr val="tx1"/>
                </a:solidFill>
                <a:latin typeface="Frutiger 45 Light" pitchFamily="34" charset="0"/>
                <a:ea typeface="Arial Unicode MS" pitchFamily="34" charset="-128"/>
                <a:cs typeface="Arial Unicode MS" pitchFamily="34" charset="-128"/>
              </a:defRPr>
            </a:lvl5pPr>
            <a:lvl6pPr marL="2514600" indent="-228600" eaLnBrk="0" fontAlgn="base" hangingPunct="0">
              <a:spcBef>
                <a:spcPct val="50000"/>
              </a:spcBef>
              <a:spcAft>
                <a:spcPct val="0"/>
              </a:spcAft>
              <a:defRPr sz="1100">
                <a:solidFill>
                  <a:schemeClr val="tx1"/>
                </a:solidFill>
                <a:latin typeface="Frutiger 45 Light" pitchFamily="34" charset="0"/>
                <a:ea typeface="Arial Unicode MS" pitchFamily="34" charset="-128"/>
                <a:cs typeface="Arial Unicode MS" pitchFamily="34" charset="-128"/>
              </a:defRPr>
            </a:lvl6pPr>
            <a:lvl7pPr marL="2971800" indent="-228600" eaLnBrk="0" fontAlgn="base" hangingPunct="0">
              <a:spcBef>
                <a:spcPct val="50000"/>
              </a:spcBef>
              <a:spcAft>
                <a:spcPct val="0"/>
              </a:spcAft>
              <a:defRPr sz="1100">
                <a:solidFill>
                  <a:schemeClr val="tx1"/>
                </a:solidFill>
                <a:latin typeface="Frutiger 45 Light" pitchFamily="34" charset="0"/>
                <a:ea typeface="Arial Unicode MS" pitchFamily="34" charset="-128"/>
                <a:cs typeface="Arial Unicode MS" pitchFamily="34" charset="-128"/>
              </a:defRPr>
            </a:lvl7pPr>
            <a:lvl8pPr marL="3429000" indent="-228600" eaLnBrk="0" fontAlgn="base" hangingPunct="0">
              <a:spcBef>
                <a:spcPct val="50000"/>
              </a:spcBef>
              <a:spcAft>
                <a:spcPct val="0"/>
              </a:spcAft>
              <a:defRPr sz="1100">
                <a:solidFill>
                  <a:schemeClr val="tx1"/>
                </a:solidFill>
                <a:latin typeface="Frutiger 45 Light" pitchFamily="34" charset="0"/>
                <a:ea typeface="Arial Unicode MS" pitchFamily="34" charset="-128"/>
                <a:cs typeface="Arial Unicode MS" pitchFamily="34" charset="-128"/>
              </a:defRPr>
            </a:lvl8pPr>
            <a:lvl9pPr marL="3886200" indent="-228600" eaLnBrk="0" fontAlgn="base" hangingPunct="0">
              <a:spcBef>
                <a:spcPct val="50000"/>
              </a:spcBef>
              <a:spcAft>
                <a:spcPct val="0"/>
              </a:spcAft>
              <a:defRPr sz="1100">
                <a:solidFill>
                  <a:schemeClr val="tx1"/>
                </a:solidFill>
                <a:latin typeface="Frutiger 45 Light" pitchFamily="34" charset="0"/>
                <a:ea typeface="Arial Unicode MS" pitchFamily="34" charset="-128"/>
                <a:cs typeface="Arial Unicode MS" pitchFamily="34" charset="-128"/>
              </a:defRPr>
            </a:lvl9pPr>
          </a:lstStyle>
          <a:p>
            <a:r>
              <a:rPr lang="en-GB" altLang="zh-TW" sz="1800" dirty="0"/>
              <a:t>The task of the computation of the exposure profiles for a derivative portfolio seems analogous to Value-at-Risk calculation but can be far more complicated due to :</a:t>
            </a:r>
          </a:p>
          <a:p>
            <a:pPr marL="342900" indent="-342900">
              <a:buClr>
                <a:srgbClr val="FF0000"/>
              </a:buClr>
              <a:buFont typeface="Arial" panose="020B0604020202020204" pitchFamily="34" charset="0"/>
              <a:buChar char="•"/>
            </a:pPr>
            <a:r>
              <a:rPr lang="en-GB" altLang="zh-TW" sz="1800" dirty="0"/>
              <a:t>far longer time horizon (often 30Y and beyond)</a:t>
            </a:r>
          </a:p>
          <a:p>
            <a:pPr marL="342900" indent="-342900">
              <a:buClr>
                <a:srgbClr val="FF0000"/>
              </a:buClr>
              <a:buFont typeface="Arial" panose="020B0604020202020204" pitchFamily="34" charset="0"/>
              <a:buChar char="•"/>
            </a:pPr>
            <a:r>
              <a:rPr lang="en-GB" altLang="zh-TW" sz="1800" dirty="0"/>
              <a:t>the risk-mitigants involved (netting, collateral, break clauses)</a:t>
            </a:r>
            <a:endParaRPr lang="pl-PL" sz="2400" dirty="0">
              <a:solidFill>
                <a:srgbClr val="E60000"/>
              </a:solidFill>
            </a:endParaRPr>
          </a:p>
          <a:p>
            <a:pPr algn="ctr"/>
            <a:endParaRPr lang="pl-PL" sz="2400" u="sng" dirty="0">
              <a:solidFill>
                <a:srgbClr val="FF0000"/>
              </a:solidFill>
            </a:endParaRPr>
          </a:p>
          <a:p>
            <a:pPr algn="ctr"/>
            <a:endParaRPr lang="pl-PL" sz="2400" u="sng" dirty="0">
              <a:solidFill>
                <a:srgbClr val="FF0000"/>
              </a:solidFill>
            </a:endParaRPr>
          </a:p>
          <a:p>
            <a:pPr algn="ctr"/>
            <a:endParaRPr lang="pl-PL" sz="2400" u="sng" dirty="0">
              <a:solidFill>
                <a:srgbClr val="FF0000"/>
              </a:solidFill>
            </a:endParaRPr>
          </a:p>
          <a:p>
            <a:pPr algn="ctr"/>
            <a:endParaRPr lang="pl-PL" sz="2400" u="sng" dirty="0">
              <a:solidFill>
                <a:srgbClr val="FF0000"/>
              </a:solidFill>
            </a:endParaRPr>
          </a:p>
          <a:p>
            <a:endParaRPr lang="en-GB" altLang="zh-TW" sz="2400" i="1" dirty="0">
              <a:solidFill>
                <a:srgbClr val="E60000"/>
              </a:solidFill>
            </a:endParaRPr>
          </a:p>
          <a:p>
            <a:endParaRPr lang="en-GB" altLang="zh-TW" sz="2400" i="1" dirty="0">
              <a:solidFill>
                <a:srgbClr val="E60000"/>
              </a:solidFill>
            </a:endParaRPr>
          </a:p>
        </p:txBody>
      </p:sp>
      <p:sp>
        <p:nvSpPr>
          <p:cNvPr id="8" name="TextBox 7">
            <a:extLst>
              <a:ext uri="{FF2B5EF4-FFF2-40B4-BE49-F238E27FC236}">
                <a16:creationId xmlns:a16="http://schemas.microsoft.com/office/drawing/2014/main" id="{A4853DA2-0684-4C0F-B8FF-4C5E14A254CD}"/>
              </a:ext>
            </a:extLst>
          </p:cNvPr>
          <p:cNvSpPr txBox="1"/>
          <p:nvPr/>
        </p:nvSpPr>
        <p:spPr>
          <a:xfrm>
            <a:off x="-585859" y="3237604"/>
            <a:ext cx="5450541" cy="1805672"/>
          </a:xfrm>
          <a:prstGeom prst="rect">
            <a:avLst/>
          </a:prstGeom>
          <a:noFill/>
        </p:spPr>
        <p:txBody>
          <a:bodyPr wrap="square" lIns="0" tIns="0" rIns="0" bIns="0" rtlCol="0">
            <a:noAutofit/>
          </a:bodyPr>
          <a:lstStyle/>
          <a:p>
            <a:pPr marL="171450" indent="-171450" algn="ctr">
              <a:spcBef>
                <a:spcPts val="400"/>
              </a:spcBef>
              <a:buClr>
                <a:srgbClr val="FF0000"/>
              </a:buClr>
              <a:buFont typeface="Arial" panose="020B0604020202020204" pitchFamily="34" charset="0"/>
              <a:buChar char="•"/>
            </a:pPr>
            <a:r>
              <a:rPr lang="pl-PL" sz="1600" b="1" dirty="0">
                <a:latin typeface="Frutiger 55 Roman" panose="020B0503040202020204" pitchFamily="34" charset="0"/>
              </a:rPr>
              <a:t>250</a:t>
            </a:r>
            <a:r>
              <a:rPr lang="pl-PL" sz="1600" dirty="0">
                <a:latin typeface="Frutiger 55 Roman" panose="020B0503040202020204" pitchFamily="34" charset="0"/>
              </a:rPr>
              <a:t> </a:t>
            </a:r>
            <a:r>
              <a:rPr lang="en-GB" sz="1600" dirty="0">
                <a:latin typeface="Frutiger 55 Roman" panose="020B0503040202020204" pitchFamily="34" charset="0"/>
              </a:rPr>
              <a:t>counterparties</a:t>
            </a:r>
            <a:endParaRPr lang="pl-PL" sz="1600" dirty="0">
              <a:latin typeface="Frutiger 55 Roman" panose="020B0503040202020204" pitchFamily="34" charset="0"/>
            </a:endParaRPr>
          </a:p>
          <a:p>
            <a:pPr marL="171450" indent="-171450" algn="ctr">
              <a:spcBef>
                <a:spcPts val="400"/>
              </a:spcBef>
              <a:buClr>
                <a:srgbClr val="FF0000"/>
              </a:buClr>
              <a:buFont typeface="Arial" panose="020B0604020202020204" pitchFamily="34" charset="0"/>
              <a:buChar char="•"/>
            </a:pPr>
            <a:r>
              <a:rPr lang="pl-PL" sz="1600" dirty="0">
                <a:latin typeface="Frutiger 55 Roman" panose="020B0503040202020204" pitchFamily="34" charset="0"/>
              </a:rPr>
              <a:t> </a:t>
            </a:r>
            <a:r>
              <a:rPr lang="pl-PL" sz="1600" b="1" dirty="0">
                <a:latin typeface="Frutiger 55 Roman" panose="020B0503040202020204" pitchFamily="34" charset="0"/>
              </a:rPr>
              <a:t>40</a:t>
            </a:r>
            <a:r>
              <a:rPr lang="pl-PL" sz="1600" dirty="0">
                <a:latin typeface="Frutiger 55 Roman" panose="020B0503040202020204" pitchFamily="34" charset="0"/>
              </a:rPr>
              <a:t> </a:t>
            </a:r>
            <a:r>
              <a:rPr lang="en-GB" sz="1600" dirty="0">
                <a:latin typeface="Frutiger 55 Roman" panose="020B0503040202020204" pitchFamily="34" charset="0"/>
              </a:rPr>
              <a:t>transactions on average</a:t>
            </a:r>
            <a:r>
              <a:rPr lang="pl-PL" sz="1600" dirty="0">
                <a:latin typeface="Frutiger 55 Roman" panose="020B0503040202020204" pitchFamily="34" charset="0"/>
              </a:rPr>
              <a:t> </a:t>
            </a:r>
          </a:p>
          <a:p>
            <a:pPr marL="171450" indent="-171450" algn="ctr">
              <a:spcBef>
                <a:spcPts val="400"/>
              </a:spcBef>
              <a:buClr>
                <a:srgbClr val="FF0000"/>
              </a:buClr>
              <a:buFont typeface="Arial" panose="020B0604020202020204" pitchFamily="34" charset="0"/>
              <a:buChar char="•"/>
            </a:pPr>
            <a:r>
              <a:rPr lang="pl-PL" sz="1600" b="1" dirty="0">
                <a:latin typeface="Frutiger 55 Roman" panose="020B0503040202020204" pitchFamily="34" charset="0"/>
              </a:rPr>
              <a:t>100</a:t>
            </a:r>
            <a:r>
              <a:rPr lang="pl-PL" sz="1600" dirty="0">
                <a:latin typeface="Frutiger 55 Roman" panose="020B0503040202020204" pitchFamily="34" charset="0"/>
              </a:rPr>
              <a:t> </a:t>
            </a:r>
            <a:r>
              <a:rPr lang="en-GB" sz="1600" dirty="0">
                <a:latin typeface="Frutiger 55 Roman" panose="020B0503040202020204" pitchFamily="34" charset="0"/>
              </a:rPr>
              <a:t>simulation steps</a:t>
            </a:r>
            <a:endParaRPr lang="pl-PL" sz="1600" dirty="0">
              <a:latin typeface="Frutiger 55 Roman" panose="020B0503040202020204" pitchFamily="34" charset="0"/>
            </a:endParaRPr>
          </a:p>
          <a:p>
            <a:pPr marL="171450" indent="-171450" algn="ctr">
              <a:spcBef>
                <a:spcPts val="400"/>
              </a:spcBef>
              <a:buClr>
                <a:srgbClr val="FF0000"/>
              </a:buClr>
              <a:buFont typeface="Arial" panose="020B0604020202020204" pitchFamily="34" charset="0"/>
              <a:buChar char="•"/>
            </a:pPr>
            <a:r>
              <a:rPr lang="pl-PL" sz="1600" b="1" dirty="0">
                <a:latin typeface="Frutiger 55 Roman" panose="020B0503040202020204" pitchFamily="34" charset="0"/>
              </a:rPr>
              <a:t>10,000</a:t>
            </a:r>
            <a:r>
              <a:rPr lang="pl-PL" sz="1600" dirty="0">
                <a:latin typeface="Frutiger 55 Roman" panose="020B0503040202020204" pitchFamily="34" charset="0"/>
              </a:rPr>
              <a:t> </a:t>
            </a:r>
            <a:r>
              <a:rPr lang="en-GB" sz="1600" dirty="0">
                <a:latin typeface="Frutiger 55 Roman" panose="020B0503040202020204" pitchFamily="34" charset="0"/>
              </a:rPr>
              <a:t>scenarios</a:t>
            </a:r>
            <a:endParaRPr lang="en-US" sz="1600" dirty="0">
              <a:latin typeface="Frutiger 55 Roman" panose="020B0503040202020204" pitchFamily="34" charset="0"/>
            </a:endParaRPr>
          </a:p>
        </p:txBody>
      </p:sp>
      <p:sp>
        <p:nvSpPr>
          <p:cNvPr id="10" name="TextBox 9">
            <a:extLst>
              <a:ext uri="{FF2B5EF4-FFF2-40B4-BE49-F238E27FC236}">
                <a16:creationId xmlns:a16="http://schemas.microsoft.com/office/drawing/2014/main" id="{C9112D8B-AAF4-4F21-9072-19C816147999}"/>
              </a:ext>
            </a:extLst>
          </p:cNvPr>
          <p:cNvSpPr txBox="1"/>
          <p:nvPr/>
        </p:nvSpPr>
        <p:spPr>
          <a:xfrm>
            <a:off x="6285483" y="3237604"/>
            <a:ext cx="2796032" cy="505214"/>
          </a:xfrm>
          <a:prstGeom prst="rect">
            <a:avLst/>
          </a:prstGeom>
          <a:noFill/>
        </p:spPr>
        <p:txBody>
          <a:bodyPr wrap="square" lIns="0" tIns="0" rIns="0" bIns="0" rtlCol="0">
            <a:noAutofit/>
          </a:bodyPr>
          <a:lstStyle/>
          <a:p>
            <a:pPr algn="ctr"/>
            <a:r>
              <a:rPr lang="pl-PL" sz="1600" b="1" dirty="0">
                <a:latin typeface="Frutiger 55 Roman" panose="020B0503040202020204" pitchFamily="34" charset="0"/>
              </a:rPr>
              <a:t>10 </a:t>
            </a:r>
            <a:r>
              <a:rPr lang="en-GB" sz="1600" b="1" dirty="0" err="1">
                <a:latin typeface="Frutiger 55 Roman" panose="020B0503040202020204" pitchFamily="34" charset="0"/>
              </a:rPr>
              <a:t>bln</a:t>
            </a:r>
            <a:r>
              <a:rPr lang="en-GB" sz="1600" b="1" dirty="0">
                <a:latin typeface="Frutiger 55 Roman" panose="020B0503040202020204" pitchFamily="34" charset="0"/>
              </a:rPr>
              <a:t> </a:t>
            </a:r>
            <a:r>
              <a:rPr lang="pl-PL" sz="1600" dirty="0">
                <a:latin typeface="Frutiger 55 Roman" panose="020B0503040202020204" pitchFamily="34" charset="0"/>
              </a:rPr>
              <a:t>r</a:t>
            </a:r>
            <a:r>
              <a:rPr lang="en-GB" sz="1600" dirty="0">
                <a:latin typeface="Frutiger 55 Roman" panose="020B0503040202020204" pitchFamily="34" charset="0"/>
              </a:rPr>
              <a:t>evaluations</a:t>
            </a:r>
            <a:r>
              <a:rPr lang="pl-PL" sz="1600" dirty="0">
                <a:latin typeface="Frutiger 55 Roman" panose="020B0503040202020204" pitchFamily="34" charset="0"/>
              </a:rPr>
              <a:t>!</a:t>
            </a:r>
            <a:endParaRPr lang="en-US" sz="1600" dirty="0">
              <a:latin typeface="Frutiger 55 Roman" panose="020B0503040202020204" pitchFamily="34" charset="0"/>
            </a:endParaRPr>
          </a:p>
        </p:txBody>
      </p:sp>
      <p:sp>
        <p:nvSpPr>
          <p:cNvPr id="11" name="Right Arrow 13">
            <a:extLst>
              <a:ext uri="{FF2B5EF4-FFF2-40B4-BE49-F238E27FC236}">
                <a16:creationId xmlns:a16="http://schemas.microsoft.com/office/drawing/2014/main" id="{74F8CAD9-680E-4E14-AAC7-6A5C20111370}"/>
              </a:ext>
            </a:extLst>
          </p:cNvPr>
          <p:cNvSpPr/>
          <p:nvPr/>
        </p:nvSpPr>
        <p:spPr>
          <a:xfrm>
            <a:off x="4350361" y="3518397"/>
            <a:ext cx="1219200" cy="505214"/>
          </a:xfrm>
          <a:prstGeom prst="rightArrow">
            <a:avLst/>
          </a:prstGeom>
          <a:noFill/>
          <a:ln w="19050">
            <a:solidFill>
              <a:srgbClr val="91919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600" dirty="0">
              <a:solidFill>
                <a:schemeClr val="tx1"/>
              </a:solidFill>
              <a:latin typeface="Frutiger 55 Roman" panose="020B0503040202020204" pitchFamily="34" charset="0"/>
            </a:endParaRPr>
          </a:p>
        </p:txBody>
      </p:sp>
      <p:sp>
        <p:nvSpPr>
          <p:cNvPr id="12" name="TextBox 11">
            <a:extLst>
              <a:ext uri="{FF2B5EF4-FFF2-40B4-BE49-F238E27FC236}">
                <a16:creationId xmlns:a16="http://schemas.microsoft.com/office/drawing/2014/main" id="{6A56A9BF-1A04-4E25-AAF2-633FD710A53C}"/>
              </a:ext>
            </a:extLst>
          </p:cNvPr>
          <p:cNvSpPr txBox="1"/>
          <p:nvPr/>
        </p:nvSpPr>
        <p:spPr>
          <a:xfrm>
            <a:off x="6285483" y="3791136"/>
            <a:ext cx="2796032" cy="866081"/>
          </a:xfrm>
          <a:prstGeom prst="rect">
            <a:avLst/>
          </a:prstGeom>
          <a:noFill/>
        </p:spPr>
        <p:txBody>
          <a:bodyPr wrap="none" lIns="0" tIns="0" rIns="0" bIns="0" rtlCol="0">
            <a:noAutofit/>
          </a:bodyPr>
          <a:lstStyle/>
          <a:p>
            <a:pPr algn="ctr"/>
            <a:r>
              <a:rPr lang="en-GB" sz="1600" b="1" dirty="0">
                <a:latin typeface="Frutiger 55 Roman" panose="020B0503040202020204" pitchFamily="34" charset="0"/>
              </a:rPr>
              <a:t>Efficiency of computation </a:t>
            </a:r>
          </a:p>
          <a:p>
            <a:pPr algn="ctr"/>
            <a:r>
              <a:rPr lang="en-GB" sz="1600" b="1" dirty="0">
                <a:latin typeface="Frutiger 55 Roman" panose="020B0503040202020204" pitchFamily="34" charset="0"/>
              </a:rPr>
              <a:t>is very important</a:t>
            </a:r>
            <a:endParaRPr lang="en-US" sz="1600" b="1" dirty="0">
              <a:latin typeface="Frutiger 55 Roman" panose="020B0503040202020204" pitchFamily="34" charset="0"/>
            </a:endParaRPr>
          </a:p>
        </p:txBody>
      </p:sp>
      <p:sp>
        <p:nvSpPr>
          <p:cNvPr id="9" name="TextBox 8">
            <a:extLst>
              <a:ext uri="{FF2B5EF4-FFF2-40B4-BE49-F238E27FC236}">
                <a16:creationId xmlns:a16="http://schemas.microsoft.com/office/drawing/2014/main" id="{8ECB69DE-E16D-4D35-A50C-EA0BAA5956DD}"/>
              </a:ext>
            </a:extLst>
          </p:cNvPr>
          <p:cNvSpPr txBox="1"/>
          <p:nvPr>
            <p:custDataLst>
              <p:tags r:id="rId4"/>
            </p:custDataLst>
          </p:nvPr>
        </p:nvSpPr>
        <p:spPr>
          <a:xfrm>
            <a:off x="445162" y="1185143"/>
            <a:ext cx="9189720" cy="274320"/>
          </a:xfrm>
          <a:prstGeom prst="rect">
            <a:avLst/>
          </a:prstGeom>
          <a:noFill/>
        </p:spPr>
        <p:txBody>
          <a:bodyPr vert="horz" wrap="square" lIns="0" tIns="0" rIns="0" bIns="0" rtlCol="0" anchor="t">
            <a:noAutofit/>
          </a:bodyPr>
          <a:lstStyle/>
          <a:p>
            <a:pPr eaLnBrk="1">
              <a:spcBef>
                <a:spcPts val="0"/>
              </a:spcBef>
              <a:spcAft>
                <a:spcPts val="600"/>
              </a:spcAft>
            </a:pPr>
            <a:r>
              <a:rPr lang="pl-PL" sz="2000" kern="0" dirty="0" err="1">
                <a:solidFill>
                  <a:srgbClr val="464749"/>
                </a:solidFill>
                <a:latin typeface="Frutiger 45 Light" panose="020B0603020202020204" pitchFamily="34" charset="0"/>
              </a:rPr>
              <a:t>Challenges</a:t>
            </a:r>
            <a:endParaRPr lang="en-US" sz="2000" kern="0" dirty="0">
              <a:solidFill>
                <a:srgbClr val="464749"/>
              </a:solidFill>
              <a:latin typeface="Frutiger 45 Light" panose="020B0603020202020204" pitchFamily="34" charset="0"/>
            </a:endParaRPr>
          </a:p>
        </p:txBody>
      </p:sp>
      <p:grpSp>
        <p:nvGrpSpPr>
          <p:cNvPr id="4" name="Group 3">
            <a:extLst>
              <a:ext uri="{FF2B5EF4-FFF2-40B4-BE49-F238E27FC236}">
                <a16:creationId xmlns:a16="http://schemas.microsoft.com/office/drawing/2014/main" id="{85088C87-6EA7-4EF6-3FD2-0A53E2BC2DAA}"/>
              </a:ext>
            </a:extLst>
          </p:cNvPr>
          <p:cNvGrpSpPr/>
          <p:nvPr/>
        </p:nvGrpSpPr>
        <p:grpSpPr>
          <a:xfrm>
            <a:off x="874862" y="4635657"/>
            <a:ext cx="3821654" cy="2241826"/>
            <a:chOff x="5380715" y="2108885"/>
            <a:chExt cx="4137433" cy="2574826"/>
          </a:xfrm>
        </p:grpSpPr>
        <p:pic>
          <p:nvPicPr>
            <p:cNvPr id="6" name="Picture 5">
              <a:extLst>
                <a:ext uri="{FF2B5EF4-FFF2-40B4-BE49-F238E27FC236}">
                  <a16:creationId xmlns:a16="http://schemas.microsoft.com/office/drawing/2014/main" id="{AA971570-121E-86C0-F97E-57B557E2FEE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80715" y="2108885"/>
              <a:ext cx="4137433" cy="25748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extBox 6">
              <a:extLst>
                <a:ext uri="{FF2B5EF4-FFF2-40B4-BE49-F238E27FC236}">
                  <a16:creationId xmlns:a16="http://schemas.microsoft.com/office/drawing/2014/main" id="{66D80703-A4D4-2928-BABF-20E8E90FA767}"/>
                </a:ext>
              </a:extLst>
            </p:cNvPr>
            <p:cNvSpPr txBox="1"/>
            <p:nvPr/>
          </p:nvSpPr>
          <p:spPr>
            <a:xfrm>
              <a:off x="6841218" y="2473715"/>
              <a:ext cx="2507810" cy="235390"/>
            </a:xfrm>
            <a:prstGeom prst="rect">
              <a:avLst/>
            </a:prstGeom>
            <a:noFill/>
          </p:spPr>
          <p:txBody>
            <a:bodyPr wrap="square" lIns="0" tIns="0" rIns="0" bIns="0" rtlCol="0">
              <a:noAutofit/>
            </a:bodyPr>
            <a:lstStyle/>
            <a:p>
              <a:r>
                <a:rPr lang="en-US" sz="1400" dirty="0"/>
                <a:t>Nested Monte Carlo</a:t>
              </a:r>
            </a:p>
          </p:txBody>
        </p:sp>
      </p:grpSp>
      <p:pic>
        <p:nvPicPr>
          <p:cNvPr id="13" name="Picture 2" descr="Q:\Renato\INTQuant\Plots\MC_USD_5y5y_IRS.png">
            <a:extLst>
              <a:ext uri="{FF2B5EF4-FFF2-40B4-BE49-F238E27FC236}">
                <a16:creationId xmlns:a16="http://schemas.microsoft.com/office/drawing/2014/main" id="{F9F027C0-85EE-9F08-EC62-2E1A69DB8A9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15483" y="4705535"/>
            <a:ext cx="3203460" cy="2260266"/>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902636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randombar(horizontal)">
                                      <p:cBhvr>
                                        <p:cTn id="7" dur="5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randombar(horizontal)">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randombar(horizontal)">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randombar(horizontal)">
                                      <p:cBhvr>
                                        <p:cTn id="22" dur="500"/>
                                        <p:tgtEl>
                                          <p:spTgt spid="11"/>
                                        </p:tgtEl>
                                      </p:cBhvr>
                                    </p:animEffect>
                                  </p:childTnLst>
                                </p:cTn>
                              </p:par>
                              <p:par>
                                <p:cTn id="23" presetID="14" presetClass="entr" presetSubtype="1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randombar(horizontal)">
                                      <p:cBhvr>
                                        <p:cTn id="25" dur="500"/>
                                        <p:tgtEl>
                                          <p:spTgt spid="10"/>
                                        </p:tgtEl>
                                      </p:cBhvr>
                                    </p:animEffect>
                                  </p:childTnLst>
                                </p:cTn>
                              </p:par>
                              <p:par>
                                <p:cTn id="26" presetID="14" presetClass="entr" presetSubtype="10"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randombar(horizontal)">
                                      <p:cBhvr>
                                        <p:cTn id="28"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1" grpId="0" animBg="1"/>
      <p:bldP spid="1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DIVIDER TITLE"/>
          <p:cNvSpPr>
            <a:spLocks noGrp="1"/>
          </p:cNvSpPr>
          <p:nvPr>
            <p:ph type="subTitle" idx="1"/>
            <p:custDataLst>
              <p:tags r:id="rId2"/>
            </p:custDataLst>
          </p:nvPr>
        </p:nvSpPr>
        <p:spPr/>
        <p:txBody>
          <a:bodyPr/>
          <a:lstStyle/>
          <a:p>
            <a:r>
              <a:rPr lang="en-US"/>
              <a:t>Backward Induction and American Monte-Carlo Methods</a:t>
            </a:r>
          </a:p>
        </p:txBody>
      </p:sp>
      <p:sp>
        <p:nvSpPr>
          <p:cNvPr id="12" name="DIVIDER NUMBER"/>
          <p:cNvSpPr>
            <a:spLocks noGrp="1"/>
          </p:cNvSpPr>
          <p:nvPr>
            <p:ph type="ctrTitle"/>
            <p:custDataLst>
              <p:tags r:id="rId3"/>
            </p:custDataLst>
          </p:nvPr>
        </p:nvSpPr>
        <p:spPr/>
        <p:txBody>
          <a:bodyPr/>
          <a:lstStyle/>
          <a:p>
            <a:r>
              <a:rPr lang="en-US" dirty="0"/>
              <a:t>Section </a:t>
            </a:r>
            <a:r>
              <a:rPr lang="en-GB" dirty="0"/>
              <a:t>5</a:t>
            </a:r>
            <a:endParaRPr lang="en-US" dirty="0"/>
          </a:p>
        </p:txBody>
      </p:sp>
    </p:spTree>
    <p:custDataLst>
      <p:tags r:id="rId1"/>
    </p:custDataLst>
    <p:extLst>
      <p:ext uri="{BB962C8B-B14F-4D97-AF65-F5344CB8AC3E}">
        <p14:creationId xmlns:p14="http://schemas.microsoft.com/office/powerpoint/2010/main" val="6838530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AGE HEADING"/>
          <p:cNvSpPr>
            <a:spLocks noGrp="1"/>
          </p:cNvSpPr>
          <p:nvPr>
            <p:ph type="title"/>
            <p:custDataLst>
              <p:tags r:id="rId2"/>
            </p:custDataLst>
          </p:nvPr>
        </p:nvSpPr>
        <p:spPr/>
        <p:txBody>
          <a:bodyPr>
            <a:normAutofit/>
          </a:bodyPr>
          <a:lstStyle/>
          <a:p>
            <a:r>
              <a:rPr lang="en-US" dirty="0"/>
              <a:t>Backward Induction and American Monte-Carlo Methods</a:t>
            </a:r>
          </a:p>
        </p:txBody>
      </p:sp>
      <p:sp>
        <p:nvSpPr>
          <p:cNvPr id="4" name="TextBox 3"/>
          <p:cNvSpPr txBox="1"/>
          <p:nvPr>
            <p:custDataLst>
              <p:tags r:id="rId3"/>
            </p:custDataLst>
          </p:nvPr>
        </p:nvSpPr>
        <p:spPr>
          <a:xfrm>
            <a:off x="420624" y="1120775"/>
            <a:ext cx="9189720" cy="274320"/>
          </a:xfrm>
          <a:prstGeom prst="rect">
            <a:avLst/>
          </a:prstGeom>
          <a:noFill/>
        </p:spPr>
        <p:txBody>
          <a:bodyPr vert="horz" wrap="square" lIns="0" tIns="0" rIns="0" bIns="0" rtlCol="0" anchor="t">
            <a:noAutofit/>
          </a:bodyPr>
          <a:lstStyle/>
          <a:p>
            <a:pPr eaLnBrk="1">
              <a:spcBef>
                <a:spcPts val="0"/>
              </a:spcBef>
              <a:spcAft>
                <a:spcPts val="600"/>
              </a:spcAft>
            </a:pPr>
            <a:r>
              <a:rPr lang="pl-PL" sz="2000" kern="0" dirty="0" err="1">
                <a:solidFill>
                  <a:srgbClr val="464749"/>
                </a:solidFill>
                <a:latin typeface="Frutiger 45 Light" panose="020B0603020202020204" pitchFamily="34" charset="0"/>
              </a:rPr>
              <a:t>Backward</a:t>
            </a:r>
            <a:r>
              <a:rPr lang="pl-PL" sz="2000" kern="0" dirty="0">
                <a:solidFill>
                  <a:srgbClr val="464749"/>
                </a:solidFill>
                <a:latin typeface="Frutiger 45 Light" panose="020B0603020202020204" pitchFamily="34" charset="0"/>
              </a:rPr>
              <a:t> </a:t>
            </a:r>
            <a:r>
              <a:rPr lang="pl-PL" sz="2000" kern="0" dirty="0" err="1">
                <a:solidFill>
                  <a:srgbClr val="464749"/>
                </a:solidFill>
                <a:latin typeface="Frutiger 45 Light" panose="020B0603020202020204" pitchFamily="34" charset="0"/>
              </a:rPr>
              <a:t>induction</a:t>
            </a:r>
            <a:r>
              <a:rPr lang="pl-PL" sz="2000" kern="0" dirty="0">
                <a:solidFill>
                  <a:srgbClr val="464749"/>
                </a:solidFill>
                <a:latin typeface="Frutiger 45 Light" panose="020B0603020202020204" pitchFamily="34" charset="0"/>
              </a:rPr>
              <a:t> – </a:t>
            </a:r>
            <a:r>
              <a:rPr lang="pl-PL" sz="2000" kern="0" dirty="0" err="1">
                <a:solidFill>
                  <a:srgbClr val="464749"/>
                </a:solidFill>
                <a:latin typeface="Frutiger 45 Light" panose="020B0603020202020204" pitchFamily="34" charset="0"/>
              </a:rPr>
              <a:t>binomial</a:t>
            </a:r>
            <a:r>
              <a:rPr lang="pl-PL" sz="2000" kern="0" dirty="0">
                <a:solidFill>
                  <a:srgbClr val="464749"/>
                </a:solidFill>
                <a:latin typeface="Frutiger 45 Light" panose="020B0603020202020204" pitchFamily="34" charset="0"/>
              </a:rPr>
              <a:t> </a:t>
            </a:r>
            <a:r>
              <a:rPr lang="pl-PL" sz="2000" kern="0" dirty="0" err="1">
                <a:solidFill>
                  <a:srgbClr val="464749"/>
                </a:solidFill>
                <a:latin typeface="Frutiger 45 Light" panose="020B0603020202020204" pitchFamily="34" charset="0"/>
              </a:rPr>
              <a:t>tree</a:t>
            </a:r>
            <a:endParaRPr lang="en-US" sz="2000" kern="0" dirty="0">
              <a:solidFill>
                <a:srgbClr val="464749"/>
              </a:solidFill>
              <a:latin typeface="Frutiger 45 Light" panose="020B0603020202020204" pitchFamily="34" charset="0"/>
            </a:endParaRPr>
          </a:p>
        </p:txBody>
      </p:sp>
      <p:sp>
        <p:nvSpPr>
          <p:cNvPr id="5" name="Content Placeholder 10"/>
          <p:cNvSpPr>
            <a:spLocks noGrp="1"/>
          </p:cNvSpPr>
          <p:nvPr>
            <p:ph idx="1"/>
          </p:nvPr>
        </p:nvSpPr>
        <p:spPr>
          <a:xfrm>
            <a:off x="382385" y="2139527"/>
            <a:ext cx="8354291" cy="4326992"/>
          </a:xfrm>
        </p:spPr>
        <p:txBody>
          <a:bodyPr/>
          <a:lstStyle/>
          <a:p>
            <a:pPr marL="0" indent="0">
              <a:buNone/>
            </a:pPr>
            <a:endParaRPr lang="pl-PL" sz="1300" dirty="0"/>
          </a:p>
          <a:p>
            <a:pPr marL="0" indent="0">
              <a:buNone/>
            </a:pPr>
            <a:endParaRPr lang="pl-PL" sz="1300" dirty="0"/>
          </a:p>
          <a:p>
            <a:pPr marL="0" indent="0">
              <a:buNone/>
            </a:pPr>
            <a:r>
              <a:rPr lang="pl-PL" sz="1300" dirty="0"/>
              <a:t> </a:t>
            </a:r>
            <a:endParaRPr lang="en-US" sz="1300" dirty="0"/>
          </a:p>
        </p:txBody>
      </p:sp>
      <p:cxnSp>
        <p:nvCxnSpPr>
          <p:cNvPr id="6" name="Straight Arrow Connector 5"/>
          <p:cNvCxnSpPr/>
          <p:nvPr/>
        </p:nvCxnSpPr>
        <p:spPr>
          <a:xfrm flipV="1">
            <a:off x="2049114" y="2253654"/>
            <a:ext cx="1265915" cy="189091"/>
          </a:xfrm>
          <a:prstGeom prst="straightConnector1">
            <a:avLst/>
          </a:prstGeom>
          <a:ln w="19050">
            <a:solidFill>
              <a:srgbClr val="7B7D80"/>
            </a:solidFill>
            <a:tailEnd type="arrow"/>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a:off x="2049116" y="2504958"/>
            <a:ext cx="1265914" cy="204547"/>
          </a:xfrm>
          <a:prstGeom prst="straightConnector1">
            <a:avLst/>
          </a:prstGeom>
          <a:ln w="19050">
            <a:solidFill>
              <a:srgbClr val="7B7D80"/>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TextBox 7"/>
              <p:cNvSpPr txBox="1"/>
              <p:nvPr/>
            </p:nvSpPr>
            <p:spPr>
              <a:xfrm>
                <a:off x="5064208" y="1875720"/>
                <a:ext cx="669222" cy="385948"/>
              </a:xfrm>
              <a:prstGeom prst="rect">
                <a:avLst/>
              </a:prstGeom>
              <a:noFill/>
            </p:spPr>
            <p:txBody>
              <a:bodyPr wrap="none" lIns="0" tIns="0" rIns="0" bIns="0" rtlCol="0">
                <a:noAutofit/>
              </a:bodyPr>
              <a:lstStyle/>
              <a:p>
                <a:pPr/>
                <a14:m>
                  <m:oMathPara xmlns:m="http://schemas.openxmlformats.org/officeDocument/2006/math">
                    <m:oMathParaPr>
                      <m:jc m:val="centerGroup"/>
                    </m:oMathParaPr>
                    <m:oMath xmlns:m="http://schemas.openxmlformats.org/officeDocument/2006/math">
                      <m:sSub>
                        <m:sSubPr>
                          <m:ctrlPr>
                            <a:rPr lang="pl-PL" sz="1300" i="1">
                              <a:latin typeface="Cambria Math" panose="02040503050406030204" pitchFamily="18" charset="0"/>
                            </a:rPr>
                          </m:ctrlPr>
                        </m:sSubPr>
                        <m:e>
                          <m:r>
                            <a:rPr lang="pl-PL" sz="1300" i="1">
                              <a:latin typeface="Cambria Math"/>
                            </a:rPr>
                            <m:t>𝑆</m:t>
                          </m:r>
                        </m:e>
                        <m:sub>
                          <m:r>
                            <a:rPr lang="pl-PL" sz="1300" i="1">
                              <a:latin typeface="Cambria Math"/>
                            </a:rPr>
                            <m:t>0</m:t>
                          </m:r>
                        </m:sub>
                      </m:sSub>
                      <m:sSup>
                        <m:sSupPr>
                          <m:ctrlPr>
                            <a:rPr lang="pl-PL" sz="1300" i="1">
                              <a:latin typeface="Cambria Math" panose="02040503050406030204" pitchFamily="18" charset="0"/>
                            </a:rPr>
                          </m:ctrlPr>
                        </m:sSupPr>
                        <m:e>
                          <m:r>
                            <a:rPr lang="pl-PL" sz="1300" i="1">
                              <a:latin typeface="Cambria Math"/>
                            </a:rPr>
                            <m:t>𝑢</m:t>
                          </m:r>
                        </m:e>
                        <m:sup>
                          <m:r>
                            <a:rPr lang="pl-PL" sz="1300" i="1">
                              <a:latin typeface="Cambria Math"/>
                            </a:rPr>
                            <m:t>2</m:t>
                          </m:r>
                        </m:sup>
                      </m:sSup>
                    </m:oMath>
                  </m:oMathPara>
                </a14:m>
                <a:endParaRPr lang="en-US" sz="1300" dirty="0"/>
              </a:p>
            </p:txBody>
          </p:sp>
        </mc:Choice>
        <mc:Fallback xmlns="">
          <p:sp>
            <p:nvSpPr>
              <p:cNvPr id="8" name="TextBox 7"/>
              <p:cNvSpPr txBox="1">
                <a:spLocks noRot="1" noChangeAspect="1" noMove="1" noResize="1" noEditPoints="1" noAdjustHandles="1" noChangeArrowheads="1" noChangeShapeType="1" noTextEdit="1"/>
              </p:cNvSpPr>
              <p:nvPr/>
            </p:nvSpPr>
            <p:spPr>
              <a:xfrm>
                <a:off x="5064208" y="1875720"/>
                <a:ext cx="669222" cy="385948"/>
              </a:xfrm>
              <a:prstGeom prst="rect">
                <a:avLst/>
              </a:prstGeom>
              <a:blipFill rotWithShape="1">
                <a:blip r:embed="rId5"/>
                <a:stretch>
                  <a:fillRect t="-1587"/>
                </a:stretch>
              </a:blipFill>
            </p:spPr>
            <p:txBody>
              <a:bodyPr/>
              <a:lstStyle/>
              <a:p>
                <a:r>
                  <a:rPr lang="en-US">
                    <a:noFill/>
                  </a:rPr>
                  <a:t> </a:t>
                </a:r>
              </a:p>
            </p:txBody>
          </p:sp>
        </mc:Fallback>
      </mc:AlternateContent>
      <p:sp>
        <p:nvSpPr>
          <p:cNvPr id="9" name="TextBox 8"/>
          <p:cNvSpPr txBox="1"/>
          <p:nvPr/>
        </p:nvSpPr>
        <p:spPr>
          <a:xfrm>
            <a:off x="4897334" y="5521050"/>
            <a:ext cx="831273" cy="445325"/>
          </a:xfrm>
          <a:prstGeom prst="rect">
            <a:avLst/>
          </a:prstGeom>
          <a:noFill/>
        </p:spPr>
        <p:txBody>
          <a:bodyPr wrap="none" lIns="0" tIns="0" rIns="0" bIns="0" rtlCol="0">
            <a:noAutofit/>
          </a:bodyPr>
          <a:lstStyle/>
          <a:p>
            <a:endParaRPr lang="en-US" sz="1300" dirty="0"/>
          </a:p>
        </p:txBody>
      </p:sp>
      <p:sp>
        <p:nvSpPr>
          <p:cNvPr id="10" name="TextBox 9"/>
          <p:cNvSpPr txBox="1"/>
          <p:nvPr/>
        </p:nvSpPr>
        <p:spPr>
          <a:xfrm>
            <a:off x="4772914" y="6239718"/>
            <a:ext cx="831273" cy="445325"/>
          </a:xfrm>
          <a:prstGeom prst="rect">
            <a:avLst/>
          </a:prstGeom>
          <a:noFill/>
        </p:spPr>
        <p:txBody>
          <a:bodyPr wrap="none" lIns="0" tIns="0" rIns="0" bIns="0" rtlCol="0">
            <a:noAutofit/>
          </a:bodyPr>
          <a:lstStyle/>
          <a:p>
            <a:endParaRPr lang="en-US" sz="1300" dirty="0"/>
          </a:p>
        </p:txBody>
      </p:sp>
      <mc:AlternateContent xmlns:mc="http://schemas.openxmlformats.org/markup-compatibility/2006" xmlns:a14="http://schemas.microsoft.com/office/drawing/2010/main">
        <mc:Choice Requires="a14">
          <p:sp>
            <p:nvSpPr>
              <p:cNvPr id="11" name="TextBox 10"/>
              <p:cNvSpPr txBox="1"/>
              <p:nvPr/>
            </p:nvSpPr>
            <p:spPr>
              <a:xfrm>
                <a:off x="382385" y="3619647"/>
                <a:ext cx="831273" cy="279083"/>
              </a:xfrm>
              <a:prstGeom prst="rect">
                <a:avLst/>
              </a:prstGeom>
              <a:noFill/>
            </p:spPr>
            <p:txBody>
              <a:bodyPr wrap="none" lIns="0" tIns="0" rIns="0" bIns="0" rtlCol="0">
                <a:noAutofit/>
              </a:bodyPr>
              <a:lstStyle/>
              <a:p>
                <a:r>
                  <a:rPr lang="pl-PL" sz="1400" dirty="0"/>
                  <a:t>European option pricing (call with expiry </a:t>
                </a:r>
                <a14:m>
                  <m:oMath xmlns:m="http://schemas.openxmlformats.org/officeDocument/2006/math">
                    <m:sSub>
                      <m:sSubPr>
                        <m:ctrlPr>
                          <a:rPr lang="pl-PL" sz="1400" i="1">
                            <a:latin typeface="Cambria Math" panose="02040503050406030204" pitchFamily="18" charset="0"/>
                          </a:rPr>
                        </m:ctrlPr>
                      </m:sSubPr>
                      <m:e>
                        <m:r>
                          <a:rPr lang="pl-PL" sz="1400" i="1">
                            <a:latin typeface="Cambria Math"/>
                          </a:rPr>
                          <m:t>𝑡</m:t>
                        </m:r>
                      </m:e>
                      <m:sub>
                        <m:r>
                          <a:rPr lang="pl-PL" sz="1400" i="1">
                            <a:latin typeface="Cambria Math"/>
                          </a:rPr>
                          <m:t>2</m:t>
                        </m:r>
                      </m:sub>
                    </m:sSub>
                  </m:oMath>
                </a14:m>
                <a:r>
                  <a:rPr lang="pl-PL" sz="1400" dirty="0"/>
                  <a:t>, strike K) </a:t>
                </a:r>
              </a:p>
            </p:txBody>
          </p:sp>
        </mc:Choice>
        <mc:Fallback xmlns="">
          <p:sp>
            <p:nvSpPr>
              <p:cNvPr id="11" name="TextBox 10"/>
              <p:cNvSpPr txBox="1">
                <a:spLocks noRot="1" noChangeAspect="1" noMove="1" noResize="1" noEditPoints="1" noAdjustHandles="1" noChangeArrowheads="1" noChangeShapeType="1" noTextEdit="1"/>
              </p:cNvSpPr>
              <p:nvPr/>
            </p:nvSpPr>
            <p:spPr>
              <a:xfrm>
                <a:off x="382385" y="3619647"/>
                <a:ext cx="831273" cy="279083"/>
              </a:xfrm>
              <a:prstGeom prst="rect">
                <a:avLst/>
              </a:prstGeom>
              <a:blipFill rotWithShape="1">
                <a:blip r:embed="rId6"/>
                <a:stretch>
                  <a:fillRect l="-13235" t="-21739" r="-444118" b="-10870"/>
                </a:stretch>
              </a:blipFill>
            </p:spPr>
            <p:txBody>
              <a:bodyPr/>
              <a:lstStyle/>
              <a:p>
                <a:r>
                  <a:rPr lang="en-US">
                    <a:noFill/>
                  </a:rPr>
                  <a:t> </a:t>
                </a:r>
              </a:p>
            </p:txBody>
          </p:sp>
        </mc:Fallback>
      </mc:AlternateContent>
      <p:sp>
        <p:nvSpPr>
          <p:cNvPr id="12" name="TextBox 11"/>
          <p:cNvSpPr txBox="1"/>
          <p:nvPr/>
        </p:nvSpPr>
        <p:spPr>
          <a:xfrm>
            <a:off x="3580958" y="1790666"/>
            <a:ext cx="831273" cy="831273"/>
          </a:xfrm>
          <a:prstGeom prst="rect">
            <a:avLst/>
          </a:prstGeom>
          <a:noFill/>
        </p:spPr>
        <p:txBody>
          <a:bodyPr wrap="none" lIns="0" tIns="0" rIns="0" bIns="0" rtlCol="0">
            <a:noAutofit/>
          </a:bodyPr>
          <a:lstStyle/>
          <a:p>
            <a:endParaRPr lang="en-US" sz="1300" dirty="0"/>
          </a:p>
        </p:txBody>
      </p:sp>
      <p:sp>
        <p:nvSpPr>
          <p:cNvPr id="13" name="TextBox 12"/>
          <p:cNvSpPr txBox="1"/>
          <p:nvPr/>
        </p:nvSpPr>
        <p:spPr>
          <a:xfrm>
            <a:off x="6187974" y="5635098"/>
            <a:ext cx="831273" cy="385948"/>
          </a:xfrm>
          <a:prstGeom prst="rect">
            <a:avLst/>
          </a:prstGeom>
          <a:noFill/>
        </p:spPr>
        <p:txBody>
          <a:bodyPr wrap="none" lIns="0" tIns="0" rIns="0" bIns="0" rtlCol="0">
            <a:noAutofit/>
          </a:bodyPr>
          <a:lstStyle/>
          <a:p>
            <a:endParaRPr lang="en-US" sz="1300" dirty="0"/>
          </a:p>
        </p:txBody>
      </p:sp>
      <p:sp>
        <p:nvSpPr>
          <p:cNvPr id="14" name="TextBox 13"/>
          <p:cNvSpPr txBox="1"/>
          <p:nvPr/>
        </p:nvSpPr>
        <p:spPr>
          <a:xfrm>
            <a:off x="4457431" y="5018910"/>
            <a:ext cx="831273" cy="385948"/>
          </a:xfrm>
          <a:prstGeom prst="rect">
            <a:avLst/>
          </a:prstGeom>
          <a:noFill/>
        </p:spPr>
        <p:txBody>
          <a:bodyPr wrap="none" lIns="0" tIns="0" rIns="0" bIns="0" rtlCol="0">
            <a:noAutofit/>
          </a:bodyPr>
          <a:lstStyle/>
          <a:p>
            <a:endParaRPr lang="en-US" sz="1300" dirty="0"/>
          </a:p>
        </p:txBody>
      </p:sp>
      <mc:AlternateContent xmlns:mc="http://schemas.openxmlformats.org/markup-compatibility/2006" xmlns:a14="http://schemas.microsoft.com/office/drawing/2010/main">
        <mc:Choice Requires="a14">
          <p:sp>
            <p:nvSpPr>
              <p:cNvPr id="15" name="TextBox 14"/>
              <p:cNvSpPr txBox="1"/>
              <p:nvPr/>
            </p:nvSpPr>
            <p:spPr>
              <a:xfrm>
                <a:off x="5050274" y="2337800"/>
                <a:ext cx="669222" cy="385948"/>
              </a:xfrm>
              <a:prstGeom prst="rect">
                <a:avLst/>
              </a:prstGeom>
              <a:noFill/>
            </p:spPr>
            <p:txBody>
              <a:bodyPr wrap="none" lIns="0" tIns="0" rIns="0" bIns="0" rtlCol="0">
                <a:noAutofit/>
              </a:bodyPr>
              <a:lstStyle/>
              <a:p>
                <a:pPr/>
                <a14:m>
                  <m:oMathPara xmlns:m="http://schemas.openxmlformats.org/officeDocument/2006/math">
                    <m:oMathParaPr>
                      <m:jc m:val="centerGroup"/>
                    </m:oMathParaPr>
                    <m:oMath xmlns:m="http://schemas.openxmlformats.org/officeDocument/2006/math">
                      <m:sSub>
                        <m:sSubPr>
                          <m:ctrlPr>
                            <a:rPr lang="pl-PL" sz="1300" i="1">
                              <a:latin typeface="Cambria Math" panose="02040503050406030204" pitchFamily="18" charset="0"/>
                            </a:rPr>
                          </m:ctrlPr>
                        </m:sSubPr>
                        <m:e>
                          <m:r>
                            <a:rPr lang="pl-PL" sz="1300" i="1">
                              <a:latin typeface="Cambria Math"/>
                            </a:rPr>
                            <m:t>𝑆</m:t>
                          </m:r>
                        </m:e>
                        <m:sub>
                          <m:r>
                            <a:rPr lang="pl-PL" sz="1300" i="1">
                              <a:latin typeface="Cambria Math"/>
                            </a:rPr>
                            <m:t>0</m:t>
                          </m:r>
                        </m:sub>
                      </m:sSub>
                      <m:r>
                        <a:rPr lang="pl-PL" sz="1300" i="1">
                          <a:latin typeface="Cambria Math"/>
                        </a:rPr>
                        <m:t>𝑢𝑑</m:t>
                      </m:r>
                    </m:oMath>
                  </m:oMathPara>
                </a14:m>
                <a:endParaRPr lang="en-US" sz="1300" dirty="0"/>
              </a:p>
            </p:txBody>
          </p:sp>
        </mc:Choice>
        <mc:Fallback xmlns="">
          <p:sp>
            <p:nvSpPr>
              <p:cNvPr id="15" name="TextBox 14"/>
              <p:cNvSpPr txBox="1">
                <a:spLocks noRot="1" noChangeAspect="1" noMove="1" noResize="1" noEditPoints="1" noAdjustHandles="1" noChangeArrowheads="1" noChangeShapeType="1" noTextEdit="1"/>
              </p:cNvSpPr>
              <p:nvPr/>
            </p:nvSpPr>
            <p:spPr>
              <a:xfrm>
                <a:off x="5050274" y="2337800"/>
                <a:ext cx="669222" cy="385948"/>
              </a:xfrm>
              <a:prstGeom prst="rect">
                <a:avLst/>
              </a:prstGeom>
              <a:blipFill rotWithShape="1">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a:off x="5041372" y="2881136"/>
                <a:ext cx="669222" cy="385948"/>
              </a:xfrm>
              <a:prstGeom prst="rect">
                <a:avLst/>
              </a:prstGeom>
              <a:noFill/>
            </p:spPr>
            <p:txBody>
              <a:bodyPr wrap="none" lIns="0" tIns="0" rIns="0" bIns="0" rtlCol="0">
                <a:noAutofit/>
              </a:bodyPr>
              <a:lstStyle/>
              <a:p>
                <a:pPr/>
                <a14:m>
                  <m:oMathPara xmlns:m="http://schemas.openxmlformats.org/officeDocument/2006/math">
                    <m:oMathParaPr>
                      <m:jc m:val="centerGroup"/>
                    </m:oMathParaPr>
                    <m:oMath xmlns:m="http://schemas.openxmlformats.org/officeDocument/2006/math">
                      <m:sSub>
                        <m:sSubPr>
                          <m:ctrlPr>
                            <a:rPr lang="pl-PL" sz="1300" i="1">
                              <a:latin typeface="Cambria Math" panose="02040503050406030204" pitchFamily="18" charset="0"/>
                            </a:rPr>
                          </m:ctrlPr>
                        </m:sSubPr>
                        <m:e>
                          <m:r>
                            <a:rPr lang="pl-PL" sz="1300" i="1">
                              <a:latin typeface="Cambria Math"/>
                            </a:rPr>
                            <m:t>𝑆</m:t>
                          </m:r>
                        </m:e>
                        <m:sub>
                          <m:r>
                            <a:rPr lang="pl-PL" sz="1300" i="1">
                              <a:latin typeface="Cambria Math"/>
                            </a:rPr>
                            <m:t>0</m:t>
                          </m:r>
                        </m:sub>
                      </m:sSub>
                      <m:sSup>
                        <m:sSupPr>
                          <m:ctrlPr>
                            <a:rPr lang="pl-PL" sz="1300" i="1">
                              <a:latin typeface="Cambria Math" panose="02040503050406030204" pitchFamily="18" charset="0"/>
                            </a:rPr>
                          </m:ctrlPr>
                        </m:sSupPr>
                        <m:e>
                          <m:r>
                            <a:rPr lang="pl-PL" sz="1300" i="1">
                              <a:latin typeface="Cambria Math"/>
                            </a:rPr>
                            <m:t>𝑑</m:t>
                          </m:r>
                        </m:e>
                        <m:sup>
                          <m:r>
                            <a:rPr lang="pl-PL" sz="1300" i="1">
                              <a:latin typeface="Cambria Math"/>
                            </a:rPr>
                            <m:t>2</m:t>
                          </m:r>
                        </m:sup>
                      </m:sSup>
                    </m:oMath>
                  </m:oMathPara>
                </a14:m>
                <a:endParaRPr lang="en-US" sz="1300" dirty="0"/>
              </a:p>
            </p:txBody>
          </p:sp>
        </mc:Choice>
        <mc:Fallback xmlns="">
          <p:sp>
            <p:nvSpPr>
              <p:cNvPr id="16" name="TextBox 15"/>
              <p:cNvSpPr txBox="1">
                <a:spLocks noRot="1" noChangeAspect="1" noMove="1" noResize="1" noEditPoints="1" noAdjustHandles="1" noChangeArrowheads="1" noChangeShapeType="1" noTextEdit="1"/>
              </p:cNvSpPr>
              <p:nvPr/>
            </p:nvSpPr>
            <p:spPr>
              <a:xfrm>
                <a:off x="5041372" y="2881136"/>
                <a:ext cx="669222" cy="385948"/>
              </a:xfrm>
              <a:prstGeom prst="rect">
                <a:avLst/>
              </a:prstGeom>
              <a:blipFill rotWithShape="1">
                <a:blip r:embed="rId8"/>
                <a:stretch>
                  <a:fillRect t="-15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a:off x="3194077" y="2144826"/>
                <a:ext cx="669222" cy="385948"/>
              </a:xfrm>
              <a:prstGeom prst="rect">
                <a:avLst/>
              </a:prstGeom>
              <a:noFill/>
            </p:spPr>
            <p:txBody>
              <a:bodyPr wrap="none" lIns="0" tIns="0" rIns="0" bIns="0" rtlCol="0">
                <a:noAutofit/>
              </a:bodyPr>
              <a:lstStyle/>
              <a:p>
                <a:pPr/>
                <a14:m>
                  <m:oMathPara xmlns:m="http://schemas.openxmlformats.org/officeDocument/2006/math">
                    <m:oMathParaPr>
                      <m:jc m:val="centerGroup"/>
                    </m:oMathParaPr>
                    <m:oMath xmlns:m="http://schemas.openxmlformats.org/officeDocument/2006/math">
                      <m:sSub>
                        <m:sSubPr>
                          <m:ctrlPr>
                            <a:rPr lang="pl-PL" sz="1300" i="1">
                              <a:latin typeface="Cambria Math" panose="02040503050406030204" pitchFamily="18" charset="0"/>
                            </a:rPr>
                          </m:ctrlPr>
                        </m:sSubPr>
                        <m:e>
                          <m:r>
                            <a:rPr lang="pl-PL" sz="1300" i="1">
                              <a:latin typeface="Cambria Math"/>
                            </a:rPr>
                            <m:t>𝑆</m:t>
                          </m:r>
                        </m:e>
                        <m:sub>
                          <m:r>
                            <a:rPr lang="pl-PL" sz="1300" i="1">
                              <a:latin typeface="Cambria Math"/>
                            </a:rPr>
                            <m:t>0</m:t>
                          </m:r>
                        </m:sub>
                      </m:sSub>
                      <m:r>
                        <a:rPr lang="pl-PL" sz="1300" i="1">
                          <a:latin typeface="Cambria Math"/>
                        </a:rPr>
                        <m:t>𝑢</m:t>
                      </m:r>
                    </m:oMath>
                  </m:oMathPara>
                </a14:m>
                <a:endParaRPr lang="en-US" sz="1300" dirty="0"/>
              </a:p>
            </p:txBody>
          </p:sp>
        </mc:Choice>
        <mc:Fallback xmlns="">
          <p:sp>
            <p:nvSpPr>
              <p:cNvPr id="17" name="TextBox 16"/>
              <p:cNvSpPr txBox="1">
                <a:spLocks noRot="1" noChangeAspect="1" noMove="1" noResize="1" noEditPoints="1" noAdjustHandles="1" noChangeArrowheads="1" noChangeShapeType="1" noTextEdit="1"/>
              </p:cNvSpPr>
              <p:nvPr/>
            </p:nvSpPr>
            <p:spPr>
              <a:xfrm>
                <a:off x="3194077" y="2144826"/>
                <a:ext cx="669222" cy="385948"/>
              </a:xfrm>
              <a:prstGeom prst="rect">
                <a:avLst/>
              </a:prstGeom>
              <a:blipFill rotWithShape="1">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3194077" y="2588813"/>
                <a:ext cx="669222" cy="385948"/>
              </a:xfrm>
              <a:prstGeom prst="rect">
                <a:avLst/>
              </a:prstGeom>
              <a:noFill/>
            </p:spPr>
            <p:txBody>
              <a:bodyPr wrap="none" lIns="0" tIns="0" rIns="0" bIns="0" rtlCol="0">
                <a:noAutofit/>
              </a:bodyPr>
              <a:lstStyle/>
              <a:p>
                <a:pPr/>
                <a14:m>
                  <m:oMathPara xmlns:m="http://schemas.openxmlformats.org/officeDocument/2006/math">
                    <m:oMathParaPr>
                      <m:jc m:val="centerGroup"/>
                    </m:oMathParaPr>
                    <m:oMath xmlns:m="http://schemas.openxmlformats.org/officeDocument/2006/math">
                      <m:sSub>
                        <m:sSubPr>
                          <m:ctrlPr>
                            <a:rPr lang="pl-PL" sz="1300" i="1">
                              <a:latin typeface="Cambria Math" panose="02040503050406030204" pitchFamily="18" charset="0"/>
                            </a:rPr>
                          </m:ctrlPr>
                        </m:sSubPr>
                        <m:e>
                          <m:r>
                            <a:rPr lang="pl-PL" sz="1300" i="1">
                              <a:latin typeface="Cambria Math"/>
                            </a:rPr>
                            <m:t>𝑆</m:t>
                          </m:r>
                        </m:e>
                        <m:sub>
                          <m:r>
                            <a:rPr lang="pl-PL" sz="1300" i="1">
                              <a:latin typeface="Cambria Math"/>
                            </a:rPr>
                            <m:t>0</m:t>
                          </m:r>
                        </m:sub>
                      </m:sSub>
                      <m:r>
                        <a:rPr lang="pl-PL" sz="1300" i="1">
                          <a:latin typeface="Cambria Math"/>
                        </a:rPr>
                        <m:t>𝑑</m:t>
                      </m:r>
                    </m:oMath>
                  </m:oMathPara>
                </a14:m>
                <a:endParaRPr lang="en-US" sz="1300" dirty="0"/>
              </a:p>
            </p:txBody>
          </p:sp>
        </mc:Choice>
        <mc:Fallback xmlns="">
          <p:sp>
            <p:nvSpPr>
              <p:cNvPr id="18" name="TextBox 17"/>
              <p:cNvSpPr txBox="1">
                <a:spLocks noRot="1" noChangeAspect="1" noMove="1" noResize="1" noEditPoints="1" noAdjustHandles="1" noChangeArrowheads="1" noChangeShapeType="1" noTextEdit="1"/>
              </p:cNvSpPr>
              <p:nvPr/>
            </p:nvSpPr>
            <p:spPr>
              <a:xfrm>
                <a:off x="3194077" y="2588813"/>
                <a:ext cx="669222" cy="385948"/>
              </a:xfrm>
              <a:prstGeom prst="rect">
                <a:avLst/>
              </a:prstGeom>
              <a:blipFill rotWithShape="1">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p:cNvSpPr txBox="1"/>
              <p:nvPr/>
            </p:nvSpPr>
            <p:spPr>
              <a:xfrm>
                <a:off x="1433246" y="2353931"/>
                <a:ext cx="669222" cy="385948"/>
              </a:xfrm>
              <a:prstGeom prst="rect">
                <a:avLst/>
              </a:prstGeom>
              <a:noFill/>
            </p:spPr>
            <p:txBody>
              <a:bodyPr wrap="none" lIns="0" tIns="0" rIns="0" bIns="0" rtlCol="0">
                <a:noAutofit/>
              </a:bodyPr>
              <a:lstStyle/>
              <a:p>
                <a:pPr/>
                <a14:m>
                  <m:oMathPara xmlns:m="http://schemas.openxmlformats.org/officeDocument/2006/math">
                    <m:oMathParaPr>
                      <m:jc m:val="centerGroup"/>
                    </m:oMathParaPr>
                    <m:oMath xmlns:m="http://schemas.openxmlformats.org/officeDocument/2006/math">
                      <m:sSub>
                        <m:sSubPr>
                          <m:ctrlPr>
                            <a:rPr lang="pl-PL" sz="1300" i="1">
                              <a:latin typeface="Cambria Math" panose="02040503050406030204" pitchFamily="18" charset="0"/>
                            </a:rPr>
                          </m:ctrlPr>
                        </m:sSubPr>
                        <m:e>
                          <m:r>
                            <a:rPr lang="pl-PL" sz="1300" i="1">
                              <a:latin typeface="Cambria Math"/>
                            </a:rPr>
                            <m:t>𝑆</m:t>
                          </m:r>
                        </m:e>
                        <m:sub>
                          <m:r>
                            <a:rPr lang="pl-PL" sz="1300" i="1">
                              <a:latin typeface="Cambria Math"/>
                            </a:rPr>
                            <m:t>0</m:t>
                          </m:r>
                        </m:sub>
                      </m:sSub>
                    </m:oMath>
                  </m:oMathPara>
                </a14:m>
                <a:endParaRPr lang="en-US" sz="1300" dirty="0"/>
              </a:p>
            </p:txBody>
          </p:sp>
        </mc:Choice>
        <mc:Fallback xmlns="">
          <p:sp>
            <p:nvSpPr>
              <p:cNvPr id="19" name="TextBox 18"/>
              <p:cNvSpPr txBox="1">
                <a:spLocks noRot="1" noChangeAspect="1" noMove="1" noResize="1" noEditPoints="1" noAdjustHandles="1" noChangeArrowheads="1" noChangeShapeType="1" noTextEdit="1"/>
              </p:cNvSpPr>
              <p:nvPr/>
            </p:nvSpPr>
            <p:spPr>
              <a:xfrm>
                <a:off x="1433246" y="2353931"/>
                <a:ext cx="669222" cy="385948"/>
              </a:xfrm>
              <a:prstGeom prst="rect">
                <a:avLst/>
              </a:prstGeom>
              <a:blipFill rotWithShape="1">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p:cNvSpPr txBox="1"/>
              <p:nvPr/>
            </p:nvSpPr>
            <p:spPr>
              <a:xfrm>
                <a:off x="2491869" y="2063704"/>
                <a:ext cx="669222" cy="385948"/>
              </a:xfrm>
              <a:prstGeom prst="rect">
                <a:avLst/>
              </a:prstGeom>
              <a:noFill/>
            </p:spPr>
            <p:txBody>
              <a:bodyPr wrap="none" lIns="0" tIns="0" rIns="0" bIns="0" rtlCol="0">
                <a:noAutofit/>
              </a:bodyPr>
              <a:lstStyle/>
              <a:p>
                <a:pPr/>
                <a14:m>
                  <m:oMathPara xmlns:m="http://schemas.openxmlformats.org/officeDocument/2006/math">
                    <m:oMathParaPr>
                      <m:jc m:val="centerGroup"/>
                    </m:oMathParaPr>
                    <m:oMath xmlns:m="http://schemas.openxmlformats.org/officeDocument/2006/math">
                      <m:r>
                        <a:rPr lang="pl-PL" sz="1300" i="1">
                          <a:latin typeface="Cambria Math"/>
                        </a:rPr>
                        <m:t>𝑝</m:t>
                      </m:r>
                    </m:oMath>
                  </m:oMathPara>
                </a14:m>
                <a:endParaRPr lang="en-US" sz="1300" dirty="0"/>
              </a:p>
            </p:txBody>
          </p:sp>
        </mc:Choice>
        <mc:Fallback xmlns="">
          <p:sp>
            <p:nvSpPr>
              <p:cNvPr id="20" name="TextBox 19"/>
              <p:cNvSpPr txBox="1">
                <a:spLocks noRot="1" noChangeAspect="1" noMove="1" noResize="1" noEditPoints="1" noAdjustHandles="1" noChangeArrowheads="1" noChangeShapeType="1" noTextEdit="1"/>
              </p:cNvSpPr>
              <p:nvPr/>
            </p:nvSpPr>
            <p:spPr>
              <a:xfrm>
                <a:off x="2491869" y="2063704"/>
                <a:ext cx="669222" cy="385948"/>
              </a:xfrm>
              <a:prstGeom prst="rect">
                <a:avLst/>
              </a:prstGeom>
              <a:blipFill rotWithShape="1">
                <a:blip r:embed="rId12"/>
                <a:stretch>
                  <a:fillRect/>
                </a:stretch>
              </a:blipFill>
            </p:spPr>
            <p:txBody>
              <a:bodyPr/>
              <a:lstStyle/>
              <a:p>
                <a:r>
                  <a:rPr lang="en-US">
                    <a:noFill/>
                  </a:rPr>
                  <a:t> </a:t>
                </a:r>
              </a:p>
            </p:txBody>
          </p:sp>
        </mc:Fallback>
      </mc:AlternateContent>
      <p:cxnSp>
        <p:nvCxnSpPr>
          <p:cNvPr id="21" name="Straight Arrow Connector 20"/>
          <p:cNvCxnSpPr/>
          <p:nvPr/>
        </p:nvCxnSpPr>
        <p:spPr>
          <a:xfrm>
            <a:off x="1665675" y="3242433"/>
            <a:ext cx="4011510" cy="0"/>
          </a:xfrm>
          <a:prstGeom prst="straightConnector1">
            <a:avLst/>
          </a:prstGeom>
          <a:ln w="19050">
            <a:solidFill>
              <a:srgbClr val="7B7D80"/>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TextBox 21"/>
              <p:cNvSpPr txBox="1"/>
              <p:nvPr/>
            </p:nvSpPr>
            <p:spPr>
              <a:xfrm>
                <a:off x="3274552" y="3278273"/>
                <a:ext cx="669222" cy="385948"/>
              </a:xfrm>
              <a:prstGeom prst="rect">
                <a:avLst/>
              </a:prstGeom>
              <a:noFill/>
            </p:spPr>
            <p:txBody>
              <a:bodyPr wrap="none" lIns="0" tIns="0" rIns="0" bIns="0" rtlCol="0">
                <a:noAutofit/>
              </a:bodyPr>
              <a:lstStyle/>
              <a:p>
                <a:pPr/>
                <a14:m>
                  <m:oMathPara xmlns:m="http://schemas.openxmlformats.org/officeDocument/2006/math">
                    <m:oMathParaPr>
                      <m:jc m:val="centerGroup"/>
                    </m:oMathParaPr>
                    <m:oMath xmlns:m="http://schemas.openxmlformats.org/officeDocument/2006/math">
                      <m:r>
                        <a:rPr lang="pl-PL" sz="1100" i="1">
                          <a:latin typeface="Cambria Math"/>
                        </a:rPr>
                        <m:t>𝑡</m:t>
                      </m:r>
                      <m:r>
                        <a:rPr lang="pl-PL" sz="1100" i="1">
                          <a:latin typeface="Cambria Math"/>
                        </a:rPr>
                        <m:t>=</m:t>
                      </m:r>
                      <m:sSub>
                        <m:sSubPr>
                          <m:ctrlPr>
                            <a:rPr lang="pl-PL" sz="1100" i="1">
                              <a:latin typeface="Cambria Math" panose="02040503050406030204" pitchFamily="18" charset="0"/>
                            </a:rPr>
                          </m:ctrlPr>
                        </m:sSubPr>
                        <m:e>
                          <m:r>
                            <a:rPr lang="pl-PL" sz="1100" i="1">
                              <a:latin typeface="Cambria Math"/>
                            </a:rPr>
                            <m:t>𝑡</m:t>
                          </m:r>
                        </m:e>
                        <m:sub>
                          <m:r>
                            <a:rPr lang="pl-PL" sz="1100" i="1">
                              <a:latin typeface="Cambria Math"/>
                            </a:rPr>
                            <m:t>1</m:t>
                          </m:r>
                        </m:sub>
                      </m:sSub>
                    </m:oMath>
                  </m:oMathPara>
                </a14:m>
                <a:endParaRPr lang="en-US" sz="1100" dirty="0"/>
              </a:p>
            </p:txBody>
          </p:sp>
        </mc:Choice>
        <mc:Fallback xmlns="">
          <p:sp>
            <p:nvSpPr>
              <p:cNvPr id="22" name="TextBox 21"/>
              <p:cNvSpPr txBox="1">
                <a:spLocks noRot="1" noChangeAspect="1" noMove="1" noResize="1" noEditPoints="1" noAdjustHandles="1" noChangeArrowheads="1" noChangeShapeType="1" noTextEdit="1"/>
              </p:cNvSpPr>
              <p:nvPr/>
            </p:nvSpPr>
            <p:spPr>
              <a:xfrm>
                <a:off x="3274552" y="3278273"/>
                <a:ext cx="669222" cy="385948"/>
              </a:xfrm>
              <a:prstGeom prst="rect">
                <a:avLst/>
              </a:prstGeom>
              <a:blipFill rotWithShape="1">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p:cNvSpPr txBox="1"/>
              <p:nvPr/>
            </p:nvSpPr>
            <p:spPr>
              <a:xfrm>
                <a:off x="2470265" y="2366963"/>
                <a:ext cx="669222" cy="385948"/>
              </a:xfrm>
              <a:prstGeom prst="rect">
                <a:avLst/>
              </a:prstGeom>
              <a:noFill/>
            </p:spPr>
            <p:txBody>
              <a:bodyPr wrap="none" lIns="0" tIns="0" rIns="0" bIns="0" rtlCol="0">
                <a:noAutofit/>
              </a:bodyPr>
              <a:lstStyle/>
              <a:p>
                <a:pPr/>
                <a14:m>
                  <m:oMathPara xmlns:m="http://schemas.openxmlformats.org/officeDocument/2006/math">
                    <m:oMathParaPr>
                      <m:jc m:val="centerGroup"/>
                    </m:oMathParaPr>
                    <m:oMath xmlns:m="http://schemas.openxmlformats.org/officeDocument/2006/math">
                      <m:r>
                        <a:rPr lang="pl-PL" sz="1300" i="1">
                          <a:latin typeface="Cambria Math"/>
                        </a:rPr>
                        <m:t>1−</m:t>
                      </m:r>
                      <m:r>
                        <a:rPr lang="pl-PL" sz="1300" i="1">
                          <a:latin typeface="Cambria Math"/>
                        </a:rPr>
                        <m:t>𝑝</m:t>
                      </m:r>
                    </m:oMath>
                  </m:oMathPara>
                </a14:m>
                <a:endParaRPr lang="en-US" sz="1300" dirty="0"/>
              </a:p>
            </p:txBody>
          </p:sp>
        </mc:Choice>
        <mc:Fallback xmlns="">
          <p:sp>
            <p:nvSpPr>
              <p:cNvPr id="23" name="TextBox 22"/>
              <p:cNvSpPr txBox="1">
                <a:spLocks noRot="1" noChangeAspect="1" noMove="1" noResize="1" noEditPoints="1" noAdjustHandles="1" noChangeArrowheads="1" noChangeShapeType="1" noTextEdit="1"/>
              </p:cNvSpPr>
              <p:nvPr/>
            </p:nvSpPr>
            <p:spPr>
              <a:xfrm>
                <a:off x="2470265" y="2366963"/>
                <a:ext cx="669222" cy="385948"/>
              </a:xfrm>
              <a:prstGeom prst="rect">
                <a:avLst/>
              </a:prstGeom>
              <a:blipFill rotWithShape="1">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p:cNvSpPr txBox="1"/>
              <p:nvPr/>
            </p:nvSpPr>
            <p:spPr>
              <a:xfrm>
                <a:off x="6967809" y="4748864"/>
                <a:ext cx="669222" cy="385948"/>
              </a:xfrm>
              <a:prstGeom prst="rect">
                <a:avLst/>
              </a:prstGeom>
              <a:noFill/>
            </p:spPr>
            <p:txBody>
              <a:bodyPr wrap="none" lIns="0" tIns="0" rIns="0" bIns="0" rtlCol="0">
                <a:noAutofit/>
              </a:bodyPr>
              <a:lstStyle/>
              <a:p>
                <a:pPr/>
                <a14:m>
                  <m:oMathPara xmlns:m="http://schemas.openxmlformats.org/officeDocument/2006/math">
                    <m:oMathParaPr>
                      <m:jc m:val="centerGroup"/>
                    </m:oMathParaPr>
                    <m:oMath xmlns:m="http://schemas.openxmlformats.org/officeDocument/2006/math">
                      <m:sSubSup>
                        <m:sSubSupPr>
                          <m:ctrlPr>
                            <a:rPr lang="pl-PL" sz="1500" i="1">
                              <a:latin typeface="Cambria Math" panose="02040503050406030204" pitchFamily="18" charset="0"/>
                            </a:rPr>
                          </m:ctrlPr>
                        </m:sSubSupPr>
                        <m:e>
                          <m:sSub>
                            <m:sSubPr>
                              <m:ctrlPr>
                                <a:rPr lang="pl-PL" sz="1500" i="1">
                                  <a:latin typeface="Cambria Math" panose="02040503050406030204" pitchFamily="18" charset="0"/>
                                </a:rPr>
                              </m:ctrlPr>
                            </m:sSubPr>
                            <m:e>
                              <m:r>
                                <a:rPr lang="pl-PL" sz="1500" i="1">
                                  <a:latin typeface="Cambria Math"/>
                                </a:rPr>
                                <m:t>𝑉</m:t>
                              </m:r>
                            </m:e>
                            <m:sub>
                              <m:sSub>
                                <m:sSubPr>
                                  <m:ctrlPr>
                                    <a:rPr lang="pl-PL" sz="1300" i="1">
                                      <a:latin typeface="Cambria Math" panose="02040503050406030204" pitchFamily="18" charset="0"/>
                                    </a:rPr>
                                  </m:ctrlPr>
                                </m:sSubPr>
                                <m:e>
                                  <m:r>
                                    <a:rPr lang="pl-PL" sz="1300" i="1">
                                      <a:latin typeface="Cambria Math"/>
                                    </a:rPr>
                                    <m:t>𝑡</m:t>
                                  </m:r>
                                </m:e>
                                <m:sub>
                                  <m:r>
                                    <a:rPr lang="pl-PL" sz="1300" i="1">
                                      <a:latin typeface="Cambria Math"/>
                                    </a:rPr>
                                    <m:t>2</m:t>
                                  </m:r>
                                </m:sub>
                              </m:sSub>
                            </m:sub>
                          </m:sSub>
                        </m:e>
                        <m:sub/>
                        <m:sup>
                          <m:r>
                            <a:rPr lang="pl-PL" sz="1300" i="1">
                              <a:latin typeface="Cambria Math"/>
                            </a:rPr>
                            <m:t>𝑢𝑢</m:t>
                          </m:r>
                        </m:sup>
                      </m:sSubSup>
                      <m:r>
                        <a:rPr lang="pl-PL" sz="1300" i="1">
                          <a:latin typeface="Cambria Math"/>
                        </a:rPr>
                        <m:t>=</m:t>
                      </m:r>
                      <m:r>
                        <m:rPr>
                          <m:sty m:val="p"/>
                        </m:rPr>
                        <a:rPr lang="pl-PL" sz="1300">
                          <a:latin typeface="Cambria Math"/>
                        </a:rPr>
                        <m:t>max</m:t>
                      </m:r>
                      <m:r>
                        <a:rPr lang="pl-PL" sz="1300" i="1">
                          <a:latin typeface="Cambria Math"/>
                        </a:rPr>
                        <m:t>⁡(</m:t>
                      </m:r>
                      <m:sSub>
                        <m:sSubPr>
                          <m:ctrlPr>
                            <a:rPr lang="pl-PL" sz="1300" i="1">
                              <a:latin typeface="Cambria Math" panose="02040503050406030204" pitchFamily="18" charset="0"/>
                            </a:rPr>
                          </m:ctrlPr>
                        </m:sSubPr>
                        <m:e>
                          <m:r>
                            <a:rPr lang="pl-PL" sz="1300" i="1">
                              <a:latin typeface="Cambria Math"/>
                            </a:rPr>
                            <m:t>𝑆</m:t>
                          </m:r>
                        </m:e>
                        <m:sub>
                          <m:r>
                            <a:rPr lang="pl-PL" sz="1300" i="1">
                              <a:latin typeface="Cambria Math"/>
                            </a:rPr>
                            <m:t>0</m:t>
                          </m:r>
                        </m:sub>
                      </m:sSub>
                      <m:sSup>
                        <m:sSupPr>
                          <m:ctrlPr>
                            <a:rPr lang="pl-PL" sz="1300" i="1">
                              <a:latin typeface="Cambria Math" panose="02040503050406030204" pitchFamily="18" charset="0"/>
                            </a:rPr>
                          </m:ctrlPr>
                        </m:sSupPr>
                        <m:e>
                          <m:r>
                            <a:rPr lang="pl-PL" sz="1300" i="1">
                              <a:latin typeface="Cambria Math"/>
                            </a:rPr>
                            <m:t>𝑢</m:t>
                          </m:r>
                        </m:e>
                        <m:sup>
                          <m:r>
                            <a:rPr lang="pl-PL" sz="1300" i="1">
                              <a:latin typeface="Cambria Math"/>
                            </a:rPr>
                            <m:t>2</m:t>
                          </m:r>
                        </m:sup>
                      </m:sSup>
                      <m:r>
                        <a:rPr lang="pl-PL" sz="1300" i="1">
                          <a:latin typeface="Cambria Math"/>
                        </a:rPr>
                        <m:t>−</m:t>
                      </m:r>
                      <m:r>
                        <a:rPr lang="pl-PL" sz="1300" i="1">
                          <a:latin typeface="Cambria Math"/>
                        </a:rPr>
                        <m:t>𝐾</m:t>
                      </m:r>
                      <m:r>
                        <a:rPr lang="pl-PL" sz="1300" i="1">
                          <a:latin typeface="Cambria Math"/>
                        </a:rPr>
                        <m:t>,0)</m:t>
                      </m:r>
                    </m:oMath>
                  </m:oMathPara>
                </a14:m>
                <a:endParaRPr lang="en-US" sz="1300" dirty="0"/>
              </a:p>
              <a:p>
                <a:endParaRPr lang="en-US" sz="1300" dirty="0"/>
              </a:p>
            </p:txBody>
          </p:sp>
        </mc:Choice>
        <mc:Fallback xmlns="">
          <p:sp>
            <p:nvSpPr>
              <p:cNvPr id="24" name="TextBox 23"/>
              <p:cNvSpPr txBox="1">
                <a:spLocks noRot="1" noChangeAspect="1" noMove="1" noResize="1" noEditPoints="1" noAdjustHandles="1" noChangeArrowheads="1" noChangeShapeType="1" noTextEdit="1"/>
              </p:cNvSpPr>
              <p:nvPr/>
            </p:nvSpPr>
            <p:spPr>
              <a:xfrm>
                <a:off x="6967809" y="4748864"/>
                <a:ext cx="669222" cy="385948"/>
              </a:xfrm>
              <a:prstGeom prst="rect">
                <a:avLst/>
              </a:prstGeom>
              <a:blipFill rotWithShape="1">
                <a:blip r:embed="rId15"/>
                <a:stretch>
                  <a:fillRect l="-9091" r="-18545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p:cNvSpPr txBox="1"/>
              <p:nvPr/>
            </p:nvSpPr>
            <p:spPr>
              <a:xfrm>
                <a:off x="7019247" y="5383568"/>
                <a:ext cx="669222" cy="385948"/>
              </a:xfrm>
              <a:prstGeom prst="rect">
                <a:avLst/>
              </a:prstGeom>
              <a:noFill/>
            </p:spPr>
            <p:txBody>
              <a:bodyPr wrap="none" lIns="0" tIns="0" rIns="0" bIns="0" rtlCol="0">
                <a:noAutofit/>
              </a:bodyPr>
              <a:lstStyle/>
              <a:p>
                <a:pPr/>
                <a14:m>
                  <m:oMathPara xmlns:m="http://schemas.openxmlformats.org/officeDocument/2006/math">
                    <m:oMathParaPr>
                      <m:jc m:val="centerGroup"/>
                    </m:oMathParaPr>
                    <m:oMath xmlns:m="http://schemas.openxmlformats.org/officeDocument/2006/math">
                      <m:sSubSup>
                        <m:sSubSupPr>
                          <m:ctrlPr>
                            <a:rPr lang="pl-PL" sz="1500" i="1">
                              <a:latin typeface="Cambria Math" panose="02040503050406030204" pitchFamily="18" charset="0"/>
                            </a:rPr>
                          </m:ctrlPr>
                        </m:sSubSupPr>
                        <m:e>
                          <m:sSub>
                            <m:sSubPr>
                              <m:ctrlPr>
                                <a:rPr lang="pl-PL" sz="1500" i="1">
                                  <a:latin typeface="Cambria Math" panose="02040503050406030204" pitchFamily="18" charset="0"/>
                                </a:rPr>
                              </m:ctrlPr>
                            </m:sSubPr>
                            <m:e>
                              <m:r>
                                <a:rPr lang="pl-PL" sz="1500" i="1">
                                  <a:latin typeface="Cambria Math"/>
                                </a:rPr>
                                <m:t>𝑉</m:t>
                              </m:r>
                            </m:e>
                            <m:sub>
                              <m:sSub>
                                <m:sSubPr>
                                  <m:ctrlPr>
                                    <a:rPr lang="pl-PL" sz="1300" i="1">
                                      <a:latin typeface="Cambria Math" panose="02040503050406030204" pitchFamily="18" charset="0"/>
                                    </a:rPr>
                                  </m:ctrlPr>
                                </m:sSubPr>
                                <m:e>
                                  <m:r>
                                    <a:rPr lang="pl-PL" sz="1300" i="1">
                                      <a:latin typeface="Cambria Math"/>
                                    </a:rPr>
                                    <m:t>𝑡</m:t>
                                  </m:r>
                                </m:e>
                                <m:sub>
                                  <m:r>
                                    <a:rPr lang="pl-PL" sz="1300" i="1">
                                      <a:latin typeface="Cambria Math"/>
                                    </a:rPr>
                                    <m:t>2</m:t>
                                  </m:r>
                                </m:sub>
                              </m:sSub>
                            </m:sub>
                          </m:sSub>
                        </m:e>
                        <m:sub/>
                        <m:sup>
                          <m:r>
                            <a:rPr lang="pl-PL" sz="1300" i="1">
                              <a:latin typeface="Cambria Math"/>
                            </a:rPr>
                            <m:t>𝑢𝑑</m:t>
                          </m:r>
                        </m:sup>
                      </m:sSubSup>
                      <m:r>
                        <a:rPr lang="pl-PL" sz="1300" i="1">
                          <a:latin typeface="Cambria Math"/>
                        </a:rPr>
                        <m:t>=</m:t>
                      </m:r>
                      <m:r>
                        <m:rPr>
                          <m:sty m:val="p"/>
                        </m:rPr>
                        <a:rPr lang="pl-PL" sz="1300">
                          <a:latin typeface="Cambria Math"/>
                        </a:rPr>
                        <m:t>max</m:t>
                      </m:r>
                      <m:r>
                        <a:rPr lang="pl-PL" sz="1300" i="1">
                          <a:latin typeface="Cambria Math"/>
                        </a:rPr>
                        <m:t>⁡(</m:t>
                      </m:r>
                      <m:sSub>
                        <m:sSubPr>
                          <m:ctrlPr>
                            <a:rPr lang="pl-PL" sz="1300" i="1">
                              <a:latin typeface="Cambria Math" panose="02040503050406030204" pitchFamily="18" charset="0"/>
                            </a:rPr>
                          </m:ctrlPr>
                        </m:sSubPr>
                        <m:e>
                          <m:r>
                            <a:rPr lang="pl-PL" sz="1300" i="1">
                              <a:latin typeface="Cambria Math"/>
                            </a:rPr>
                            <m:t>𝑆</m:t>
                          </m:r>
                        </m:e>
                        <m:sub>
                          <m:r>
                            <a:rPr lang="pl-PL" sz="1300" i="1">
                              <a:latin typeface="Cambria Math"/>
                            </a:rPr>
                            <m:t>0</m:t>
                          </m:r>
                        </m:sub>
                      </m:sSub>
                      <m:r>
                        <a:rPr lang="pl-PL" sz="1300" i="1">
                          <a:latin typeface="Cambria Math"/>
                        </a:rPr>
                        <m:t>𝑢𝑑</m:t>
                      </m:r>
                      <m:r>
                        <a:rPr lang="pl-PL" sz="1300" i="1">
                          <a:latin typeface="Cambria Math"/>
                        </a:rPr>
                        <m:t>−</m:t>
                      </m:r>
                      <m:r>
                        <a:rPr lang="pl-PL" sz="1300" i="1">
                          <a:latin typeface="Cambria Math"/>
                        </a:rPr>
                        <m:t>𝐾</m:t>
                      </m:r>
                      <m:r>
                        <a:rPr lang="pl-PL" sz="1300" i="1">
                          <a:latin typeface="Cambria Math"/>
                        </a:rPr>
                        <m:t>,0)</m:t>
                      </m:r>
                    </m:oMath>
                  </m:oMathPara>
                </a14:m>
                <a:endParaRPr lang="en-US" sz="1300" dirty="0"/>
              </a:p>
            </p:txBody>
          </p:sp>
        </mc:Choice>
        <mc:Fallback xmlns="">
          <p:sp>
            <p:nvSpPr>
              <p:cNvPr id="25" name="TextBox 24"/>
              <p:cNvSpPr txBox="1">
                <a:spLocks noRot="1" noChangeAspect="1" noMove="1" noResize="1" noEditPoints="1" noAdjustHandles="1" noChangeArrowheads="1" noChangeShapeType="1" noTextEdit="1"/>
              </p:cNvSpPr>
              <p:nvPr/>
            </p:nvSpPr>
            <p:spPr>
              <a:xfrm>
                <a:off x="7019247" y="5383568"/>
                <a:ext cx="669222" cy="385948"/>
              </a:xfrm>
              <a:prstGeom prst="rect">
                <a:avLst/>
              </a:prstGeom>
              <a:blipFill rotWithShape="1">
                <a:blip r:embed="rId16"/>
                <a:stretch>
                  <a:fillRect l="-9091" r="-1881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p:cNvSpPr txBox="1"/>
              <p:nvPr/>
            </p:nvSpPr>
            <p:spPr>
              <a:xfrm>
                <a:off x="6983088" y="6109507"/>
                <a:ext cx="669222" cy="385948"/>
              </a:xfrm>
              <a:prstGeom prst="rect">
                <a:avLst/>
              </a:prstGeom>
              <a:noFill/>
            </p:spPr>
            <p:txBody>
              <a:bodyPr wrap="none" lIns="0" tIns="0" rIns="0" bIns="0" rtlCol="0">
                <a:noAutofit/>
              </a:bodyPr>
              <a:lstStyle/>
              <a:p>
                <a:pPr/>
                <a14:m>
                  <m:oMathPara xmlns:m="http://schemas.openxmlformats.org/officeDocument/2006/math">
                    <m:oMathParaPr>
                      <m:jc m:val="centerGroup"/>
                    </m:oMathParaPr>
                    <m:oMath xmlns:m="http://schemas.openxmlformats.org/officeDocument/2006/math">
                      <m:sSubSup>
                        <m:sSubSupPr>
                          <m:ctrlPr>
                            <a:rPr lang="pl-PL" sz="1500" i="1">
                              <a:latin typeface="Cambria Math" panose="02040503050406030204" pitchFamily="18" charset="0"/>
                            </a:rPr>
                          </m:ctrlPr>
                        </m:sSubSupPr>
                        <m:e>
                          <m:sSub>
                            <m:sSubPr>
                              <m:ctrlPr>
                                <a:rPr lang="pl-PL" sz="1500" i="1">
                                  <a:latin typeface="Cambria Math" panose="02040503050406030204" pitchFamily="18" charset="0"/>
                                </a:rPr>
                              </m:ctrlPr>
                            </m:sSubPr>
                            <m:e>
                              <m:r>
                                <a:rPr lang="pl-PL" sz="1500" i="1">
                                  <a:latin typeface="Cambria Math"/>
                                </a:rPr>
                                <m:t>𝑉</m:t>
                              </m:r>
                            </m:e>
                            <m:sub>
                              <m:sSub>
                                <m:sSubPr>
                                  <m:ctrlPr>
                                    <a:rPr lang="pl-PL" sz="1300" i="1">
                                      <a:latin typeface="Cambria Math" panose="02040503050406030204" pitchFamily="18" charset="0"/>
                                    </a:rPr>
                                  </m:ctrlPr>
                                </m:sSubPr>
                                <m:e>
                                  <m:r>
                                    <a:rPr lang="pl-PL" sz="1300" i="1">
                                      <a:latin typeface="Cambria Math"/>
                                    </a:rPr>
                                    <m:t>𝑡</m:t>
                                  </m:r>
                                </m:e>
                                <m:sub>
                                  <m:r>
                                    <a:rPr lang="pl-PL" sz="1300" i="1">
                                      <a:latin typeface="Cambria Math"/>
                                    </a:rPr>
                                    <m:t>2</m:t>
                                  </m:r>
                                </m:sub>
                              </m:sSub>
                            </m:sub>
                          </m:sSub>
                        </m:e>
                        <m:sub/>
                        <m:sup>
                          <m:r>
                            <a:rPr lang="pl-PL" sz="1300" i="1">
                              <a:latin typeface="Cambria Math"/>
                            </a:rPr>
                            <m:t>𝑑𝑑</m:t>
                          </m:r>
                        </m:sup>
                      </m:sSubSup>
                      <m:r>
                        <a:rPr lang="pl-PL" sz="1300" i="1">
                          <a:latin typeface="Cambria Math"/>
                        </a:rPr>
                        <m:t>=</m:t>
                      </m:r>
                      <m:r>
                        <m:rPr>
                          <m:sty m:val="p"/>
                        </m:rPr>
                        <a:rPr lang="pl-PL" sz="1300">
                          <a:latin typeface="Cambria Math"/>
                        </a:rPr>
                        <m:t>max</m:t>
                      </m:r>
                      <m:r>
                        <a:rPr lang="pl-PL" sz="1300" i="1">
                          <a:latin typeface="Cambria Math"/>
                        </a:rPr>
                        <m:t>⁡(</m:t>
                      </m:r>
                      <m:sSub>
                        <m:sSubPr>
                          <m:ctrlPr>
                            <a:rPr lang="pl-PL" sz="1300" i="1">
                              <a:latin typeface="Cambria Math" panose="02040503050406030204" pitchFamily="18" charset="0"/>
                            </a:rPr>
                          </m:ctrlPr>
                        </m:sSubPr>
                        <m:e>
                          <m:r>
                            <a:rPr lang="pl-PL" sz="1300" i="1">
                              <a:latin typeface="Cambria Math"/>
                            </a:rPr>
                            <m:t>𝑆</m:t>
                          </m:r>
                        </m:e>
                        <m:sub>
                          <m:r>
                            <a:rPr lang="pl-PL" sz="1300" i="1">
                              <a:latin typeface="Cambria Math"/>
                            </a:rPr>
                            <m:t>0</m:t>
                          </m:r>
                        </m:sub>
                      </m:sSub>
                      <m:sSup>
                        <m:sSupPr>
                          <m:ctrlPr>
                            <a:rPr lang="pl-PL" sz="1300" i="1">
                              <a:latin typeface="Cambria Math" panose="02040503050406030204" pitchFamily="18" charset="0"/>
                            </a:rPr>
                          </m:ctrlPr>
                        </m:sSupPr>
                        <m:e>
                          <m:r>
                            <a:rPr lang="pl-PL" sz="1300" i="1">
                              <a:latin typeface="Cambria Math"/>
                            </a:rPr>
                            <m:t>𝑑</m:t>
                          </m:r>
                        </m:e>
                        <m:sup>
                          <m:r>
                            <a:rPr lang="pl-PL" sz="1300" i="1">
                              <a:latin typeface="Cambria Math"/>
                            </a:rPr>
                            <m:t>2</m:t>
                          </m:r>
                        </m:sup>
                      </m:sSup>
                      <m:r>
                        <a:rPr lang="pl-PL" sz="1300" i="1">
                          <a:latin typeface="Cambria Math"/>
                        </a:rPr>
                        <m:t>−</m:t>
                      </m:r>
                      <m:r>
                        <a:rPr lang="pl-PL" sz="1300" i="1">
                          <a:latin typeface="Cambria Math"/>
                        </a:rPr>
                        <m:t>𝐾</m:t>
                      </m:r>
                      <m:r>
                        <a:rPr lang="pl-PL" sz="1300" i="1">
                          <a:latin typeface="Cambria Math"/>
                        </a:rPr>
                        <m:t>,0)</m:t>
                      </m:r>
                    </m:oMath>
                  </m:oMathPara>
                </a14:m>
                <a:endParaRPr lang="en-US" sz="1300" dirty="0"/>
              </a:p>
              <a:p>
                <a:endParaRPr lang="en-US" sz="1300" dirty="0"/>
              </a:p>
            </p:txBody>
          </p:sp>
        </mc:Choice>
        <mc:Fallback xmlns="">
          <p:sp>
            <p:nvSpPr>
              <p:cNvPr id="26" name="TextBox 25"/>
              <p:cNvSpPr txBox="1">
                <a:spLocks noRot="1" noChangeAspect="1" noMove="1" noResize="1" noEditPoints="1" noAdjustHandles="1" noChangeArrowheads="1" noChangeShapeType="1" noTextEdit="1"/>
              </p:cNvSpPr>
              <p:nvPr/>
            </p:nvSpPr>
            <p:spPr>
              <a:xfrm>
                <a:off x="6983088" y="6109507"/>
                <a:ext cx="669222" cy="385948"/>
              </a:xfrm>
              <a:prstGeom prst="rect">
                <a:avLst/>
              </a:prstGeom>
              <a:blipFill rotWithShape="1">
                <a:blip r:embed="rId17"/>
                <a:stretch>
                  <a:fillRect l="-10092" r="-187156"/>
                </a:stretch>
              </a:blipFill>
            </p:spPr>
            <p:txBody>
              <a:bodyPr/>
              <a:lstStyle/>
              <a:p>
                <a:r>
                  <a:rPr lang="en-US">
                    <a:noFill/>
                  </a:rPr>
                  <a:t> </a:t>
                </a:r>
              </a:p>
            </p:txBody>
          </p:sp>
        </mc:Fallback>
      </mc:AlternateContent>
      <p:cxnSp>
        <p:nvCxnSpPr>
          <p:cNvPr id="27" name="Straight Arrow Connector 26"/>
          <p:cNvCxnSpPr/>
          <p:nvPr/>
        </p:nvCxnSpPr>
        <p:spPr>
          <a:xfrm>
            <a:off x="431318" y="6497817"/>
            <a:ext cx="8304256" cy="4905"/>
          </a:xfrm>
          <a:prstGeom prst="straightConnector1">
            <a:avLst/>
          </a:prstGeom>
          <a:ln w="19050">
            <a:solidFill>
              <a:srgbClr val="7B7D80"/>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 name="TextBox 27"/>
              <p:cNvSpPr txBox="1"/>
              <p:nvPr/>
            </p:nvSpPr>
            <p:spPr>
              <a:xfrm>
                <a:off x="6681338" y="3961863"/>
                <a:ext cx="831273" cy="279083"/>
              </a:xfrm>
              <a:prstGeom prst="rect">
                <a:avLst/>
              </a:prstGeom>
              <a:noFill/>
            </p:spPr>
            <p:txBody>
              <a:bodyPr wrap="none" lIns="0" tIns="0" rIns="0" bIns="0" rtlCol="0">
                <a:noAutofit/>
              </a:bodyPr>
              <a:lstStyle/>
              <a:p>
                <a:r>
                  <a:rPr lang="pl-PL" sz="1400" dirty="0">
                    <a:latin typeface="+mn-lt"/>
                  </a:rPr>
                  <a:t>price of option at </a:t>
                </a:r>
                <a14:m>
                  <m:oMath xmlns:m="http://schemas.openxmlformats.org/officeDocument/2006/math">
                    <m:r>
                      <a:rPr lang="pl-PL" sz="1400" i="1">
                        <a:latin typeface="Cambria Math"/>
                      </a:rPr>
                      <m:t>𝑡</m:t>
                    </m:r>
                    <m:r>
                      <a:rPr lang="pl-PL" sz="1400" i="1">
                        <a:latin typeface="Cambria Math"/>
                      </a:rPr>
                      <m:t>=</m:t>
                    </m:r>
                    <m:sSub>
                      <m:sSubPr>
                        <m:ctrlPr>
                          <a:rPr lang="pl-PL" sz="1400" i="1">
                            <a:latin typeface="Cambria Math" panose="02040503050406030204" pitchFamily="18" charset="0"/>
                          </a:rPr>
                        </m:ctrlPr>
                      </m:sSubPr>
                      <m:e>
                        <m:r>
                          <a:rPr lang="pl-PL" sz="1400" i="1">
                            <a:latin typeface="Cambria Math"/>
                          </a:rPr>
                          <m:t>𝑡</m:t>
                        </m:r>
                      </m:e>
                      <m:sub>
                        <m:r>
                          <a:rPr lang="pl-PL" sz="1400" i="1">
                            <a:latin typeface="Cambria Math"/>
                          </a:rPr>
                          <m:t>2</m:t>
                        </m:r>
                      </m:sub>
                    </m:sSub>
                  </m:oMath>
                </a14:m>
                <a:r>
                  <a:rPr lang="pl-PL" sz="1400" dirty="0">
                    <a:latin typeface="+mn-lt"/>
                  </a:rPr>
                  <a:t>:</a:t>
                </a:r>
              </a:p>
              <a:p>
                <a:r>
                  <a:rPr lang="pl-PL" sz="1400" dirty="0" err="1">
                    <a:latin typeface="+mn-lt"/>
                  </a:rPr>
                  <a:t>known</a:t>
                </a:r>
                <a:r>
                  <a:rPr lang="pl-PL" sz="1400" dirty="0">
                    <a:latin typeface="+mn-lt"/>
                  </a:rPr>
                  <a:t> –</a:t>
                </a:r>
                <a:r>
                  <a:rPr lang="en-GB" sz="1400" dirty="0">
                    <a:latin typeface="+mn-lt"/>
                  </a:rPr>
                  <a:t>&gt; H =</a:t>
                </a:r>
                <a:r>
                  <a:rPr lang="pl-PL" sz="1400" dirty="0">
                    <a:latin typeface="+mn-lt"/>
                  </a:rPr>
                  <a:t> </a:t>
                </a:r>
                <a14:m>
                  <m:oMath xmlns:m="http://schemas.openxmlformats.org/officeDocument/2006/math">
                    <m:r>
                      <m:rPr>
                        <m:sty m:val="p"/>
                      </m:rPr>
                      <a:rPr lang="pl-PL" sz="1400">
                        <a:latin typeface="Cambria Math"/>
                      </a:rPr>
                      <m:t>max</m:t>
                    </m:r>
                    <m:r>
                      <a:rPr lang="pl-PL" sz="1400" i="1">
                        <a:latin typeface="Cambria Math"/>
                      </a:rPr>
                      <m:t>⁡(</m:t>
                    </m:r>
                    <m:sSub>
                      <m:sSubPr>
                        <m:ctrlPr>
                          <a:rPr lang="pl-PL" sz="1400" i="1">
                            <a:latin typeface="Cambria Math" panose="02040503050406030204" pitchFamily="18" charset="0"/>
                          </a:rPr>
                        </m:ctrlPr>
                      </m:sSubPr>
                      <m:e>
                        <m:r>
                          <a:rPr lang="pl-PL" sz="1400" i="1">
                            <a:latin typeface="Cambria Math"/>
                          </a:rPr>
                          <m:t>𝑆</m:t>
                        </m:r>
                      </m:e>
                      <m:sub>
                        <m:sSub>
                          <m:sSubPr>
                            <m:ctrlPr>
                              <a:rPr lang="pl-PL" sz="1400" i="1">
                                <a:latin typeface="Cambria Math" panose="02040503050406030204" pitchFamily="18" charset="0"/>
                              </a:rPr>
                            </m:ctrlPr>
                          </m:sSubPr>
                          <m:e>
                            <m:r>
                              <a:rPr lang="pl-PL" sz="1400" i="1">
                                <a:latin typeface="Cambria Math"/>
                              </a:rPr>
                              <m:t>𝑡</m:t>
                            </m:r>
                          </m:e>
                          <m:sub>
                            <m:r>
                              <a:rPr lang="pl-PL" sz="1400" i="1">
                                <a:latin typeface="Cambria Math"/>
                              </a:rPr>
                              <m:t>2</m:t>
                            </m:r>
                          </m:sub>
                        </m:sSub>
                      </m:sub>
                    </m:sSub>
                    <m:r>
                      <a:rPr lang="pl-PL" sz="1400" i="1">
                        <a:latin typeface="Cambria Math"/>
                      </a:rPr>
                      <m:t>−</m:t>
                    </m:r>
                    <m:r>
                      <a:rPr lang="pl-PL" sz="1400" i="1">
                        <a:latin typeface="Cambria Math"/>
                      </a:rPr>
                      <m:t>𝐾</m:t>
                    </m:r>
                    <m:r>
                      <a:rPr lang="pl-PL" sz="1400" i="1">
                        <a:latin typeface="Cambria Math"/>
                      </a:rPr>
                      <m:t>,0)</m:t>
                    </m:r>
                  </m:oMath>
                </a14:m>
                <a:endParaRPr lang="pl-PL" sz="1400" dirty="0">
                  <a:latin typeface="+mn-lt"/>
                </a:endParaRPr>
              </a:p>
            </p:txBody>
          </p:sp>
        </mc:Choice>
        <mc:Fallback xmlns="">
          <p:sp>
            <p:nvSpPr>
              <p:cNvPr id="28" name="TextBox 27"/>
              <p:cNvSpPr txBox="1">
                <a:spLocks noRot="1" noChangeAspect="1" noMove="1" noResize="1" noEditPoints="1" noAdjustHandles="1" noChangeArrowheads="1" noChangeShapeType="1" noTextEdit="1"/>
              </p:cNvSpPr>
              <p:nvPr/>
            </p:nvSpPr>
            <p:spPr>
              <a:xfrm>
                <a:off x="6681338" y="3961863"/>
                <a:ext cx="831273" cy="279083"/>
              </a:xfrm>
              <a:prstGeom prst="rect">
                <a:avLst/>
              </a:prstGeom>
              <a:blipFill>
                <a:blip r:embed="rId18"/>
                <a:stretch>
                  <a:fillRect l="-13235" t="-19565" r="-177941" b="-13478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9" name="TextBox 28"/>
              <p:cNvSpPr txBox="1"/>
              <p:nvPr/>
            </p:nvSpPr>
            <p:spPr>
              <a:xfrm>
                <a:off x="3368461" y="5031672"/>
                <a:ext cx="831273" cy="385948"/>
              </a:xfrm>
              <a:prstGeom prst="rect">
                <a:avLst/>
              </a:prstGeom>
              <a:noFill/>
            </p:spPr>
            <p:txBody>
              <a:bodyPr wrap="none" lIns="0" tIns="0" rIns="0" bIns="0" rtlCol="0">
                <a:noAutofit/>
              </a:bodyPr>
              <a:lstStyle/>
              <a:p>
                <a14:m>
                  <m:oMath xmlns:m="http://schemas.openxmlformats.org/officeDocument/2006/math">
                    <m:sSup>
                      <m:sSupPr>
                        <m:ctrlPr>
                          <a:rPr lang="pl-PL" sz="1500" i="1">
                            <a:latin typeface="Cambria Math" panose="02040503050406030204" pitchFamily="18" charset="0"/>
                          </a:rPr>
                        </m:ctrlPr>
                      </m:sSupPr>
                      <m:e>
                        <m:sSubSup>
                          <m:sSubSupPr>
                            <m:ctrlPr>
                              <a:rPr lang="pl-PL" sz="1500" i="1">
                                <a:latin typeface="Cambria Math" panose="02040503050406030204" pitchFamily="18" charset="0"/>
                              </a:rPr>
                            </m:ctrlPr>
                          </m:sSubSupPr>
                          <m:e>
                            <m:sSub>
                              <m:sSubPr>
                                <m:ctrlPr>
                                  <a:rPr lang="pl-PL" sz="1500" i="1">
                                    <a:latin typeface="Cambria Math" panose="02040503050406030204" pitchFamily="18" charset="0"/>
                                  </a:rPr>
                                </m:ctrlPr>
                              </m:sSubPr>
                              <m:e>
                                <m:r>
                                  <a:rPr lang="pl-PL" sz="1500" i="1">
                                    <a:latin typeface="Cambria Math"/>
                                  </a:rPr>
                                  <m:t>𝑉</m:t>
                                </m:r>
                              </m:e>
                              <m:sub>
                                <m:sSub>
                                  <m:sSubPr>
                                    <m:ctrlPr>
                                      <a:rPr lang="pl-PL" sz="1300" i="1">
                                        <a:latin typeface="Cambria Math" panose="02040503050406030204" pitchFamily="18" charset="0"/>
                                      </a:rPr>
                                    </m:ctrlPr>
                                  </m:sSubPr>
                                  <m:e>
                                    <m:r>
                                      <a:rPr lang="pl-PL" sz="1300" i="1">
                                        <a:latin typeface="Cambria Math"/>
                                      </a:rPr>
                                      <m:t>𝑡</m:t>
                                    </m:r>
                                  </m:e>
                                  <m:sub>
                                    <m:r>
                                      <a:rPr lang="pl-PL" sz="1300" i="1">
                                        <a:latin typeface="Cambria Math"/>
                                      </a:rPr>
                                      <m:t>1</m:t>
                                    </m:r>
                                  </m:sub>
                                </m:sSub>
                              </m:sub>
                            </m:sSub>
                          </m:e>
                          <m:sub/>
                          <m:sup>
                            <m:r>
                              <a:rPr lang="pl-PL" sz="1500" i="1">
                                <a:latin typeface="Cambria Math"/>
                              </a:rPr>
                              <m:t>𝑢</m:t>
                            </m:r>
                          </m:sup>
                        </m:sSubSup>
                        <m:r>
                          <a:rPr lang="pl-PL" sz="1500" i="1">
                            <a:latin typeface="Cambria Math"/>
                          </a:rPr>
                          <m:t>=</m:t>
                        </m:r>
                        <m:r>
                          <a:rPr lang="pl-PL" sz="1500" i="1">
                            <a:latin typeface="Cambria Math"/>
                          </a:rPr>
                          <m:t>𝑒</m:t>
                        </m:r>
                      </m:e>
                      <m:sup>
                        <m:r>
                          <a:rPr lang="pl-PL" sz="1500" i="1">
                            <a:latin typeface="Cambria Math"/>
                          </a:rPr>
                          <m:t>−</m:t>
                        </m:r>
                        <m:r>
                          <a:rPr lang="pl-PL" sz="1500" i="1">
                            <a:latin typeface="Cambria Math"/>
                          </a:rPr>
                          <m:t>𝑟</m:t>
                        </m:r>
                        <m:r>
                          <a:rPr lang="pl-PL" sz="1500" i="1">
                            <a:latin typeface="Cambria Math"/>
                            <a:ea typeface="Cambria Math"/>
                          </a:rPr>
                          <m:t>∆</m:t>
                        </m:r>
                        <m:r>
                          <a:rPr lang="pl-PL" sz="1500" i="1">
                            <a:latin typeface="Cambria Math"/>
                            <a:ea typeface="Cambria Math"/>
                          </a:rPr>
                          <m:t>𝑡</m:t>
                        </m:r>
                      </m:sup>
                    </m:sSup>
                    <m:r>
                      <a:rPr lang="pl-PL" sz="1500">
                        <a:latin typeface="Cambria Math"/>
                      </a:rPr>
                      <m:t>[</m:t>
                    </m:r>
                    <m:sSub>
                      <m:sSubPr>
                        <m:ctrlPr>
                          <a:rPr lang="el-GR" sz="1500" i="1">
                            <a:latin typeface="Cambria Math" panose="02040503050406030204" pitchFamily="18" charset="0"/>
                          </a:rPr>
                        </m:ctrlPr>
                      </m:sSubPr>
                      <m:e>
                        <m:r>
                          <a:rPr lang="pl-PL" sz="1500" i="1">
                            <a:latin typeface="Cambria Math"/>
                          </a:rPr>
                          <m:t>𝑝𝐻</m:t>
                        </m:r>
                      </m:e>
                      <m:sub>
                        <m:r>
                          <a:rPr lang="pl-PL" sz="1500" i="1">
                            <a:latin typeface="Cambria Math"/>
                          </a:rPr>
                          <m:t>𝑢𝑢</m:t>
                        </m:r>
                      </m:sub>
                    </m:sSub>
                    <m:r>
                      <a:rPr lang="pl-PL" sz="1500" i="1">
                        <a:latin typeface="Cambria Math"/>
                      </a:rPr>
                      <m:t>+(1−</m:t>
                    </m:r>
                    <m:r>
                      <a:rPr lang="pl-PL" sz="1500" i="1">
                        <a:latin typeface="Cambria Math"/>
                      </a:rPr>
                      <m:t>𝑝</m:t>
                    </m:r>
                    <m:r>
                      <a:rPr lang="pl-PL" sz="1500" i="1">
                        <a:latin typeface="Cambria Math"/>
                      </a:rPr>
                      <m:t>)</m:t>
                    </m:r>
                    <m:sSub>
                      <m:sSubPr>
                        <m:ctrlPr>
                          <a:rPr lang="el-GR" sz="1500" i="1">
                            <a:latin typeface="Cambria Math" panose="02040503050406030204" pitchFamily="18" charset="0"/>
                          </a:rPr>
                        </m:ctrlPr>
                      </m:sSubPr>
                      <m:e>
                        <m:r>
                          <a:rPr lang="pl-PL" sz="1500" i="1">
                            <a:latin typeface="Cambria Math"/>
                          </a:rPr>
                          <m:t>𝐻</m:t>
                        </m:r>
                      </m:e>
                      <m:sub>
                        <m:r>
                          <a:rPr lang="pl-PL" sz="1500" i="1">
                            <a:latin typeface="Cambria Math"/>
                          </a:rPr>
                          <m:t>𝑢𝑑</m:t>
                        </m:r>
                      </m:sub>
                    </m:sSub>
                  </m:oMath>
                </a14:m>
                <a:r>
                  <a:rPr lang="pl-PL" sz="1300" dirty="0"/>
                  <a:t>]</a:t>
                </a:r>
                <a:endParaRPr lang="en-US" sz="1300" dirty="0"/>
              </a:p>
            </p:txBody>
          </p:sp>
        </mc:Choice>
        <mc:Fallback xmlns="">
          <p:sp>
            <p:nvSpPr>
              <p:cNvPr id="29" name="TextBox 28"/>
              <p:cNvSpPr txBox="1">
                <a:spLocks noRot="1" noChangeAspect="1" noMove="1" noResize="1" noEditPoints="1" noAdjustHandles="1" noChangeArrowheads="1" noChangeShapeType="1" noTextEdit="1"/>
              </p:cNvSpPr>
              <p:nvPr/>
            </p:nvSpPr>
            <p:spPr>
              <a:xfrm>
                <a:off x="3368461" y="5031672"/>
                <a:ext cx="831273" cy="385948"/>
              </a:xfrm>
              <a:prstGeom prst="rect">
                <a:avLst/>
              </a:prstGeom>
              <a:blipFill rotWithShape="1">
                <a:blip r:embed="rId19"/>
                <a:stretch>
                  <a:fillRect l="-8088" t="-4688" r="-23529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p:cNvSpPr txBox="1"/>
              <p:nvPr/>
            </p:nvSpPr>
            <p:spPr>
              <a:xfrm>
                <a:off x="3368462" y="5759760"/>
                <a:ext cx="831273" cy="385948"/>
              </a:xfrm>
              <a:prstGeom prst="rect">
                <a:avLst/>
              </a:prstGeom>
              <a:noFill/>
            </p:spPr>
            <p:txBody>
              <a:bodyPr wrap="none" lIns="0" tIns="0" rIns="0" bIns="0" rtlCol="0">
                <a:noAutofit/>
              </a:bodyPr>
              <a:lstStyle/>
              <a:p>
                <a14:m>
                  <m:oMath xmlns:m="http://schemas.openxmlformats.org/officeDocument/2006/math">
                    <m:sSup>
                      <m:sSupPr>
                        <m:ctrlPr>
                          <a:rPr lang="pl-PL" sz="1500" i="1">
                            <a:latin typeface="Cambria Math" panose="02040503050406030204" pitchFamily="18" charset="0"/>
                          </a:rPr>
                        </m:ctrlPr>
                      </m:sSupPr>
                      <m:e>
                        <m:sSubSup>
                          <m:sSubSupPr>
                            <m:ctrlPr>
                              <a:rPr lang="pl-PL" sz="1500" i="1">
                                <a:latin typeface="Cambria Math" panose="02040503050406030204" pitchFamily="18" charset="0"/>
                              </a:rPr>
                            </m:ctrlPr>
                          </m:sSubSupPr>
                          <m:e>
                            <m:sSub>
                              <m:sSubPr>
                                <m:ctrlPr>
                                  <a:rPr lang="pl-PL" sz="1500" i="1">
                                    <a:latin typeface="Cambria Math" panose="02040503050406030204" pitchFamily="18" charset="0"/>
                                  </a:rPr>
                                </m:ctrlPr>
                              </m:sSubPr>
                              <m:e>
                                <m:r>
                                  <a:rPr lang="pl-PL" sz="1500" i="1">
                                    <a:latin typeface="Cambria Math"/>
                                  </a:rPr>
                                  <m:t>𝑉</m:t>
                                </m:r>
                              </m:e>
                              <m:sub>
                                <m:sSub>
                                  <m:sSubPr>
                                    <m:ctrlPr>
                                      <a:rPr lang="pl-PL" sz="1300" i="1">
                                        <a:latin typeface="Cambria Math" panose="02040503050406030204" pitchFamily="18" charset="0"/>
                                      </a:rPr>
                                    </m:ctrlPr>
                                  </m:sSubPr>
                                  <m:e>
                                    <m:r>
                                      <a:rPr lang="pl-PL" sz="1300" i="1">
                                        <a:latin typeface="Cambria Math"/>
                                      </a:rPr>
                                      <m:t>𝑡</m:t>
                                    </m:r>
                                  </m:e>
                                  <m:sub>
                                    <m:r>
                                      <a:rPr lang="pl-PL" sz="1300" i="1">
                                        <a:latin typeface="Cambria Math"/>
                                      </a:rPr>
                                      <m:t>1</m:t>
                                    </m:r>
                                  </m:sub>
                                </m:sSub>
                              </m:sub>
                            </m:sSub>
                          </m:e>
                          <m:sub/>
                          <m:sup>
                            <m:r>
                              <a:rPr lang="pl-PL" sz="1500" i="1">
                                <a:latin typeface="Cambria Math"/>
                              </a:rPr>
                              <m:t>𝑑</m:t>
                            </m:r>
                          </m:sup>
                        </m:sSubSup>
                        <m:r>
                          <a:rPr lang="pl-PL" sz="1500" i="1">
                            <a:latin typeface="Cambria Math"/>
                          </a:rPr>
                          <m:t>=</m:t>
                        </m:r>
                        <m:r>
                          <a:rPr lang="pl-PL" sz="1500" i="1">
                            <a:latin typeface="Cambria Math"/>
                          </a:rPr>
                          <m:t>𝑒</m:t>
                        </m:r>
                      </m:e>
                      <m:sup>
                        <m:r>
                          <a:rPr lang="pl-PL" sz="1500" i="1">
                            <a:latin typeface="Cambria Math"/>
                          </a:rPr>
                          <m:t>−</m:t>
                        </m:r>
                        <m:r>
                          <a:rPr lang="pl-PL" sz="1500" i="1">
                            <a:latin typeface="Cambria Math"/>
                          </a:rPr>
                          <m:t>𝑟</m:t>
                        </m:r>
                        <m:r>
                          <a:rPr lang="pl-PL" sz="1500" i="1">
                            <a:latin typeface="Cambria Math"/>
                            <a:ea typeface="Cambria Math"/>
                          </a:rPr>
                          <m:t>∆</m:t>
                        </m:r>
                        <m:r>
                          <a:rPr lang="pl-PL" sz="1500" i="1">
                            <a:latin typeface="Cambria Math"/>
                            <a:ea typeface="Cambria Math"/>
                          </a:rPr>
                          <m:t>𝑡</m:t>
                        </m:r>
                      </m:sup>
                    </m:sSup>
                    <m:r>
                      <a:rPr lang="pl-PL" sz="1500">
                        <a:latin typeface="Cambria Math"/>
                      </a:rPr>
                      <m:t>[</m:t>
                    </m:r>
                    <m:sSub>
                      <m:sSubPr>
                        <m:ctrlPr>
                          <a:rPr lang="el-GR" sz="1500" i="1">
                            <a:latin typeface="Cambria Math" panose="02040503050406030204" pitchFamily="18" charset="0"/>
                          </a:rPr>
                        </m:ctrlPr>
                      </m:sSubPr>
                      <m:e>
                        <m:r>
                          <a:rPr lang="pl-PL" sz="1500" i="1">
                            <a:latin typeface="Cambria Math"/>
                          </a:rPr>
                          <m:t>𝑝𝐻</m:t>
                        </m:r>
                      </m:e>
                      <m:sub>
                        <m:r>
                          <a:rPr lang="pl-PL" sz="1500" i="1">
                            <a:latin typeface="Cambria Math"/>
                          </a:rPr>
                          <m:t>𝑢𝑑</m:t>
                        </m:r>
                      </m:sub>
                    </m:sSub>
                    <m:r>
                      <a:rPr lang="pl-PL" sz="1500" i="1">
                        <a:latin typeface="Cambria Math"/>
                      </a:rPr>
                      <m:t>+(1−</m:t>
                    </m:r>
                    <m:r>
                      <a:rPr lang="pl-PL" sz="1500" i="1">
                        <a:latin typeface="Cambria Math"/>
                      </a:rPr>
                      <m:t>𝑝</m:t>
                    </m:r>
                    <m:r>
                      <a:rPr lang="pl-PL" sz="1500" i="1">
                        <a:latin typeface="Cambria Math"/>
                      </a:rPr>
                      <m:t>)</m:t>
                    </m:r>
                    <m:sSub>
                      <m:sSubPr>
                        <m:ctrlPr>
                          <a:rPr lang="el-GR" sz="1500" i="1">
                            <a:latin typeface="Cambria Math" panose="02040503050406030204" pitchFamily="18" charset="0"/>
                          </a:rPr>
                        </m:ctrlPr>
                      </m:sSubPr>
                      <m:e>
                        <m:r>
                          <a:rPr lang="pl-PL" sz="1500" i="1">
                            <a:latin typeface="Cambria Math"/>
                          </a:rPr>
                          <m:t>𝐻</m:t>
                        </m:r>
                      </m:e>
                      <m:sub>
                        <m:r>
                          <a:rPr lang="pl-PL" sz="1500" i="1">
                            <a:latin typeface="Cambria Math"/>
                          </a:rPr>
                          <m:t>𝑑𝑑</m:t>
                        </m:r>
                      </m:sub>
                    </m:sSub>
                  </m:oMath>
                </a14:m>
                <a:r>
                  <a:rPr lang="pl-PL" sz="1300" dirty="0"/>
                  <a:t>]</a:t>
                </a:r>
                <a:endParaRPr lang="en-US" sz="1300" dirty="0"/>
              </a:p>
            </p:txBody>
          </p:sp>
        </mc:Choice>
        <mc:Fallback xmlns="">
          <p:sp>
            <p:nvSpPr>
              <p:cNvPr id="30" name="TextBox 29"/>
              <p:cNvSpPr txBox="1">
                <a:spLocks noRot="1" noChangeAspect="1" noMove="1" noResize="1" noEditPoints="1" noAdjustHandles="1" noChangeArrowheads="1" noChangeShapeType="1" noTextEdit="1"/>
              </p:cNvSpPr>
              <p:nvPr/>
            </p:nvSpPr>
            <p:spPr>
              <a:xfrm>
                <a:off x="3368462" y="5759760"/>
                <a:ext cx="831273" cy="385948"/>
              </a:xfrm>
              <a:prstGeom prst="rect">
                <a:avLst/>
              </a:prstGeom>
              <a:blipFill rotWithShape="1">
                <a:blip r:embed="rId20"/>
                <a:stretch>
                  <a:fillRect l="-8088" t="-1587" r="-235294"/>
                </a:stretch>
              </a:blipFill>
            </p:spPr>
            <p:txBody>
              <a:bodyPr/>
              <a:lstStyle/>
              <a:p>
                <a:r>
                  <a:rPr lang="en-US">
                    <a:noFill/>
                  </a:rPr>
                  <a:t> </a:t>
                </a:r>
              </a:p>
            </p:txBody>
          </p:sp>
        </mc:Fallback>
      </mc:AlternateContent>
      <p:cxnSp>
        <p:nvCxnSpPr>
          <p:cNvPr id="31" name="Straight Arrow Connector 30"/>
          <p:cNvCxnSpPr/>
          <p:nvPr/>
        </p:nvCxnSpPr>
        <p:spPr>
          <a:xfrm flipV="1">
            <a:off x="2491869" y="5159280"/>
            <a:ext cx="791964" cy="308022"/>
          </a:xfrm>
          <a:prstGeom prst="straightConnector1">
            <a:avLst/>
          </a:prstGeom>
          <a:ln w="19050">
            <a:solidFill>
              <a:srgbClr val="7B7D80"/>
            </a:solidFill>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a:off x="2491869" y="5516959"/>
            <a:ext cx="791964" cy="346193"/>
          </a:xfrm>
          <a:prstGeom prst="straightConnector1">
            <a:avLst/>
          </a:prstGeom>
          <a:ln w="19050">
            <a:solidFill>
              <a:srgbClr val="7B7D80"/>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 name="TextBox 32"/>
              <p:cNvSpPr txBox="1"/>
              <p:nvPr/>
            </p:nvSpPr>
            <p:spPr>
              <a:xfrm>
                <a:off x="2383014" y="4966307"/>
                <a:ext cx="669222" cy="385948"/>
              </a:xfrm>
              <a:prstGeom prst="rect">
                <a:avLst/>
              </a:prstGeom>
              <a:noFill/>
            </p:spPr>
            <p:txBody>
              <a:bodyPr wrap="none" lIns="0" tIns="0" rIns="0" bIns="0" rtlCol="0">
                <a:noAutofit/>
              </a:bodyPr>
              <a:lstStyle/>
              <a:p>
                <a:pPr/>
                <a14:m>
                  <m:oMathPara xmlns:m="http://schemas.openxmlformats.org/officeDocument/2006/math">
                    <m:oMathParaPr>
                      <m:jc m:val="centerGroup"/>
                    </m:oMathParaPr>
                    <m:oMath xmlns:m="http://schemas.openxmlformats.org/officeDocument/2006/math">
                      <m:r>
                        <a:rPr lang="pl-PL" sz="1300" i="1">
                          <a:latin typeface="Cambria Math"/>
                        </a:rPr>
                        <m:t>𝑝</m:t>
                      </m:r>
                    </m:oMath>
                  </m:oMathPara>
                </a14:m>
                <a:endParaRPr lang="en-US" sz="1300" dirty="0"/>
              </a:p>
            </p:txBody>
          </p:sp>
        </mc:Choice>
        <mc:Fallback xmlns="">
          <p:sp>
            <p:nvSpPr>
              <p:cNvPr id="33" name="TextBox 32"/>
              <p:cNvSpPr txBox="1">
                <a:spLocks noRot="1" noChangeAspect="1" noMove="1" noResize="1" noEditPoints="1" noAdjustHandles="1" noChangeArrowheads="1" noChangeShapeType="1" noTextEdit="1"/>
              </p:cNvSpPr>
              <p:nvPr/>
            </p:nvSpPr>
            <p:spPr>
              <a:xfrm>
                <a:off x="2383014" y="4966307"/>
                <a:ext cx="669222" cy="385948"/>
              </a:xfrm>
              <a:prstGeom prst="rect">
                <a:avLst/>
              </a:prstGeom>
              <a:blipFill rotWithShape="1">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p:cNvSpPr txBox="1"/>
              <p:nvPr/>
            </p:nvSpPr>
            <p:spPr>
              <a:xfrm>
                <a:off x="2383014" y="5758365"/>
                <a:ext cx="669222" cy="385948"/>
              </a:xfrm>
              <a:prstGeom prst="rect">
                <a:avLst/>
              </a:prstGeom>
              <a:noFill/>
            </p:spPr>
            <p:txBody>
              <a:bodyPr wrap="none" lIns="0" tIns="0" rIns="0" bIns="0" rtlCol="0">
                <a:noAutofit/>
              </a:bodyPr>
              <a:lstStyle/>
              <a:p>
                <a:pPr/>
                <a14:m>
                  <m:oMathPara xmlns:m="http://schemas.openxmlformats.org/officeDocument/2006/math">
                    <m:oMathParaPr>
                      <m:jc m:val="centerGroup"/>
                    </m:oMathParaPr>
                    <m:oMath xmlns:m="http://schemas.openxmlformats.org/officeDocument/2006/math">
                      <m:r>
                        <a:rPr lang="pl-PL" sz="1300" i="1">
                          <a:latin typeface="Cambria Math"/>
                        </a:rPr>
                        <m:t>1−</m:t>
                      </m:r>
                      <m:r>
                        <a:rPr lang="pl-PL" sz="1300" i="1">
                          <a:latin typeface="Cambria Math"/>
                        </a:rPr>
                        <m:t>𝑝</m:t>
                      </m:r>
                    </m:oMath>
                  </m:oMathPara>
                </a14:m>
                <a:endParaRPr lang="en-US" sz="1300" dirty="0"/>
              </a:p>
            </p:txBody>
          </p:sp>
        </mc:Choice>
        <mc:Fallback xmlns="">
          <p:sp>
            <p:nvSpPr>
              <p:cNvPr id="34" name="TextBox 33"/>
              <p:cNvSpPr txBox="1">
                <a:spLocks noRot="1" noChangeAspect="1" noMove="1" noResize="1" noEditPoints="1" noAdjustHandles="1" noChangeArrowheads="1" noChangeShapeType="1" noTextEdit="1"/>
              </p:cNvSpPr>
              <p:nvPr/>
            </p:nvSpPr>
            <p:spPr>
              <a:xfrm>
                <a:off x="2383014" y="5758365"/>
                <a:ext cx="669222" cy="385948"/>
              </a:xfrm>
              <a:prstGeom prst="rect">
                <a:avLst/>
              </a:prstGeom>
              <a:blipFill rotWithShape="1">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p:cNvSpPr txBox="1"/>
              <p:nvPr/>
            </p:nvSpPr>
            <p:spPr>
              <a:xfrm>
                <a:off x="5050274" y="3288271"/>
                <a:ext cx="669222" cy="385948"/>
              </a:xfrm>
              <a:prstGeom prst="rect">
                <a:avLst/>
              </a:prstGeom>
              <a:noFill/>
            </p:spPr>
            <p:txBody>
              <a:bodyPr wrap="none" lIns="0" tIns="0" rIns="0" bIns="0" rtlCol="0">
                <a:noAutofit/>
              </a:bodyPr>
              <a:lstStyle/>
              <a:p>
                <a:pPr/>
                <a14:m>
                  <m:oMathPara xmlns:m="http://schemas.openxmlformats.org/officeDocument/2006/math">
                    <m:oMathParaPr>
                      <m:jc m:val="centerGroup"/>
                    </m:oMathParaPr>
                    <m:oMath xmlns:m="http://schemas.openxmlformats.org/officeDocument/2006/math">
                      <m:r>
                        <a:rPr lang="pl-PL" sz="1100" i="1">
                          <a:latin typeface="Cambria Math"/>
                        </a:rPr>
                        <m:t>𝑡</m:t>
                      </m:r>
                      <m:r>
                        <a:rPr lang="pl-PL" sz="1100" i="1">
                          <a:latin typeface="Cambria Math"/>
                        </a:rPr>
                        <m:t>=</m:t>
                      </m:r>
                      <m:sSub>
                        <m:sSubPr>
                          <m:ctrlPr>
                            <a:rPr lang="pl-PL" sz="1100" i="1">
                              <a:latin typeface="Cambria Math" panose="02040503050406030204" pitchFamily="18" charset="0"/>
                            </a:rPr>
                          </m:ctrlPr>
                        </m:sSubPr>
                        <m:e>
                          <m:r>
                            <a:rPr lang="pl-PL" sz="1100" i="1">
                              <a:latin typeface="Cambria Math"/>
                            </a:rPr>
                            <m:t>𝑡</m:t>
                          </m:r>
                        </m:e>
                        <m:sub>
                          <m:r>
                            <a:rPr lang="pl-PL" sz="1100" i="1">
                              <a:latin typeface="Cambria Math"/>
                            </a:rPr>
                            <m:t>2</m:t>
                          </m:r>
                        </m:sub>
                      </m:sSub>
                    </m:oMath>
                  </m:oMathPara>
                </a14:m>
                <a:endParaRPr lang="en-US" sz="1100" dirty="0"/>
              </a:p>
            </p:txBody>
          </p:sp>
        </mc:Choice>
        <mc:Fallback xmlns="">
          <p:sp>
            <p:nvSpPr>
              <p:cNvPr id="35" name="TextBox 34"/>
              <p:cNvSpPr txBox="1">
                <a:spLocks noRot="1" noChangeAspect="1" noMove="1" noResize="1" noEditPoints="1" noAdjustHandles="1" noChangeArrowheads="1" noChangeShapeType="1" noTextEdit="1"/>
              </p:cNvSpPr>
              <p:nvPr/>
            </p:nvSpPr>
            <p:spPr>
              <a:xfrm>
                <a:off x="5050274" y="3288271"/>
                <a:ext cx="669222" cy="385948"/>
              </a:xfrm>
              <a:prstGeom prst="rect">
                <a:avLst/>
              </a:prstGeom>
              <a:blipFill rotWithShape="1">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p:cNvSpPr txBox="1"/>
              <p:nvPr/>
            </p:nvSpPr>
            <p:spPr>
              <a:xfrm>
                <a:off x="1660970" y="3278274"/>
                <a:ext cx="669222" cy="385948"/>
              </a:xfrm>
              <a:prstGeom prst="rect">
                <a:avLst/>
              </a:prstGeom>
              <a:noFill/>
            </p:spPr>
            <p:txBody>
              <a:bodyPr wrap="none" lIns="0" tIns="0" rIns="0" bIns="0" rtlCol="0">
                <a:noAutofit/>
              </a:bodyPr>
              <a:lstStyle/>
              <a:p>
                <a:pPr/>
                <a14:m>
                  <m:oMathPara xmlns:m="http://schemas.openxmlformats.org/officeDocument/2006/math">
                    <m:oMathParaPr>
                      <m:jc m:val="centerGroup"/>
                    </m:oMathParaPr>
                    <m:oMath xmlns:m="http://schemas.openxmlformats.org/officeDocument/2006/math">
                      <m:r>
                        <a:rPr lang="pl-PL" sz="1100" i="1">
                          <a:latin typeface="Cambria Math"/>
                        </a:rPr>
                        <m:t>𝑡</m:t>
                      </m:r>
                      <m:r>
                        <a:rPr lang="pl-PL" sz="1100" i="1">
                          <a:latin typeface="Cambria Math"/>
                        </a:rPr>
                        <m:t>=</m:t>
                      </m:r>
                      <m:sSub>
                        <m:sSubPr>
                          <m:ctrlPr>
                            <a:rPr lang="pl-PL" sz="1100" i="1">
                              <a:latin typeface="Cambria Math" panose="02040503050406030204" pitchFamily="18" charset="0"/>
                            </a:rPr>
                          </m:ctrlPr>
                        </m:sSubPr>
                        <m:e>
                          <m:r>
                            <a:rPr lang="pl-PL" sz="1100" i="1">
                              <a:latin typeface="Cambria Math"/>
                            </a:rPr>
                            <m:t>𝑡</m:t>
                          </m:r>
                        </m:e>
                        <m:sub>
                          <m:r>
                            <a:rPr lang="pl-PL" sz="1100" i="1">
                              <a:latin typeface="Cambria Math"/>
                            </a:rPr>
                            <m:t>0</m:t>
                          </m:r>
                        </m:sub>
                      </m:sSub>
                      <m:r>
                        <a:rPr lang="pl-PL" sz="1100" i="1">
                          <a:latin typeface="Cambria Math"/>
                        </a:rPr>
                        <m:t>=0</m:t>
                      </m:r>
                    </m:oMath>
                  </m:oMathPara>
                </a14:m>
                <a:endParaRPr lang="en-US" sz="1100" dirty="0"/>
              </a:p>
            </p:txBody>
          </p:sp>
        </mc:Choice>
        <mc:Fallback xmlns="">
          <p:sp>
            <p:nvSpPr>
              <p:cNvPr id="36" name="TextBox 35"/>
              <p:cNvSpPr txBox="1">
                <a:spLocks noRot="1" noChangeAspect="1" noMove="1" noResize="1" noEditPoints="1" noAdjustHandles="1" noChangeArrowheads="1" noChangeShapeType="1" noTextEdit="1"/>
              </p:cNvSpPr>
              <p:nvPr/>
            </p:nvSpPr>
            <p:spPr>
              <a:xfrm>
                <a:off x="1660970" y="3278274"/>
                <a:ext cx="669222" cy="385948"/>
              </a:xfrm>
              <a:prstGeom prst="rect">
                <a:avLst/>
              </a:prstGeom>
              <a:blipFill rotWithShape="1">
                <a:blip r:embed="rId23"/>
                <a:stretch>
                  <a:fillRect l="-2727" r="-454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p:cNvSpPr txBox="1"/>
              <p:nvPr/>
            </p:nvSpPr>
            <p:spPr>
              <a:xfrm>
                <a:off x="625924" y="6516811"/>
                <a:ext cx="669222" cy="385948"/>
              </a:xfrm>
              <a:prstGeom prst="rect">
                <a:avLst/>
              </a:prstGeom>
              <a:noFill/>
            </p:spPr>
            <p:txBody>
              <a:bodyPr wrap="none" lIns="0" tIns="0" rIns="0" bIns="0" rtlCol="0">
                <a:noAutofit/>
              </a:bodyPr>
              <a:lstStyle/>
              <a:p>
                <a:pPr/>
                <a14:m>
                  <m:oMathPara xmlns:m="http://schemas.openxmlformats.org/officeDocument/2006/math">
                    <m:oMathParaPr>
                      <m:jc m:val="centerGroup"/>
                    </m:oMathParaPr>
                    <m:oMath xmlns:m="http://schemas.openxmlformats.org/officeDocument/2006/math">
                      <m:r>
                        <a:rPr lang="pl-PL" sz="1100" i="1">
                          <a:latin typeface="Cambria Math"/>
                        </a:rPr>
                        <m:t>𝑡</m:t>
                      </m:r>
                      <m:r>
                        <a:rPr lang="pl-PL" sz="1100" i="1">
                          <a:latin typeface="Cambria Math"/>
                        </a:rPr>
                        <m:t>=</m:t>
                      </m:r>
                      <m:sSub>
                        <m:sSubPr>
                          <m:ctrlPr>
                            <a:rPr lang="pl-PL" sz="1100" i="1">
                              <a:latin typeface="Cambria Math" panose="02040503050406030204" pitchFamily="18" charset="0"/>
                            </a:rPr>
                          </m:ctrlPr>
                        </m:sSubPr>
                        <m:e>
                          <m:r>
                            <a:rPr lang="pl-PL" sz="1100" i="1">
                              <a:latin typeface="Cambria Math"/>
                            </a:rPr>
                            <m:t>𝑡</m:t>
                          </m:r>
                        </m:e>
                        <m:sub>
                          <m:r>
                            <a:rPr lang="pl-PL" sz="1100" i="1">
                              <a:latin typeface="Cambria Math"/>
                            </a:rPr>
                            <m:t>0</m:t>
                          </m:r>
                        </m:sub>
                      </m:sSub>
                      <m:r>
                        <a:rPr lang="pl-PL" sz="1100" i="1">
                          <a:latin typeface="Cambria Math"/>
                        </a:rPr>
                        <m:t>=0</m:t>
                      </m:r>
                    </m:oMath>
                  </m:oMathPara>
                </a14:m>
                <a:endParaRPr lang="en-US" sz="1100" dirty="0"/>
              </a:p>
            </p:txBody>
          </p:sp>
        </mc:Choice>
        <mc:Fallback xmlns="">
          <p:sp>
            <p:nvSpPr>
              <p:cNvPr id="37" name="TextBox 36"/>
              <p:cNvSpPr txBox="1">
                <a:spLocks noRot="1" noChangeAspect="1" noMove="1" noResize="1" noEditPoints="1" noAdjustHandles="1" noChangeArrowheads="1" noChangeShapeType="1" noTextEdit="1"/>
              </p:cNvSpPr>
              <p:nvPr/>
            </p:nvSpPr>
            <p:spPr>
              <a:xfrm>
                <a:off x="625924" y="6516811"/>
                <a:ext cx="669222" cy="385948"/>
              </a:xfrm>
              <a:prstGeom prst="rect">
                <a:avLst/>
              </a:prstGeom>
              <a:blipFill rotWithShape="1">
                <a:blip r:embed="rId23"/>
                <a:stretch>
                  <a:fillRect l="-3670" r="-45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p:cNvSpPr txBox="1"/>
              <p:nvPr/>
            </p:nvSpPr>
            <p:spPr>
              <a:xfrm>
                <a:off x="4265898" y="6530902"/>
                <a:ext cx="669222" cy="385948"/>
              </a:xfrm>
              <a:prstGeom prst="rect">
                <a:avLst/>
              </a:prstGeom>
              <a:noFill/>
            </p:spPr>
            <p:txBody>
              <a:bodyPr wrap="none" lIns="0" tIns="0" rIns="0" bIns="0" rtlCol="0">
                <a:noAutofit/>
              </a:bodyPr>
              <a:lstStyle/>
              <a:p>
                <a:pPr/>
                <a14:m>
                  <m:oMathPara xmlns:m="http://schemas.openxmlformats.org/officeDocument/2006/math">
                    <m:oMathParaPr>
                      <m:jc m:val="centerGroup"/>
                    </m:oMathParaPr>
                    <m:oMath xmlns:m="http://schemas.openxmlformats.org/officeDocument/2006/math">
                      <m:r>
                        <a:rPr lang="pl-PL" sz="1100" i="1">
                          <a:latin typeface="Cambria Math"/>
                        </a:rPr>
                        <m:t>𝑡</m:t>
                      </m:r>
                      <m:r>
                        <a:rPr lang="pl-PL" sz="1100" i="1">
                          <a:latin typeface="Cambria Math"/>
                        </a:rPr>
                        <m:t>=</m:t>
                      </m:r>
                      <m:sSub>
                        <m:sSubPr>
                          <m:ctrlPr>
                            <a:rPr lang="pl-PL" sz="1100" i="1">
                              <a:latin typeface="Cambria Math" panose="02040503050406030204" pitchFamily="18" charset="0"/>
                            </a:rPr>
                          </m:ctrlPr>
                        </m:sSubPr>
                        <m:e>
                          <m:r>
                            <a:rPr lang="pl-PL" sz="1100" i="1">
                              <a:latin typeface="Cambria Math"/>
                            </a:rPr>
                            <m:t>𝑡</m:t>
                          </m:r>
                        </m:e>
                        <m:sub>
                          <m:r>
                            <a:rPr lang="pl-PL" sz="1100" i="1">
                              <a:latin typeface="Cambria Math"/>
                            </a:rPr>
                            <m:t>1</m:t>
                          </m:r>
                        </m:sub>
                      </m:sSub>
                    </m:oMath>
                  </m:oMathPara>
                </a14:m>
                <a:endParaRPr lang="en-US" sz="1100" dirty="0"/>
              </a:p>
            </p:txBody>
          </p:sp>
        </mc:Choice>
        <mc:Fallback xmlns="">
          <p:sp>
            <p:nvSpPr>
              <p:cNvPr id="38" name="TextBox 37"/>
              <p:cNvSpPr txBox="1">
                <a:spLocks noRot="1" noChangeAspect="1" noMove="1" noResize="1" noEditPoints="1" noAdjustHandles="1" noChangeArrowheads="1" noChangeShapeType="1" noTextEdit="1"/>
              </p:cNvSpPr>
              <p:nvPr/>
            </p:nvSpPr>
            <p:spPr>
              <a:xfrm>
                <a:off x="4265898" y="6530902"/>
                <a:ext cx="669222" cy="385948"/>
              </a:xfrm>
              <a:prstGeom prst="rect">
                <a:avLst/>
              </a:prstGeom>
              <a:blipFill rotWithShape="1">
                <a:blip r:embed="rId2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p:cNvSpPr txBox="1"/>
              <p:nvPr/>
            </p:nvSpPr>
            <p:spPr>
              <a:xfrm>
                <a:off x="7452130" y="6530902"/>
                <a:ext cx="669222" cy="385948"/>
              </a:xfrm>
              <a:prstGeom prst="rect">
                <a:avLst/>
              </a:prstGeom>
              <a:noFill/>
            </p:spPr>
            <p:txBody>
              <a:bodyPr wrap="none" lIns="0" tIns="0" rIns="0" bIns="0" rtlCol="0">
                <a:noAutofit/>
              </a:bodyPr>
              <a:lstStyle/>
              <a:p>
                <a:pPr/>
                <a14:m>
                  <m:oMathPara xmlns:m="http://schemas.openxmlformats.org/officeDocument/2006/math">
                    <m:oMathParaPr>
                      <m:jc m:val="centerGroup"/>
                    </m:oMathParaPr>
                    <m:oMath xmlns:m="http://schemas.openxmlformats.org/officeDocument/2006/math">
                      <m:r>
                        <a:rPr lang="pl-PL" sz="1100" i="1">
                          <a:latin typeface="Cambria Math"/>
                        </a:rPr>
                        <m:t>𝑡</m:t>
                      </m:r>
                      <m:r>
                        <a:rPr lang="pl-PL" sz="1100" i="1">
                          <a:latin typeface="Cambria Math"/>
                        </a:rPr>
                        <m:t>=</m:t>
                      </m:r>
                      <m:sSub>
                        <m:sSubPr>
                          <m:ctrlPr>
                            <a:rPr lang="pl-PL" sz="1100" i="1">
                              <a:latin typeface="Cambria Math" panose="02040503050406030204" pitchFamily="18" charset="0"/>
                            </a:rPr>
                          </m:ctrlPr>
                        </m:sSubPr>
                        <m:e>
                          <m:r>
                            <a:rPr lang="pl-PL" sz="1100" i="1">
                              <a:latin typeface="Cambria Math"/>
                            </a:rPr>
                            <m:t>𝑡</m:t>
                          </m:r>
                        </m:e>
                        <m:sub>
                          <m:r>
                            <a:rPr lang="pl-PL" sz="1100" i="1">
                              <a:latin typeface="Cambria Math"/>
                            </a:rPr>
                            <m:t>2</m:t>
                          </m:r>
                        </m:sub>
                      </m:sSub>
                    </m:oMath>
                  </m:oMathPara>
                </a14:m>
                <a:endParaRPr lang="en-US" sz="1100" dirty="0"/>
              </a:p>
            </p:txBody>
          </p:sp>
        </mc:Choice>
        <mc:Fallback xmlns="">
          <p:sp>
            <p:nvSpPr>
              <p:cNvPr id="39" name="TextBox 38"/>
              <p:cNvSpPr txBox="1">
                <a:spLocks noRot="1" noChangeAspect="1" noMove="1" noResize="1" noEditPoints="1" noAdjustHandles="1" noChangeArrowheads="1" noChangeShapeType="1" noTextEdit="1"/>
              </p:cNvSpPr>
              <p:nvPr/>
            </p:nvSpPr>
            <p:spPr>
              <a:xfrm>
                <a:off x="7452130" y="6530902"/>
                <a:ext cx="669222" cy="385948"/>
              </a:xfrm>
              <a:prstGeom prst="rect">
                <a:avLst/>
              </a:prstGeom>
              <a:blipFill rotWithShape="1">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p:cNvSpPr txBox="1"/>
              <p:nvPr/>
            </p:nvSpPr>
            <p:spPr>
              <a:xfrm>
                <a:off x="3784098" y="3971366"/>
                <a:ext cx="831273" cy="279083"/>
              </a:xfrm>
              <a:prstGeom prst="rect">
                <a:avLst/>
              </a:prstGeom>
              <a:noFill/>
            </p:spPr>
            <p:txBody>
              <a:bodyPr wrap="none" lIns="0" tIns="0" rIns="0" bIns="0" rtlCol="0">
                <a:noAutofit/>
              </a:bodyPr>
              <a:lstStyle/>
              <a:p>
                <a:r>
                  <a:rPr lang="pl-PL" sz="1400" dirty="0">
                    <a:latin typeface="+mn-lt"/>
                  </a:rPr>
                  <a:t>price of option at </a:t>
                </a:r>
                <a14:m>
                  <m:oMath xmlns:m="http://schemas.openxmlformats.org/officeDocument/2006/math">
                    <m:r>
                      <a:rPr lang="pl-PL" sz="1400" i="1">
                        <a:latin typeface="Cambria Math"/>
                      </a:rPr>
                      <m:t>𝑡</m:t>
                    </m:r>
                    <m:r>
                      <a:rPr lang="pl-PL" sz="1400" i="1">
                        <a:latin typeface="Cambria Math"/>
                      </a:rPr>
                      <m:t>=</m:t>
                    </m:r>
                    <m:sSub>
                      <m:sSubPr>
                        <m:ctrlPr>
                          <a:rPr lang="pl-PL" sz="1400" i="1">
                            <a:latin typeface="Cambria Math" panose="02040503050406030204" pitchFamily="18" charset="0"/>
                          </a:rPr>
                        </m:ctrlPr>
                      </m:sSubPr>
                      <m:e>
                        <m:r>
                          <a:rPr lang="pl-PL" sz="1400" i="1">
                            <a:latin typeface="Cambria Math"/>
                          </a:rPr>
                          <m:t>𝑡</m:t>
                        </m:r>
                      </m:e>
                      <m:sub>
                        <m:r>
                          <a:rPr lang="pl-PL" sz="1400" i="1">
                            <a:latin typeface="Cambria Math"/>
                          </a:rPr>
                          <m:t>1</m:t>
                        </m:r>
                      </m:sub>
                    </m:sSub>
                  </m:oMath>
                </a14:m>
                <a:r>
                  <a:rPr lang="pl-PL" sz="1400" dirty="0">
                    <a:latin typeface="+mn-lt"/>
                  </a:rPr>
                  <a:t>:</a:t>
                </a:r>
              </a:p>
              <a:p>
                <a:pPr/>
                <a14:m>
                  <m:oMathPara xmlns:m="http://schemas.openxmlformats.org/officeDocument/2006/math">
                    <m:oMathParaPr>
                      <m:jc m:val="centerGroup"/>
                    </m:oMathParaPr>
                    <m:oMath xmlns:m="http://schemas.openxmlformats.org/officeDocument/2006/math">
                      <m:sSub>
                        <m:sSubPr>
                          <m:ctrlPr>
                            <a:rPr lang="pl-PL" sz="1300" i="1">
                              <a:latin typeface="Cambria Math" panose="02040503050406030204" pitchFamily="18" charset="0"/>
                            </a:rPr>
                          </m:ctrlPr>
                        </m:sSubPr>
                        <m:e>
                          <m:r>
                            <a:rPr lang="pl-PL" sz="1300" i="1">
                              <a:latin typeface="Cambria Math"/>
                            </a:rPr>
                            <m:t>𝑉</m:t>
                          </m:r>
                        </m:e>
                        <m:sub>
                          <m:r>
                            <a:rPr lang="pl-PL" sz="1300" i="1">
                              <a:latin typeface="Cambria Math"/>
                            </a:rPr>
                            <m:t>𝑡</m:t>
                          </m:r>
                        </m:sub>
                      </m:sSub>
                      <m:r>
                        <a:rPr lang="pl-PL" sz="1300" i="1">
                          <a:latin typeface="Cambria Math"/>
                        </a:rPr>
                        <m:t>=</m:t>
                      </m:r>
                      <m:r>
                        <a:rPr lang="pl-PL" sz="1300" i="1">
                          <a:latin typeface="Cambria Math"/>
                        </a:rPr>
                        <m:t>𝐸</m:t>
                      </m:r>
                      <m:d>
                        <m:dPr>
                          <m:ctrlPr>
                            <a:rPr lang="pl-PL" sz="1300" i="1">
                              <a:latin typeface="Cambria Math" panose="02040503050406030204" pitchFamily="18" charset="0"/>
                            </a:rPr>
                          </m:ctrlPr>
                        </m:dPr>
                        <m:e>
                          <m:sSup>
                            <m:sSupPr>
                              <m:ctrlPr>
                                <a:rPr lang="pl-PL" sz="1300" i="1">
                                  <a:latin typeface="Cambria Math" panose="02040503050406030204" pitchFamily="18" charset="0"/>
                                </a:rPr>
                              </m:ctrlPr>
                            </m:sSupPr>
                            <m:e>
                              <m:r>
                                <a:rPr lang="pl-PL" sz="1300" i="1">
                                  <a:latin typeface="Cambria Math"/>
                                </a:rPr>
                                <m:t>𝑒</m:t>
                              </m:r>
                            </m:e>
                            <m:sup>
                              <m:r>
                                <a:rPr lang="pl-PL" sz="1300" i="1">
                                  <a:latin typeface="Cambria Math"/>
                                </a:rPr>
                                <m:t>−</m:t>
                              </m:r>
                              <m:r>
                                <a:rPr lang="pl-PL" sz="1300" i="1">
                                  <a:latin typeface="Cambria Math"/>
                                </a:rPr>
                                <m:t>𝑟</m:t>
                              </m:r>
                              <m:r>
                                <a:rPr lang="pl-PL" sz="1300" i="1">
                                  <a:latin typeface="Cambria Math"/>
                                  <a:ea typeface="Cambria Math"/>
                                </a:rPr>
                                <m:t>∆</m:t>
                              </m:r>
                              <m:r>
                                <a:rPr lang="pl-PL" sz="1300" i="1">
                                  <a:latin typeface="Cambria Math"/>
                                  <a:ea typeface="Cambria Math"/>
                                </a:rPr>
                                <m:t>𝑡</m:t>
                              </m:r>
                            </m:sup>
                          </m:sSup>
                          <m:r>
                            <a:rPr lang="pl-PL" sz="1300" i="1">
                              <a:latin typeface="Cambria Math"/>
                            </a:rPr>
                            <m:t>𝐻</m:t>
                          </m:r>
                          <m:d>
                            <m:dPr>
                              <m:ctrlPr>
                                <a:rPr lang="pl-PL" sz="1300" i="1">
                                  <a:latin typeface="Cambria Math" panose="02040503050406030204" pitchFamily="18" charset="0"/>
                                </a:rPr>
                              </m:ctrlPr>
                            </m:dPr>
                            <m:e>
                              <m:sSub>
                                <m:sSubPr>
                                  <m:ctrlPr>
                                    <a:rPr lang="pl-PL" sz="1300" i="1">
                                      <a:latin typeface="Cambria Math" panose="02040503050406030204" pitchFamily="18" charset="0"/>
                                    </a:rPr>
                                  </m:ctrlPr>
                                </m:sSubPr>
                                <m:e>
                                  <m:r>
                                    <a:rPr lang="pl-PL" sz="1300" i="1">
                                      <a:latin typeface="Cambria Math"/>
                                    </a:rPr>
                                    <m:t>𝑡</m:t>
                                  </m:r>
                                </m:e>
                                <m:sub>
                                  <m:r>
                                    <a:rPr lang="pl-PL" sz="1300" i="1">
                                      <a:latin typeface="Cambria Math"/>
                                    </a:rPr>
                                    <m:t>2</m:t>
                                  </m:r>
                                </m:sub>
                              </m:sSub>
                            </m:e>
                          </m:d>
                        </m:e>
                        <m:e>
                          <m:sSub>
                            <m:sSubPr>
                              <m:ctrlPr>
                                <a:rPr lang="pl-PL" sz="1300" i="1">
                                  <a:latin typeface="Cambria Math" panose="02040503050406030204" pitchFamily="18" charset="0"/>
                                </a:rPr>
                              </m:ctrlPr>
                            </m:sSubPr>
                            <m:e>
                              <m:r>
                                <a:rPr lang="pl-PL" sz="1300" i="1">
                                  <a:latin typeface="Cambria Math"/>
                                </a:rPr>
                                <m:t>𝐹</m:t>
                              </m:r>
                            </m:e>
                            <m:sub>
                              <m:sSub>
                                <m:sSubPr>
                                  <m:ctrlPr>
                                    <a:rPr lang="pl-PL" sz="1300" i="1">
                                      <a:latin typeface="Cambria Math" panose="02040503050406030204" pitchFamily="18" charset="0"/>
                                    </a:rPr>
                                  </m:ctrlPr>
                                </m:sSubPr>
                                <m:e>
                                  <m:r>
                                    <a:rPr lang="pl-PL" sz="1300" i="1">
                                      <a:latin typeface="Cambria Math"/>
                                    </a:rPr>
                                    <m:t>𝑡</m:t>
                                  </m:r>
                                </m:e>
                                <m:sub>
                                  <m:r>
                                    <a:rPr lang="pl-PL" sz="1300" i="1">
                                      <a:latin typeface="Cambria Math"/>
                                    </a:rPr>
                                    <m:t>1</m:t>
                                  </m:r>
                                </m:sub>
                              </m:sSub>
                            </m:sub>
                          </m:sSub>
                        </m:e>
                      </m:d>
                    </m:oMath>
                  </m:oMathPara>
                </a14:m>
                <a:endParaRPr lang="pl-PL" sz="1300" dirty="0"/>
              </a:p>
            </p:txBody>
          </p:sp>
        </mc:Choice>
        <mc:Fallback xmlns="">
          <p:sp>
            <p:nvSpPr>
              <p:cNvPr id="40" name="TextBox 39"/>
              <p:cNvSpPr txBox="1">
                <a:spLocks noRot="1" noChangeAspect="1" noMove="1" noResize="1" noEditPoints="1" noAdjustHandles="1" noChangeArrowheads="1" noChangeShapeType="1" noTextEdit="1"/>
              </p:cNvSpPr>
              <p:nvPr/>
            </p:nvSpPr>
            <p:spPr>
              <a:xfrm>
                <a:off x="3784098" y="3971366"/>
                <a:ext cx="831273" cy="279083"/>
              </a:xfrm>
              <a:prstGeom prst="rect">
                <a:avLst/>
              </a:prstGeom>
              <a:blipFill rotWithShape="1">
                <a:blip r:embed="rId25"/>
                <a:stretch>
                  <a:fillRect l="-13235" t="-19565" r="-154412" b="-6956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p:cNvSpPr txBox="1"/>
              <p:nvPr/>
            </p:nvSpPr>
            <p:spPr>
              <a:xfrm>
                <a:off x="382386" y="3989472"/>
                <a:ext cx="1876208" cy="279083"/>
              </a:xfrm>
              <a:prstGeom prst="rect">
                <a:avLst/>
              </a:prstGeom>
              <a:noFill/>
            </p:spPr>
            <p:txBody>
              <a:bodyPr wrap="none" lIns="0" tIns="0" rIns="0" bIns="0" rtlCol="0">
                <a:noAutofit/>
              </a:bodyPr>
              <a:lstStyle/>
              <a:p>
                <a:pPr algn="ctr"/>
                <a:r>
                  <a:rPr lang="pl-PL" sz="1400" dirty="0">
                    <a:latin typeface="+mn-lt"/>
                  </a:rPr>
                  <a:t>option price at </a:t>
                </a:r>
                <a14:m>
                  <m:oMath xmlns:m="http://schemas.openxmlformats.org/officeDocument/2006/math">
                    <m:r>
                      <a:rPr lang="pl-PL" sz="1400" i="1">
                        <a:latin typeface="Cambria Math"/>
                      </a:rPr>
                      <m:t>𝑡</m:t>
                    </m:r>
                    <m:r>
                      <a:rPr lang="pl-PL" sz="1400" i="1">
                        <a:latin typeface="Cambria Math"/>
                      </a:rPr>
                      <m:t>=0</m:t>
                    </m:r>
                  </m:oMath>
                </a14:m>
                <a:r>
                  <a:rPr lang="pl-PL" sz="1400" dirty="0">
                    <a:latin typeface="+mn-lt"/>
                  </a:rPr>
                  <a:t> </a:t>
                </a:r>
                <a:endParaRPr lang="en-US" sz="1400" dirty="0">
                  <a:latin typeface="+mn-lt"/>
                </a:endParaRPr>
              </a:p>
            </p:txBody>
          </p:sp>
        </mc:Choice>
        <mc:Fallback xmlns="">
          <p:sp>
            <p:nvSpPr>
              <p:cNvPr id="41" name="TextBox 40"/>
              <p:cNvSpPr txBox="1">
                <a:spLocks noRot="1" noChangeAspect="1" noMove="1" noResize="1" noEditPoints="1" noAdjustHandles="1" noChangeArrowheads="1" noChangeShapeType="1" noTextEdit="1"/>
              </p:cNvSpPr>
              <p:nvPr/>
            </p:nvSpPr>
            <p:spPr>
              <a:xfrm>
                <a:off x="382386" y="3989472"/>
                <a:ext cx="1876208" cy="279083"/>
              </a:xfrm>
              <a:prstGeom prst="rect">
                <a:avLst/>
              </a:prstGeom>
              <a:blipFill rotWithShape="1">
                <a:blip r:embed="rId26"/>
                <a:stretch>
                  <a:fillRect l="-1948" t="-19565" b="-13043"/>
                </a:stretch>
              </a:blipFill>
            </p:spPr>
            <p:txBody>
              <a:bodyPr/>
              <a:lstStyle/>
              <a:p>
                <a:r>
                  <a:rPr lang="en-US">
                    <a:noFill/>
                  </a:rPr>
                  <a:t> </a:t>
                </a:r>
              </a:p>
            </p:txBody>
          </p:sp>
        </mc:Fallback>
      </mc:AlternateContent>
      <p:cxnSp>
        <p:nvCxnSpPr>
          <p:cNvPr id="42" name="Straight Arrow Connector 41"/>
          <p:cNvCxnSpPr/>
          <p:nvPr/>
        </p:nvCxnSpPr>
        <p:spPr>
          <a:xfrm flipV="1">
            <a:off x="6101662" y="4818669"/>
            <a:ext cx="791964" cy="308022"/>
          </a:xfrm>
          <a:prstGeom prst="straightConnector1">
            <a:avLst/>
          </a:prstGeom>
          <a:ln w="19050">
            <a:solidFill>
              <a:srgbClr val="7B7D80"/>
            </a:solidFill>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p:nvPr/>
        </p:nvCxnSpPr>
        <p:spPr>
          <a:xfrm>
            <a:off x="6101662" y="5176348"/>
            <a:ext cx="791964" cy="346193"/>
          </a:xfrm>
          <a:prstGeom prst="straightConnector1">
            <a:avLst/>
          </a:prstGeom>
          <a:ln w="19050">
            <a:solidFill>
              <a:srgbClr val="7B7D80"/>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4" name="TextBox 43"/>
              <p:cNvSpPr txBox="1"/>
              <p:nvPr/>
            </p:nvSpPr>
            <p:spPr>
              <a:xfrm>
                <a:off x="5992806" y="4625696"/>
                <a:ext cx="669222" cy="385948"/>
              </a:xfrm>
              <a:prstGeom prst="rect">
                <a:avLst/>
              </a:prstGeom>
              <a:noFill/>
            </p:spPr>
            <p:txBody>
              <a:bodyPr wrap="none" lIns="0" tIns="0" rIns="0" bIns="0" rtlCol="0">
                <a:noAutofit/>
              </a:bodyPr>
              <a:lstStyle/>
              <a:p>
                <a:pPr/>
                <a14:m>
                  <m:oMathPara xmlns:m="http://schemas.openxmlformats.org/officeDocument/2006/math">
                    <m:oMathParaPr>
                      <m:jc m:val="centerGroup"/>
                    </m:oMathParaPr>
                    <m:oMath xmlns:m="http://schemas.openxmlformats.org/officeDocument/2006/math">
                      <m:r>
                        <a:rPr lang="pl-PL" sz="1300" i="1">
                          <a:latin typeface="Cambria Math"/>
                        </a:rPr>
                        <m:t>𝑝</m:t>
                      </m:r>
                    </m:oMath>
                  </m:oMathPara>
                </a14:m>
                <a:endParaRPr lang="en-US" sz="1300" dirty="0"/>
              </a:p>
            </p:txBody>
          </p:sp>
        </mc:Choice>
        <mc:Fallback xmlns="">
          <p:sp>
            <p:nvSpPr>
              <p:cNvPr id="44" name="TextBox 43"/>
              <p:cNvSpPr txBox="1">
                <a:spLocks noRot="1" noChangeAspect="1" noMove="1" noResize="1" noEditPoints="1" noAdjustHandles="1" noChangeArrowheads="1" noChangeShapeType="1" noTextEdit="1"/>
              </p:cNvSpPr>
              <p:nvPr/>
            </p:nvSpPr>
            <p:spPr>
              <a:xfrm>
                <a:off x="5992806" y="4625696"/>
                <a:ext cx="669222" cy="385948"/>
              </a:xfrm>
              <a:prstGeom prst="rect">
                <a:avLst/>
              </a:prstGeom>
              <a:blipFill rotWithShape="1">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p:cNvSpPr txBox="1"/>
              <p:nvPr/>
            </p:nvSpPr>
            <p:spPr>
              <a:xfrm>
                <a:off x="5992806" y="5320810"/>
                <a:ext cx="669222" cy="385948"/>
              </a:xfrm>
              <a:prstGeom prst="rect">
                <a:avLst/>
              </a:prstGeom>
              <a:noFill/>
            </p:spPr>
            <p:txBody>
              <a:bodyPr wrap="none" lIns="0" tIns="0" rIns="0" bIns="0" rtlCol="0">
                <a:noAutofit/>
              </a:bodyPr>
              <a:lstStyle/>
              <a:p>
                <a:pPr/>
                <a14:m>
                  <m:oMathPara xmlns:m="http://schemas.openxmlformats.org/officeDocument/2006/math">
                    <m:oMathParaPr>
                      <m:jc m:val="centerGroup"/>
                    </m:oMathParaPr>
                    <m:oMath xmlns:m="http://schemas.openxmlformats.org/officeDocument/2006/math">
                      <m:r>
                        <a:rPr lang="pl-PL" sz="1300" i="1">
                          <a:latin typeface="Cambria Math"/>
                        </a:rPr>
                        <m:t>1−</m:t>
                      </m:r>
                      <m:r>
                        <a:rPr lang="pl-PL" sz="1300" i="1">
                          <a:latin typeface="Cambria Math"/>
                        </a:rPr>
                        <m:t>𝑝</m:t>
                      </m:r>
                    </m:oMath>
                  </m:oMathPara>
                </a14:m>
                <a:endParaRPr lang="en-US" sz="1300" dirty="0"/>
              </a:p>
            </p:txBody>
          </p:sp>
        </mc:Choice>
        <mc:Fallback xmlns="">
          <p:sp>
            <p:nvSpPr>
              <p:cNvPr id="45" name="TextBox 44"/>
              <p:cNvSpPr txBox="1">
                <a:spLocks noRot="1" noChangeAspect="1" noMove="1" noResize="1" noEditPoints="1" noAdjustHandles="1" noChangeArrowheads="1" noChangeShapeType="1" noTextEdit="1"/>
              </p:cNvSpPr>
              <p:nvPr/>
            </p:nvSpPr>
            <p:spPr>
              <a:xfrm>
                <a:off x="5992806" y="5320810"/>
                <a:ext cx="669222" cy="385948"/>
              </a:xfrm>
              <a:prstGeom prst="rect">
                <a:avLst/>
              </a:prstGeom>
              <a:blipFill rotWithShape="1">
                <a:blip r:embed="rId21"/>
                <a:stretch>
                  <a:fillRect/>
                </a:stretch>
              </a:blipFill>
            </p:spPr>
            <p:txBody>
              <a:bodyPr/>
              <a:lstStyle/>
              <a:p>
                <a:r>
                  <a:rPr lang="en-US">
                    <a:noFill/>
                  </a:rPr>
                  <a:t> </a:t>
                </a:r>
              </a:p>
            </p:txBody>
          </p:sp>
        </mc:Fallback>
      </mc:AlternateContent>
      <p:cxnSp>
        <p:nvCxnSpPr>
          <p:cNvPr id="46" name="Straight Arrow Connector 45"/>
          <p:cNvCxnSpPr/>
          <p:nvPr/>
        </p:nvCxnSpPr>
        <p:spPr>
          <a:xfrm flipV="1">
            <a:off x="6089619" y="5583941"/>
            <a:ext cx="791964" cy="308022"/>
          </a:xfrm>
          <a:prstGeom prst="straightConnector1">
            <a:avLst/>
          </a:prstGeom>
          <a:ln w="19050">
            <a:solidFill>
              <a:srgbClr val="7B7D80"/>
            </a:solidFill>
            <a:tailEnd type="arrow"/>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p:nvPr/>
        </p:nvCxnSpPr>
        <p:spPr>
          <a:xfrm>
            <a:off x="6089619" y="5936410"/>
            <a:ext cx="791964" cy="346193"/>
          </a:xfrm>
          <a:prstGeom prst="straightConnector1">
            <a:avLst/>
          </a:prstGeom>
          <a:ln w="19050">
            <a:solidFill>
              <a:srgbClr val="7B7D80"/>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8" name="TextBox 47"/>
              <p:cNvSpPr txBox="1"/>
              <p:nvPr/>
            </p:nvSpPr>
            <p:spPr>
              <a:xfrm>
                <a:off x="6072784" y="5521050"/>
                <a:ext cx="669222" cy="385948"/>
              </a:xfrm>
              <a:prstGeom prst="rect">
                <a:avLst/>
              </a:prstGeom>
              <a:noFill/>
            </p:spPr>
            <p:txBody>
              <a:bodyPr wrap="none" lIns="0" tIns="0" rIns="0" bIns="0" rtlCol="0">
                <a:noAutofit/>
              </a:bodyPr>
              <a:lstStyle/>
              <a:p>
                <a:pPr/>
                <a14:m>
                  <m:oMathPara xmlns:m="http://schemas.openxmlformats.org/officeDocument/2006/math">
                    <m:oMathParaPr>
                      <m:jc m:val="centerGroup"/>
                    </m:oMathParaPr>
                    <m:oMath xmlns:m="http://schemas.openxmlformats.org/officeDocument/2006/math">
                      <m:r>
                        <a:rPr lang="pl-PL" sz="1300" i="1">
                          <a:latin typeface="Cambria Math"/>
                        </a:rPr>
                        <m:t>𝑝</m:t>
                      </m:r>
                    </m:oMath>
                  </m:oMathPara>
                </a14:m>
                <a:endParaRPr lang="en-US" sz="1300" dirty="0"/>
              </a:p>
            </p:txBody>
          </p:sp>
        </mc:Choice>
        <mc:Fallback xmlns="">
          <p:sp>
            <p:nvSpPr>
              <p:cNvPr id="48" name="TextBox 47"/>
              <p:cNvSpPr txBox="1">
                <a:spLocks noRot="1" noChangeAspect="1" noMove="1" noResize="1" noEditPoints="1" noAdjustHandles="1" noChangeArrowheads="1" noChangeShapeType="1" noTextEdit="1"/>
              </p:cNvSpPr>
              <p:nvPr/>
            </p:nvSpPr>
            <p:spPr>
              <a:xfrm>
                <a:off x="6072784" y="5521050"/>
                <a:ext cx="669222" cy="385948"/>
              </a:xfrm>
              <a:prstGeom prst="rect">
                <a:avLst/>
              </a:prstGeom>
              <a:blipFill rotWithShape="1">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p:cNvSpPr txBox="1"/>
              <p:nvPr/>
            </p:nvSpPr>
            <p:spPr>
              <a:xfrm>
                <a:off x="5992806" y="6171830"/>
                <a:ext cx="669222" cy="385948"/>
              </a:xfrm>
              <a:prstGeom prst="rect">
                <a:avLst/>
              </a:prstGeom>
              <a:noFill/>
            </p:spPr>
            <p:txBody>
              <a:bodyPr wrap="none" lIns="0" tIns="0" rIns="0" bIns="0" rtlCol="0">
                <a:noAutofit/>
              </a:bodyPr>
              <a:lstStyle/>
              <a:p>
                <a:pPr/>
                <a14:m>
                  <m:oMathPara xmlns:m="http://schemas.openxmlformats.org/officeDocument/2006/math">
                    <m:oMathParaPr>
                      <m:jc m:val="centerGroup"/>
                    </m:oMathParaPr>
                    <m:oMath xmlns:m="http://schemas.openxmlformats.org/officeDocument/2006/math">
                      <m:r>
                        <a:rPr lang="pl-PL" sz="1300" i="1">
                          <a:latin typeface="Cambria Math"/>
                        </a:rPr>
                        <m:t>1−</m:t>
                      </m:r>
                      <m:r>
                        <a:rPr lang="pl-PL" sz="1300" i="1">
                          <a:latin typeface="Cambria Math"/>
                        </a:rPr>
                        <m:t>𝑝</m:t>
                      </m:r>
                    </m:oMath>
                  </m:oMathPara>
                </a14:m>
                <a:endParaRPr lang="en-US" sz="1300" dirty="0"/>
              </a:p>
            </p:txBody>
          </p:sp>
        </mc:Choice>
        <mc:Fallback xmlns="">
          <p:sp>
            <p:nvSpPr>
              <p:cNvPr id="49" name="TextBox 48"/>
              <p:cNvSpPr txBox="1">
                <a:spLocks noRot="1" noChangeAspect="1" noMove="1" noResize="1" noEditPoints="1" noAdjustHandles="1" noChangeArrowheads="1" noChangeShapeType="1" noTextEdit="1"/>
              </p:cNvSpPr>
              <p:nvPr/>
            </p:nvSpPr>
            <p:spPr>
              <a:xfrm>
                <a:off x="5992806" y="6171830"/>
                <a:ext cx="669222" cy="385948"/>
              </a:xfrm>
              <a:prstGeom prst="rect">
                <a:avLst/>
              </a:prstGeom>
              <a:blipFill rotWithShape="1">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p:cNvSpPr txBox="1"/>
              <p:nvPr/>
            </p:nvSpPr>
            <p:spPr>
              <a:xfrm>
                <a:off x="288174" y="5352255"/>
                <a:ext cx="831273" cy="385948"/>
              </a:xfrm>
              <a:prstGeom prst="rect">
                <a:avLst/>
              </a:prstGeom>
              <a:noFill/>
            </p:spPr>
            <p:txBody>
              <a:bodyPr wrap="none" lIns="0" tIns="0" rIns="0" bIns="0" rtlCol="0">
                <a:noAutofit/>
              </a:bodyPr>
              <a:lstStyle/>
              <a:p>
                <a14:m>
                  <m:oMath xmlns:m="http://schemas.openxmlformats.org/officeDocument/2006/math">
                    <m:sSup>
                      <m:sSupPr>
                        <m:ctrlPr>
                          <a:rPr lang="pl-PL" sz="1300" i="1">
                            <a:latin typeface="Cambria Math" panose="02040503050406030204" pitchFamily="18" charset="0"/>
                          </a:rPr>
                        </m:ctrlPr>
                      </m:sSupPr>
                      <m:e>
                        <m:sSub>
                          <m:sSubPr>
                            <m:ctrlPr>
                              <a:rPr lang="pl-PL" sz="1300" i="1">
                                <a:latin typeface="Cambria Math" panose="02040503050406030204" pitchFamily="18" charset="0"/>
                              </a:rPr>
                            </m:ctrlPr>
                          </m:sSubPr>
                          <m:e>
                            <m:r>
                              <a:rPr lang="pl-PL" sz="1300" i="1">
                                <a:latin typeface="Cambria Math"/>
                              </a:rPr>
                              <m:t>𝑉</m:t>
                            </m:r>
                          </m:e>
                          <m:sub>
                            <m:r>
                              <a:rPr lang="pl-PL" sz="1300" i="1">
                                <a:latin typeface="Cambria Math"/>
                              </a:rPr>
                              <m:t>0</m:t>
                            </m:r>
                          </m:sub>
                        </m:sSub>
                        <m:r>
                          <a:rPr lang="pl-PL" sz="1300" i="1">
                            <a:latin typeface="Cambria Math"/>
                          </a:rPr>
                          <m:t>=</m:t>
                        </m:r>
                        <m:r>
                          <a:rPr lang="pl-PL" sz="1300" i="1">
                            <a:latin typeface="Cambria Math"/>
                          </a:rPr>
                          <m:t>𝑒</m:t>
                        </m:r>
                      </m:e>
                      <m:sup>
                        <m:r>
                          <a:rPr lang="pl-PL" sz="1300" i="1">
                            <a:latin typeface="Cambria Math"/>
                          </a:rPr>
                          <m:t>−</m:t>
                        </m:r>
                        <m:r>
                          <a:rPr lang="pl-PL" sz="1300" i="1">
                            <a:latin typeface="Cambria Math"/>
                          </a:rPr>
                          <m:t>𝑟</m:t>
                        </m:r>
                        <m:r>
                          <a:rPr lang="pl-PL" sz="1300" i="1">
                            <a:latin typeface="Cambria Math"/>
                            <a:ea typeface="Cambria Math"/>
                          </a:rPr>
                          <m:t>∆</m:t>
                        </m:r>
                        <m:r>
                          <a:rPr lang="pl-PL" sz="1300" i="1">
                            <a:latin typeface="Cambria Math"/>
                            <a:ea typeface="Cambria Math"/>
                          </a:rPr>
                          <m:t>𝑡</m:t>
                        </m:r>
                      </m:sup>
                    </m:sSup>
                    <m:r>
                      <a:rPr lang="pl-PL" sz="1300">
                        <a:latin typeface="Cambria Math"/>
                      </a:rPr>
                      <m:t>[</m:t>
                    </m:r>
                    <m:r>
                      <a:rPr lang="pl-PL" sz="1300" i="1">
                        <a:latin typeface="Cambria Math"/>
                      </a:rPr>
                      <m:t>𝑝</m:t>
                    </m:r>
                    <m:sSubSup>
                      <m:sSubSupPr>
                        <m:ctrlPr>
                          <a:rPr lang="pl-PL" sz="1300" i="1">
                            <a:latin typeface="Cambria Math" panose="02040503050406030204" pitchFamily="18" charset="0"/>
                          </a:rPr>
                        </m:ctrlPr>
                      </m:sSubSupPr>
                      <m:e>
                        <m:sSub>
                          <m:sSubPr>
                            <m:ctrlPr>
                              <a:rPr lang="pl-PL" sz="1300" i="1">
                                <a:latin typeface="Cambria Math" panose="02040503050406030204" pitchFamily="18" charset="0"/>
                              </a:rPr>
                            </m:ctrlPr>
                          </m:sSubPr>
                          <m:e>
                            <m:r>
                              <a:rPr lang="pl-PL" sz="1300" i="1">
                                <a:latin typeface="Cambria Math"/>
                              </a:rPr>
                              <m:t>𝑉</m:t>
                            </m:r>
                          </m:e>
                          <m:sub>
                            <m:r>
                              <a:rPr lang="pl-PL" sz="1300" i="1">
                                <a:latin typeface="Cambria Math"/>
                              </a:rPr>
                              <m:t>𝑡</m:t>
                            </m:r>
                          </m:sub>
                        </m:sSub>
                      </m:e>
                      <m:sub/>
                      <m:sup>
                        <m:r>
                          <a:rPr lang="pl-PL" sz="1300" i="1">
                            <a:latin typeface="Cambria Math"/>
                          </a:rPr>
                          <m:t>𝑢</m:t>
                        </m:r>
                      </m:sup>
                    </m:sSubSup>
                    <m:r>
                      <a:rPr lang="pl-PL" sz="1300" i="1">
                        <a:latin typeface="Cambria Math"/>
                      </a:rPr>
                      <m:t>+(1−</m:t>
                    </m:r>
                    <m:r>
                      <a:rPr lang="pl-PL" sz="1300" i="1">
                        <a:latin typeface="Cambria Math"/>
                      </a:rPr>
                      <m:t>𝑝</m:t>
                    </m:r>
                    <m:r>
                      <a:rPr lang="pl-PL" sz="1300" i="1">
                        <a:latin typeface="Cambria Math"/>
                      </a:rPr>
                      <m:t>)</m:t>
                    </m:r>
                    <m:sSubSup>
                      <m:sSubSupPr>
                        <m:ctrlPr>
                          <a:rPr lang="pl-PL" sz="1300" i="1">
                            <a:latin typeface="Cambria Math" panose="02040503050406030204" pitchFamily="18" charset="0"/>
                          </a:rPr>
                        </m:ctrlPr>
                      </m:sSubSupPr>
                      <m:e>
                        <m:sSub>
                          <m:sSubPr>
                            <m:ctrlPr>
                              <a:rPr lang="pl-PL" sz="1300" i="1">
                                <a:latin typeface="Cambria Math" panose="02040503050406030204" pitchFamily="18" charset="0"/>
                              </a:rPr>
                            </m:ctrlPr>
                          </m:sSubPr>
                          <m:e>
                            <m:r>
                              <a:rPr lang="pl-PL" sz="1300" i="1">
                                <a:latin typeface="Cambria Math"/>
                              </a:rPr>
                              <m:t>𝑉</m:t>
                            </m:r>
                          </m:e>
                          <m:sub>
                            <m:r>
                              <a:rPr lang="pl-PL" sz="1300" i="1">
                                <a:latin typeface="Cambria Math"/>
                              </a:rPr>
                              <m:t>𝑡</m:t>
                            </m:r>
                          </m:sub>
                        </m:sSub>
                      </m:e>
                      <m:sub/>
                      <m:sup>
                        <m:r>
                          <a:rPr lang="pl-PL" sz="1300" i="1">
                            <a:latin typeface="Cambria Math"/>
                          </a:rPr>
                          <m:t>𝑑</m:t>
                        </m:r>
                      </m:sup>
                    </m:sSubSup>
                  </m:oMath>
                </a14:m>
                <a:r>
                  <a:rPr lang="pl-PL" sz="1300" dirty="0"/>
                  <a:t>]</a:t>
                </a:r>
                <a:endParaRPr lang="en-US" sz="1300" dirty="0"/>
              </a:p>
            </p:txBody>
          </p:sp>
        </mc:Choice>
        <mc:Fallback xmlns="">
          <p:sp>
            <p:nvSpPr>
              <p:cNvPr id="50" name="TextBox 49"/>
              <p:cNvSpPr txBox="1">
                <a:spLocks noRot="1" noChangeAspect="1" noMove="1" noResize="1" noEditPoints="1" noAdjustHandles="1" noChangeArrowheads="1" noChangeShapeType="1" noTextEdit="1"/>
              </p:cNvSpPr>
              <p:nvPr/>
            </p:nvSpPr>
            <p:spPr>
              <a:xfrm>
                <a:off x="288174" y="5352255"/>
                <a:ext cx="831273" cy="385948"/>
              </a:xfrm>
              <a:prstGeom prst="rect">
                <a:avLst/>
              </a:prstGeom>
              <a:blipFill rotWithShape="1">
                <a:blip r:embed="rId27"/>
                <a:stretch>
                  <a:fillRect l="-6569" t="-9524" r="-168613"/>
                </a:stretch>
              </a:blipFill>
            </p:spPr>
            <p:txBody>
              <a:bodyPr/>
              <a:lstStyle/>
              <a:p>
                <a:r>
                  <a:rPr lang="en-US">
                    <a:noFill/>
                  </a:rPr>
                  <a:t> </a:t>
                </a:r>
              </a:p>
            </p:txBody>
          </p:sp>
        </mc:Fallback>
      </mc:AlternateContent>
      <p:cxnSp>
        <p:nvCxnSpPr>
          <p:cNvPr id="51" name="Straight Arrow Connector 50"/>
          <p:cNvCxnSpPr/>
          <p:nvPr/>
        </p:nvCxnSpPr>
        <p:spPr>
          <a:xfrm flipV="1">
            <a:off x="3784097" y="1983656"/>
            <a:ext cx="1265915" cy="189091"/>
          </a:xfrm>
          <a:prstGeom prst="straightConnector1">
            <a:avLst/>
          </a:prstGeom>
          <a:ln w="19050">
            <a:solidFill>
              <a:srgbClr val="7B7D80"/>
            </a:solidFill>
            <a:tailEnd type="arrow"/>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p:nvPr/>
        </p:nvCxnSpPr>
        <p:spPr>
          <a:xfrm>
            <a:off x="3784098" y="2234960"/>
            <a:ext cx="1265914" cy="204547"/>
          </a:xfrm>
          <a:prstGeom prst="straightConnector1">
            <a:avLst/>
          </a:prstGeom>
          <a:ln w="19050">
            <a:solidFill>
              <a:srgbClr val="7B7D80"/>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3" name="TextBox 52"/>
              <p:cNvSpPr txBox="1"/>
              <p:nvPr/>
            </p:nvSpPr>
            <p:spPr>
              <a:xfrm>
                <a:off x="4132602" y="1781675"/>
                <a:ext cx="669222" cy="385948"/>
              </a:xfrm>
              <a:prstGeom prst="rect">
                <a:avLst/>
              </a:prstGeom>
              <a:noFill/>
            </p:spPr>
            <p:txBody>
              <a:bodyPr wrap="none" lIns="0" tIns="0" rIns="0" bIns="0" rtlCol="0">
                <a:noAutofit/>
              </a:bodyPr>
              <a:lstStyle/>
              <a:p>
                <a:pPr/>
                <a14:m>
                  <m:oMathPara xmlns:m="http://schemas.openxmlformats.org/officeDocument/2006/math">
                    <m:oMathParaPr>
                      <m:jc m:val="centerGroup"/>
                    </m:oMathParaPr>
                    <m:oMath xmlns:m="http://schemas.openxmlformats.org/officeDocument/2006/math">
                      <m:r>
                        <a:rPr lang="pl-PL" sz="1300" i="1">
                          <a:latin typeface="Cambria Math"/>
                        </a:rPr>
                        <m:t>𝑝</m:t>
                      </m:r>
                    </m:oMath>
                  </m:oMathPara>
                </a14:m>
                <a:endParaRPr lang="en-US" sz="1300" dirty="0"/>
              </a:p>
            </p:txBody>
          </p:sp>
        </mc:Choice>
        <mc:Fallback xmlns="">
          <p:sp>
            <p:nvSpPr>
              <p:cNvPr id="53" name="TextBox 52"/>
              <p:cNvSpPr txBox="1">
                <a:spLocks noRot="1" noChangeAspect="1" noMove="1" noResize="1" noEditPoints="1" noAdjustHandles="1" noChangeArrowheads="1" noChangeShapeType="1" noTextEdit="1"/>
              </p:cNvSpPr>
              <p:nvPr/>
            </p:nvSpPr>
            <p:spPr>
              <a:xfrm>
                <a:off x="4132602" y="1781675"/>
                <a:ext cx="669222" cy="385948"/>
              </a:xfrm>
              <a:prstGeom prst="rect">
                <a:avLst/>
              </a:prstGeom>
              <a:blipFill rotWithShape="1">
                <a:blip r:embed="rId2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TextBox 53"/>
              <p:cNvSpPr txBox="1"/>
              <p:nvPr/>
            </p:nvSpPr>
            <p:spPr>
              <a:xfrm>
                <a:off x="4132602" y="2137791"/>
                <a:ext cx="669222" cy="385948"/>
              </a:xfrm>
              <a:prstGeom prst="rect">
                <a:avLst/>
              </a:prstGeom>
              <a:noFill/>
            </p:spPr>
            <p:txBody>
              <a:bodyPr wrap="none" lIns="0" tIns="0" rIns="0" bIns="0" rtlCol="0">
                <a:noAutofit/>
              </a:bodyPr>
              <a:lstStyle/>
              <a:p>
                <a:pPr/>
                <a14:m>
                  <m:oMathPara xmlns:m="http://schemas.openxmlformats.org/officeDocument/2006/math">
                    <m:oMathParaPr>
                      <m:jc m:val="centerGroup"/>
                    </m:oMathParaPr>
                    <m:oMath xmlns:m="http://schemas.openxmlformats.org/officeDocument/2006/math">
                      <m:r>
                        <a:rPr lang="pl-PL" sz="1300" i="1">
                          <a:latin typeface="Cambria Math"/>
                        </a:rPr>
                        <m:t>1−</m:t>
                      </m:r>
                      <m:r>
                        <a:rPr lang="pl-PL" sz="1300" i="1">
                          <a:latin typeface="Cambria Math"/>
                        </a:rPr>
                        <m:t>𝑝</m:t>
                      </m:r>
                    </m:oMath>
                  </m:oMathPara>
                </a14:m>
                <a:endParaRPr lang="en-US" sz="1300" dirty="0"/>
              </a:p>
            </p:txBody>
          </p:sp>
        </mc:Choice>
        <mc:Fallback xmlns="">
          <p:sp>
            <p:nvSpPr>
              <p:cNvPr id="54" name="TextBox 53"/>
              <p:cNvSpPr txBox="1">
                <a:spLocks noRot="1" noChangeAspect="1" noMove="1" noResize="1" noEditPoints="1" noAdjustHandles="1" noChangeArrowheads="1" noChangeShapeType="1" noTextEdit="1"/>
              </p:cNvSpPr>
              <p:nvPr/>
            </p:nvSpPr>
            <p:spPr>
              <a:xfrm>
                <a:off x="4132602" y="2137791"/>
                <a:ext cx="669222" cy="385948"/>
              </a:xfrm>
              <a:prstGeom prst="rect">
                <a:avLst/>
              </a:prstGeom>
              <a:blipFill rotWithShape="1">
                <a:blip r:embed="rId21"/>
                <a:stretch>
                  <a:fillRect/>
                </a:stretch>
              </a:blipFill>
            </p:spPr>
            <p:txBody>
              <a:bodyPr/>
              <a:lstStyle/>
              <a:p>
                <a:r>
                  <a:rPr lang="en-US">
                    <a:noFill/>
                  </a:rPr>
                  <a:t> </a:t>
                </a:r>
              </a:p>
            </p:txBody>
          </p:sp>
        </mc:Fallback>
      </mc:AlternateContent>
      <p:cxnSp>
        <p:nvCxnSpPr>
          <p:cNvPr id="55" name="Straight Arrow Connector 54"/>
          <p:cNvCxnSpPr/>
          <p:nvPr/>
        </p:nvCxnSpPr>
        <p:spPr>
          <a:xfrm flipV="1">
            <a:off x="3784097" y="2504958"/>
            <a:ext cx="1265915" cy="189091"/>
          </a:xfrm>
          <a:prstGeom prst="straightConnector1">
            <a:avLst/>
          </a:prstGeom>
          <a:ln w="19050">
            <a:solidFill>
              <a:srgbClr val="7B7D80"/>
            </a:solidFill>
            <a:tailEnd type="arrow"/>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p:nvPr/>
        </p:nvCxnSpPr>
        <p:spPr>
          <a:xfrm>
            <a:off x="3784098" y="2756262"/>
            <a:ext cx="1265914" cy="204547"/>
          </a:xfrm>
          <a:prstGeom prst="straightConnector1">
            <a:avLst/>
          </a:prstGeom>
          <a:ln w="19050">
            <a:solidFill>
              <a:srgbClr val="7B7D80"/>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7" name="TextBox 56"/>
              <p:cNvSpPr txBox="1"/>
              <p:nvPr/>
            </p:nvSpPr>
            <p:spPr>
              <a:xfrm>
                <a:off x="4122820" y="2353930"/>
                <a:ext cx="669222" cy="385948"/>
              </a:xfrm>
              <a:prstGeom prst="rect">
                <a:avLst/>
              </a:prstGeom>
              <a:noFill/>
            </p:spPr>
            <p:txBody>
              <a:bodyPr wrap="none" lIns="0" tIns="0" rIns="0" bIns="0" rtlCol="0">
                <a:noAutofit/>
              </a:bodyPr>
              <a:lstStyle/>
              <a:p>
                <a:pPr/>
                <a14:m>
                  <m:oMathPara xmlns:m="http://schemas.openxmlformats.org/officeDocument/2006/math">
                    <m:oMathParaPr>
                      <m:jc m:val="centerGroup"/>
                    </m:oMathParaPr>
                    <m:oMath xmlns:m="http://schemas.openxmlformats.org/officeDocument/2006/math">
                      <m:r>
                        <a:rPr lang="pl-PL" sz="1300" i="1">
                          <a:latin typeface="Cambria Math"/>
                        </a:rPr>
                        <m:t>𝑝</m:t>
                      </m:r>
                    </m:oMath>
                  </m:oMathPara>
                </a14:m>
                <a:endParaRPr lang="en-US" sz="1300" dirty="0"/>
              </a:p>
            </p:txBody>
          </p:sp>
        </mc:Choice>
        <mc:Fallback xmlns="">
          <p:sp>
            <p:nvSpPr>
              <p:cNvPr id="57" name="TextBox 56"/>
              <p:cNvSpPr txBox="1">
                <a:spLocks noRot="1" noChangeAspect="1" noMove="1" noResize="1" noEditPoints="1" noAdjustHandles="1" noChangeArrowheads="1" noChangeShapeType="1" noTextEdit="1"/>
              </p:cNvSpPr>
              <p:nvPr/>
            </p:nvSpPr>
            <p:spPr>
              <a:xfrm>
                <a:off x="4122820" y="2353930"/>
                <a:ext cx="669222" cy="385948"/>
              </a:xfrm>
              <a:prstGeom prst="rect">
                <a:avLst/>
              </a:prstGeom>
              <a:blipFill rotWithShape="1">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TextBox 57"/>
              <p:cNvSpPr txBox="1"/>
              <p:nvPr/>
            </p:nvSpPr>
            <p:spPr>
              <a:xfrm>
                <a:off x="4174213" y="2627721"/>
                <a:ext cx="669222" cy="385948"/>
              </a:xfrm>
              <a:prstGeom prst="rect">
                <a:avLst/>
              </a:prstGeom>
              <a:noFill/>
            </p:spPr>
            <p:txBody>
              <a:bodyPr wrap="none" lIns="0" tIns="0" rIns="0" bIns="0" rtlCol="0">
                <a:noAutofit/>
              </a:bodyPr>
              <a:lstStyle/>
              <a:p>
                <a:pPr/>
                <a14:m>
                  <m:oMathPara xmlns:m="http://schemas.openxmlformats.org/officeDocument/2006/math">
                    <m:oMathParaPr>
                      <m:jc m:val="centerGroup"/>
                    </m:oMathParaPr>
                    <m:oMath xmlns:m="http://schemas.openxmlformats.org/officeDocument/2006/math">
                      <m:r>
                        <a:rPr lang="pl-PL" sz="1300" i="1">
                          <a:latin typeface="Cambria Math"/>
                        </a:rPr>
                        <m:t>1−</m:t>
                      </m:r>
                      <m:r>
                        <a:rPr lang="pl-PL" sz="1300" i="1">
                          <a:latin typeface="Cambria Math"/>
                        </a:rPr>
                        <m:t>𝑝</m:t>
                      </m:r>
                    </m:oMath>
                  </m:oMathPara>
                </a14:m>
                <a:endParaRPr lang="en-US" sz="1300" dirty="0"/>
              </a:p>
            </p:txBody>
          </p:sp>
        </mc:Choice>
        <mc:Fallback xmlns="">
          <p:sp>
            <p:nvSpPr>
              <p:cNvPr id="58" name="TextBox 57"/>
              <p:cNvSpPr txBox="1">
                <a:spLocks noRot="1" noChangeAspect="1" noMove="1" noResize="1" noEditPoints="1" noAdjustHandles="1" noChangeArrowheads="1" noChangeShapeType="1" noTextEdit="1"/>
              </p:cNvSpPr>
              <p:nvPr/>
            </p:nvSpPr>
            <p:spPr>
              <a:xfrm>
                <a:off x="4174213" y="2627721"/>
                <a:ext cx="669222" cy="385948"/>
              </a:xfrm>
              <a:prstGeom prst="rect">
                <a:avLst/>
              </a:prstGeom>
              <a:blipFill rotWithShape="1">
                <a:blip r:embed="rId21"/>
                <a:stretch>
                  <a:fillRect/>
                </a:stretch>
              </a:blipFill>
            </p:spPr>
            <p:txBody>
              <a:bodyPr/>
              <a:lstStyle/>
              <a:p>
                <a:r>
                  <a:rPr lang="en-US">
                    <a:noFill/>
                  </a:rPr>
                  <a:t> </a:t>
                </a:r>
              </a:p>
            </p:txBody>
          </p:sp>
        </mc:Fallback>
      </mc:AlternateContent>
      <p:sp>
        <p:nvSpPr>
          <p:cNvPr id="59" name="TextBox 58"/>
          <p:cNvSpPr txBox="1"/>
          <p:nvPr/>
        </p:nvSpPr>
        <p:spPr>
          <a:xfrm>
            <a:off x="399124" y="1511584"/>
            <a:ext cx="831273" cy="279083"/>
          </a:xfrm>
          <a:prstGeom prst="rect">
            <a:avLst/>
          </a:prstGeom>
          <a:noFill/>
        </p:spPr>
        <p:txBody>
          <a:bodyPr wrap="none" lIns="0" tIns="0" rIns="0" bIns="0" rtlCol="0">
            <a:noAutofit/>
          </a:bodyPr>
          <a:lstStyle/>
          <a:p>
            <a:r>
              <a:rPr lang="pl-PL" sz="1400" dirty="0"/>
              <a:t>Example: stock price evolution – 2-step binomial tree</a:t>
            </a:r>
          </a:p>
        </p:txBody>
      </p:sp>
    </p:spTree>
    <p:custDataLst>
      <p:tags r:id="rId1"/>
    </p:custDataLst>
    <p:extLst>
      <p:ext uri="{BB962C8B-B14F-4D97-AF65-F5344CB8AC3E}">
        <p14:creationId xmlns:p14="http://schemas.microsoft.com/office/powerpoint/2010/main" val="18724898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AGE HEADING"/>
          <p:cNvSpPr>
            <a:spLocks noGrp="1"/>
          </p:cNvSpPr>
          <p:nvPr>
            <p:ph type="title"/>
            <p:custDataLst>
              <p:tags r:id="rId2"/>
            </p:custDataLst>
          </p:nvPr>
        </p:nvSpPr>
        <p:spPr/>
        <p:txBody>
          <a:bodyPr>
            <a:normAutofit/>
          </a:bodyPr>
          <a:lstStyle/>
          <a:p>
            <a:r>
              <a:rPr lang="en-US" dirty="0"/>
              <a:t>Backward Induction and American Monte-Carlo Methods</a:t>
            </a:r>
          </a:p>
        </p:txBody>
      </p:sp>
      <p:sp>
        <p:nvSpPr>
          <p:cNvPr id="59" name="Content Placeholder 10"/>
          <p:cNvSpPr>
            <a:spLocks noGrp="1"/>
          </p:cNvSpPr>
          <p:nvPr>
            <p:ph idx="1"/>
          </p:nvPr>
        </p:nvSpPr>
        <p:spPr>
          <a:xfrm>
            <a:off x="382385" y="2012785"/>
            <a:ext cx="8354291" cy="4326992"/>
          </a:xfrm>
        </p:spPr>
        <p:txBody>
          <a:bodyPr/>
          <a:lstStyle/>
          <a:p>
            <a:pPr marL="0" indent="0">
              <a:buNone/>
            </a:pPr>
            <a:endParaRPr lang="pl-PL" sz="1300" dirty="0"/>
          </a:p>
          <a:p>
            <a:pPr marL="0" indent="0">
              <a:buNone/>
            </a:pPr>
            <a:endParaRPr lang="pl-PL" sz="1300" dirty="0"/>
          </a:p>
          <a:p>
            <a:pPr marL="0" indent="0">
              <a:buNone/>
            </a:pPr>
            <a:r>
              <a:rPr lang="pl-PL" sz="1300" dirty="0"/>
              <a:t> </a:t>
            </a:r>
            <a:endParaRPr lang="en-US" sz="1300" dirty="0"/>
          </a:p>
        </p:txBody>
      </p:sp>
      <p:sp>
        <p:nvSpPr>
          <p:cNvPr id="60" name="TextBox 59"/>
          <p:cNvSpPr txBox="1"/>
          <p:nvPr/>
        </p:nvSpPr>
        <p:spPr>
          <a:xfrm>
            <a:off x="5848125" y="3423190"/>
            <a:ext cx="831273" cy="445325"/>
          </a:xfrm>
          <a:prstGeom prst="rect">
            <a:avLst/>
          </a:prstGeom>
          <a:noFill/>
        </p:spPr>
        <p:txBody>
          <a:bodyPr wrap="none" lIns="0" tIns="0" rIns="0" bIns="0" rtlCol="0">
            <a:noAutofit/>
          </a:bodyPr>
          <a:lstStyle/>
          <a:p>
            <a:endParaRPr lang="en-US" sz="1300" dirty="0"/>
          </a:p>
        </p:txBody>
      </p:sp>
      <p:sp>
        <p:nvSpPr>
          <p:cNvPr id="61" name="TextBox 60"/>
          <p:cNvSpPr txBox="1"/>
          <p:nvPr/>
        </p:nvSpPr>
        <p:spPr>
          <a:xfrm>
            <a:off x="7930644" y="4311418"/>
            <a:ext cx="831273" cy="385948"/>
          </a:xfrm>
          <a:prstGeom prst="rect">
            <a:avLst/>
          </a:prstGeom>
          <a:noFill/>
        </p:spPr>
        <p:txBody>
          <a:bodyPr wrap="none" lIns="0" tIns="0" rIns="0" bIns="0" rtlCol="0">
            <a:noAutofit/>
          </a:bodyPr>
          <a:lstStyle/>
          <a:p>
            <a:endParaRPr lang="en-US" sz="1300" dirty="0"/>
          </a:p>
        </p:txBody>
      </p:sp>
      <p:sp>
        <p:nvSpPr>
          <p:cNvPr id="62" name="TextBox 61"/>
          <p:cNvSpPr txBox="1"/>
          <p:nvPr/>
        </p:nvSpPr>
        <p:spPr>
          <a:xfrm>
            <a:off x="6132814" y="3783577"/>
            <a:ext cx="831273" cy="445325"/>
          </a:xfrm>
          <a:prstGeom prst="rect">
            <a:avLst/>
          </a:prstGeom>
          <a:noFill/>
        </p:spPr>
        <p:txBody>
          <a:bodyPr wrap="none" lIns="0" tIns="0" rIns="0" bIns="0" rtlCol="0">
            <a:noAutofit/>
          </a:bodyPr>
          <a:lstStyle/>
          <a:p>
            <a:endParaRPr lang="en-US" sz="1300" dirty="0"/>
          </a:p>
        </p:txBody>
      </p:sp>
      <p:sp>
        <p:nvSpPr>
          <p:cNvPr id="63" name="TextBox 62"/>
          <p:cNvSpPr txBox="1"/>
          <p:nvPr/>
        </p:nvSpPr>
        <p:spPr>
          <a:xfrm>
            <a:off x="6132814" y="4540629"/>
            <a:ext cx="831273" cy="445325"/>
          </a:xfrm>
          <a:prstGeom prst="rect">
            <a:avLst/>
          </a:prstGeom>
          <a:noFill/>
        </p:spPr>
        <p:txBody>
          <a:bodyPr wrap="none" lIns="0" tIns="0" rIns="0" bIns="0" rtlCol="0">
            <a:noAutofit/>
          </a:bodyPr>
          <a:lstStyle/>
          <a:p>
            <a:endParaRPr lang="en-US" sz="1300" dirty="0"/>
          </a:p>
        </p:txBody>
      </p:sp>
      <p:sp>
        <p:nvSpPr>
          <p:cNvPr id="64" name="TextBox 63"/>
          <p:cNvSpPr txBox="1"/>
          <p:nvPr/>
        </p:nvSpPr>
        <p:spPr>
          <a:xfrm>
            <a:off x="6211491" y="3409826"/>
            <a:ext cx="831273" cy="385948"/>
          </a:xfrm>
          <a:prstGeom prst="rect">
            <a:avLst/>
          </a:prstGeom>
          <a:noFill/>
        </p:spPr>
        <p:txBody>
          <a:bodyPr wrap="none" lIns="0" tIns="0" rIns="0" bIns="0" rtlCol="0">
            <a:noAutofit/>
          </a:bodyPr>
          <a:lstStyle/>
          <a:p>
            <a:endParaRPr lang="en-US" sz="1300" dirty="0"/>
          </a:p>
        </p:txBody>
      </p:sp>
      <mc:AlternateContent xmlns:mc="http://schemas.openxmlformats.org/markup-compatibility/2006" xmlns:a14="http://schemas.microsoft.com/office/drawing/2010/main">
        <mc:Choice Requires="a14">
          <p:sp>
            <p:nvSpPr>
              <p:cNvPr id="65" name="TextBox 64"/>
              <p:cNvSpPr txBox="1"/>
              <p:nvPr/>
            </p:nvSpPr>
            <p:spPr>
              <a:xfrm>
                <a:off x="6772557" y="3163604"/>
                <a:ext cx="669222" cy="385948"/>
              </a:xfrm>
              <a:prstGeom prst="rect">
                <a:avLst/>
              </a:prstGeom>
              <a:noFill/>
            </p:spPr>
            <p:txBody>
              <a:bodyPr wrap="none" lIns="0" tIns="0" rIns="0" bIns="0" rtlCol="0">
                <a:noAutofit/>
              </a:bodyPr>
              <a:lstStyle/>
              <a:p>
                <a:pPr/>
                <a14:m>
                  <m:oMathPara xmlns:m="http://schemas.openxmlformats.org/officeDocument/2006/math">
                    <m:oMathParaPr>
                      <m:jc m:val="centerGroup"/>
                    </m:oMathParaPr>
                    <m:oMath xmlns:m="http://schemas.openxmlformats.org/officeDocument/2006/math">
                      <m:sSub>
                        <m:sSubPr>
                          <m:ctrlPr>
                            <a:rPr lang="el-GR" sz="1300" i="1">
                              <a:latin typeface="Cambria Math" panose="02040503050406030204" pitchFamily="18" charset="0"/>
                            </a:rPr>
                          </m:ctrlPr>
                        </m:sSubPr>
                        <m:e>
                          <m:r>
                            <a:rPr lang="pl-PL" sz="1300" i="1">
                              <a:latin typeface="Cambria Math"/>
                            </a:rPr>
                            <m:t>    </m:t>
                          </m:r>
                          <m:r>
                            <a:rPr lang="pl-PL" sz="1300" i="1">
                              <a:latin typeface="Cambria Math"/>
                            </a:rPr>
                            <m:t>𝐻</m:t>
                          </m:r>
                        </m:e>
                        <m:sub>
                          <m:r>
                            <a:rPr lang="pl-PL" sz="1300" i="1">
                              <a:latin typeface="Cambria Math"/>
                            </a:rPr>
                            <m:t>𝑢𝑢</m:t>
                          </m:r>
                        </m:sub>
                      </m:sSub>
                      <m:r>
                        <a:rPr lang="pl-PL" sz="1300" i="1">
                          <a:latin typeface="Cambria Math"/>
                        </a:rPr>
                        <m:t>=</m:t>
                      </m:r>
                      <m:r>
                        <m:rPr>
                          <m:sty m:val="p"/>
                        </m:rPr>
                        <a:rPr lang="pl-PL" sz="1300">
                          <a:latin typeface="Cambria Math"/>
                        </a:rPr>
                        <m:t>max</m:t>
                      </m:r>
                      <m:r>
                        <a:rPr lang="pl-PL" sz="1300" i="1">
                          <a:latin typeface="Cambria Math"/>
                        </a:rPr>
                        <m:t>⁡(</m:t>
                      </m:r>
                      <m:sSub>
                        <m:sSubPr>
                          <m:ctrlPr>
                            <a:rPr lang="pl-PL" sz="1300" i="1">
                              <a:latin typeface="Cambria Math" panose="02040503050406030204" pitchFamily="18" charset="0"/>
                            </a:rPr>
                          </m:ctrlPr>
                        </m:sSubPr>
                        <m:e>
                          <m:r>
                            <a:rPr lang="pl-PL" sz="1300" i="1">
                              <a:latin typeface="Cambria Math"/>
                            </a:rPr>
                            <m:t>𝑆</m:t>
                          </m:r>
                        </m:e>
                        <m:sub>
                          <m:r>
                            <a:rPr lang="pl-PL" sz="1300" i="1">
                              <a:latin typeface="Cambria Math"/>
                            </a:rPr>
                            <m:t>0</m:t>
                          </m:r>
                        </m:sub>
                      </m:sSub>
                      <m:sSup>
                        <m:sSupPr>
                          <m:ctrlPr>
                            <a:rPr lang="pl-PL" sz="1300" i="1">
                              <a:latin typeface="Cambria Math" panose="02040503050406030204" pitchFamily="18" charset="0"/>
                            </a:rPr>
                          </m:ctrlPr>
                        </m:sSupPr>
                        <m:e>
                          <m:r>
                            <a:rPr lang="pl-PL" sz="1300" i="1">
                              <a:latin typeface="Cambria Math"/>
                            </a:rPr>
                            <m:t>𝑢</m:t>
                          </m:r>
                        </m:e>
                        <m:sup>
                          <m:r>
                            <a:rPr lang="pl-PL" sz="1300" i="1">
                              <a:latin typeface="Cambria Math"/>
                            </a:rPr>
                            <m:t>2</m:t>
                          </m:r>
                        </m:sup>
                      </m:sSup>
                      <m:r>
                        <a:rPr lang="pl-PL" sz="1300" i="1">
                          <a:latin typeface="Cambria Math"/>
                        </a:rPr>
                        <m:t>−</m:t>
                      </m:r>
                      <m:r>
                        <a:rPr lang="pl-PL" sz="1300" i="1">
                          <a:latin typeface="Cambria Math"/>
                        </a:rPr>
                        <m:t>𝐾</m:t>
                      </m:r>
                      <m:r>
                        <a:rPr lang="pl-PL" sz="1300" i="1">
                          <a:latin typeface="Cambria Math"/>
                        </a:rPr>
                        <m:t>,0)</m:t>
                      </m:r>
                    </m:oMath>
                  </m:oMathPara>
                </a14:m>
                <a:endParaRPr lang="en-US" sz="1300" dirty="0"/>
              </a:p>
              <a:p>
                <a:endParaRPr lang="en-US" sz="1300" dirty="0"/>
              </a:p>
            </p:txBody>
          </p:sp>
        </mc:Choice>
        <mc:Fallback xmlns="">
          <p:sp>
            <p:nvSpPr>
              <p:cNvPr id="65" name="TextBox 64"/>
              <p:cNvSpPr txBox="1">
                <a:spLocks noRot="1" noChangeAspect="1" noMove="1" noResize="1" noEditPoints="1" noAdjustHandles="1" noChangeArrowheads="1" noChangeShapeType="1" noTextEdit="1"/>
              </p:cNvSpPr>
              <p:nvPr/>
            </p:nvSpPr>
            <p:spPr>
              <a:xfrm>
                <a:off x="6772557" y="3163604"/>
                <a:ext cx="669222" cy="385948"/>
              </a:xfrm>
              <a:prstGeom prst="rect">
                <a:avLst/>
              </a:prstGeom>
              <a:blipFill rotWithShape="1">
                <a:blip r:embed="rId6"/>
                <a:stretch>
                  <a:fillRect l="-909" t="-1587" r="-184545"/>
                </a:stretch>
              </a:blipFill>
            </p:spPr>
            <p:txBody>
              <a:bodyPr/>
              <a:lstStyle/>
              <a:p>
                <a:r>
                  <a:rPr lang="en-US">
                    <a:noFill/>
                  </a:rPr>
                  <a:t> </a:t>
                </a:r>
              </a:p>
            </p:txBody>
          </p:sp>
        </mc:Fallback>
      </mc:AlternateContent>
      <p:cxnSp>
        <p:nvCxnSpPr>
          <p:cNvPr id="68" name="Straight Arrow Connector 67"/>
          <p:cNvCxnSpPr/>
          <p:nvPr/>
        </p:nvCxnSpPr>
        <p:spPr>
          <a:xfrm flipV="1">
            <a:off x="6322834" y="3312932"/>
            <a:ext cx="542872" cy="288401"/>
          </a:xfrm>
          <a:prstGeom prst="straightConnector1">
            <a:avLst/>
          </a:prstGeom>
          <a:ln w="19050">
            <a:solidFill>
              <a:srgbClr val="7B7D80"/>
            </a:solidFill>
            <a:tailEnd type="arrow"/>
          </a:ln>
        </p:spPr>
        <p:style>
          <a:lnRef idx="1">
            <a:schemeClr val="accent1"/>
          </a:lnRef>
          <a:fillRef idx="0">
            <a:schemeClr val="accent1"/>
          </a:fillRef>
          <a:effectRef idx="0">
            <a:schemeClr val="accent1"/>
          </a:effectRef>
          <a:fontRef idx="minor">
            <a:schemeClr val="tx1"/>
          </a:fontRef>
        </p:style>
      </p:cxnSp>
      <p:cxnSp>
        <p:nvCxnSpPr>
          <p:cNvPr id="75" name="Straight Arrow Connector 74"/>
          <p:cNvCxnSpPr/>
          <p:nvPr/>
        </p:nvCxnSpPr>
        <p:spPr>
          <a:xfrm>
            <a:off x="6322834" y="3650990"/>
            <a:ext cx="542872" cy="296884"/>
          </a:xfrm>
          <a:prstGeom prst="straightConnector1">
            <a:avLst/>
          </a:prstGeom>
          <a:ln w="19050">
            <a:solidFill>
              <a:srgbClr val="7B7D80"/>
            </a:solidFill>
            <a:tailEnd type="arrow"/>
          </a:ln>
        </p:spPr>
        <p:style>
          <a:lnRef idx="1">
            <a:schemeClr val="accent1"/>
          </a:lnRef>
          <a:fillRef idx="0">
            <a:schemeClr val="accent1"/>
          </a:fillRef>
          <a:effectRef idx="0">
            <a:schemeClr val="accent1"/>
          </a:effectRef>
          <a:fontRef idx="minor">
            <a:schemeClr val="tx1"/>
          </a:fontRef>
        </p:style>
      </p:cxnSp>
      <p:cxnSp>
        <p:nvCxnSpPr>
          <p:cNvPr id="76" name="Straight Arrow Connector 75"/>
          <p:cNvCxnSpPr/>
          <p:nvPr/>
        </p:nvCxnSpPr>
        <p:spPr>
          <a:xfrm flipV="1">
            <a:off x="6315753" y="3987816"/>
            <a:ext cx="542872" cy="288401"/>
          </a:xfrm>
          <a:prstGeom prst="straightConnector1">
            <a:avLst/>
          </a:prstGeom>
          <a:ln w="19050">
            <a:solidFill>
              <a:srgbClr val="7B7D80"/>
            </a:solidFill>
            <a:tailEnd type="arrow"/>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p:nvPr/>
        </p:nvCxnSpPr>
        <p:spPr>
          <a:xfrm>
            <a:off x="6315753" y="4325874"/>
            <a:ext cx="542872" cy="296884"/>
          </a:xfrm>
          <a:prstGeom prst="straightConnector1">
            <a:avLst/>
          </a:prstGeom>
          <a:ln w="19050">
            <a:solidFill>
              <a:srgbClr val="7B7D80"/>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0" name="TextBox 79"/>
              <p:cNvSpPr txBox="1"/>
              <p:nvPr/>
            </p:nvSpPr>
            <p:spPr>
              <a:xfrm>
                <a:off x="6891768" y="3797995"/>
                <a:ext cx="669222" cy="385948"/>
              </a:xfrm>
              <a:prstGeom prst="rect">
                <a:avLst/>
              </a:prstGeom>
              <a:noFill/>
            </p:spPr>
            <p:txBody>
              <a:bodyPr wrap="none" lIns="0" tIns="0" rIns="0" bIns="0" rtlCol="0">
                <a:noAutofit/>
              </a:bodyPr>
              <a:lstStyle/>
              <a:p>
                <a:pPr/>
                <a14:m>
                  <m:oMathPara xmlns:m="http://schemas.openxmlformats.org/officeDocument/2006/math">
                    <m:oMathParaPr>
                      <m:jc m:val="centerGroup"/>
                    </m:oMathParaPr>
                    <m:oMath xmlns:m="http://schemas.openxmlformats.org/officeDocument/2006/math">
                      <m:sSub>
                        <m:sSubPr>
                          <m:ctrlPr>
                            <a:rPr lang="el-GR" sz="1300" i="1">
                              <a:latin typeface="Cambria Math" panose="02040503050406030204" pitchFamily="18" charset="0"/>
                            </a:rPr>
                          </m:ctrlPr>
                        </m:sSubPr>
                        <m:e>
                          <m:r>
                            <a:rPr lang="pl-PL" sz="1300" i="1">
                              <a:latin typeface="Cambria Math"/>
                            </a:rPr>
                            <m:t>𝐻</m:t>
                          </m:r>
                        </m:e>
                        <m:sub>
                          <m:r>
                            <a:rPr lang="pl-PL" sz="1300" i="1">
                              <a:latin typeface="Cambria Math"/>
                            </a:rPr>
                            <m:t>𝑢𝑑</m:t>
                          </m:r>
                        </m:sub>
                      </m:sSub>
                      <m:r>
                        <a:rPr lang="pl-PL" sz="1300" i="1">
                          <a:latin typeface="Cambria Math"/>
                        </a:rPr>
                        <m:t>=</m:t>
                      </m:r>
                      <m:r>
                        <m:rPr>
                          <m:sty m:val="p"/>
                        </m:rPr>
                        <a:rPr lang="pl-PL" sz="1300">
                          <a:latin typeface="Cambria Math"/>
                        </a:rPr>
                        <m:t>max</m:t>
                      </m:r>
                      <m:r>
                        <a:rPr lang="pl-PL" sz="1300" i="1">
                          <a:latin typeface="Cambria Math"/>
                        </a:rPr>
                        <m:t>⁡(</m:t>
                      </m:r>
                      <m:sSub>
                        <m:sSubPr>
                          <m:ctrlPr>
                            <a:rPr lang="pl-PL" sz="1300" i="1">
                              <a:latin typeface="Cambria Math" panose="02040503050406030204" pitchFamily="18" charset="0"/>
                            </a:rPr>
                          </m:ctrlPr>
                        </m:sSubPr>
                        <m:e>
                          <m:r>
                            <a:rPr lang="pl-PL" sz="1300" i="1">
                              <a:latin typeface="Cambria Math"/>
                            </a:rPr>
                            <m:t>𝑆</m:t>
                          </m:r>
                        </m:e>
                        <m:sub>
                          <m:r>
                            <a:rPr lang="pl-PL" sz="1300" i="1">
                              <a:latin typeface="Cambria Math"/>
                            </a:rPr>
                            <m:t>0</m:t>
                          </m:r>
                        </m:sub>
                      </m:sSub>
                      <m:r>
                        <a:rPr lang="pl-PL" sz="1300" i="1">
                          <a:latin typeface="Cambria Math"/>
                        </a:rPr>
                        <m:t>𝑢𝑑</m:t>
                      </m:r>
                      <m:r>
                        <a:rPr lang="pl-PL" sz="1300" i="1">
                          <a:latin typeface="Cambria Math"/>
                        </a:rPr>
                        <m:t>−</m:t>
                      </m:r>
                      <m:r>
                        <a:rPr lang="pl-PL" sz="1300" i="1">
                          <a:latin typeface="Cambria Math"/>
                        </a:rPr>
                        <m:t>𝐾</m:t>
                      </m:r>
                      <m:r>
                        <a:rPr lang="pl-PL" sz="1300" i="1">
                          <a:latin typeface="Cambria Math"/>
                        </a:rPr>
                        <m:t>,0)</m:t>
                      </m:r>
                    </m:oMath>
                  </m:oMathPara>
                </a14:m>
                <a:endParaRPr lang="en-US" sz="1300" dirty="0"/>
              </a:p>
            </p:txBody>
          </p:sp>
        </mc:Choice>
        <mc:Fallback xmlns="">
          <p:sp>
            <p:nvSpPr>
              <p:cNvPr id="80" name="TextBox 79"/>
              <p:cNvSpPr txBox="1">
                <a:spLocks noRot="1" noChangeAspect="1" noMove="1" noResize="1" noEditPoints="1" noAdjustHandles="1" noChangeArrowheads="1" noChangeShapeType="1" noTextEdit="1"/>
              </p:cNvSpPr>
              <p:nvPr/>
            </p:nvSpPr>
            <p:spPr>
              <a:xfrm>
                <a:off x="6891768" y="3797995"/>
                <a:ext cx="669222" cy="385948"/>
              </a:xfrm>
              <a:prstGeom prst="rect">
                <a:avLst/>
              </a:prstGeom>
              <a:blipFill rotWithShape="1">
                <a:blip r:embed="rId7"/>
                <a:stretch>
                  <a:fillRect l="-9174" r="-1752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2" name="TextBox 81"/>
              <p:cNvSpPr txBox="1"/>
              <p:nvPr/>
            </p:nvSpPr>
            <p:spPr>
              <a:xfrm>
                <a:off x="6891768" y="4495897"/>
                <a:ext cx="669222" cy="385948"/>
              </a:xfrm>
              <a:prstGeom prst="rect">
                <a:avLst/>
              </a:prstGeom>
              <a:noFill/>
            </p:spPr>
            <p:txBody>
              <a:bodyPr wrap="none" lIns="0" tIns="0" rIns="0" bIns="0" rtlCol="0">
                <a:noAutofit/>
              </a:bodyPr>
              <a:lstStyle/>
              <a:p>
                <a:pPr/>
                <a14:m>
                  <m:oMathPara xmlns:m="http://schemas.openxmlformats.org/officeDocument/2006/math">
                    <m:oMathParaPr>
                      <m:jc m:val="centerGroup"/>
                    </m:oMathParaPr>
                    <m:oMath xmlns:m="http://schemas.openxmlformats.org/officeDocument/2006/math">
                      <m:sSub>
                        <m:sSubPr>
                          <m:ctrlPr>
                            <a:rPr lang="el-GR" sz="1300" i="1">
                              <a:latin typeface="Cambria Math" panose="02040503050406030204" pitchFamily="18" charset="0"/>
                            </a:rPr>
                          </m:ctrlPr>
                        </m:sSubPr>
                        <m:e>
                          <m:r>
                            <a:rPr lang="pl-PL" sz="1300" i="1">
                              <a:latin typeface="Cambria Math"/>
                            </a:rPr>
                            <m:t>𝐻</m:t>
                          </m:r>
                        </m:e>
                        <m:sub>
                          <m:r>
                            <a:rPr lang="pl-PL" sz="1300" i="1">
                              <a:latin typeface="Cambria Math"/>
                            </a:rPr>
                            <m:t>𝑑𝑑</m:t>
                          </m:r>
                        </m:sub>
                      </m:sSub>
                      <m:r>
                        <a:rPr lang="pl-PL" sz="1300" i="1">
                          <a:latin typeface="Cambria Math"/>
                        </a:rPr>
                        <m:t>=</m:t>
                      </m:r>
                      <m:r>
                        <m:rPr>
                          <m:sty m:val="p"/>
                        </m:rPr>
                        <a:rPr lang="pl-PL" sz="1300">
                          <a:latin typeface="Cambria Math"/>
                        </a:rPr>
                        <m:t>max</m:t>
                      </m:r>
                      <m:r>
                        <a:rPr lang="pl-PL" sz="1300" i="1">
                          <a:latin typeface="Cambria Math"/>
                        </a:rPr>
                        <m:t>⁡(</m:t>
                      </m:r>
                      <m:sSub>
                        <m:sSubPr>
                          <m:ctrlPr>
                            <a:rPr lang="pl-PL" sz="1300" i="1">
                              <a:latin typeface="Cambria Math" panose="02040503050406030204" pitchFamily="18" charset="0"/>
                            </a:rPr>
                          </m:ctrlPr>
                        </m:sSubPr>
                        <m:e>
                          <m:r>
                            <a:rPr lang="pl-PL" sz="1300" i="1">
                              <a:latin typeface="Cambria Math"/>
                            </a:rPr>
                            <m:t>𝑆</m:t>
                          </m:r>
                        </m:e>
                        <m:sub>
                          <m:r>
                            <a:rPr lang="pl-PL" sz="1300" i="1">
                              <a:latin typeface="Cambria Math"/>
                            </a:rPr>
                            <m:t>0</m:t>
                          </m:r>
                        </m:sub>
                      </m:sSub>
                      <m:sSup>
                        <m:sSupPr>
                          <m:ctrlPr>
                            <a:rPr lang="pl-PL" sz="1300" i="1">
                              <a:latin typeface="Cambria Math" panose="02040503050406030204" pitchFamily="18" charset="0"/>
                            </a:rPr>
                          </m:ctrlPr>
                        </m:sSupPr>
                        <m:e>
                          <m:r>
                            <a:rPr lang="pl-PL" sz="1300" i="1">
                              <a:latin typeface="Cambria Math"/>
                            </a:rPr>
                            <m:t>𝑑</m:t>
                          </m:r>
                        </m:e>
                        <m:sup>
                          <m:r>
                            <a:rPr lang="pl-PL" sz="1300" i="1">
                              <a:latin typeface="Cambria Math"/>
                            </a:rPr>
                            <m:t>2</m:t>
                          </m:r>
                        </m:sup>
                      </m:sSup>
                      <m:r>
                        <a:rPr lang="pl-PL" sz="1300" i="1">
                          <a:latin typeface="Cambria Math"/>
                        </a:rPr>
                        <m:t>−</m:t>
                      </m:r>
                      <m:r>
                        <a:rPr lang="pl-PL" sz="1300" i="1">
                          <a:latin typeface="Cambria Math"/>
                        </a:rPr>
                        <m:t>𝐾</m:t>
                      </m:r>
                      <m:r>
                        <a:rPr lang="pl-PL" sz="1300" i="1">
                          <a:latin typeface="Cambria Math"/>
                        </a:rPr>
                        <m:t>,0)</m:t>
                      </m:r>
                    </m:oMath>
                  </m:oMathPara>
                </a14:m>
                <a:endParaRPr lang="en-US" sz="1300" dirty="0"/>
              </a:p>
              <a:p>
                <a:endParaRPr lang="en-US" sz="1300" dirty="0"/>
              </a:p>
            </p:txBody>
          </p:sp>
        </mc:Choice>
        <mc:Fallback xmlns="">
          <p:sp>
            <p:nvSpPr>
              <p:cNvPr id="82" name="TextBox 81"/>
              <p:cNvSpPr txBox="1">
                <a:spLocks noRot="1" noChangeAspect="1" noMove="1" noResize="1" noEditPoints="1" noAdjustHandles="1" noChangeArrowheads="1" noChangeShapeType="1" noTextEdit="1"/>
              </p:cNvSpPr>
              <p:nvPr/>
            </p:nvSpPr>
            <p:spPr>
              <a:xfrm>
                <a:off x="6891768" y="4495897"/>
                <a:ext cx="669222" cy="385948"/>
              </a:xfrm>
              <a:prstGeom prst="rect">
                <a:avLst/>
              </a:prstGeom>
              <a:blipFill rotWithShape="1">
                <a:blip r:embed="rId8"/>
                <a:stretch>
                  <a:fillRect l="-9174" t="-1587" r="-172477"/>
                </a:stretch>
              </a:blipFill>
            </p:spPr>
            <p:txBody>
              <a:bodyPr/>
              <a:lstStyle/>
              <a:p>
                <a:r>
                  <a:rPr lang="en-US">
                    <a:noFill/>
                  </a:rPr>
                  <a:t> </a:t>
                </a:r>
              </a:p>
            </p:txBody>
          </p:sp>
        </mc:Fallback>
      </mc:AlternateContent>
      <p:cxnSp>
        <p:nvCxnSpPr>
          <p:cNvPr id="83" name="Straight Arrow Connector 82"/>
          <p:cNvCxnSpPr/>
          <p:nvPr/>
        </p:nvCxnSpPr>
        <p:spPr>
          <a:xfrm>
            <a:off x="549643" y="4917892"/>
            <a:ext cx="8193975" cy="25623"/>
          </a:xfrm>
          <a:prstGeom prst="straightConnector1">
            <a:avLst/>
          </a:prstGeom>
          <a:ln w="19050">
            <a:solidFill>
              <a:srgbClr val="7B7D80"/>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5" name="TextBox 84"/>
              <p:cNvSpPr txBox="1"/>
              <p:nvPr/>
            </p:nvSpPr>
            <p:spPr>
              <a:xfrm>
                <a:off x="2250549" y="3540572"/>
                <a:ext cx="3858243" cy="385948"/>
              </a:xfrm>
              <a:prstGeom prst="rect">
                <a:avLst/>
              </a:prstGeom>
              <a:noFill/>
            </p:spPr>
            <p:txBody>
              <a:bodyPr wrap="none" lIns="0" tIns="0" rIns="0" bIns="0" rtlCol="0">
                <a:noAutofit/>
              </a:bodyPr>
              <a:lstStyle/>
              <a:p>
                <a14:m>
                  <m:oMath xmlns:m="http://schemas.openxmlformats.org/officeDocument/2006/math">
                    <m:sSup>
                      <m:sSupPr>
                        <m:ctrlPr>
                          <a:rPr lang="pl-PL" sz="1300" i="1">
                            <a:latin typeface="Cambria Math" panose="02040503050406030204" pitchFamily="18" charset="0"/>
                          </a:rPr>
                        </m:ctrlPr>
                      </m:sSupPr>
                      <m:e>
                        <m:sSubSup>
                          <m:sSubSupPr>
                            <m:ctrlPr>
                              <a:rPr lang="pl-PL" sz="1300" i="1">
                                <a:latin typeface="Cambria Math" panose="02040503050406030204" pitchFamily="18" charset="0"/>
                              </a:rPr>
                            </m:ctrlPr>
                          </m:sSubSupPr>
                          <m:e>
                            <m:r>
                              <a:rPr lang="pl-PL" sz="1300" i="1">
                                <a:latin typeface="Cambria Math"/>
                              </a:rPr>
                              <m:t>𝑉</m:t>
                            </m:r>
                          </m:e>
                          <m:sub/>
                          <m:sup>
                            <m:r>
                              <a:rPr lang="pl-PL" sz="1300" i="1">
                                <a:latin typeface="Cambria Math"/>
                              </a:rPr>
                              <m:t>𝑢</m:t>
                            </m:r>
                          </m:sup>
                        </m:sSubSup>
                        <m:r>
                          <a:rPr lang="pl-PL" sz="1300" i="1">
                            <a:latin typeface="Cambria Math"/>
                          </a:rPr>
                          <m:t>=</m:t>
                        </m:r>
                        <m:r>
                          <m:rPr>
                            <m:sty m:val="p"/>
                          </m:rPr>
                          <a:rPr lang="pl-PL" sz="1300">
                            <a:latin typeface="Cambria Math"/>
                          </a:rPr>
                          <m:t>max</m:t>
                        </m:r>
                        <m:r>
                          <a:rPr lang="pl-PL" sz="1300" i="1">
                            <a:latin typeface="Cambria Math"/>
                          </a:rPr>
                          <m:t>⁡(</m:t>
                        </m:r>
                        <m:r>
                          <a:rPr lang="pl-PL" sz="1300" i="1">
                            <a:latin typeface="Cambria Math"/>
                          </a:rPr>
                          <m:t>𝑒</m:t>
                        </m:r>
                      </m:e>
                      <m:sup>
                        <m:r>
                          <a:rPr lang="pl-PL" sz="1300" i="1">
                            <a:latin typeface="Cambria Math"/>
                          </a:rPr>
                          <m:t>−</m:t>
                        </m:r>
                        <m:r>
                          <a:rPr lang="pl-PL" sz="1300" i="1">
                            <a:latin typeface="Cambria Math"/>
                          </a:rPr>
                          <m:t>𝑟</m:t>
                        </m:r>
                        <m:r>
                          <a:rPr lang="pl-PL" sz="1300" i="1">
                            <a:latin typeface="Cambria Math"/>
                            <a:ea typeface="Cambria Math"/>
                          </a:rPr>
                          <m:t>∆</m:t>
                        </m:r>
                        <m:r>
                          <a:rPr lang="pl-PL" sz="1300" i="1">
                            <a:latin typeface="Cambria Math"/>
                            <a:ea typeface="Cambria Math"/>
                          </a:rPr>
                          <m:t>𝑡</m:t>
                        </m:r>
                      </m:sup>
                    </m:sSup>
                    <m:r>
                      <a:rPr lang="pl-PL" sz="1300">
                        <a:latin typeface="Cambria Math"/>
                      </a:rPr>
                      <m:t>[</m:t>
                    </m:r>
                    <m:sSub>
                      <m:sSubPr>
                        <m:ctrlPr>
                          <a:rPr lang="el-GR" sz="1300" i="1">
                            <a:latin typeface="Cambria Math" panose="02040503050406030204" pitchFamily="18" charset="0"/>
                          </a:rPr>
                        </m:ctrlPr>
                      </m:sSubPr>
                      <m:e>
                        <m:r>
                          <a:rPr lang="pl-PL" sz="1300" i="1">
                            <a:latin typeface="Cambria Math"/>
                          </a:rPr>
                          <m:t>𝑝𝐻</m:t>
                        </m:r>
                      </m:e>
                      <m:sub>
                        <m:r>
                          <a:rPr lang="pl-PL" sz="1300" i="1">
                            <a:latin typeface="Cambria Math"/>
                          </a:rPr>
                          <m:t>𝑢𝑢</m:t>
                        </m:r>
                      </m:sub>
                    </m:sSub>
                    <m:r>
                      <a:rPr lang="pl-PL" sz="1300" i="1">
                        <a:latin typeface="Cambria Math"/>
                      </a:rPr>
                      <m:t>+(1−</m:t>
                    </m:r>
                    <m:r>
                      <a:rPr lang="pl-PL" sz="1300" i="1">
                        <a:latin typeface="Cambria Math"/>
                      </a:rPr>
                      <m:t>𝑝</m:t>
                    </m:r>
                    <m:r>
                      <a:rPr lang="pl-PL" sz="1300" i="1">
                        <a:latin typeface="Cambria Math"/>
                      </a:rPr>
                      <m:t>)</m:t>
                    </m:r>
                    <m:sSub>
                      <m:sSubPr>
                        <m:ctrlPr>
                          <a:rPr lang="el-GR" sz="1300" i="1">
                            <a:latin typeface="Cambria Math" panose="02040503050406030204" pitchFamily="18" charset="0"/>
                          </a:rPr>
                        </m:ctrlPr>
                      </m:sSubPr>
                      <m:e>
                        <m:r>
                          <a:rPr lang="pl-PL" sz="1300" i="1">
                            <a:latin typeface="Cambria Math"/>
                          </a:rPr>
                          <m:t>𝐻</m:t>
                        </m:r>
                      </m:e>
                      <m:sub>
                        <m:r>
                          <a:rPr lang="pl-PL" sz="1300" i="1">
                            <a:latin typeface="Cambria Math"/>
                          </a:rPr>
                          <m:t>𝑢𝑑</m:t>
                        </m:r>
                      </m:sub>
                    </m:sSub>
                  </m:oMath>
                </a14:m>
                <a:r>
                  <a:rPr lang="pl-PL" sz="1300" dirty="0"/>
                  <a:t>] </a:t>
                </a:r>
                <a14:m>
                  <m:oMath xmlns:m="http://schemas.openxmlformats.org/officeDocument/2006/math">
                    <m:r>
                      <a:rPr lang="pl-PL" sz="1300" i="1">
                        <a:latin typeface="Cambria Math"/>
                      </a:rPr>
                      <m:t>,</m:t>
                    </m:r>
                    <m:r>
                      <m:rPr>
                        <m:sty m:val="p"/>
                      </m:rPr>
                      <a:rPr lang="pl-PL" sz="1300">
                        <a:latin typeface="Cambria Math"/>
                      </a:rPr>
                      <m:t>max</m:t>
                    </m:r>
                    <m:r>
                      <a:rPr lang="pl-PL" sz="1300" i="1">
                        <a:latin typeface="Cambria Math"/>
                      </a:rPr>
                      <m:t>⁡(</m:t>
                    </m:r>
                    <m:r>
                      <a:rPr lang="pl-PL" sz="1300" i="1">
                        <a:latin typeface="Cambria Math"/>
                      </a:rPr>
                      <m:t>𝑆𝑢</m:t>
                    </m:r>
                    <m:r>
                      <a:rPr lang="pl-PL" sz="1300" i="1">
                        <a:latin typeface="Cambria Math"/>
                      </a:rPr>
                      <m:t>−</m:t>
                    </m:r>
                    <m:r>
                      <a:rPr lang="pl-PL" sz="1300" i="1">
                        <a:latin typeface="Cambria Math"/>
                      </a:rPr>
                      <m:t>𝐾</m:t>
                    </m:r>
                    <m:r>
                      <a:rPr lang="pl-PL" sz="1300" i="1">
                        <a:latin typeface="Cambria Math"/>
                      </a:rPr>
                      <m:t>,0))</m:t>
                    </m:r>
                  </m:oMath>
                </a14:m>
                <a:endParaRPr lang="en-US" sz="1300" dirty="0"/>
              </a:p>
            </p:txBody>
          </p:sp>
        </mc:Choice>
        <mc:Fallback xmlns="">
          <p:sp>
            <p:nvSpPr>
              <p:cNvPr id="85" name="TextBox 84"/>
              <p:cNvSpPr txBox="1">
                <a:spLocks noRot="1" noChangeAspect="1" noMove="1" noResize="1" noEditPoints="1" noAdjustHandles="1" noChangeArrowheads="1" noChangeShapeType="1" noTextEdit="1"/>
              </p:cNvSpPr>
              <p:nvPr/>
            </p:nvSpPr>
            <p:spPr>
              <a:xfrm>
                <a:off x="2250549" y="3540572"/>
                <a:ext cx="3858243" cy="385948"/>
              </a:xfrm>
              <a:prstGeom prst="rect">
                <a:avLst/>
              </a:prstGeom>
              <a:blipFill rotWithShape="1">
                <a:blip r:embed="rId9"/>
                <a:stretch>
                  <a:fillRect l="-1422" t="-12698" r="-3318"/>
                </a:stretch>
              </a:blipFill>
            </p:spPr>
            <p:txBody>
              <a:bodyPr/>
              <a:lstStyle/>
              <a:p>
                <a:r>
                  <a:rPr lang="en-US">
                    <a:noFill/>
                  </a:rPr>
                  <a:t> </a:t>
                </a:r>
              </a:p>
            </p:txBody>
          </p:sp>
        </mc:Fallback>
      </mc:AlternateContent>
      <p:cxnSp>
        <p:nvCxnSpPr>
          <p:cNvPr id="86" name="Straight Arrow Connector 85"/>
          <p:cNvCxnSpPr/>
          <p:nvPr/>
        </p:nvCxnSpPr>
        <p:spPr>
          <a:xfrm flipV="1">
            <a:off x="1562920" y="3657987"/>
            <a:ext cx="542872" cy="288401"/>
          </a:xfrm>
          <a:prstGeom prst="straightConnector1">
            <a:avLst/>
          </a:prstGeom>
          <a:ln w="19050">
            <a:solidFill>
              <a:srgbClr val="7B7D80"/>
            </a:solidFill>
            <a:tailEnd type="arrow"/>
          </a:ln>
        </p:spPr>
        <p:style>
          <a:lnRef idx="1">
            <a:schemeClr val="accent1"/>
          </a:lnRef>
          <a:fillRef idx="0">
            <a:schemeClr val="accent1"/>
          </a:fillRef>
          <a:effectRef idx="0">
            <a:schemeClr val="accent1"/>
          </a:effectRef>
          <a:fontRef idx="minor">
            <a:schemeClr val="tx1"/>
          </a:fontRef>
        </p:style>
      </p:cxnSp>
      <p:cxnSp>
        <p:nvCxnSpPr>
          <p:cNvPr id="87" name="Straight Arrow Connector 86"/>
          <p:cNvCxnSpPr/>
          <p:nvPr/>
        </p:nvCxnSpPr>
        <p:spPr>
          <a:xfrm>
            <a:off x="1562920" y="3996046"/>
            <a:ext cx="542872" cy="296884"/>
          </a:xfrm>
          <a:prstGeom prst="straightConnector1">
            <a:avLst/>
          </a:prstGeom>
          <a:ln w="19050">
            <a:solidFill>
              <a:srgbClr val="7B7D80"/>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8" name="TextBox 87"/>
              <p:cNvSpPr txBox="1"/>
              <p:nvPr/>
            </p:nvSpPr>
            <p:spPr>
              <a:xfrm>
                <a:off x="679908" y="3831342"/>
                <a:ext cx="669222" cy="385948"/>
              </a:xfrm>
              <a:prstGeom prst="rect">
                <a:avLst/>
              </a:prstGeom>
              <a:noFill/>
            </p:spPr>
            <p:txBody>
              <a:bodyPr wrap="none" lIns="0" tIns="0" rIns="0" bIns="0" rtlCol="0">
                <a:noAutofit/>
              </a:bodyPr>
              <a:lstStyle/>
              <a:p>
                <a:pPr/>
                <a14:m>
                  <m:oMathPara xmlns:m="http://schemas.openxmlformats.org/officeDocument/2006/math">
                    <m:oMathParaPr>
                      <m:jc m:val="centerGroup"/>
                    </m:oMathParaPr>
                    <m:oMath xmlns:m="http://schemas.openxmlformats.org/officeDocument/2006/math">
                      <m:sSub>
                        <m:sSubPr>
                          <m:ctrlPr>
                            <a:rPr lang="pl-PL" sz="1300" i="1">
                              <a:latin typeface="Cambria Math" panose="02040503050406030204" pitchFamily="18" charset="0"/>
                            </a:rPr>
                          </m:ctrlPr>
                        </m:sSubPr>
                        <m:e>
                          <m:r>
                            <a:rPr lang="pl-PL" sz="1300" i="1">
                              <a:latin typeface="Cambria Math"/>
                            </a:rPr>
                            <m:t>𝑉</m:t>
                          </m:r>
                        </m:e>
                        <m:sub>
                          <m:r>
                            <a:rPr lang="pl-PL" sz="1300" i="1">
                              <a:latin typeface="Cambria Math"/>
                            </a:rPr>
                            <m:t>0</m:t>
                          </m:r>
                        </m:sub>
                      </m:sSub>
                      <m:r>
                        <a:rPr lang="pl-PL" sz="1300" i="1">
                          <a:latin typeface="Cambria Math"/>
                        </a:rPr>
                        <m:t>=…</m:t>
                      </m:r>
                    </m:oMath>
                  </m:oMathPara>
                </a14:m>
                <a:endParaRPr lang="en-US" sz="1300" dirty="0"/>
              </a:p>
            </p:txBody>
          </p:sp>
        </mc:Choice>
        <mc:Fallback xmlns="">
          <p:sp>
            <p:nvSpPr>
              <p:cNvPr id="88" name="TextBox 87"/>
              <p:cNvSpPr txBox="1">
                <a:spLocks noRot="1" noChangeAspect="1" noMove="1" noResize="1" noEditPoints="1" noAdjustHandles="1" noChangeArrowheads="1" noChangeShapeType="1" noTextEdit="1"/>
              </p:cNvSpPr>
              <p:nvPr/>
            </p:nvSpPr>
            <p:spPr>
              <a:xfrm>
                <a:off x="679908" y="3831342"/>
                <a:ext cx="669222" cy="385948"/>
              </a:xfrm>
              <a:prstGeom prst="rect">
                <a:avLst/>
              </a:prstGeom>
              <a:blipFill rotWithShape="1">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9" name="TextBox 88"/>
              <p:cNvSpPr txBox="1"/>
              <p:nvPr/>
            </p:nvSpPr>
            <p:spPr>
              <a:xfrm>
                <a:off x="1454064" y="3445394"/>
                <a:ext cx="669222" cy="385948"/>
              </a:xfrm>
              <a:prstGeom prst="rect">
                <a:avLst/>
              </a:prstGeom>
              <a:noFill/>
            </p:spPr>
            <p:txBody>
              <a:bodyPr wrap="none" lIns="0" tIns="0" rIns="0" bIns="0" rtlCol="0">
                <a:noAutofit/>
              </a:bodyPr>
              <a:lstStyle/>
              <a:p>
                <a:pPr/>
                <a14:m>
                  <m:oMathPara xmlns:m="http://schemas.openxmlformats.org/officeDocument/2006/math">
                    <m:oMathParaPr>
                      <m:jc m:val="centerGroup"/>
                    </m:oMathParaPr>
                    <m:oMath xmlns:m="http://schemas.openxmlformats.org/officeDocument/2006/math">
                      <m:r>
                        <a:rPr lang="pl-PL" sz="1300" i="1">
                          <a:latin typeface="Cambria Math"/>
                        </a:rPr>
                        <m:t>𝑝</m:t>
                      </m:r>
                    </m:oMath>
                  </m:oMathPara>
                </a14:m>
                <a:endParaRPr lang="en-US" sz="1300" dirty="0"/>
              </a:p>
            </p:txBody>
          </p:sp>
        </mc:Choice>
        <mc:Fallback xmlns="">
          <p:sp>
            <p:nvSpPr>
              <p:cNvPr id="89" name="TextBox 88"/>
              <p:cNvSpPr txBox="1">
                <a:spLocks noRot="1" noChangeAspect="1" noMove="1" noResize="1" noEditPoints="1" noAdjustHandles="1" noChangeArrowheads="1" noChangeShapeType="1" noTextEdit="1"/>
              </p:cNvSpPr>
              <p:nvPr/>
            </p:nvSpPr>
            <p:spPr>
              <a:xfrm>
                <a:off x="1454064" y="3445394"/>
                <a:ext cx="669222" cy="385948"/>
              </a:xfrm>
              <a:prstGeom prst="rect">
                <a:avLst/>
              </a:prstGeom>
              <a:blipFill rotWithShape="1">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7" name="TextBox 96"/>
              <p:cNvSpPr txBox="1"/>
              <p:nvPr/>
            </p:nvSpPr>
            <p:spPr>
              <a:xfrm>
                <a:off x="1349130" y="4157038"/>
                <a:ext cx="669222" cy="385948"/>
              </a:xfrm>
              <a:prstGeom prst="rect">
                <a:avLst/>
              </a:prstGeom>
              <a:noFill/>
            </p:spPr>
            <p:txBody>
              <a:bodyPr wrap="none" lIns="0" tIns="0" rIns="0" bIns="0" rtlCol="0">
                <a:noAutofit/>
              </a:bodyPr>
              <a:lstStyle/>
              <a:p>
                <a:pPr/>
                <a14:m>
                  <m:oMathPara xmlns:m="http://schemas.openxmlformats.org/officeDocument/2006/math">
                    <m:oMathParaPr>
                      <m:jc m:val="centerGroup"/>
                    </m:oMathParaPr>
                    <m:oMath xmlns:m="http://schemas.openxmlformats.org/officeDocument/2006/math">
                      <m:r>
                        <a:rPr lang="pl-PL" sz="1300" i="1">
                          <a:latin typeface="Cambria Math"/>
                        </a:rPr>
                        <m:t>1−</m:t>
                      </m:r>
                      <m:r>
                        <a:rPr lang="pl-PL" sz="1300" i="1">
                          <a:latin typeface="Cambria Math"/>
                        </a:rPr>
                        <m:t>𝑝</m:t>
                      </m:r>
                    </m:oMath>
                  </m:oMathPara>
                </a14:m>
                <a:endParaRPr lang="en-US" sz="1300" dirty="0"/>
              </a:p>
            </p:txBody>
          </p:sp>
        </mc:Choice>
        <mc:Fallback xmlns="">
          <p:sp>
            <p:nvSpPr>
              <p:cNvPr id="97" name="TextBox 96"/>
              <p:cNvSpPr txBox="1">
                <a:spLocks noRot="1" noChangeAspect="1" noMove="1" noResize="1" noEditPoints="1" noAdjustHandles="1" noChangeArrowheads="1" noChangeShapeType="1" noTextEdit="1"/>
              </p:cNvSpPr>
              <p:nvPr/>
            </p:nvSpPr>
            <p:spPr>
              <a:xfrm>
                <a:off x="1349130" y="4157038"/>
                <a:ext cx="669222" cy="385948"/>
              </a:xfrm>
              <a:prstGeom prst="rect">
                <a:avLst/>
              </a:prstGeom>
              <a:blipFill rotWithShape="1">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8" name="TextBox 97"/>
              <p:cNvSpPr txBox="1"/>
              <p:nvPr/>
            </p:nvSpPr>
            <p:spPr>
              <a:xfrm>
                <a:off x="6022310" y="4444651"/>
                <a:ext cx="669222" cy="385948"/>
              </a:xfrm>
              <a:prstGeom prst="rect">
                <a:avLst/>
              </a:prstGeom>
              <a:noFill/>
            </p:spPr>
            <p:txBody>
              <a:bodyPr wrap="none" lIns="0" tIns="0" rIns="0" bIns="0" rtlCol="0">
                <a:noAutofit/>
              </a:bodyPr>
              <a:lstStyle/>
              <a:p>
                <a:pPr/>
                <a14:m>
                  <m:oMathPara xmlns:m="http://schemas.openxmlformats.org/officeDocument/2006/math">
                    <m:oMathParaPr>
                      <m:jc m:val="centerGroup"/>
                    </m:oMathParaPr>
                    <m:oMath xmlns:m="http://schemas.openxmlformats.org/officeDocument/2006/math">
                      <m:r>
                        <a:rPr lang="pl-PL" sz="1300" i="1">
                          <a:latin typeface="Cambria Math"/>
                        </a:rPr>
                        <m:t>1−</m:t>
                      </m:r>
                      <m:r>
                        <a:rPr lang="pl-PL" sz="1300" i="1">
                          <a:latin typeface="Cambria Math"/>
                        </a:rPr>
                        <m:t>𝑝</m:t>
                      </m:r>
                    </m:oMath>
                  </m:oMathPara>
                </a14:m>
                <a:endParaRPr lang="en-US" sz="1300" dirty="0"/>
              </a:p>
            </p:txBody>
          </p:sp>
        </mc:Choice>
        <mc:Fallback xmlns="">
          <p:sp>
            <p:nvSpPr>
              <p:cNvPr id="98" name="TextBox 97"/>
              <p:cNvSpPr txBox="1">
                <a:spLocks noRot="1" noChangeAspect="1" noMove="1" noResize="1" noEditPoints="1" noAdjustHandles="1" noChangeArrowheads="1" noChangeShapeType="1" noTextEdit="1"/>
              </p:cNvSpPr>
              <p:nvPr/>
            </p:nvSpPr>
            <p:spPr>
              <a:xfrm>
                <a:off x="6022310" y="4444651"/>
                <a:ext cx="669222" cy="385948"/>
              </a:xfrm>
              <a:prstGeom prst="rect">
                <a:avLst/>
              </a:prstGeom>
              <a:blipFill rotWithShape="1">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9" name="TextBox 98"/>
              <p:cNvSpPr txBox="1"/>
              <p:nvPr/>
            </p:nvSpPr>
            <p:spPr>
              <a:xfrm>
                <a:off x="6097749" y="3776430"/>
                <a:ext cx="669222" cy="385948"/>
              </a:xfrm>
              <a:prstGeom prst="rect">
                <a:avLst/>
              </a:prstGeom>
              <a:noFill/>
            </p:spPr>
            <p:txBody>
              <a:bodyPr wrap="none" lIns="0" tIns="0" rIns="0" bIns="0" rtlCol="0">
                <a:noAutofit/>
              </a:bodyPr>
              <a:lstStyle/>
              <a:p>
                <a:pPr/>
                <a14:m>
                  <m:oMathPara xmlns:m="http://schemas.openxmlformats.org/officeDocument/2006/math">
                    <m:oMathParaPr>
                      <m:jc m:val="centerGroup"/>
                    </m:oMathParaPr>
                    <m:oMath xmlns:m="http://schemas.openxmlformats.org/officeDocument/2006/math">
                      <m:r>
                        <a:rPr lang="pl-PL" sz="1300" i="1">
                          <a:latin typeface="Cambria Math"/>
                        </a:rPr>
                        <m:t>1−</m:t>
                      </m:r>
                      <m:r>
                        <a:rPr lang="pl-PL" sz="1300" i="1">
                          <a:latin typeface="Cambria Math"/>
                        </a:rPr>
                        <m:t>𝑝</m:t>
                      </m:r>
                    </m:oMath>
                  </m:oMathPara>
                </a14:m>
                <a:endParaRPr lang="en-US" sz="1300" dirty="0"/>
              </a:p>
            </p:txBody>
          </p:sp>
        </mc:Choice>
        <mc:Fallback xmlns="">
          <p:sp>
            <p:nvSpPr>
              <p:cNvPr id="99" name="TextBox 98"/>
              <p:cNvSpPr txBox="1">
                <a:spLocks noRot="1" noChangeAspect="1" noMove="1" noResize="1" noEditPoints="1" noAdjustHandles="1" noChangeArrowheads="1" noChangeShapeType="1" noTextEdit="1"/>
              </p:cNvSpPr>
              <p:nvPr/>
            </p:nvSpPr>
            <p:spPr>
              <a:xfrm>
                <a:off x="6097749" y="3776430"/>
                <a:ext cx="669222" cy="385948"/>
              </a:xfrm>
              <a:prstGeom prst="rect">
                <a:avLst/>
              </a:prstGeom>
              <a:blipFill rotWithShape="1">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0" name="TextBox 99"/>
              <p:cNvSpPr txBox="1"/>
              <p:nvPr/>
            </p:nvSpPr>
            <p:spPr>
              <a:xfrm>
                <a:off x="6224076" y="3190266"/>
                <a:ext cx="669222" cy="385948"/>
              </a:xfrm>
              <a:prstGeom prst="rect">
                <a:avLst/>
              </a:prstGeom>
              <a:noFill/>
            </p:spPr>
            <p:txBody>
              <a:bodyPr wrap="none" lIns="0" tIns="0" rIns="0" bIns="0" rtlCol="0">
                <a:noAutofit/>
              </a:bodyPr>
              <a:lstStyle/>
              <a:p>
                <a:pPr/>
                <a14:m>
                  <m:oMathPara xmlns:m="http://schemas.openxmlformats.org/officeDocument/2006/math">
                    <m:oMathParaPr>
                      <m:jc m:val="centerGroup"/>
                    </m:oMathParaPr>
                    <m:oMath xmlns:m="http://schemas.openxmlformats.org/officeDocument/2006/math">
                      <m:r>
                        <a:rPr lang="pl-PL" sz="1300" i="1">
                          <a:latin typeface="Cambria Math"/>
                        </a:rPr>
                        <m:t>𝑝</m:t>
                      </m:r>
                    </m:oMath>
                  </m:oMathPara>
                </a14:m>
                <a:endParaRPr lang="en-US" sz="1300" dirty="0"/>
              </a:p>
            </p:txBody>
          </p:sp>
        </mc:Choice>
        <mc:Fallback xmlns="">
          <p:sp>
            <p:nvSpPr>
              <p:cNvPr id="100" name="TextBox 99"/>
              <p:cNvSpPr txBox="1">
                <a:spLocks noRot="1" noChangeAspect="1" noMove="1" noResize="1" noEditPoints="1" noAdjustHandles="1" noChangeArrowheads="1" noChangeShapeType="1" noTextEdit="1"/>
              </p:cNvSpPr>
              <p:nvPr/>
            </p:nvSpPr>
            <p:spPr>
              <a:xfrm>
                <a:off x="6224076" y="3190266"/>
                <a:ext cx="669222" cy="385948"/>
              </a:xfrm>
              <a:prstGeom prst="rect">
                <a:avLst/>
              </a:prstGeom>
              <a:blipFill rotWithShape="1">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1" name="TextBox 100"/>
              <p:cNvSpPr txBox="1"/>
              <p:nvPr/>
            </p:nvSpPr>
            <p:spPr>
              <a:xfrm>
                <a:off x="6087302" y="3949331"/>
                <a:ext cx="669222" cy="385948"/>
              </a:xfrm>
              <a:prstGeom prst="rect">
                <a:avLst/>
              </a:prstGeom>
              <a:noFill/>
            </p:spPr>
            <p:txBody>
              <a:bodyPr wrap="none" lIns="0" tIns="0" rIns="0" bIns="0" rtlCol="0">
                <a:noAutofit/>
              </a:bodyPr>
              <a:lstStyle/>
              <a:p>
                <a:pPr/>
                <a14:m>
                  <m:oMathPara xmlns:m="http://schemas.openxmlformats.org/officeDocument/2006/math">
                    <m:oMathParaPr>
                      <m:jc m:val="centerGroup"/>
                    </m:oMathParaPr>
                    <m:oMath xmlns:m="http://schemas.openxmlformats.org/officeDocument/2006/math">
                      <m:r>
                        <a:rPr lang="pl-PL" sz="1300" i="1">
                          <a:latin typeface="Cambria Math"/>
                        </a:rPr>
                        <m:t>𝑝</m:t>
                      </m:r>
                    </m:oMath>
                  </m:oMathPara>
                </a14:m>
                <a:endParaRPr lang="en-US" sz="1300" dirty="0"/>
              </a:p>
            </p:txBody>
          </p:sp>
        </mc:Choice>
        <mc:Fallback xmlns="">
          <p:sp>
            <p:nvSpPr>
              <p:cNvPr id="101" name="TextBox 100"/>
              <p:cNvSpPr txBox="1">
                <a:spLocks noRot="1" noChangeAspect="1" noMove="1" noResize="1" noEditPoints="1" noAdjustHandles="1" noChangeArrowheads="1" noChangeShapeType="1" noTextEdit="1"/>
              </p:cNvSpPr>
              <p:nvPr/>
            </p:nvSpPr>
            <p:spPr>
              <a:xfrm>
                <a:off x="6087302" y="3949331"/>
                <a:ext cx="669222" cy="385948"/>
              </a:xfrm>
              <a:prstGeom prst="rect">
                <a:avLst/>
              </a:prstGeom>
              <a:blipFill rotWithShape="1">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2" name="TextBox 101"/>
              <p:cNvSpPr txBox="1"/>
              <p:nvPr/>
            </p:nvSpPr>
            <p:spPr>
              <a:xfrm>
                <a:off x="679908" y="4935533"/>
                <a:ext cx="669222" cy="385948"/>
              </a:xfrm>
              <a:prstGeom prst="rect">
                <a:avLst/>
              </a:prstGeom>
              <a:noFill/>
            </p:spPr>
            <p:txBody>
              <a:bodyPr wrap="none" lIns="0" tIns="0" rIns="0" bIns="0" rtlCol="0">
                <a:noAutofit/>
              </a:bodyPr>
              <a:lstStyle/>
              <a:p>
                <a:pPr/>
                <a14:m>
                  <m:oMathPara xmlns:m="http://schemas.openxmlformats.org/officeDocument/2006/math">
                    <m:oMathParaPr>
                      <m:jc m:val="centerGroup"/>
                    </m:oMathParaPr>
                    <m:oMath xmlns:m="http://schemas.openxmlformats.org/officeDocument/2006/math">
                      <m:r>
                        <a:rPr lang="pl-PL" sz="1100" i="1">
                          <a:latin typeface="Cambria Math"/>
                        </a:rPr>
                        <m:t>𝑡</m:t>
                      </m:r>
                      <m:r>
                        <a:rPr lang="pl-PL" sz="1100" i="1">
                          <a:latin typeface="Cambria Math"/>
                        </a:rPr>
                        <m:t>=</m:t>
                      </m:r>
                      <m:sSub>
                        <m:sSubPr>
                          <m:ctrlPr>
                            <a:rPr lang="pl-PL" sz="1100" i="1">
                              <a:latin typeface="Cambria Math" panose="02040503050406030204" pitchFamily="18" charset="0"/>
                            </a:rPr>
                          </m:ctrlPr>
                        </m:sSubPr>
                        <m:e>
                          <m:r>
                            <a:rPr lang="pl-PL" sz="1100" i="1">
                              <a:latin typeface="Cambria Math"/>
                            </a:rPr>
                            <m:t>𝑡</m:t>
                          </m:r>
                        </m:e>
                        <m:sub>
                          <m:r>
                            <a:rPr lang="pl-PL" sz="1100" i="1">
                              <a:latin typeface="Cambria Math"/>
                            </a:rPr>
                            <m:t>0</m:t>
                          </m:r>
                        </m:sub>
                      </m:sSub>
                      <m:r>
                        <a:rPr lang="pl-PL" sz="1100" i="1">
                          <a:latin typeface="Cambria Math"/>
                        </a:rPr>
                        <m:t>=0</m:t>
                      </m:r>
                    </m:oMath>
                  </m:oMathPara>
                </a14:m>
                <a:endParaRPr lang="en-US" sz="1100" dirty="0"/>
              </a:p>
            </p:txBody>
          </p:sp>
        </mc:Choice>
        <mc:Fallback xmlns="">
          <p:sp>
            <p:nvSpPr>
              <p:cNvPr id="102" name="TextBox 101"/>
              <p:cNvSpPr txBox="1">
                <a:spLocks noRot="1" noChangeAspect="1" noMove="1" noResize="1" noEditPoints="1" noAdjustHandles="1" noChangeArrowheads="1" noChangeShapeType="1" noTextEdit="1"/>
              </p:cNvSpPr>
              <p:nvPr/>
            </p:nvSpPr>
            <p:spPr>
              <a:xfrm>
                <a:off x="679908" y="4935533"/>
                <a:ext cx="669222" cy="385948"/>
              </a:xfrm>
              <a:prstGeom prst="rect">
                <a:avLst/>
              </a:prstGeom>
              <a:blipFill rotWithShape="1">
                <a:blip r:embed="rId16"/>
                <a:stretch>
                  <a:fillRect l="-3670" r="-45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4" name="TextBox 103"/>
              <p:cNvSpPr txBox="1"/>
              <p:nvPr/>
            </p:nvSpPr>
            <p:spPr>
              <a:xfrm>
                <a:off x="3771334" y="4943258"/>
                <a:ext cx="669222" cy="385948"/>
              </a:xfrm>
              <a:prstGeom prst="rect">
                <a:avLst/>
              </a:prstGeom>
              <a:noFill/>
            </p:spPr>
            <p:txBody>
              <a:bodyPr wrap="none" lIns="0" tIns="0" rIns="0" bIns="0" rtlCol="0">
                <a:noAutofit/>
              </a:bodyPr>
              <a:lstStyle/>
              <a:p>
                <a:pPr/>
                <a14:m>
                  <m:oMathPara xmlns:m="http://schemas.openxmlformats.org/officeDocument/2006/math">
                    <m:oMathParaPr>
                      <m:jc m:val="centerGroup"/>
                    </m:oMathParaPr>
                    <m:oMath xmlns:m="http://schemas.openxmlformats.org/officeDocument/2006/math">
                      <m:r>
                        <a:rPr lang="pl-PL" sz="1100" i="1">
                          <a:latin typeface="Cambria Math"/>
                        </a:rPr>
                        <m:t>𝑡</m:t>
                      </m:r>
                      <m:r>
                        <a:rPr lang="pl-PL" sz="1100" i="1">
                          <a:latin typeface="Cambria Math"/>
                        </a:rPr>
                        <m:t>=</m:t>
                      </m:r>
                      <m:sSub>
                        <m:sSubPr>
                          <m:ctrlPr>
                            <a:rPr lang="pl-PL" sz="1100" i="1">
                              <a:latin typeface="Cambria Math" panose="02040503050406030204" pitchFamily="18" charset="0"/>
                            </a:rPr>
                          </m:ctrlPr>
                        </m:sSubPr>
                        <m:e>
                          <m:r>
                            <a:rPr lang="pl-PL" sz="1100" i="1">
                              <a:latin typeface="Cambria Math"/>
                            </a:rPr>
                            <m:t>𝑡</m:t>
                          </m:r>
                        </m:e>
                        <m:sub>
                          <m:r>
                            <a:rPr lang="pl-PL" sz="1100" i="1">
                              <a:latin typeface="Cambria Math"/>
                            </a:rPr>
                            <m:t>1</m:t>
                          </m:r>
                        </m:sub>
                      </m:sSub>
                    </m:oMath>
                  </m:oMathPara>
                </a14:m>
                <a:endParaRPr lang="en-US" sz="1100" dirty="0"/>
              </a:p>
            </p:txBody>
          </p:sp>
        </mc:Choice>
        <mc:Fallback xmlns="">
          <p:sp>
            <p:nvSpPr>
              <p:cNvPr id="104" name="TextBox 103"/>
              <p:cNvSpPr txBox="1">
                <a:spLocks noRot="1" noChangeAspect="1" noMove="1" noResize="1" noEditPoints="1" noAdjustHandles="1" noChangeArrowheads="1" noChangeShapeType="1" noTextEdit="1"/>
              </p:cNvSpPr>
              <p:nvPr/>
            </p:nvSpPr>
            <p:spPr>
              <a:xfrm>
                <a:off x="3771334" y="4943258"/>
                <a:ext cx="669222" cy="385948"/>
              </a:xfrm>
              <a:prstGeom prst="rect">
                <a:avLst/>
              </a:prstGeom>
              <a:blipFill rotWithShape="1">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5" name="TextBox 104"/>
              <p:cNvSpPr txBox="1"/>
              <p:nvPr/>
            </p:nvSpPr>
            <p:spPr>
              <a:xfrm>
                <a:off x="7441779" y="4957328"/>
                <a:ext cx="669222" cy="385948"/>
              </a:xfrm>
              <a:prstGeom prst="rect">
                <a:avLst/>
              </a:prstGeom>
              <a:noFill/>
            </p:spPr>
            <p:txBody>
              <a:bodyPr wrap="none" lIns="0" tIns="0" rIns="0" bIns="0" rtlCol="0">
                <a:noAutofit/>
              </a:bodyPr>
              <a:lstStyle/>
              <a:p>
                <a:pPr/>
                <a14:m>
                  <m:oMathPara xmlns:m="http://schemas.openxmlformats.org/officeDocument/2006/math">
                    <m:oMathParaPr>
                      <m:jc m:val="centerGroup"/>
                    </m:oMathParaPr>
                    <m:oMath xmlns:m="http://schemas.openxmlformats.org/officeDocument/2006/math">
                      <m:r>
                        <a:rPr lang="pl-PL" sz="1100" i="1">
                          <a:latin typeface="Cambria Math"/>
                        </a:rPr>
                        <m:t>𝑡</m:t>
                      </m:r>
                      <m:r>
                        <a:rPr lang="pl-PL" sz="1100" i="1">
                          <a:latin typeface="Cambria Math"/>
                        </a:rPr>
                        <m:t>=</m:t>
                      </m:r>
                      <m:sSub>
                        <m:sSubPr>
                          <m:ctrlPr>
                            <a:rPr lang="pl-PL" sz="1100" i="1">
                              <a:latin typeface="Cambria Math" panose="02040503050406030204" pitchFamily="18" charset="0"/>
                            </a:rPr>
                          </m:ctrlPr>
                        </m:sSubPr>
                        <m:e>
                          <m:r>
                            <a:rPr lang="pl-PL" sz="1100" i="1">
                              <a:latin typeface="Cambria Math"/>
                            </a:rPr>
                            <m:t>𝑡</m:t>
                          </m:r>
                        </m:e>
                        <m:sub>
                          <m:r>
                            <a:rPr lang="pl-PL" sz="1100" i="1">
                              <a:latin typeface="Cambria Math"/>
                            </a:rPr>
                            <m:t>2</m:t>
                          </m:r>
                        </m:sub>
                      </m:sSub>
                    </m:oMath>
                  </m:oMathPara>
                </a14:m>
                <a:endParaRPr lang="en-US" sz="1100" dirty="0"/>
              </a:p>
            </p:txBody>
          </p:sp>
        </mc:Choice>
        <mc:Fallback xmlns="">
          <p:sp>
            <p:nvSpPr>
              <p:cNvPr id="105" name="TextBox 104"/>
              <p:cNvSpPr txBox="1">
                <a:spLocks noRot="1" noChangeAspect="1" noMove="1" noResize="1" noEditPoints="1" noAdjustHandles="1" noChangeArrowheads="1" noChangeShapeType="1" noTextEdit="1"/>
              </p:cNvSpPr>
              <p:nvPr/>
            </p:nvSpPr>
            <p:spPr>
              <a:xfrm>
                <a:off x="7441779" y="4957328"/>
                <a:ext cx="669222" cy="385948"/>
              </a:xfrm>
              <a:prstGeom prst="rect">
                <a:avLst/>
              </a:prstGeom>
              <a:blipFill rotWithShape="1">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0" name="TextBox 109"/>
              <p:cNvSpPr txBox="1"/>
              <p:nvPr/>
            </p:nvSpPr>
            <p:spPr>
              <a:xfrm>
                <a:off x="2257849" y="4162378"/>
                <a:ext cx="3858243" cy="385948"/>
              </a:xfrm>
              <a:prstGeom prst="rect">
                <a:avLst/>
              </a:prstGeom>
              <a:noFill/>
            </p:spPr>
            <p:txBody>
              <a:bodyPr wrap="none" lIns="0" tIns="0" rIns="0" bIns="0" rtlCol="0">
                <a:noAutofit/>
              </a:bodyPr>
              <a:lstStyle/>
              <a:p>
                <a14:m>
                  <m:oMath xmlns:m="http://schemas.openxmlformats.org/officeDocument/2006/math">
                    <m:sSup>
                      <m:sSupPr>
                        <m:ctrlPr>
                          <a:rPr lang="pl-PL" sz="1300" i="1">
                            <a:latin typeface="Cambria Math" panose="02040503050406030204" pitchFamily="18" charset="0"/>
                          </a:rPr>
                        </m:ctrlPr>
                      </m:sSupPr>
                      <m:e>
                        <m:sSubSup>
                          <m:sSubSupPr>
                            <m:ctrlPr>
                              <a:rPr lang="pl-PL" sz="1300" i="1">
                                <a:latin typeface="Cambria Math" panose="02040503050406030204" pitchFamily="18" charset="0"/>
                              </a:rPr>
                            </m:ctrlPr>
                          </m:sSubSupPr>
                          <m:e>
                            <m:r>
                              <a:rPr lang="pl-PL" sz="1300" i="1">
                                <a:latin typeface="Cambria Math"/>
                              </a:rPr>
                              <m:t>𝑉</m:t>
                            </m:r>
                          </m:e>
                          <m:sub/>
                          <m:sup>
                            <m:r>
                              <a:rPr lang="pl-PL" sz="1300" i="1">
                                <a:latin typeface="Cambria Math"/>
                              </a:rPr>
                              <m:t>𝑑</m:t>
                            </m:r>
                          </m:sup>
                        </m:sSubSup>
                        <m:r>
                          <a:rPr lang="pl-PL" sz="1300" i="1">
                            <a:latin typeface="Cambria Math"/>
                          </a:rPr>
                          <m:t>=</m:t>
                        </m:r>
                        <m:r>
                          <m:rPr>
                            <m:sty m:val="p"/>
                          </m:rPr>
                          <a:rPr lang="pl-PL" sz="1300">
                            <a:latin typeface="Cambria Math"/>
                          </a:rPr>
                          <m:t>max</m:t>
                        </m:r>
                        <m:r>
                          <a:rPr lang="pl-PL" sz="1300" i="1">
                            <a:latin typeface="Cambria Math"/>
                          </a:rPr>
                          <m:t>⁡(</m:t>
                        </m:r>
                        <m:r>
                          <a:rPr lang="pl-PL" sz="1300" i="1">
                            <a:latin typeface="Cambria Math"/>
                          </a:rPr>
                          <m:t>𝑒</m:t>
                        </m:r>
                      </m:e>
                      <m:sup>
                        <m:r>
                          <a:rPr lang="pl-PL" sz="1300" i="1">
                            <a:latin typeface="Cambria Math"/>
                          </a:rPr>
                          <m:t>−</m:t>
                        </m:r>
                        <m:r>
                          <a:rPr lang="pl-PL" sz="1300" i="1">
                            <a:latin typeface="Cambria Math"/>
                          </a:rPr>
                          <m:t>𝑟</m:t>
                        </m:r>
                        <m:r>
                          <a:rPr lang="pl-PL" sz="1300" i="1">
                            <a:latin typeface="Cambria Math"/>
                            <a:ea typeface="Cambria Math"/>
                          </a:rPr>
                          <m:t>∆</m:t>
                        </m:r>
                        <m:r>
                          <a:rPr lang="pl-PL" sz="1300" i="1">
                            <a:latin typeface="Cambria Math"/>
                            <a:ea typeface="Cambria Math"/>
                          </a:rPr>
                          <m:t>𝑡</m:t>
                        </m:r>
                      </m:sup>
                    </m:sSup>
                    <m:r>
                      <a:rPr lang="pl-PL" sz="1300">
                        <a:latin typeface="Cambria Math"/>
                      </a:rPr>
                      <m:t>[</m:t>
                    </m:r>
                    <m:sSub>
                      <m:sSubPr>
                        <m:ctrlPr>
                          <a:rPr lang="el-GR" sz="1300" i="1">
                            <a:latin typeface="Cambria Math" panose="02040503050406030204" pitchFamily="18" charset="0"/>
                          </a:rPr>
                        </m:ctrlPr>
                      </m:sSubPr>
                      <m:e>
                        <m:r>
                          <a:rPr lang="pl-PL" sz="1300" i="1">
                            <a:latin typeface="Cambria Math"/>
                          </a:rPr>
                          <m:t>𝑝𝐻</m:t>
                        </m:r>
                      </m:e>
                      <m:sub>
                        <m:r>
                          <a:rPr lang="pl-PL" sz="1300" i="1">
                            <a:latin typeface="Cambria Math"/>
                          </a:rPr>
                          <m:t>𝑢𝑑</m:t>
                        </m:r>
                      </m:sub>
                    </m:sSub>
                    <m:r>
                      <a:rPr lang="pl-PL" sz="1300" i="1">
                        <a:latin typeface="Cambria Math"/>
                      </a:rPr>
                      <m:t>+(1−</m:t>
                    </m:r>
                    <m:r>
                      <a:rPr lang="pl-PL" sz="1300" i="1">
                        <a:latin typeface="Cambria Math"/>
                      </a:rPr>
                      <m:t>𝑝</m:t>
                    </m:r>
                    <m:r>
                      <a:rPr lang="pl-PL" sz="1300" i="1">
                        <a:latin typeface="Cambria Math"/>
                      </a:rPr>
                      <m:t>)</m:t>
                    </m:r>
                    <m:sSub>
                      <m:sSubPr>
                        <m:ctrlPr>
                          <a:rPr lang="el-GR" sz="1300" i="1">
                            <a:latin typeface="Cambria Math" panose="02040503050406030204" pitchFamily="18" charset="0"/>
                          </a:rPr>
                        </m:ctrlPr>
                      </m:sSubPr>
                      <m:e>
                        <m:r>
                          <a:rPr lang="pl-PL" sz="1300" i="1">
                            <a:latin typeface="Cambria Math"/>
                          </a:rPr>
                          <m:t>𝐻</m:t>
                        </m:r>
                      </m:e>
                      <m:sub>
                        <m:r>
                          <a:rPr lang="pl-PL" sz="1300" i="1">
                            <a:latin typeface="Cambria Math"/>
                          </a:rPr>
                          <m:t>𝑑𝑑</m:t>
                        </m:r>
                      </m:sub>
                    </m:sSub>
                  </m:oMath>
                </a14:m>
                <a:r>
                  <a:rPr lang="pl-PL" sz="1300" dirty="0"/>
                  <a:t>] </a:t>
                </a:r>
                <a14:m>
                  <m:oMath xmlns:m="http://schemas.openxmlformats.org/officeDocument/2006/math">
                    <m:r>
                      <a:rPr lang="pl-PL" sz="1300" i="1">
                        <a:latin typeface="Cambria Math"/>
                      </a:rPr>
                      <m:t>,</m:t>
                    </m:r>
                    <m:r>
                      <m:rPr>
                        <m:sty m:val="p"/>
                      </m:rPr>
                      <a:rPr lang="pl-PL" sz="1300">
                        <a:latin typeface="Cambria Math"/>
                      </a:rPr>
                      <m:t>max</m:t>
                    </m:r>
                    <m:r>
                      <a:rPr lang="pl-PL" sz="1300" i="1">
                        <a:latin typeface="Cambria Math"/>
                      </a:rPr>
                      <m:t>⁡(</m:t>
                    </m:r>
                    <m:r>
                      <a:rPr lang="pl-PL" sz="1300" i="1">
                        <a:latin typeface="Cambria Math"/>
                      </a:rPr>
                      <m:t>𝑆𝑑</m:t>
                    </m:r>
                    <m:r>
                      <a:rPr lang="pl-PL" sz="1300" i="1">
                        <a:latin typeface="Cambria Math"/>
                      </a:rPr>
                      <m:t>−</m:t>
                    </m:r>
                    <m:r>
                      <a:rPr lang="pl-PL" sz="1300" i="1">
                        <a:latin typeface="Cambria Math"/>
                      </a:rPr>
                      <m:t>𝐾</m:t>
                    </m:r>
                    <m:r>
                      <a:rPr lang="pl-PL" sz="1300" i="1">
                        <a:latin typeface="Cambria Math"/>
                      </a:rPr>
                      <m:t>,0))</m:t>
                    </m:r>
                  </m:oMath>
                </a14:m>
                <a:endParaRPr lang="en-US" sz="1300" dirty="0"/>
              </a:p>
            </p:txBody>
          </p:sp>
        </mc:Choice>
        <mc:Fallback xmlns="">
          <p:sp>
            <p:nvSpPr>
              <p:cNvPr id="110" name="TextBox 109"/>
              <p:cNvSpPr txBox="1">
                <a:spLocks noRot="1" noChangeAspect="1" noMove="1" noResize="1" noEditPoints="1" noAdjustHandles="1" noChangeArrowheads="1" noChangeShapeType="1" noTextEdit="1"/>
              </p:cNvSpPr>
              <p:nvPr/>
            </p:nvSpPr>
            <p:spPr>
              <a:xfrm>
                <a:off x="2257849" y="4162378"/>
                <a:ext cx="3858243" cy="385948"/>
              </a:xfrm>
              <a:prstGeom prst="rect">
                <a:avLst/>
              </a:prstGeom>
              <a:blipFill rotWithShape="1">
                <a:blip r:embed="rId19"/>
                <a:stretch>
                  <a:fillRect l="-1422" t="-12698" r="-34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4" name="TextBox 113"/>
              <p:cNvSpPr txBox="1"/>
              <p:nvPr/>
            </p:nvSpPr>
            <p:spPr>
              <a:xfrm>
                <a:off x="6663314" y="2481409"/>
                <a:ext cx="831273" cy="279083"/>
              </a:xfrm>
              <a:prstGeom prst="rect">
                <a:avLst/>
              </a:prstGeom>
              <a:noFill/>
            </p:spPr>
            <p:txBody>
              <a:bodyPr wrap="none" lIns="0" tIns="0" rIns="0" bIns="0" rtlCol="0">
                <a:noAutofit/>
              </a:bodyPr>
              <a:lstStyle/>
              <a:p>
                <a:r>
                  <a:rPr lang="pl-PL" sz="1500" dirty="0"/>
                  <a:t>price of option at </a:t>
                </a:r>
                <a14:m>
                  <m:oMath xmlns:m="http://schemas.openxmlformats.org/officeDocument/2006/math">
                    <m:r>
                      <a:rPr lang="pl-PL" sz="1500" i="1">
                        <a:latin typeface="Cambria Math"/>
                      </a:rPr>
                      <m:t>𝑡</m:t>
                    </m:r>
                    <m:r>
                      <a:rPr lang="pl-PL" sz="1500" i="1">
                        <a:latin typeface="Cambria Math"/>
                      </a:rPr>
                      <m:t>=</m:t>
                    </m:r>
                    <m:sSub>
                      <m:sSubPr>
                        <m:ctrlPr>
                          <a:rPr lang="pl-PL" sz="1500" i="1">
                            <a:latin typeface="Cambria Math" panose="02040503050406030204" pitchFamily="18" charset="0"/>
                          </a:rPr>
                        </m:ctrlPr>
                      </m:sSubPr>
                      <m:e>
                        <m:r>
                          <a:rPr lang="pl-PL" sz="1500" i="1">
                            <a:latin typeface="Cambria Math"/>
                          </a:rPr>
                          <m:t>𝑡</m:t>
                        </m:r>
                      </m:e>
                      <m:sub>
                        <m:r>
                          <a:rPr lang="pl-PL" sz="1500" i="1">
                            <a:latin typeface="Cambria Math"/>
                          </a:rPr>
                          <m:t>2</m:t>
                        </m:r>
                      </m:sub>
                    </m:sSub>
                  </m:oMath>
                </a14:m>
                <a:r>
                  <a:rPr lang="pl-PL" sz="1500" dirty="0"/>
                  <a:t>:</a:t>
                </a:r>
              </a:p>
              <a:p>
                <a:r>
                  <a:rPr lang="pl-PL" sz="1500" dirty="0"/>
                  <a:t>known – </a:t>
                </a:r>
                <a14:m>
                  <m:oMath xmlns:m="http://schemas.openxmlformats.org/officeDocument/2006/math">
                    <m:r>
                      <m:rPr>
                        <m:sty m:val="p"/>
                      </m:rPr>
                      <a:rPr lang="pl-PL" sz="1500">
                        <a:latin typeface="Cambria Math"/>
                      </a:rPr>
                      <m:t>max</m:t>
                    </m:r>
                    <m:r>
                      <a:rPr lang="pl-PL" sz="1500" i="1">
                        <a:latin typeface="Cambria Math"/>
                      </a:rPr>
                      <m:t>⁡(</m:t>
                    </m:r>
                    <m:sSub>
                      <m:sSubPr>
                        <m:ctrlPr>
                          <a:rPr lang="pl-PL" sz="1500" i="1">
                            <a:latin typeface="Cambria Math" panose="02040503050406030204" pitchFamily="18" charset="0"/>
                          </a:rPr>
                        </m:ctrlPr>
                      </m:sSubPr>
                      <m:e>
                        <m:r>
                          <a:rPr lang="pl-PL" sz="1500" i="1">
                            <a:latin typeface="Cambria Math"/>
                          </a:rPr>
                          <m:t>𝑆</m:t>
                        </m:r>
                      </m:e>
                      <m:sub>
                        <m:sSub>
                          <m:sSubPr>
                            <m:ctrlPr>
                              <a:rPr lang="pl-PL" sz="1500" i="1">
                                <a:latin typeface="Cambria Math" panose="02040503050406030204" pitchFamily="18" charset="0"/>
                              </a:rPr>
                            </m:ctrlPr>
                          </m:sSubPr>
                          <m:e>
                            <m:r>
                              <a:rPr lang="pl-PL" sz="1500" i="1">
                                <a:latin typeface="Cambria Math"/>
                              </a:rPr>
                              <m:t>𝑡</m:t>
                            </m:r>
                          </m:e>
                          <m:sub>
                            <m:r>
                              <a:rPr lang="pl-PL" sz="1500" i="1">
                                <a:latin typeface="Cambria Math"/>
                              </a:rPr>
                              <m:t>2</m:t>
                            </m:r>
                          </m:sub>
                        </m:sSub>
                      </m:sub>
                    </m:sSub>
                    <m:r>
                      <a:rPr lang="pl-PL" sz="1500" i="1">
                        <a:latin typeface="Cambria Math"/>
                      </a:rPr>
                      <m:t>−</m:t>
                    </m:r>
                    <m:r>
                      <a:rPr lang="pl-PL" sz="1500" i="1">
                        <a:latin typeface="Cambria Math"/>
                      </a:rPr>
                      <m:t>𝐾</m:t>
                    </m:r>
                    <m:r>
                      <a:rPr lang="pl-PL" sz="1500" i="1">
                        <a:latin typeface="Cambria Math"/>
                      </a:rPr>
                      <m:t>,0)</m:t>
                    </m:r>
                  </m:oMath>
                </a14:m>
                <a:endParaRPr lang="pl-PL" sz="1500" dirty="0"/>
              </a:p>
            </p:txBody>
          </p:sp>
        </mc:Choice>
        <mc:Fallback xmlns="">
          <p:sp>
            <p:nvSpPr>
              <p:cNvPr id="114" name="TextBox 113"/>
              <p:cNvSpPr txBox="1">
                <a:spLocks noRot="1" noChangeAspect="1" noMove="1" noResize="1" noEditPoints="1" noAdjustHandles="1" noChangeArrowheads="1" noChangeShapeType="1" noTextEdit="1"/>
              </p:cNvSpPr>
              <p:nvPr/>
            </p:nvSpPr>
            <p:spPr>
              <a:xfrm>
                <a:off x="6663314" y="2481409"/>
                <a:ext cx="831273" cy="279083"/>
              </a:xfrm>
              <a:prstGeom prst="rect">
                <a:avLst/>
              </a:prstGeom>
              <a:blipFill rotWithShape="1">
                <a:blip r:embed="rId20"/>
                <a:stretch>
                  <a:fillRect l="-13235" t="-19565" r="-173529" b="-1478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5" name="TextBox 114"/>
              <p:cNvSpPr txBox="1"/>
              <p:nvPr/>
            </p:nvSpPr>
            <p:spPr>
              <a:xfrm>
                <a:off x="3355092" y="2484339"/>
                <a:ext cx="831273" cy="279083"/>
              </a:xfrm>
              <a:prstGeom prst="rect">
                <a:avLst/>
              </a:prstGeom>
              <a:noFill/>
            </p:spPr>
            <p:txBody>
              <a:bodyPr wrap="none" lIns="0" tIns="0" rIns="0" bIns="0" rtlCol="0">
                <a:noAutofit/>
              </a:bodyPr>
              <a:lstStyle/>
              <a:p>
                <a:r>
                  <a:rPr lang="pl-PL" sz="1500" dirty="0"/>
                  <a:t>price of option at </a:t>
                </a:r>
                <a14:m>
                  <m:oMath xmlns:m="http://schemas.openxmlformats.org/officeDocument/2006/math">
                    <m:r>
                      <a:rPr lang="pl-PL" sz="1500" i="1">
                        <a:latin typeface="Cambria Math"/>
                      </a:rPr>
                      <m:t>𝑡</m:t>
                    </m:r>
                    <m:r>
                      <a:rPr lang="pl-PL" sz="1500" i="1">
                        <a:latin typeface="Cambria Math"/>
                      </a:rPr>
                      <m:t>=</m:t>
                    </m:r>
                    <m:sSub>
                      <m:sSubPr>
                        <m:ctrlPr>
                          <a:rPr lang="pl-PL" sz="1500" i="1">
                            <a:latin typeface="Cambria Math" panose="02040503050406030204" pitchFamily="18" charset="0"/>
                          </a:rPr>
                        </m:ctrlPr>
                      </m:sSubPr>
                      <m:e>
                        <m:r>
                          <a:rPr lang="pl-PL" sz="1500" i="1">
                            <a:latin typeface="Cambria Math"/>
                          </a:rPr>
                          <m:t>𝑡</m:t>
                        </m:r>
                      </m:e>
                      <m:sub>
                        <m:r>
                          <a:rPr lang="pl-PL" sz="1500" i="1">
                            <a:latin typeface="Cambria Math"/>
                          </a:rPr>
                          <m:t>1</m:t>
                        </m:r>
                      </m:sub>
                    </m:sSub>
                  </m:oMath>
                </a14:m>
                <a:r>
                  <a:rPr lang="pl-PL" sz="1500" dirty="0"/>
                  <a:t>:</a:t>
                </a:r>
              </a:p>
              <a:p>
                <a:endParaRPr lang="pl-PL" sz="1300" dirty="0"/>
              </a:p>
            </p:txBody>
          </p:sp>
        </mc:Choice>
        <mc:Fallback xmlns="">
          <p:sp>
            <p:nvSpPr>
              <p:cNvPr id="115" name="TextBox 114"/>
              <p:cNvSpPr txBox="1">
                <a:spLocks noRot="1" noChangeAspect="1" noMove="1" noResize="1" noEditPoints="1" noAdjustHandles="1" noChangeArrowheads="1" noChangeShapeType="1" noTextEdit="1"/>
              </p:cNvSpPr>
              <p:nvPr/>
            </p:nvSpPr>
            <p:spPr>
              <a:xfrm>
                <a:off x="3355092" y="2484339"/>
                <a:ext cx="831273" cy="279083"/>
              </a:xfrm>
              <a:prstGeom prst="rect">
                <a:avLst/>
              </a:prstGeom>
              <a:blipFill rotWithShape="1">
                <a:blip r:embed="rId21"/>
                <a:stretch>
                  <a:fillRect l="-13139" t="-22222" r="-170803" b="-222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6" name="TextBox 115"/>
              <p:cNvSpPr txBox="1"/>
              <p:nvPr/>
            </p:nvSpPr>
            <p:spPr>
              <a:xfrm>
                <a:off x="364362" y="2509017"/>
                <a:ext cx="1876208" cy="279083"/>
              </a:xfrm>
              <a:prstGeom prst="rect">
                <a:avLst/>
              </a:prstGeom>
              <a:noFill/>
            </p:spPr>
            <p:txBody>
              <a:bodyPr wrap="none" lIns="0" tIns="0" rIns="0" bIns="0" rtlCol="0">
                <a:noAutofit/>
              </a:bodyPr>
              <a:lstStyle/>
              <a:p>
                <a:pPr algn="ctr"/>
                <a:r>
                  <a:rPr lang="pl-PL" sz="1500" dirty="0"/>
                  <a:t>option price at </a:t>
                </a:r>
                <a14:m>
                  <m:oMath xmlns:m="http://schemas.openxmlformats.org/officeDocument/2006/math">
                    <m:r>
                      <a:rPr lang="pl-PL" sz="1500" i="1">
                        <a:latin typeface="Cambria Math"/>
                      </a:rPr>
                      <m:t>𝑡</m:t>
                    </m:r>
                    <m:r>
                      <a:rPr lang="pl-PL" sz="1500" i="1">
                        <a:latin typeface="Cambria Math"/>
                      </a:rPr>
                      <m:t>=0</m:t>
                    </m:r>
                  </m:oMath>
                </a14:m>
                <a:r>
                  <a:rPr lang="pl-PL" sz="1500" dirty="0"/>
                  <a:t> </a:t>
                </a:r>
                <a:endParaRPr lang="en-US" sz="1500" dirty="0"/>
              </a:p>
            </p:txBody>
          </p:sp>
        </mc:Choice>
        <mc:Fallback xmlns="">
          <p:sp>
            <p:nvSpPr>
              <p:cNvPr id="116" name="TextBox 115"/>
              <p:cNvSpPr txBox="1">
                <a:spLocks noRot="1" noChangeAspect="1" noMove="1" noResize="1" noEditPoints="1" noAdjustHandles="1" noChangeArrowheads="1" noChangeShapeType="1" noTextEdit="1"/>
              </p:cNvSpPr>
              <p:nvPr/>
            </p:nvSpPr>
            <p:spPr>
              <a:xfrm>
                <a:off x="364362" y="2509017"/>
                <a:ext cx="1876208" cy="279083"/>
              </a:xfrm>
              <a:prstGeom prst="rect">
                <a:avLst/>
              </a:prstGeom>
              <a:blipFill rotWithShape="1">
                <a:blip r:embed="rId22"/>
                <a:stretch>
                  <a:fillRect l="-5519" t="-22222" b="-22222"/>
                </a:stretch>
              </a:blipFill>
            </p:spPr>
            <p:txBody>
              <a:bodyPr/>
              <a:lstStyle/>
              <a:p>
                <a:r>
                  <a:rPr lang="en-US">
                    <a:noFill/>
                  </a:rPr>
                  <a:t> </a:t>
                </a:r>
              </a:p>
            </p:txBody>
          </p:sp>
        </mc:Fallback>
      </mc:AlternateContent>
      <p:sp>
        <p:nvSpPr>
          <p:cNvPr id="117" name="TextBox 116"/>
          <p:cNvSpPr txBox="1"/>
          <p:nvPr/>
        </p:nvSpPr>
        <p:spPr>
          <a:xfrm>
            <a:off x="388326" y="1735163"/>
            <a:ext cx="8354687" cy="679122"/>
          </a:xfrm>
          <a:prstGeom prst="rect">
            <a:avLst/>
          </a:prstGeom>
          <a:noFill/>
        </p:spPr>
        <p:txBody>
          <a:bodyPr wrap="none" lIns="0" tIns="0" rIns="0" bIns="0" rtlCol="0">
            <a:noAutofit/>
          </a:bodyPr>
          <a:lstStyle/>
          <a:p>
            <a:r>
              <a:rPr lang="pl-PL" sz="1400" dirty="0"/>
              <a:t>American option is an option that can be exercised at any time between the trade start </a:t>
            </a:r>
          </a:p>
          <a:p>
            <a:r>
              <a:rPr lang="pl-PL" sz="1400" dirty="0"/>
              <a:t>and its contractual expiry.</a:t>
            </a:r>
            <a:endParaRPr lang="en-US" sz="1400" dirty="0"/>
          </a:p>
          <a:p>
            <a:endParaRPr lang="pl-PL" sz="1300" dirty="0"/>
          </a:p>
        </p:txBody>
      </p:sp>
      <mc:AlternateContent xmlns:mc="http://schemas.openxmlformats.org/markup-compatibility/2006" xmlns:a14="http://schemas.microsoft.com/office/drawing/2010/main">
        <mc:Choice Requires="a14">
          <p:sp>
            <p:nvSpPr>
              <p:cNvPr id="127" name="TextBox 126"/>
              <p:cNvSpPr txBox="1"/>
              <p:nvPr/>
            </p:nvSpPr>
            <p:spPr>
              <a:xfrm>
                <a:off x="406624" y="5394427"/>
                <a:ext cx="8354687" cy="1223317"/>
              </a:xfrm>
              <a:prstGeom prst="rect">
                <a:avLst/>
              </a:prstGeom>
              <a:noFill/>
            </p:spPr>
            <p:txBody>
              <a:bodyPr wrap="none" lIns="0" tIns="0" rIns="0" bIns="0" rtlCol="0">
                <a:noAutofit/>
              </a:bodyPr>
              <a:lstStyle/>
              <a:p>
                <a:r>
                  <a:rPr lang="pl-PL" sz="1400" dirty="0">
                    <a:latin typeface="+mn-lt"/>
                  </a:rPr>
                  <a:t>At </a:t>
                </a:r>
                <a14:m>
                  <m:oMath xmlns:m="http://schemas.openxmlformats.org/officeDocument/2006/math">
                    <m:r>
                      <a:rPr lang="pl-PL" sz="1400" i="1">
                        <a:latin typeface="Cambria Math"/>
                      </a:rPr>
                      <m:t>𝑡</m:t>
                    </m:r>
                    <m:r>
                      <a:rPr lang="pl-PL" sz="1400" i="1">
                        <a:latin typeface="Cambria Math"/>
                      </a:rPr>
                      <m:t>=</m:t>
                    </m:r>
                    <m:sSub>
                      <m:sSubPr>
                        <m:ctrlPr>
                          <a:rPr lang="pl-PL" sz="1400" i="1">
                            <a:latin typeface="Cambria Math" panose="02040503050406030204" pitchFamily="18" charset="0"/>
                          </a:rPr>
                        </m:ctrlPr>
                      </m:sSubPr>
                      <m:e>
                        <m:r>
                          <a:rPr lang="pl-PL" sz="1400" i="1">
                            <a:latin typeface="Cambria Math"/>
                          </a:rPr>
                          <m:t>𝑡</m:t>
                        </m:r>
                      </m:e>
                      <m:sub>
                        <m:r>
                          <a:rPr lang="pl-PL" sz="1400" i="1">
                            <a:latin typeface="Cambria Math"/>
                          </a:rPr>
                          <m:t>1</m:t>
                        </m:r>
                      </m:sub>
                    </m:sSub>
                  </m:oMath>
                </a14:m>
                <a:r>
                  <a:rPr lang="pl-PL" sz="1400" dirty="0">
                    <a:latin typeface="+mn-lt"/>
                  </a:rPr>
                  <a:t> we can either exercise the option or not. </a:t>
                </a:r>
              </a:p>
              <a:p>
                <a:r>
                  <a:rPr lang="pl-PL" sz="1400" dirty="0">
                    <a:latin typeface="+mn-lt"/>
                  </a:rPr>
                  <a:t>Whether we do this depends on the information we have up until time </a:t>
                </a:r>
                <a14:m>
                  <m:oMath xmlns:m="http://schemas.openxmlformats.org/officeDocument/2006/math">
                    <m:r>
                      <a:rPr lang="pl-PL" sz="1400" i="1">
                        <a:latin typeface="Cambria Math"/>
                      </a:rPr>
                      <m:t>𝑡</m:t>
                    </m:r>
                    <m:r>
                      <a:rPr lang="pl-PL" sz="1400" i="1">
                        <a:latin typeface="Cambria Math"/>
                      </a:rPr>
                      <m:t>=</m:t>
                    </m:r>
                    <m:sSub>
                      <m:sSubPr>
                        <m:ctrlPr>
                          <a:rPr lang="pl-PL" sz="1400" i="1">
                            <a:latin typeface="Cambria Math" panose="02040503050406030204" pitchFamily="18" charset="0"/>
                          </a:rPr>
                        </m:ctrlPr>
                      </m:sSubPr>
                      <m:e>
                        <m:r>
                          <a:rPr lang="pl-PL" sz="1400" i="1">
                            <a:latin typeface="Cambria Math"/>
                          </a:rPr>
                          <m:t>𝑡</m:t>
                        </m:r>
                      </m:e>
                      <m:sub>
                        <m:r>
                          <a:rPr lang="pl-PL" sz="1400" i="1">
                            <a:latin typeface="Cambria Math"/>
                          </a:rPr>
                          <m:t>1</m:t>
                        </m:r>
                      </m:sub>
                    </m:sSub>
                  </m:oMath>
                </a14:m>
                <a:r>
                  <a:rPr lang="pl-PL" sz="1400" dirty="0">
                    <a:latin typeface="+mn-lt"/>
                  </a:rPr>
                  <a:t>. </a:t>
                </a:r>
              </a:p>
              <a:p>
                <a:r>
                  <a:rPr lang="pl-PL" sz="1400" dirty="0">
                    <a:latin typeface="+mn-lt"/>
                  </a:rPr>
                  <a:t>If the </a:t>
                </a:r>
                <a:r>
                  <a:rPr lang="pl-PL" sz="1400" b="1" dirty="0">
                    <a:latin typeface="+mn-lt"/>
                  </a:rPr>
                  <a:t>continuation value </a:t>
                </a:r>
                <a:r>
                  <a:rPr lang="pl-PL" sz="1400" dirty="0">
                    <a:latin typeface="+mn-lt"/>
                  </a:rPr>
                  <a:t>(price of the option at node </a:t>
                </a:r>
                <a14:m>
                  <m:oMath xmlns:m="http://schemas.openxmlformats.org/officeDocument/2006/math">
                    <m:r>
                      <a:rPr lang="pl-PL" sz="1400" i="1">
                        <a:latin typeface="Cambria Math"/>
                      </a:rPr>
                      <m:t>𝑡</m:t>
                    </m:r>
                    <m:r>
                      <a:rPr lang="pl-PL" sz="1400" i="1">
                        <a:latin typeface="Cambria Math"/>
                      </a:rPr>
                      <m:t>=</m:t>
                    </m:r>
                    <m:sSub>
                      <m:sSubPr>
                        <m:ctrlPr>
                          <a:rPr lang="pl-PL" sz="1400" i="1">
                            <a:latin typeface="Cambria Math" panose="02040503050406030204" pitchFamily="18" charset="0"/>
                          </a:rPr>
                        </m:ctrlPr>
                      </m:sSubPr>
                      <m:e>
                        <m:r>
                          <a:rPr lang="pl-PL" sz="1400" i="1">
                            <a:latin typeface="Cambria Math"/>
                          </a:rPr>
                          <m:t>𝑡</m:t>
                        </m:r>
                      </m:e>
                      <m:sub>
                        <m:r>
                          <a:rPr lang="pl-PL" sz="1400" i="1">
                            <a:latin typeface="Cambria Math"/>
                          </a:rPr>
                          <m:t>1</m:t>
                        </m:r>
                      </m:sub>
                    </m:sSub>
                  </m:oMath>
                </a14:m>
                <a:r>
                  <a:rPr lang="pl-PL" sz="1400" dirty="0">
                    <a:latin typeface="+mn-lt"/>
                  </a:rPr>
                  <a:t>) is higher than what would be </a:t>
                </a:r>
              </a:p>
              <a:p>
                <a:r>
                  <a:rPr lang="pl-PL" sz="1400" dirty="0">
                    <a:latin typeface="+mn-lt"/>
                  </a:rPr>
                  <a:t>our payoff in case of immediate exercise, we hold the option, if not we exercise it. </a:t>
                </a:r>
                <a:endParaRPr lang="en-US" sz="1400" dirty="0">
                  <a:latin typeface="+mn-lt"/>
                </a:endParaRPr>
              </a:p>
              <a:p>
                <a:endParaRPr lang="pl-PL" sz="1300" dirty="0"/>
              </a:p>
            </p:txBody>
          </p:sp>
        </mc:Choice>
        <mc:Fallback xmlns="">
          <p:sp>
            <p:nvSpPr>
              <p:cNvPr id="127" name="TextBox 126"/>
              <p:cNvSpPr txBox="1">
                <a:spLocks noRot="1" noChangeAspect="1" noMove="1" noResize="1" noEditPoints="1" noAdjustHandles="1" noChangeArrowheads="1" noChangeShapeType="1" noTextEdit="1"/>
              </p:cNvSpPr>
              <p:nvPr/>
            </p:nvSpPr>
            <p:spPr>
              <a:xfrm>
                <a:off x="406624" y="5394427"/>
                <a:ext cx="8354687" cy="1223317"/>
              </a:xfrm>
              <a:prstGeom prst="rect">
                <a:avLst/>
              </a:prstGeom>
              <a:blipFill rotWithShape="1">
                <a:blip r:embed="rId23"/>
                <a:stretch>
                  <a:fillRect l="-1314" t="-4975" b="-3980"/>
                </a:stretch>
              </a:blipFill>
            </p:spPr>
            <p:txBody>
              <a:bodyPr/>
              <a:lstStyle/>
              <a:p>
                <a:r>
                  <a:rPr lang="en-US">
                    <a:noFill/>
                  </a:rPr>
                  <a:t> </a:t>
                </a:r>
              </a:p>
            </p:txBody>
          </p:sp>
        </mc:Fallback>
      </mc:AlternateContent>
      <p:sp>
        <p:nvSpPr>
          <p:cNvPr id="37" name="TextBox 36">
            <a:extLst>
              <a:ext uri="{FF2B5EF4-FFF2-40B4-BE49-F238E27FC236}">
                <a16:creationId xmlns:a16="http://schemas.microsoft.com/office/drawing/2014/main" id="{05DA6430-6665-49C5-81C0-7E8242971E7D}"/>
              </a:ext>
            </a:extLst>
          </p:cNvPr>
          <p:cNvSpPr txBox="1"/>
          <p:nvPr>
            <p:custDataLst>
              <p:tags r:id="rId3"/>
            </p:custDataLst>
          </p:nvPr>
        </p:nvSpPr>
        <p:spPr>
          <a:xfrm>
            <a:off x="420624" y="1120775"/>
            <a:ext cx="9189720" cy="274320"/>
          </a:xfrm>
          <a:prstGeom prst="rect">
            <a:avLst/>
          </a:prstGeom>
          <a:noFill/>
        </p:spPr>
        <p:txBody>
          <a:bodyPr vert="horz" wrap="square" lIns="0" tIns="0" rIns="0" bIns="0" rtlCol="0" anchor="t">
            <a:noAutofit/>
          </a:bodyPr>
          <a:lstStyle/>
          <a:p>
            <a:pPr eaLnBrk="1">
              <a:spcBef>
                <a:spcPts val="0"/>
              </a:spcBef>
              <a:spcAft>
                <a:spcPts val="600"/>
              </a:spcAft>
            </a:pPr>
            <a:r>
              <a:rPr lang="pl-PL" sz="2000" kern="0" dirty="0" err="1">
                <a:solidFill>
                  <a:srgbClr val="464749"/>
                </a:solidFill>
                <a:latin typeface="Frutiger 45 Light" panose="020B0603020202020204" pitchFamily="34" charset="0"/>
              </a:rPr>
              <a:t>Backward</a:t>
            </a:r>
            <a:r>
              <a:rPr lang="pl-PL" sz="2000" kern="0" dirty="0">
                <a:solidFill>
                  <a:srgbClr val="464749"/>
                </a:solidFill>
                <a:latin typeface="Frutiger 45 Light" panose="020B0603020202020204" pitchFamily="34" charset="0"/>
              </a:rPr>
              <a:t> </a:t>
            </a:r>
            <a:r>
              <a:rPr lang="pl-PL" sz="2000" kern="0" dirty="0" err="1">
                <a:solidFill>
                  <a:srgbClr val="464749"/>
                </a:solidFill>
                <a:latin typeface="Frutiger 45 Light" panose="020B0603020202020204" pitchFamily="34" charset="0"/>
              </a:rPr>
              <a:t>induction</a:t>
            </a:r>
            <a:r>
              <a:rPr lang="pl-PL" sz="2000" kern="0" dirty="0">
                <a:solidFill>
                  <a:srgbClr val="464749"/>
                </a:solidFill>
                <a:latin typeface="Frutiger 45 Light" panose="020B0603020202020204" pitchFamily="34" charset="0"/>
              </a:rPr>
              <a:t> – </a:t>
            </a:r>
            <a:r>
              <a:rPr lang="pl-PL" sz="2000" kern="0" dirty="0" err="1">
                <a:solidFill>
                  <a:srgbClr val="464749"/>
                </a:solidFill>
                <a:latin typeface="Frutiger 45 Light" panose="020B0603020202020204" pitchFamily="34" charset="0"/>
              </a:rPr>
              <a:t>binomial</a:t>
            </a:r>
            <a:r>
              <a:rPr lang="pl-PL" sz="2000" kern="0" dirty="0">
                <a:solidFill>
                  <a:srgbClr val="464749"/>
                </a:solidFill>
                <a:latin typeface="Frutiger 45 Light" panose="020B0603020202020204" pitchFamily="34" charset="0"/>
              </a:rPr>
              <a:t> </a:t>
            </a:r>
            <a:r>
              <a:rPr lang="pl-PL" sz="2000" kern="0" dirty="0" err="1">
                <a:solidFill>
                  <a:srgbClr val="464749"/>
                </a:solidFill>
                <a:latin typeface="Frutiger 45 Light" panose="020B0603020202020204" pitchFamily="34" charset="0"/>
              </a:rPr>
              <a:t>tree</a:t>
            </a:r>
            <a:r>
              <a:rPr lang="pl-PL" sz="2000" kern="0" dirty="0">
                <a:solidFill>
                  <a:srgbClr val="464749"/>
                </a:solidFill>
                <a:latin typeface="Frutiger 45 Light" panose="020B0603020202020204" pitchFamily="34" charset="0"/>
              </a:rPr>
              <a:t> </a:t>
            </a:r>
            <a:r>
              <a:rPr lang="pl-PL" sz="2000" kern="0" dirty="0" err="1">
                <a:solidFill>
                  <a:srgbClr val="464749"/>
                </a:solidFill>
                <a:latin typeface="Frutiger 45 Light" panose="020B0603020202020204" pitchFamily="34" charset="0"/>
              </a:rPr>
              <a:t>cnt’d</a:t>
            </a:r>
            <a:endParaRPr lang="en-US" sz="2000" kern="0" dirty="0">
              <a:solidFill>
                <a:srgbClr val="464749"/>
              </a:solidFill>
              <a:latin typeface="Frutiger 45 Light" panose="020B0603020202020204" pitchFamily="34" charset="0"/>
            </a:endParaRPr>
          </a:p>
        </p:txBody>
      </p:sp>
    </p:spTree>
    <p:custDataLst>
      <p:tags r:id="rId1"/>
    </p:custDataLst>
    <p:extLst>
      <p:ext uri="{BB962C8B-B14F-4D97-AF65-F5344CB8AC3E}">
        <p14:creationId xmlns:p14="http://schemas.microsoft.com/office/powerpoint/2010/main" val="16730425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LAYOUT BODY"/>
              <p:cNvSpPr>
                <a:spLocks noGrp="1"/>
              </p:cNvSpPr>
              <p:nvPr>
                <p:ph idx="1"/>
                <p:custDataLst>
                  <p:tags r:id="rId2"/>
                </p:custDataLst>
              </p:nvPr>
            </p:nvSpPr>
            <p:spPr>
              <a:xfrm>
                <a:off x="693893" y="1608001"/>
                <a:ext cx="9189720" cy="4759691"/>
              </a:xfrm>
            </p:spPr>
            <p:txBody>
              <a:bodyPr/>
              <a:lstStyle/>
              <a:p>
                <a:pPr marL="0" indent="0">
                  <a:buNone/>
                </a:pPr>
                <a14:m>
                  <m:oMath xmlns:m="http://schemas.openxmlformats.org/officeDocument/2006/math">
                    <m:sSub>
                      <m:sSubPr>
                        <m:ctrlPr>
                          <a:rPr lang="en-US"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𝑉</m:t>
                        </m:r>
                      </m:e>
                      <m:sub>
                        <m:r>
                          <a:rPr lang="en-US" i="1">
                            <a:latin typeface="Cambria Math" panose="02040503050406030204" pitchFamily="18" charset="0"/>
                            <a:ea typeface="Cambria Math" panose="02040503050406030204" pitchFamily="18" charset="0"/>
                          </a:rPr>
                          <m:t>𝑛</m:t>
                        </m:r>
                      </m:sub>
                    </m:sSub>
                  </m:oMath>
                </a14:m>
                <a:r>
                  <a:rPr lang="en-US" dirty="0">
                    <a:latin typeface="Frutiger 45 Light" panose="020B0603020202020204" pitchFamily="34" charset="0"/>
                    <a:ea typeface="Cambria Math" panose="02040503050406030204" pitchFamily="18" charset="0"/>
                  </a:rPr>
                  <a:t> =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h</m:t>
                        </m:r>
                      </m:e>
                      <m:sub>
                        <m:r>
                          <a:rPr lang="en-US" i="1">
                            <a:latin typeface="Cambria Math" panose="02040503050406030204" pitchFamily="18" charset="0"/>
                            <a:ea typeface="Cambria Math" panose="02040503050406030204" pitchFamily="18" charset="0"/>
                          </a:rPr>
                          <m:t>𝑛</m:t>
                        </m:r>
                      </m:sub>
                    </m:sSub>
                  </m:oMath>
                </a14:m>
                <a:r>
                  <a:rPr lang="en-US" dirty="0">
                    <a:latin typeface="Frutiger 45 Light" panose="020B0603020202020204" pitchFamily="34" charset="0"/>
                    <a:ea typeface="Cambria Math" panose="02040503050406030204" pitchFamily="18" charset="0"/>
                  </a:rPr>
                  <a:t>		payoff at expiry</a:t>
                </a:r>
              </a:p>
              <a:p>
                <a:pPr marL="0" indent="0">
                  <a:buNone/>
                </a:pP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𝑉</m:t>
                        </m:r>
                      </m:e>
                      <m:sub>
                        <m:r>
                          <a:rPr lang="en-US" i="1">
                            <a:latin typeface="Cambria Math" panose="02040503050406030204" pitchFamily="18" charset="0"/>
                            <a:ea typeface="Cambria Math" panose="02040503050406030204" pitchFamily="18" charset="0"/>
                          </a:rPr>
                          <m:t>𝑖</m:t>
                        </m:r>
                      </m:sub>
                    </m:sSub>
                    <m:r>
                      <a:rPr lang="en-US" i="1">
                        <a:latin typeface="Cambria Math" panose="02040503050406030204" pitchFamily="18" charset="0"/>
                        <a:ea typeface="Cambria Math" panose="02040503050406030204" pitchFamily="18" charset="0"/>
                      </a:rPr>
                      <m:t> </m:t>
                    </m:r>
                  </m:oMath>
                </a14:m>
                <a:r>
                  <a:rPr lang="en-US" dirty="0">
                    <a:latin typeface="Frutiger 45 Light" panose="020B0603020202020204" pitchFamily="34" charset="0"/>
                    <a:ea typeface="Cambria Math" panose="02040503050406030204" pitchFamily="18" charset="0"/>
                  </a:rPr>
                  <a:t>= max{</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h</m:t>
                        </m:r>
                      </m:e>
                      <m:sub>
                        <m:r>
                          <a:rPr lang="en-US" i="1">
                            <a:latin typeface="Cambria Math" panose="02040503050406030204" pitchFamily="18" charset="0"/>
                            <a:ea typeface="Cambria Math" panose="02040503050406030204" pitchFamily="18" charset="0"/>
                          </a:rPr>
                          <m:t>𝑖</m:t>
                        </m:r>
                      </m:sub>
                    </m:sSub>
                  </m:oMath>
                </a14:m>
                <a:r>
                  <a:rPr lang="en-US" dirty="0">
                    <a:latin typeface="Frutiger 45 Light" panose="020B0603020202020204" pitchFamily="34" charset="0"/>
                    <a:ea typeface="Cambria Math" panose="02040503050406030204" pitchFamily="18" charset="0"/>
                  </a:rPr>
                  <a:t>, </a:t>
                </a:r>
                <a14:m>
                  <m:oMath xmlns:m="http://schemas.openxmlformats.org/officeDocument/2006/math">
                    <m:sSup>
                      <m:sSupPr>
                        <m:ctrlPr>
                          <a:rPr lang="en-US" i="1">
                            <a:latin typeface="Cambria Math" panose="02040503050406030204" pitchFamily="18" charset="0"/>
                            <a:ea typeface="Cambria Math" panose="02040503050406030204" pitchFamily="18" charset="0"/>
                          </a:rPr>
                        </m:ctrlPr>
                      </m:sSup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𝑉</m:t>
                            </m:r>
                          </m:e>
                          <m:sub>
                            <m:r>
                              <a:rPr lang="en-US" i="1">
                                <a:latin typeface="Cambria Math" panose="02040503050406030204" pitchFamily="18" charset="0"/>
                                <a:ea typeface="Cambria Math" panose="02040503050406030204" pitchFamily="18" charset="0"/>
                              </a:rPr>
                              <m:t>𝑖</m:t>
                            </m:r>
                          </m:sub>
                        </m:sSub>
                      </m:e>
                      <m:sup>
                        <m:r>
                          <a:rPr lang="en-US" i="1">
                            <a:latin typeface="Cambria Math" panose="02040503050406030204" pitchFamily="18" charset="0"/>
                            <a:ea typeface="Cambria Math" panose="02040503050406030204" pitchFamily="18" charset="0"/>
                          </a:rPr>
                          <m:t>𝑃</m:t>
                        </m:r>
                      </m:sup>
                    </m:sSup>
                  </m:oMath>
                </a14:m>
                <a:r>
                  <a:rPr lang="en-US" dirty="0">
                    <a:latin typeface="Frutiger 45 Light" panose="020B0603020202020204" pitchFamily="34" charset="0"/>
                    <a:ea typeface="Cambria Math" panose="02040503050406030204" pitchFamily="18" charset="0"/>
                  </a:rPr>
                  <a:t>}	</a:t>
                </a:r>
                <a:r>
                  <a:rPr lang="en-US" i="1" dirty="0">
                    <a:latin typeface="Frutiger 45 Light" panose="020B0603020202020204" pitchFamily="34" charset="0"/>
                    <a:ea typeface="Cambria Math" panose="02040503050406030204" pitchFamily="18" charset="0"/>
                  </a:rPr>
                  <a:t>i &lt; n</a:t>
                </a:r>
              </a:p>
              <a:p>
                <a:pPr marL="0" indent="0">
                  <a:buNone/>
                </a:pP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h</m:t>
                        </m:r>
                      </m:e>
                      <m:sub>
                        <m:r>
                          <a:rPr lang="en-US" i="1">
                            <a:latin typeface="Cambria Math" panose="02040503050406030204" pitchFamily="18" charset="0"/>
                            <a:ea typeface="Cambria Math" panose="02040503050406030204" pitchFamily="18" charset="0"/>
                          </a:rPr>
                          <m:t>𝑖</m:t>
                        </m:r>
                      </m:sub>
                    </m:sSub>
                    <m:r>
                      <a:rPr lang="pl-PL" b="0" i="1" smtClean="0">
                        <a:latin typeface="Cambria Math" panose="02040503050406030204" pitchFamily="18" charset="0"/>
                        <a:ea typeface="Cambria Math" panose="02040503050406030204" pitchFamily="18" charset="0"/>
                      </a:rPr>
                      <m:t>−</m:t>
                    </m:r>
                    <m:r>
                      <m:rPr>
                        <m:sty m:val="p"/>
                      </m:rPr>
                      <a:rPr lang="pl-PL" b="0" i="0" smtClean="0">
                        <a:latin typeface="Cambria Math" panose="02040503050406030204" pitchFamily="18" charset="0"/>
                        <a:ea typeface="Cambria Math" panose="02040503050406030204" pitchFamily="18" charset="0"/>
                      </a:rPr>
                      <m:t>payoff</m:t>
                    </m:r>
                    <m:r>
                      <a:rPr lang="pl-PL" b="0" i="0" smtClean="0">
                        <a:latin typeface="Cambria Math" panose="02040503050406030204" pitchFamily="18" charset="0"/>
                        <a:ea typeface="Cambria Math" panose="02040503050406030204" pitchFamily="18" charset="0"/>
                      </a:rPr>
                      <m:t> </m:t>
                    </m:r>
                    <m:r>
                      <m:rPr>
                        <m:sty m:val="p"/>
                      </m:rPr>
                      <a:rPr lang="pl-PL" b="0" i="0" smtClean="0">
                        <a:latin typeface="Cambria Math" panose="02040503050406030204" pitchFamily="18" charset="0"/>
                        <a:ea typeface="Cambria Math" panose="02040503050406030204" pitchFamily="18" charset="0"/>
                      </a:rPr>
                      <m:t>if</m:t>
                    </m:r>
                    <m:r>
                      <a:rPr lang="pl-PL" b="0" i="0" smtClean="0">
                        <a:latin typeface="Cambria Math" panose="02040503050406030204" pitchFamily="18" charset="0"/>
                        <a:ea typeface="Cambria Math" panose="02040503050406030204" pitchFamily="18" charset="0"/>
                      </a:rPr>
                      <m:t> </m:t>
                    </m:r>
                    <m:r>
                      <m:rPr>
                        <m:sty m:val="p"/>
                      </m:rPr>
                      <a:rPr lang="pl-PL" b="0" i="0" smtClean="0">
                        <a:latin typeface="Cambria Math" panose="02040503050406030204" pitchFamily="18" charset="0"/>
                        <a:ea typeface="Cambria Math" panose="02040503050406030204" pitchFamily="18" charset="0"/>
                      </a:rPr>
                      <m:t>we</m:t>
                    </m:r>
                    <m:r>
                      <a:rPr lang="pl-PL" b="0" i="0" smtClean="0">
                        <a:latin typeface="Cambria Math" panose="02040503050406030204" pitchFamily="18" charset="0"/>
                        <a:ea typeface="Cambria Math" panose="02040503050406030204" pitchFamily="18" charset="0"/>
                      </a:rPr>
                      <m:t> </m:t>
                    </m:r>
                    <m:r>
                      <m:rPr>
                        <m:sty m:val="p"/>
                      </m:rPr>
                      <a:rPr lang="pl-PL" b="0" i="0" smtClean="0">
                        <a:latin typeface="Cambria Math" panose="02040503050406030204" pitchFamily="18" charset="0"/>
                        <a:ea typeface="Cambria Math" panose="02040503050406030204" pitchFamily="18" charset="0"/>
                      </a:rPr>
                      <m:t>exercise</m:t>
                    </m:r>
                    <m:r>
                      <a:rPr lang="pl-PL" b="0" i="0" smtClean="0">
                        <a:latin typeface="Cambria Math" panose="02040503050406030204" pitchFamily="18" charset="0"/>
                        <a:ea typeface="Cambria Math" panose="02040503050406030204" pitchFamily="18" charset="0"/>
                      </a:rPr>
                      <m:t> </m:t>
                    </m:r>
                    <m:r>
                      <m:rPr>
                        <m:sty m:val="p"/>
                      </m:rPr>
                      <a:rPr lang="pl-PL" b="0" i="0" smtClean="0">
                        <a:latin typeface="Cambria Math" panose="02040503050406030204" pitchFamily="18" charset="0"/>
                        <a:ea typeface="Cambria Math" panose="02040503050406030204" pitchFamily="18" charset="0"/>
                      </a:rPr>
                      <m:t>at</m:t>
                    </m:r>
                    <m:r>
                      <a:rPr lang="pl-PL" b="0" i="0" smtClean="0">
                        <a:latin typeface="Cambria Math" panose="02040503050406030204" pitchFamily="18" charset="0"/>
                        <a:ea typeface="Cambria Math" panose="02040503050406030204" pitchFamily="18" charset="0"/>
                      </a:rPr>
                      <m:t> </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𝑡</m:t>
                        </m:r>
                      </m:e>
                      <m:sub>
                        <m:r>
                          <a:rPr lang="en-US" i="1">
                            <a:latin typeface="Cambria Math" panose="02040503050406030204" pitchFamily="18" charset="0"/>
                            <a:ea typeface="Cambria Math" panose="02040503050406030204" pitchFamily="18" charset="0"/>
                          </a:rPr>
                          <m:t>𝑖</m:t>
                        </m:r>
                      </m:sub>
                    </m:sSub>
                  </m:oMath>
                </a14:m>
                <a:r>
                  <a:rPr lang="en-US" i="1" dirty="0">
                    <a:latin typeface="Frutiger 45 Light" panose="020B0603020202020204" pitchFamily="34" charset="0"/>
                    <a:ea typeface="Cambria Math" panose="02040503050406030204" pitchFamily="18" charset="0"/>
                  </a:rPr>
                  <a:t> </a:t>
                </a:r>
                <a:endParaRPr lang="pl-PL" i="1" dirty="0">
                  <a:latin typeface="Frutiger 45 Light" panose="020B0603020202020204" pitchFamily="34" charset="0"/>
                  <a:ea typeface="Cambria Math" panose="02040503050406030204" pitchFamily="18" charset="0"/>
                </a:endParaRPr>
              </a:p>
              <a:p>
                <a:pPr marL="0" indent="0">
                  <a:buNone/>
                </a:pPr>
                <a:r>
                  <a:rPr lang="en-US" dirty="0">
                    <a:latin typeface="Frutiger 45 Light" panose="020B0603020202020204" pitchFamily="34" charset="0"/>
                    <a:ea typeface="Cambria Math" panose="02040503050406030204" pitchFamily="18" charset="0"/>
                  </a:rPr>
                  <a:t>How to compute</a:t>
                </a:r>
                <a:r>
                  <a:rPr lang="pl-PL" dirty="0">
                    <a:latin typeface="Frutiger 45 Light" panose="020B0603020202020204" pitchFamily="34" charset="0"/>
                    <a:ea typeface="Cambria Math" panose="02040503050406030204" pitchFamily="18" charset="0"/>
                  </a:rPr>
                  <a:t> the </a:t>
                </a:r>
                <a:r>
                  <a:rPr lang="pl-PL" dirty="0" err="1">
                    <a:latin typeface="Frutiger 45 Light" panose="020B0603020202020204" pitchFamily="34" charset="0"/>
                    <a:ea typeface="Cambria Math" panose="02040503050406030204" pitchFamily="18" charset="0"/>
                  </a:rPr>
                  <a:t>continuation</a:t>
                </a:r>
                <a:r>
                  <a:rPr lang="pl-PL" dirty="0">
                    <a:latin typeface="Frutiger 45 Light" panose="020B0603020202020204" pitchFamily="34" charset="0"/>
                    <a:ea typeface="Cambria Math" panose="02040503050406030204" pitchFamily="18" charset="0"/>
                  </a:rPr>
                  <a:t> </a:t>
                </a:r>
                <a:r>
                  <a:rPr lang="pl-PL" dirty="0" err="1">
                    <a:latin typeface="Frutiger 45 Light" panose="020B0603020202020204" pitchFamily="34" charset="0"/>
                    <a:ea typeface="Cambria Math" panose="02040503050406030204" pitchFamily="18" charset="0"/>
                  </a:rPr>
                  <a:t>value</a:t>
                </a:r>
                <a14:m>
                  <m:oMath xmlns:m="http://schemas.openxmlformats.org/officeDocument/2006/math">
                    <m:sSup>
                      <m:sSupPr>
                        <m:ctrlPr>
                          <a:rPr lang="en-US" i="1">
                            <a:latin typeface="Cambria Math" panose="02040503050406030204" pitchFamily="18" charset="0"/>
                            <a:ea typeface="Cambria Math" panose="02040503050406030204" pitchFamily="18" charset="0"/>
                          </a:rPr>
                        </m:ctrlPr>
                      </m:sSupPr>
                      <m:e>
                        <m:sSub>
                          <m:sSubPr>
                            <m:ctrlPr>
                              <a:rPr lang="en-US" i="1">
                                <a:latin typeface="Cambria Math" panose="02040503050406030204" pitchFamily="18" charset="0"/>
                                <a:ea typeface="Cambria Math" panose="02040503050406030204" pitchFamily="18" charset="0"/>
                              </a:rPr>
                            </m:ctrlPr>
                          </m:sSubPr>
                          <m:e>
                            <m:r>
                              <a:rPr lang="pl-PL" b="0" i="1" smtClean="0">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𝑉</m:t>
                            </m:r>
                          </m:e>
                          <m:sub>
                            <m:r>
                              <a:rPr lang="en-US" i="1">
                                <a:latin typeface="Cambria Math" panose="02040503050406030204" pitchFamily="18" charset="0"/>
                                <a:ea typeface="Cambria Math" panose="02040503050406030204" pitchFamily="18" charset="0"/>
                              </a:rPr>
                              <m:t>𝑖</m:t>
                            </m:r>
                          </m:sub>
                        </m:sSub>
                      </m:e>
                      <m:sup>
                        <m:r>
                          <a:rPr lang="en-US" i="1">
                            <a:latin typeface="Cambria Math" panose="02040503050406030204" pitchFamily="18" charset="0"/>
                            <a:ea typeface="Cambria Math" panose="02040503050406030204" pitchFamily="18" charset="0"/>
                          </a:rPr>
                          <m:t>𝑃</m:t>
                        </m:r>
                      </m:sup>
                    </m:sSup>
                  </m:oMath>
                </a14:m>
                <a:r>
                  <a:rPr lang="en-US" dirty="0">
                    <a:latin typeface="Frutiger 45 Light" panose="020B0603020202020204" pitchFamily="34" charset="0"/>
                    <a:ea typeface="Cambria Math" panose="02040503050406030204" pitchFamily="18" charset="0"/>
                  </a:rPr>
                  <a:t>?</a:t>
                </a:r>
              </a:p>
              <a:p>
                <a:r>
                  <a:rPr lang="pl-PL" dirty="0">
                    <a:latin typeface="Frutiger 45 Light" panose="020B0603020202020204" pitchFamily="34" charset="0"/>
                    <a:ea typeface="Cambria Math" panose="02040503050406030204" pitchFamily="18" charset="0"/>
                  </a:rPr>
                  <a:t>P</a:t>
                </a:r>
                <a:r>
                  <a:rPr lang="en-US" dirty="0" err="1">
                    <a:latin typeface="Frutiger 45 Light" panose="020B0603020202020204" pitchFamily="34" charset="0"/>
                    <a:ea typeface="Cambria Math" panose="02040503050406030204" pitchFamily="18" charset="0"/>
                  </a:rPr>
                  <a:t>olynomial</a:t>
                </a:r>
                <a:r>
                  <a:rPr lang="en-US" dirty="0">
                    <a:latin typeface="Frutiger 45 Light" panose="020B0603020202020204" pitchFamily="34" charset="0"/>
                    <a:ea typeface="Cambria Math" panose="02040503050406030204" pitchFamily="18" charset="0"/>
                  </a:rPr>
                  <a:t> linear regression </a:t>
                </a:r>
              </a:p>
              <a:p>
                <a:pPr marL="0" indent="0">
                  <a:buNone/>
                </a:pPr>
                <a:r>
                  <a:rPr lang="pl-PL" dirty="0">
                    <a:latin typeface="Frutiger 45 Light" panose="020B0603020202020204" pitchFamily="34" charset="0"/>
                    <a:ea typeface="Cambria Math" panose="02040503050406030204" pitchFamily="18" charset="0"/>
                  </a:rPr>
                  <a:t>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𝑉</m:t>
                        </m:r>
                      </m:e>
                      <m:sub>
                        <m:r>
                          <a:rPr lang="en-US" i="1">
                            <a:latin typeface="Cambria Math" panose="02040503050406030204" pitchFamily="18" charset="0"/>
                            <a:ea typeface="Cambria Math" panose="02040503050406030204" pitchFamily="18" charset="0"/>
                          </a:rPr>
                          <m:t>𝑖</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𝑃</m:t>
                    </m:r>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𝑡</m:t>
                        </m:r>
                      </m:e>
                      <m:sub>
                        <m:r>
                          <a:rPr lang="en-US" i="1">
                            <a:latin typeface="Cambria Math" panose="02040503050406030204" pitchFamily="18" charset="0"/>
                            <a:ea typeface="Cambria Math" panose="02040503050406030204" pitchFamily="18" charset="0"/>
                          </a:rPr>
                          <m:t>𝑖</m:t>
                        </m:r>
                      </m:sub>
                    </m:sSub>
                    <m:r>
                      <a:rPr lang="en-US" i="1">
                        <a:latin typeface="Cambria Math" panose="02040503050406030204" pitchFamily="18" charset="0"/>
                        <a:ea typeface="Cambria Math" panose="02040503050406030204" pitchFamily="18" charset="0"/>
                      </a:rPr>
                      <m:t>, </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𝑡</m:t>
                        </m:r>
                      </m:e>
                      <m:sub>
                        <m:r>
                          <a:rPr lang="en-US" i="1">
                            <a:latin typeface="Cambria Math" panose="02040503050406030204" pitchFamily="18" charset="0"/>
                            <a:ea typeface="Cambria Math" panose="02040503050406030204" pitchFamily="18" charset="0"/>
                          </a:rPr>
                          <m:t>𝑖</m:t>
                        </m:r>
                        <m:r>
                          <a:rPr lang="pl-PL" b="0" i="1" smtClean="0">
                            <a:latin typeface="Cambria Math" panose="02040503050406030204" pitchFamily="18" charset="0"/>
                            <a:ea typeface="Cambria Math" panose="02040503050406030204" pitchFamily="18" charset="0"/>
                          </a:rPr>
                          <m:t>+1</m:t>
                        </m:r>
                      </m:sub>
                    </m:sSub>
                    <m:r>
                      <a:rPr lang="pl-PL" i="1">
                        <a:latin typeface="Cambria Math" panose="02040503050406030204" pitchFamily="18" charset="0"/>
                        <a:ea typeface="Cambria Math" panose="02040503050406030204" pitchFamily="18" charset="0"/>
                      </a:rPr>
                      <m:t>)</m:t>
                    </m:r>
                    <m:d>
                      <m:dPr>
                        <m:ctrlPr>
                          <a:rPr lang="en-US" i="1">
                            <a:latin typeface="Cambria Math" panose="02040503050406030204" pitchFamily="18" charset="0"/>
                            <a:ea typeface="Cambria Math" panose="02040503050406030204" pitchFamily="18" charset="0"/>
                          </a:rPr>
                        </m:ctrlPr>
                      </m:dPr>
                      <m:e>
                        <m:r>
                          <m:rPr>
                            <m:sty m:val="p"/>
                          </m:rPr>
                          <a:rPr lang="el-GR" i="1">
                            <a:latin typeface="Cambria Math" panose="02040503050406030204" pitchFamily="18" charset="0"/>
                            <a:ea typeface="Cambria Math" panose="02040503050406030204" pitchFamily="18" charset="0"/>
                          </a:rPr>
                          <m:t>ψ</m:t>
                        </m:r>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𝑂</m:t>
                                </m:r>
                              </m:e>
                              <m:sub>
                                <m:r>
                                  <a:rPr lang="en-US" i="1">
                                    <a:latin typeface="Cambria Math" panose="02040503050406030204" pitchFamily="18" charset="0"/>
                                    <a:ea typeface="Cambria Math" panose="02040503050406030204" pitchFamily="18" charset="0"/>
                                  </a:rPr>
                                  <m:t>𝑖</m:t>
                                </m:r>
                              </m:sub>
                            </m:sSub>
                          </m:e>
                        </m:d>
                      </m:e>
                    </m:d>
                  </m:oMath>
                </a14:m>
                <a:r>
                  <a:rPr lang="pl-PL" dirty="0">
                    <a:latin typeface="Frutiger 45 Light" panose="020B0603020202020204" pitchFamily="34" charset="0"/>
                    <a:ea typeface="Cambria Math" panose="02040503050406030204" pitchFamily="18" charset="0"/>
                  </a:rPr>
                  <a:t>, </a:t>
                </a:r>
                <a:r>
                  <a:rPr lang="en-US" dirty="0">
                    <a:latin typeface="Frutiger 45 Light" panose="020B0603020202020204" pitchFamily="34" charset="0"/>
                    <a:ea typeface="Cambria Math" panose="02040503050406030204" pitchFamily="18" charset="0"/>
                  </a:rPr>
                  <a:t>where </a:t>
                </a:r>
                <a14:m>
                  <m:oMath xmlns:m="http://schemas.openxmlformats.org/officeDocument/2006/math">
                    <m:r>
                      <a:rPr lang="en-US">
                        <a:latin typeface="Cambria Math" panose="02040503050406030204" pitchFamily="18" charset="0"/>
                        <a:ea typeface="Cambria Math" panose="02040503050406030204" pitchFamily="18" charset="0"/>
                      </a:rPr>
                      <m:t>:</m:t>
                    </m:r>
                  </m:oMath>
                </a14:m>
                <a:endParaRPr lang="en-US" dirty="0">
                  <a:latin typeface="Frutiger 45 Light" panose="020B0603020202020204" pitchFamily="34" charset="0"/>
                  <a:ea typeface="Cambria Math" panose="02040503050406030204" pitchFamily="18" charset="0"/>
                </a:endParaRPr>
              </a:p>
              <a:p>
                <a:pPr marL="0" indent="0">
                  <a:buNone/>
                </a:pPr>
                <a:r>
                  <a:rPr lang="en-US" dirty="0">
                    <a:latin typeface="Frutiger 45 Light" panose="020B0603020202020204" pitchFamily="34" charset="0"/>
                    <a:ea typeface="Cambria Math" panose="02040503050406030204" pitchFamily="18" charset="0"/>
                  </a:rPr>
                  <a:t>	</a:t>
                </a:r>
                <a14:m>
                  <m:oMath xmlns:m="http://schemas.openxmlformats.org/officeDocument/2006/math">
                    <m:r>
                      <m:rPr>
                        <m:sty m:val="p"/>
                      </m:rPr>
                      <a:rPr lang="el-GR">
                        <a:latin typeface="Cambria Math" panose="02040503050406030204" pitchFamily="18" charset="0"/>
                        <a:ea typeface="Cambria Math" panose="02040503050406030204" pitchFamily="18" charset="0"/>
                      </a:rPr>
                      <m:t>ψ</m:t>
                    </m:r>
                  </m:oMath>
                </a14:m>
                <a:r>
                  <a:rPr lang="en-US" dirty="0">
                    <a:latin typeface="Frutiger 45 Light" panose="020B0603020202020204" pitchFamily="34" charset="0"/>
                    <a:ea typeface="Cambria Math" panose="02040503050406030204" pitchFamily="18" charset="0"/>
                  </a:rPr>
                  <a:t> is a polynomial function</a:t>
                </a:r>
              </a:p>
              <a:p>
                <a:pPr marL="0" indent="0">
                  <a:buNone/>
                </a:pPr>
                <a:r>
                  <a:rPr lang="en-US" dirty="0">
                    <a:latin typeface="Frutiger 45 Light" panose="020B0603020202020204" pitchFamily="34" charset="0"/>
                    <a:ea typeface="Cambria Math" panose="02040503050406030204" pitchFamily="18" charset="0"/>
                  </a:rPr>
                  <a:t>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m:rPr>
                            <m:sty m:val="p"/>
                          </m:rPr>
                          <a:rPr lang="en-US">
                            <a:latin typeface="Cambria Math" panose="02040503050406030204" pitchFamily="18" charset="0"/>
                            <a:ea typeface="Cambria Math" panose="02040503050406030204" pitchFamily="18" charset="0"/>
                          </a:rPr>
                          <m:t>O</m:t>
                        </m:r>
                      </m:e>
                      <m:sub>
                        <m:r>
                          <m:rPr>
                            <m:sty m:val="p"/>
                          </m:rPr>
                          <a:rPr lang="en-US">
                            <a:latin typeface="Cambria Math" panose="02040503050406030204" pitchFamily="18" charset="0"/>
                            <a:ea typeface="Cambria Math" panose="02040503050406030204" pitchFamily="18" charset="0"/>
                          </a:rPr>
                          <m:t>i</m:t>
                        </m:r>
                      </m:sub>
                    </m:sSub>
                  </m:oMath>
                </a14:m>
                <a:r>
                  <a:rPr lang="en-US" dirty="0">
                    <a:latin typeface="Frutiger 45 Light" panose="020B0603020202020204" pitchFamily="34" charset="0"/>
                    <a:ea typeface="Cambria Math" panose="02040503050406030204" pitchFamily="18" charset="0"/>
                  </a:rPr>
                  <a:t> are what we call the set of observables</a:t>
                </a:r>
              </a:p>
              <a:p>
                <a:pPr marL="0" indent="0">
                  <a:buNone/>
                </a:pPr>
                <a:endParaRPr lang="en-US" dirty="0">
                  <a:latin typeface="Frutiger 45 Light" panose="020B0603020202020204" pitchFamily="34" charset="0"/>
                  <a:ea typeface="Cambria Math" panose="02040503050406030204" pitchFamily="18" charset="0"/>
                </a:endParaRPr>
              </a:p>
            </p:txBody>
          </p:sp>
        </mc:Choice>
        <mc:Fallback xmlns="">
          <p:sp>
            <p:nvSpPr>
              <p:cNvPr id="2" name="LAYOUT BODY"/>
              <p:cNvSpPr>
                <a:spLocks noGrp="1" noRot="1" noChangeAspect="1" noMove="1" noResize="1" noEditPoints="1" noAdjustHandles="1" noChangeArrowheads="1" noChangeShapeType="1" noTextEdit="1"/>
              </p:cNvSpPr>
              <p:nvPr>
                <p:ph idx="1"/>
                <p:custDataLst>
                  <p:tags r:id="rId6"/>
                </p:custDataLst>
              </p:nvPr>
            </p:nvSpPr>
            <p:spPr>
              <a:xfrm>
                <a:off x="693893" y="1608001"/>
                <a:ext cx="9189720" cy="4759691"/>
              </a:xfrm>
              <a:blipFill>
                <a:blip r:embed="rId7"/>
                <a:stretch>
                  <a:fillRect l="-1593" t="-1665"/>
                </a:stretch>
              </a:blipFill>
            </p:spPr>
            <p:txBody>
              <a:bodyPr/>
              <a:lstStyle/>
              <a:p>
                <a:r>
                  <a:rPr lang="en-GB">
                    <a:noFill/>
                  </a:rPr>
                  <a:t> </a:t>
                </a:r>
              </a:p>
            </p:txBody>
          </p:sp>
        </mc:Fallback>
      </mc:AlternateContent>
      <p:sp>
        <p:nvSpPr>
          <p:cNvPr id="3" name="PAGE HEADING"/>
          <p:cNvSpPr>
            <a:spLocks noGrp="1"/>
          </p:cNvSpPr>
          <p:nvPr>
            <p:ph type="title"/>
            <p:custDataLst>
              <p:tags r:id="rId3"/>
            </p:custDataLst>
          </p:nvPr>
        </p:nvSpPr>
        <p:spPr/>
        <p:txBody>
          <a:bodyPr>
            <a:normAutofit/>
          </a:bodyPr>
          <a:lstStyle/>
          <a:p>
            <a:r>
              <a:rPr lang="en-US" dirty="0"/>
              <a:t>Backward Induction and American Monte-Carlo Methods</a:t>
            </a:r>
          </a:p>
        </p:txBody>
      </p:sp>
      <p:sp>
        <p:nvSpPr>
          <p:cNvPr id="4" name="TextBox 3"/>
          <p:cNvSpPr txBox="1"/>
          <p:nvPr>
            <p:custDataLst>
              <p:tags r:id="rId4"/>
            </p:custDataLst>
          </p:nvPr>
        </p:nvSpPr>
        <p:spPr>
          <a:xfrm>
            <a:off x="420624" y="1120775"/>
            <a:ext cx="9189720" cy="274320"/>
          </a:xfrm>
          <a:prstGeom prst="rect">
            <a:avLst/>
          </a:prstGeom>
          <a:noFill/>
        </p:spPr>
        <p:txBody>
          <a:bodyPr vert="horz" wrap="square" lIns="0" tIns="0" rIns="0" bIns="0" rtlCol="0" anchor="t">
            <a:noAutofit/>
          </a:bodyPr>
          <a:lstStyle/>
          <a:p>
            <a:pPr eaLnBrk="1">
              <a:spcBef>
                <a:spcPts val="0"/>
              </a:spcBef>
              <a:spcAft>
                <a:spcPts val="600"/>
              </a:spcAft>
            </a:pPr>
            <a:r>
              <a:rPr lang="en-US" sz="2000" kern="0" dirty="0">
                <a:solidFill>
                  <a:srgbClr val="464749"/>
                </a:solidFill>
                <a:latin typeface="Frutiger 45 Light" panose="020B0603020202020204" pitchFamily="34" charset="0"/>
              </a:rPr>
              <a:t>American Monte Carlo</a:t>
            </a:r>
          </a:p>
        </p:txBody>
      </p:sp>
    </p:spTree>
    <p:custDataLst>
      <p:tags r:id="rId1"/>
    </p:custDataLst>
    <p:extLst>
      <p:ext uri="{BB962C8B-B14F-4D97-AF65-F5344CB8AC3E}">
        <p14:creationId xmlns:p14="http://schemas.microsoft.com/office/powerpoint/2010/main" val="11404643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AGE HEADING"/>
          <p:cNvSpPr>
            <a:spLocks noGrp="1"/>
          </p:cNvSpPr>
          <p:nvPr>
            <p:ph type="title"/>
            <p:custDataLst>
              <p:tags r:id="rId2"/>
            </p:custDataLst>
          </p:nvPr>
        </p:nvSpPr>
        <p:spPr/>
        <p:txBody>
          <a:bodyPr>
            <a:normAutofit/>
          </a:bodyPr>
          <a:lstStyle/>
          <a:p>
            <a:r>
              <a:rPr lang="en-US" dirty="0"/>
              <a:t>Backward Induction and American Monte-</a:t>
            </a:r>
            <a:br>
              <a:rPr lang="pl-PL" dirty="0"/>
            </a:br>
            <a:r>
              <a:rPr lang="en-US" dirty="0"/>
              <a:t>Carlo Methods</a:t>
            </a:r>
          </a:p>
        </p:txBody>
      </p:sp>
      <p:sp>
        <p:nvSpPr>
          <p:cNvPr id="4" name="TextBox 3"/>
          <p:cNvSpPr txBox="1"/>
          <p:nvPr>
            <p:custDataLst>
              <p:tags r:id="rId3"/>
            </p:custDataLst>
          </p:nvPr>
        </p:nvSpPr>
        <p:spPr>
          <a:xfrm>
            <a:off x="420624" y="1120775"/>
            <a:ext cx="9189720" cy="274320"/>
          </a:xfrm>
          <a:prstGeom prst="rect">
            <a:avLst/>
          </a:prstGeom>
          <a:noFill/>
        </p:spPr>
        <p:txBody>
          <a:bodyPr vert="horz" wrap="square" lIns="0" tIns="0" rIns="0" bIns="0" rtlCol="0" anchor="t">
            <a:noAutofit/>
          </a:bodyPr>
          <a:lstStyle/>
          <a:p>
            <a:pPr eaLnBrk="1">
              <a:spcBef>
                <a:spcPts val="0"/>
              </a:spcBef>
              <a:spcAft>
                <a:spcPts val="600"/>
              </a:spcAft>
            </a:pPr>
            <a:r>
              <a:rPr lang="en-US" sz="2000" kern="0" dirty="0">
                <a:solidFill>
                  <a:srgbClr val="464749"/>
                </a:solidFill>
                <a:latin typeface="Frutiger 45 Light" panose="020B0603020202020204" pitchFamily="34" charset="0"/>
              </a:rPr>
              <a:t>American Monte Carlo</a:t>
            </a:r>
            <a:r>
              <a:rPr lang="pl-PL" sz="2000" kern="0" dirty="0">
                <a:solidFill>
                  <a:srgbClr val="464749"/>
                </a:solidFill>
                <a:latin typeface="Frutiger 45 Light" panose="020B0603020202020204" pitchFamily="34" charset="0"/>
              </a:rPr>
              <a:t> – </a:t>
            </a:r>
            <a:r>
              <a:rPr lang="pl-PL" sz="2000" kern="0" dirty="0" err="1">
                <a:solidFill>
                  <a:srgbClr val="464749"/>
                </a:solidFill>
                <a:latin typeface="Frutiger 45 Light" panose="020B0603020202020204" pitchFamily="34" charset="0"/>
              </a:rPr>
              <a:t>step-by-step</a:t>
            </a:r>
            <a:endParaRPr lang="en-US" sz="2000" kern="0" dirty="0">
              <a:solidFill>
                <a:srgbClr val="464749"/>
              </a:solidFill>
              <a:latin typeface="Frutiger 45 Light" panose="020B0603020202020204" pitchFamily="34" charset="0"/>
            </a:endParaRPr>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AEA920AE-5585-445F-BD9B-3ABF9CC2C34C}"/>
                  </a:ext>
                </a:extLst>
              </p:cNvPr>
              <p:cNvSpPr/>
              <p:nvPr/>
            </p:nvSpPr>
            <p:spPr>
              <a:xfrm>
                <a:off x="629629" y="1813303"/>
                <a:ext cx="7399674" cy="3693319"/>
              </a:xfrm>
              <a:prstGeom prst="rect">
                <a:avLst/>
              </a:prstGeom>
            </p:spPr>
            <p:txBody>
              <a:bodyPr wrap="square">
                <a:spAutoFit/>
              </a:bodyPr>
              <a:lstStyle/>
              <a:p>
                <a:pPr marL="342900" indent="-342900">
                  <a:buClr>
                    <a:schemeClr val="tx1"/>
                  </a:buClr>
                  <a:buFont typeface="+mj-lt"/>
                  <a:buAutoNum type="arabicParenR"/>
                </a:pPr>
                <a:r>
                  <a:rPr lang="pl-PL" dirty="0">
                    <a:latin typeface="Frutiger 45 Light" panose="020B0603020202020204" pitchFamily="34" charset="0"/>
                  </a:rPr>
                  <a:t>Simulat</a:t>
                </a:r>
                <a:r>
                  <a:rPr lang="pl-PL" dirty="0" err="1">
                    <a:latin typeface="Frutiger 45 Light" panose="020B0603020202020204" pitchFamily="34" charset="0"/>
                  </a:rPr>
                  <a:t>e</a:t>
                </a:r>
                <a:r>
                  <a:rPr lang="pl-PL" dirty="0">
                    <a:latin typeface="Frutiger 45 Light" panose="020B0603020202020204" pitchFamily="34" charset="0"/>
                  </a:rPr>
                  <a:t> </a:t>
                </a:r>
                <a:r>
                  <a:rPr lang="pl-PL" dirty="0" err="1">
                    <a:latin typeface="Frutiger 45 Light" panose="020B0603020202020204" pitchFamily="34" charset="0"/>
                  </a:rPr>
                  <a:t>observables</a:t>
                </a:r>
                <a:r>
                  <a:rPr lang="pl-PL" dirty="0">
                    <a:latin typeface="Frutiger 45 Light" panose="020B0603020202020204" pitchFamily="34" charset="0"/>
                  </a:rPr>
                  <a:t>’ </a:t>
                </a:r>
                <a:r>
                  <a:rPr lang="pl-PL" dirty="0" err="1">
                    <a:latin typeface="Frutiger 45 Light" panose="020B0603020202020204" pitchFamily="34" charset="0"/>
                  </a:rPr>
                  <a:t>paths</a:t>
                </a:r>
                <a:r>
                  <a:rPr lang="pl-PL" dirty="0">
                    <a:latin typeface="Frutiger 45 Light" panose="020B0603020202020204" pitchFamily="34" charset="0"/>
                  </a:rPr>
                  <a:t> (ex. zero </a:t>
                </a:r>
                <a:r>
                  <a:rPr lang="pl-PL" dirty="0" err="1">
                    <a:latin typeface="Frutiger 45 Light" panose="020B0603020202020204" pitchFamily="34" charset="0"/>
                  </a:rPr>
                  <a:t>coupon</a:t>
                </a:r>
                <a:r>
                  <a:rPr lang="pl-PL" dirty="0">
                    <a:latin typeface="Frutiger 45 Light" panose="020B0603020202020204" pitchFamily="34" charset="0"/>
                  </a:rPr>
                  <a:t> </a:t>
                </a:r>
                <a:r>
                  <a:rPr lang="pl-PL" dirty="0" err="1">
                    <a:latin typeface="Frutiger 45 Light" panose="020B0603020202020204" pitchFamily="34" charset="0"/>
                  </a:rPr>
                  <a:t>bonds</a:t>
                </a:r>
                <a:r>
                  <a:rPr lang="pl-PL" dirty="0">
                    <a:latin typeface="Frutiger 45 Light" panose="020B0603020202020204" pitchFamily="34" charset="0"/>
                  </a:rPr>
                  <a:t> / LIBOR </a:t>
                </a:r>
                <a:r>
                  <a:rPr lang="pl-PL" dirty="0" err="1">
                    <a:latin typeface="Frutiger 45 Light" panose="020B0603020202020204" pitchFamily="34" charset="0"/>
                  </a:rPr>
                  <a:t>rates</a:t>
                </a:r>
                <a:r>
                  <a:rPr lang="pl-PL" dirty="0">
                    <a:latin typeface="Frutiger 45 Light" panose="020B0603020202020204" pitchFamily="34" charset="0"/>
                  </a:rPr>
                  <a:t>, etc.) </a:t>
                </a:r>
              </a:p>
              <a:p>
                <a:pPr marL="342900" indent="-342900">
                  <a:buClr>
                    <a:schemeClr val="tx1"/>
                  </a:buClr>
                  <a:buFont typeface="+mj-lt"/>
                  <a:buAutoNum type="arabicParenR"/>
                </a:pPr>
                <a:r>
                  <a:rPr lang="pl-PL" dirty="0">
                    <a:latin typeface="Frutiger 45 Light" panose="020B0603020202020204" pitchFamily="34" charset="0"/>
                  </a:rPr>
                  <a:t>Set the trade </a:t>
                </a:r>
                <a:r>
                  <a:rPr lang="pl-PL" dirty="0" err="1">
                    <a:latin typeface="Frutiger 45 Light" panose="020B0603020202020204" pitchFamily="34" charset="0"/>
                  </a:rPr>
                  <a:t>values</a:t>
                </a:r>
                <a:r>
                  <a:rPr lang="pl-PL" dirty="0">
                    <a:latin typeface="Frutiger 45 Light" panose="020B0603020202020204" pitchFamily="34" charset="0"/>
                  </a:rPr>
                  <a:t> </a:t>
                </a:r>
                <a:r>
                  <a:rPr lang="pl-PL" dirty="0" err="1">
                    <a:latin typeface="Frutiger 45 Light" panose="020B0603020202020204" pitchFamily="34" charset="0"/>
                  </a:rPr>
                  <a:t>at</a:t>
                </a:r>
                <a:r>
                  <a:rPr lang="pl-PL" dirty="0">
                    <a:latin typeface="Frutiger 45 Light" panose="020B0603020202020204" pitchFamily="34" charset="0"/>
                  </a:rPr>
                  <a:t> </a:t>
                </a:r>
                <a14:m>
                  <m:oMath xmlns:m="http://schemas.openxmlformats.org/officeDocument/2006/math">
                    <m:r>
                      <a:rPr lang="pl-PL" b="0" i="1" smtClean="0">
                        <a:latin typeface="Cambria Math" panose="02040503050406030204" pitchFamily="18" charset="0"/>
                      </a:rPr>
                      <m:t>𝑡</m:t>
                    </m:r>
                    <m:r>
                      <a:rPr lang="pl-PL" b="0" i="1" smtClean="0">
                        <a:latin typeface="Cambria Math" panose="02040503050406030204" pitchFamily="18" charset="0"/>
                      </a:rPr>
                      <m:t>=</m:t>
                    </m:r>
                    <m:sSub>
                      <m:sSubPr>
                        <m:ctrlPr>
                          <a:rPr lang="pl-PL" b="0" i="1" smtClean="0">
                            <a:latin typeface="Cambria Math" panose="02040503050406030204" pitchFamily="18" charset="0"/>
                          </a:rPr>
                        </m:ctrlPr>
                      </m:sSubPr>
                      <m:e>
                        <m:r>
                          <a:rPr lang="pl-PL" b="0" i="1" smtClean="0">
                            <a:latin typeface="Cambria Math" panose="02040503050406030204" pitchFamily="18" charset="0"/>
                          </a:rPr>
                          <m:t>𝑡</m:t>
                        </m:r>
                      </m:e>
                      <m:sub>
                        <m:r>
                          <a:rPr lang="pl-PL" b="0" i="1" smtClean="0">
                            <a:latin typeface="Cambria Math" panose="02040503050406030204" pitchFamily="18" charset="0"/>
                          </a:rPr>
                          <m:t>𝑛</m:t>
                        </m:r>
                      </m:sub>
                    </m:sSub>
                    <m:r>
                      <a:rPr lang="pl-PL" i="1" smtClean="0">
                        <a:latin typeface="Cambria Math" panose="02040503050406030204" pitchFamily="18" charset="0"/>
                      </a:rPr>
                      <m:t>=</m:t>
                    </m:r>
                    <m:r>
                      <a:rPr lang="pl-PL" b="0" i="1" smtClean="0">
                        <a:latin typeface="Cambria Math" panose="02040503050406030204" pitchFamily="18" charset="0"/>
                      </a:rPr>
                      <m:t>𝑇</m:t>
                    </m:r>
                    <m:r>
                      <a:rPr lang="pl-PL" b="0" i="1" smtClean="0">
                        <a:latin typeface="Cambria Math" panose="02040503050406030204" pitchFamily="18" charset="0"/>
                      </a:rPr>
                      <m:t> </m:t>
                    </m:r>
                  </m:oMath>
                </a14:m>
                <a:r>
                  <a:rPr lang="pl-PL" dirty="0">
                    <a:latin typeface="Frutiger 45 Light" panose="020B0603020202020204" pitchFamily="34" charset="0"/>
                  </a:rPr>
                  <a:t>to the </a:t>
                </a:r>
                <a:r>
                  <a:rPr lang="pl-PL" dirty="0" err="1">
                    <a:latin typeface="Frutiger 45 Light" panose="020B0603020202020204" pitchFamily="34" charset="0"/>
                  </a:rPr>
                  <a:t>payoff</a:t>
                </a:r>
                <a:r>
                  <a:rPr lang="pl-PL" dirty="0">
                    <a:latin typeface="Frutiger 45 Light" panose="020B0603020202020204" pitchFamily="34" charset="0"/>
                  </a:rPr>
                  <a:t> </a:t>
                </a:r>
                <a:r>
                  <a:rPr lang="pl-PL" dirty="0" err="1">
                    <a:latin typeface="Frutiger 45 Light" panose="020B0603020202020204" pitchFamily="34" charset="0"/>
                  </a:rPr>
                  <a:t>at</a:t>
                </a:r>
                <a:r>
                  <a:rPr lang="pl-PL" dirty="0">
                    <a:latin typeface="Frutiger 45 Light" panose="020B0603020202020204" pitchFamily="34" charset="0"/>
                  </a:rPr>
                  <a:t> the end of the trade</a:t>
                </a:r>
              </a:p>
              <a:p>
                <a:pPr marL="342900" indent="-342900">
                  <a:buClr>
                    <a:schemeClr val="tx1"/>
                  </a:buClr>
                  <a:buFont typeface="+mj-lt"/>
                  <a:buAutoNum type="arabicParenR"/>
                </a:pPr>
                <a:r>
                  <a:rPr lang="pl-PL" dirty="0">
                    <a:latin typeface="Frutiger 45 Light" panose="020B0603020202020204" pitchFamily="34" charset="0"/>
                  </a:rPr>
                  <a:t>Go one step </a:t>
                </a:r>
                <a:r>
                  <a:rPr lang="pl-PL" dirty="0" err="1">
                    <a:latin typeface="Frutiger 45 Light" panose="020B0603020202020204" pitchFamily="34" charset="0"/>
                  </a:rPr>
                  <a:t>back</a:t>
                </a:r>
                <a:r>
                  <a:rPr lang="pl-PL" dirty="0">
                    <a:latin typeface="Frutiger 45 Light" panose="020B0603020202020204" pitchFamily="34" charset="0"/>
                  </a:rPr>
                  <a:t> to </a:t>
                </a:r>
                <a14:m>
                  <m:oMath xmlns:m="http://schemas.openxmlformats.org/officeDocument/2006/math">
                    <m:sSub>
                      <m:sSubPr>
                        <m:ctrlPr>
                          <a:rPr lang="pl-PL" i="1" smtClean="0">
                            <a:latin typeface="Cambria Math" panose="02040503050406030204" pitchFamily="18" charset="0"/>
                          </a:rPr>
                        </m:ctrlPr>
                      </m:sSubPr>
                      <m:e>
                        <m:r>
                          <a:rPr lang="pl-PL" b="0" i="1" smtClean="0">
                            <a:latin typeface="Cambria Math" panose="02040503050406030204" pitchFamily="18" charset="0"/>
                          </a:rPr>
                          <m:t>𝑡</m:t>
                        </m:r>
                      </m:e>
                      <m:sub>
                        <m:r>
                          <a:rPr lang="pl-PL" b="0" i="1" smtClean="0">
                            <a:latin typeface="Cambria Math" panose="02040503050406030204" pitchFamily="18" charset="0"/>
                          </a:rPr>
                          <m:t>𝑛</m:t>
                        </m:r>
                        <m:r>
                          <a:rPr lang="pl-PL" b="0" i="1" smtClean="0">
                            <a:latin typeface="Cambria Math" panose="02040503050406030204" pitchFamily="18" charset="0"/>
                          </a:rPr>
                          <m:t>−1</m:t>
                        </m:r>
                      </m:sub>
                    </m:sSub>
                  </m:oMath>
                </a14:m>
                <a:r>
                  <a:rPr lang="pl-PL" dirty="0">
                    <a:latin typeface="Frutiger 45 Light" panose="020B0603020202020204" pitchFamily="34" charset="0"/>
                  </a:rPr>
                  <a:t> and </a:t>
                </a:r>
                <a:r>
                  <a:rPr lang="pl-PL" dirty="0" err="1">
                    <a:latin typeface="Frutiger 45 Light" panose="020B0603020202020204" pitchFamily="34" charset="0"/>
                  </a:rPr>
                  <a:t>calculate</a:t>
                </a:r>
                <a:r>
                  <a:rPr lang="pl-PL" dirty="0">
                    <a:latin typeface="Frutiger 45 Light" panose="020B0603020202020204" pitchFamily="34" charset="0"/>
                  </a:rPr>
                  <a:t> the </a:t>
                </a:r>
                <a:r>
                  <a:rPr lang="pl-PL" dirty="0" err="1">
                    <a:latin typeface="Frutiger 45 Light" panose="020B0603020202020204" pitchFamily="34" charset="0"/>
                  </a:rPr>
                  <a:t>continuation</a:t>
                </a:r>
                <a:r>
                  <a:rPr lang="pl-PL" dirty="0">
                    <a:latin typeface="Frutiger 45 Light" panose="020B0603020202020204" pitchFamily="34" charset="0"/>
                  </a:rPr>
                  <a:t> </a:t>
                </a:r>
                <a:r>
                  <a:rPr lang="pl-PL" dirty="0" err="1">
                    <a:latin typeface="Frutiger 45 Light" panose="020B0603020202020204" pitchFamily="34" charset="0"/>
                  </a:rPr>
                  <a:t>value</a:t>
                </a:r>
                <a:r>
                  <a:rPr lang="pl-PL" dirty="0">
                    <a:latin typeface="Frutiger 45 Light" panose="020B0603020202020204" pitchFamily="34" charset="0"/>
                  </a:rPr>
                  <a:t> by </a:t>
                </a:r>
                <a:r>
                  <a:rPr lang="pl-PL" dirty="0" err="1">
                    <a:latin typeface="Frutiger 45 Light" panose="020B0603020202020204" pitchFamily="34" charset="0"/>
                  </a:rPr>
                  <a:t>regressing</a:t>
                </a:r>
                <a:r>
                  <a:rPr lang="pl-PL" dirty="0">
                    <a:latin typeface="Frutiger 45 Light" panose="020B0603020202020204" pitchFamily="34" charset="0"/>
                  </a:rPr>
                  <a:t> the trade </a:t>
                </a:r>
                <a:r>
                  <a:rPr lang="pl-PL" dirty="0" err="1">
                    <a:latin typeface="Frutiger 45 Light" panose="020B0603020202020204" pitchFamily="34" charset="0"/>
                  </a:rPr>
                  <a:t>value</a:t>
                </a:r>
                <a:r>
                  <a:rPr lang="pl-PL" dirty="0">
                    <a:latin typeface="Frutiger 45 Light" panose="020B0603020202020204" pitchFamily="34" charset="0"/>
                  </a:rPr>
                  <a:t> </a:t>
                </a:r>
                <a:r>
                  <a:rPr lang="pl-PL" dirty="0" err="1">
                    <a:latin typeface="Frutiger 45 Light" panose="020B0603020202020204" pitchFamily="34" charset="0"/>
                  </a:rPr>
                  <a:t>at</a:t>
                </a:r>
                <a:r>
                  <a:rPr lang="pl-PL" dirty="0">
                    <a:latin typeface="Frutiger 45 Light" panose="020B0603020202020204" pitchFamily="34" charset="0"/>
                  </a:rPr>
                  <a:t> </a:t>
                </a:r>
                <a14:m>
                  <m:oMath xmlns:m="http://schemas.openxmlformats.org/officeDocument/2006/math">
                    <m:sSub>
                      <m:sSubPr>
                        <m:ctrlPr>
                          <a:rPr lang="pl-PL" i="1">
                            <a:latin typeface="Cambria Math" panose="02040503050406030204" pitchFamily="18" charset="0"/>
                          </a:rPr>
                        </m:ctrlPr>
                      </m:sSubPr>
                      <m:e>
                        <m:r>
                          <a:rPr lang="pl-PL" i="1">
                            <a:latin typeface="Cambria Math" panose="02040503050406030204" pitchFamily="18" charset="0"/>
                          </a:rPr>
                          <m:t>𝑡</m:t>
                        </m:r>
                      </m:e>
                      <m:sub>
                        <m:r>
                          <a:rPr lang="pl-PL" i="1">
                            <a:latin typeface="Cambria Math" panose="02040503050406030204" pitchFamily="18" charset="0"/>
                          </a:rPr>
                          <m:t>𝑛</m:t>
                        </m:r>
                      </m:sub>
                    </m:sSub>
                  </m:oMath>
                </a14:m>
                <a:r>
                  <a:rPr lang="pl-PL" dirty="0">
                    <a:latin typeface="Frutiger 45 Light" panose="020B0603020202020204" pitchFamily="34" charset="0"/>
                  </a:rPr>
                  <a:t> </a:t>
                </a:r>
                <a:r>
                  <a:rPr lang="pl-PL" dirty="0" err="1">
                    <a:latin typeface="Frutiger 45 Light" panose="020B0603020202020204" pitchFamily="34" charset="0"/>
                  </a:rPr>
                  <a:t>against</a:t>
                </a:r>
                <a:r>
                  <a:rPr lang="pl-PL" dirty="0">
                    <a:latin typeface="Frutiger 45 Light" panose="020B0603020202020204" pitchFamily="34" charset="0"/>
                  </a:rPr>
                  <a:t> the </a:t>
                </a:r>
                <a:r>
                  <a:rPr lang="pl-PL" dirty="0" err="1">
                    <a:latin typeface="Frutiger 45 Light" panose="020B0603020202020204" pitchFamily="34" charset="0"/>
                  </a:rPr>
                  <a:t>observables</a:t>
                </a:r>
                <a:r>
                  <a:rPr lang="pl-PL" dirty="0">
                    <a:latin typeface="Frutiger 45 Light" panose="020B0603020202020204" pitchFamily="34" charset="0"/>
                  </a:rPr>
                  <a:t>.</a:t>
                </a:r>
              </a:p>
              <a:p>
                <a:pPr marL="342900" indent="-342900">
                  <a:buClr>
                    <a:schemeClr val="tx1"/>
                  </a:buClr>
                  <a:buFont typeface="+mj-lt"/>
                  <a:buAutoNum type="arabicParenR"/>
                </a:pPr>
                <a:r>
                  <a:rPr lang="pl-PL" dirty="0" err="1">
                    <a:latin typeface="Frutiger 45 Light" panose="020B0603020202020204" pitchFamily="34" charset="0"/>
                  </a:rPr>
                  <a:t>If</a:t>
                </a:r>
                <a:r>
                  <a:rPr lang="pl-PL" dirty="0">
                    <a:latin typeface="Frutiger 45 Light" panose="020B0603020202020204" pitchFamily="34" charset="0"/>
                  </a:rPr>
                  <a:t> the </a:t>
                </a:r>
                <a:r>
                  <a:rPr lang="pl-PL" dirty="0" err="1">
                    <a:latin typeface="Frutiger 45 Light" panose="020B0603020202020204" pitchFamily="34" charset="0"/>
                  </a:rPr>
                  <a:t>product</a:t>
                </a:r>
                <a:r>
                  <a:rPr lang="pl-PL" dirty="0">
                    <a:latin typeface="Frutiger 45 Light" panose="020B0603020202020204" pitchFamily="34" charset="0"/>
                  </a:rPr>
                  <a:t> </a:t>
                </a:r>
                <a:r>
                  <a:rPr lang="pl-PL" dirty="0" err="1">
                    <a:latin typeface="Frutiger 45 Light" panose="020B0603020202020204" pitchFamily="34" charset="0"/>
                  </a:rPr>
                  <a:t>can</a:t>
                </a:r>
                <a:r>
                  <a:rPr lang="pl-PL" dirty="0">
                    <a:latin typeface="Frutiger 45 Light" panose="020B0603020202020204" pitchFamily="34" charset="0"/>
                  </a:rPr>
                  <a:t> be </a:t>
                </a:r>
                <a:r>
                  <a:rPr lang="pl-PL" dirty="0" err="1">
                    <a:latin typeface="Frutiger 45 Light" panose="020B0603020202020204" pitchFamily="34" charset="0"/>
                  </a:rPr>
                  <a:t>exercised</a:t>
                </a:r>
                <a:r>
                  <a:rPr lang="pl-PL" dirty="0">
                    <a:latin typeface="Frutiger 45 Light" panose="020B0603020202020204" pitchFamily="34" charset="0"/>
                  </a:rPr>
                  <a:t> </a:t>
                </a:r>
                <a:r>
                  <a:rPr lang="pl-PL" dirty="0" err="1">
                    <a:latin typeface="Frutiger 45 Light" panose="020B0603020202020204" pitchFamily="34" charset="0"/>
                  </a:rPr>
                  <a:t>at</a:t>
                </a:r>
                <a:r>
                  <a:rPr lang="pl-PL" dirty="0">
                    <a:latin typeface="Frutiger 45 Light" panose="020B0603020202020204" pitchFamily="34" charset="0"/>
                  </a:rPr>
                  <a:t> </a:t>
                </a:r>
                <a14:m>
                  <m:oMath xmlns:m="http://schemas.openxmlformats.org/officeDocument/2006/math">
                    <m:r>
                      <a:rPr lang="pl-PL" b="0" i="1" smtClean="0">
                        <a:latin typeface="Cambria Math" panose="02040503050406030204" pitchFamily="18" charset="0"/>
                      </a:rPr>
                      <m:t>𝑡</m:t>
                    </m:r>
                    <m:r>
                      <a:rPr lang="pl-PL" b="0" i="1" smtClean="0">
                        <a:latin typeface="Cambria Math" panose="02040503050406030204" pitchFamily="18" charset="0"/>
                      </a:rPr>
                      <m:t> </m:t>
                    </m:r>
                  </m:oMath>
                </a14:m>
                <a:r>
                  <a:rPr lang="pl-PL" dirty="0" err="1">
                    <a:latin typeface="Frutiger 45 Light" panose="020B0603020202020204" pitchFamily="34" charset="0"/>
                  </a:rPr>
                  <a:t>take</a:t>
                </a:r>
                <a:r>
                  <a:rPr lang="pl-PL" dirty="0">
                    <a:latin typeface="Frutiger 45 Light" panose="020B0603020202020204" pitchFamily="34" charset="0"/>
                  </a:rPr>
                  <a:t> the maximum of the </a:t>
                </a:r>
                <a:r>
                  <a:rPr lang="pl-PL" dirty="0" err="1">
                    <a:latin typeface="Frutiger 45 Light" panose="020B0603020202020204" pitchFamily="34" charset="0"/>
                  </a:rPr>
                  <a:t>payoff</a:t>
                </a:r>
                <a:r>
                  <a:rPr lang="pl-PL" dirty="0">
                    <a:latin typeface="Frutiger 45 Light" panose="020B0603020202020204" pitchFamily="34" charset="0"/>
                  </a:rPr>
                  <a:t> </a:t>
                </a:r>
                <a:r>
                  <a:rPr lang="pl-PL" dirty="0" err="1">
                    <a:latin typeface="Frutiger 45 Light" panose="020B0603020202020204" pitchFamily="34" charset="0"/>
                  </a:rPr>
                  <a:t>you</a:t>
                </a:r>
                <a:r>
                  <a:rPr lang="pl-PL" dirty="0">
                    <a:latin typeface="Frutiger 45 Light" panose="020B0603020202020204" pitchFamily="34" charset="0"/>
                  </a:rPr>
                  <a:t> </a:t>
                </a:r>
                <a:r>
                  <a:rPr lang="pl-PL" dirty="0" err="1">
                    <a:latin typeface="Frutiger 45 Light" panose="020B0603020202020204" pitchFamily="34" charset="0"/>
                  </a:rPr>
                  <a:t>would</a:t>
                </a:r>
                <a:r>
                  <a:rPr lang="pl-PL" dirty="0">
                    <a:latin typeface="Frutiger 45 Light" panose="020B0603020202020204" pitchFamily="34" charset="0"/>
                  </a:rPr>
                  <a:t> </a:t>
                </a:r>
                <a:r>
                  <a:rPr lang="pl-PL" dirty="0" err="1">
                    <a:latin typeface="Frutiger 45 Light" panose="020B0603020202020204" pitchFamily="34" charset="0"/>
                  </a:rPr>
                  <a:t>get</a:t>
                </a:r>
                <a:r>
                  <a:rPr lang="pl-PL" dirty="0">
                    <a:latin typeface="Frutiger 45 Light" panose="020B0603020202020204" pitchFamily="34" charset="0"/>
                  </a:rPr>
                  <a:t> </a:t>
                </a:r>
                <a:r>
                  <a:rPr lang="pl-PL" dirty="0" err="1">
                    <a:latin typeface="Frutiger 45 Light" panose="020B0603020202020204" pitchFamily="34" charset="0"/>
                  </a:rPr>
                  <a:t>at</a:t>
                </a:r>
                <a:r>
                  <a:rPr lang="pl-PL" dirty="0">
                    <a:latin typeface="Frutiger 45 Light" panose="020B0603020202020204" pitchFamily="34" charset="0"/>
                  </a:rPr>
                  <a:t> </a:t>
                </a:r>
                <a14:m>
                  <m:oMath xmlns:m="http://schemas.openxmlformats.org/officeDocument/2006/math">
                    <m:r>
                      <a:rPr lang="pl-PL" i="1">
                        <a:latin typeface="Cambria Math" panose="02040503050406030204" pitchFamily="18" charset="0"/>
                      </a:rPr>
                      <m:t>𝑡</m:t>
                    </m:r>
                  </m:oMath>
                </a14:m>
                <a:r>
                  <a:rPr lang="pl-PL" dirty="0">
                    <a:latin typeface="Frutiger 45 Light" panose="020B0603020202020204" pitchFamily="34" charset="0"/>
                  </a:rPr>
                  <a:t> and the </a:t>
                </a:r>
                <a:r>
                  <a:rPr lang="pl-PL" dirty="0" err="1">
                    <a:latin typeface="Frutiger 45 Light" panose="020B0603020202020204" pitchFamily="34" charset="0"/>
                  </a:rPr>
                  <a:t>calculated</a:t>
                </a:r>
                <a:r>
                  <a:rPr lang="pl-PL" dirty="0">
                    <a:latin typeface="Frutiger 45 Light" panose="020B0603020202020204" pitchFamily="34" charset="0"/>
                  </a:rPr>
                  <a:t> </a:t>
                </a:r>
                <a:r>
                  <a:rPr lang="pl-PL" dirty="0" err="1">
                    <a:latin typeface="Frutiger 45 Light" panose="020B0603020202020204" pitchFamily="34" charset="0"/>
                  </a:rPr>
                  <a:t>continuation</a:t>
                </a:r>
                <a:r>
                  <a:rPr lang="pl-PL" dirty="0">
                    <a:latin typeface="Frutiger 45 Light" panose="020B0603020202020204" pitchFamily="34" charset="0"/>
                  </a:rPr>
                  <a:t> </a:t>
                </a:r>
                <a:r>
                  <a:rPr lang="pl-PL" dirty="0" err="1">
                    <a:latin typeface="Frutiger 45 Light" panose="020B0603020202020204" pitchFamily="34" charset="0"/>
                  </a:rPr>
                  <a:t>value</a:t>
                </a:r>
                <a:r>
                  <a:rPr lang="pl-PL" dirty="0">
                    <a:latin typeface="Frutiger 45 Light" panose="020B0603020202020204" pitchFamily="34" charset="0"/>
                  </a:rPr>
                  <a:t>, </a:t>
                </a:r>
                <a:r>
                  <a:rPr lang="pl-PL" dirty="0" err="1">
                    <a:latin typeface="Frutiger 45 Light" panose="020B0603020202020204" pitchFamily="34" charset="0"/>
                  </a:rPr>
                  <a:t>otherwise</a:t>
                </a:r>
                <a:r>
                  <a:rPr lang="pl-PL" dirty="0">
                    <a:latin typeface="Frutiger 45 Light" panose="020B0603020202020204" pitchFamily="34" charset="0"/>
                  </a:rPr>
                  <a:t> </a:t>
                </a:r>
                <a:r>
                  <a:rPr lang="pl-PL" dirty="0" err="1">
                    <a:latin typeface="Frutiger 45 Light" panose="020B0603020202020204" pitchFamily="34" charset="0"/>
                  </a:rPr>
                  <a:t>take</a:t>
                </a:r>
                <a:r>
                  <a:rPr lang="pl-PL" dirty="0">
                    <a:latin typeface="Frutiger 45 Light" panose="020B0603020202020204" pitchFamily="34" charset="0"/>
                  </a:rPr>
                  <a:t> the </a:t>
                </a:r>
                <a:r>
                  <a:rPr lang="pl-PL" dirty="0" err="1">
                    <a:latin typeface="Frutiger 45 Light" panose="020B0603020202020204" pitchFamily="34" charset="0"/>
                  </a:rPr>
                  <a:t>continuation</a:t>
                </a:r>
                <a:r>
                  <a:rPr lang="pl-PL" dirty="0">
                    <a:latin typeface="Frutiger 45 Light" panose="020B0603020202020204" pitchFamily="34" charset="0"/>
                  </a:rPr>
                  <a:t> </a:t>
                </a:r>
                <a:r>
                  <a:rPr lang="pl-PL" dirty="0" err="1">
                    <a:latin typeface="Frutiger 45 Light" panose="020B0603020202020204" pitchFamily="34" charset="0"/>
                  </a:rPr>
                  <a:t>value</a:t>
                </a:r>
                <a:r>
                  <a:rPr lang="pl-PL" dirty="0">
                    <a:latin typeface="Frutiger 45 Light" panose="020B0603020202020204" pitchFamily="34" charset="0"/>
                  </a:rPr>
                  <a:t>. </a:t>
                </a:r>
                <a:r>
                  <a:rPr lang="pl-PL" dirty="0" err="1">
                    <a:latin typeface="Frutiger 45 Light" panose="020B0603020202020204" pitchFamily="34" charset="0"/>
                  </a:rPr>
                  <a:t>Don’t</a:t>
                </a:r>
                <a:r>
                  <a:rPr lang="pl-PL" dirty="0">
                    <a:latin typeface="Frutiger 45 Light" panose="020B0603020202020204" pitchFamily="34" charset="0"/>
                  </a:rPr>
                  <a:t> </a:t>
                </a:r>
                <a:r>
                  <a:rPr lang="pl-PL" dirty="0" err="1">
                    <a:latin typeface="Frutiger 45 Light" panose="020B0603020202020204" pitchFamily="34" charset="0"/>
                  </a:rPr>
                  <a:t>forget</a:t>
                </a:r>
                <a:r>
                  <a:rPr lang="pl-PL" dirty="0">
                    <a:latin typeface="Frutiger 45 Light" panose="020B0603020202020204" pitchFamily="34" charset="0"/>
                  </a:rPr>
                  <a:t> </a:t>
                </a:r>
                <a:r>
                  <a:rPr lang="pl-PL" dirty="0" err="1">
                    <a:latin typeface="Frutiger 45 Light" panose="020B0603020202020204" pitchFamily="34" charset="0"/>
                  </a:rPr>
                  <a:t>about</a:t>
                </a:r>
                <a:r>
                  <a:rPr lang="pl-PL" dirty="0">
                    <a:latin typeface="Frutiger 45 Light" panose="020B0603020202020204" pitchFamily="34" charset="0"/>
                  </a:rPr>
                  <a:t> the </a:t>
                </a:r>
                <a:r>
                  <a:rPr lang="pl-PL" dirty="0" err="1">
                    <a:latin typeface="Frutiger 45 Light" panose="020B0603020202020204" pitchFamily="34" charset="0"/>
                  </a:rPr>
                  <a:t>cashflows</a:t>
                </a:r>
                <a:r>
                  <a:rPr lang="pl-PL" dirty="0">
                    <a:latin typeface="Frutiger 45 Light" panose="020B0603020202020204" pitchFamily="34" charset="0"/>
                  </a:rPr>
                  <a:t> </a:t>
                </a:r>
                <a:r>
                  <a:rPr lang="pl-PL" dirty="0" err="1">
                    <a:latin typeface="Frutiger 45 Light" panose="020B0603020202020204" pitchFamily="34" charset="0"/>
                  </a:rPr>
                  <a:t>arising</a:t>
                </a:r>
                <a:r>
                  <a:rPr lang="pl-PL" dirty="0">
                    <a:latin typeface="Frutiger 45 Light" panose="020B0603020202020204" pitchFamily="34" charset="0"/>
                  </a:rPr>
                  <a:t> from the trade.</a:t>
                </a:r>
              </a:p>
              <a:p>
                <a:pPr>
                  <a:buClr>
                    <a:schemeClr val="tx1"/>
                  </a:buClr>
                </a:pPr>
                <a:r>
                  <a:rPr lang="pl-PL" dirty="0">
                    <a:latin typeface="Frutiger 45 Light" panose="020B0603020202020204" pitchFamily="34" charset="0"/>
                  </a:rPr>
                  <a:t>	[</a:t>
                </a:r>
                <a:r>
                  <a:rPr lang="pl-PL" dirty="0" err="1">
                    <a:latin typeface="Frutiger 45 Light" panose="020B0603020202020204" pitchFamily="34" charset="0"/>
                  </a:rPr>
                  <a:t>Proceed</a:t>
                </a:r>
                <a:r>
                  <a:rPr lang="pl-PL" dirty="0">
                    <a:latin typeface="Frutiger 45 Light" panose="020B0603020202020204" pitchFamily="34" charset="0"/>
                  </a:rPr>
                  <a:t> </a:t>
                </a:r>
                <a:r>
                  <a:rPr lang="pl-PL" dirty="0" err="1">
                    <a:latin typeface="Frutiger 45 Light" panose="020B0603020202020204" pitchFamily="34" charset="0"/>
                  </a:rPr>
                  <a:t>recursevily</a:t>
                </a:r>
                <a:r>
                  <a:rPr lang="pl-PL" dirty="0">
                    <a:latin typeface="Frutiger 45 Light" panose="020B0603020202020204" pitchFamily="34" charset="0"/>
                  </a:rPr>
                  <a:t> </a:t>
                </a:r>
                <a:r>
                  <a:rPr lang="pl-PL" dirty="0" err="1">
                    <a:latin typeface="Frutiger 45 Light" panose="020B0603020202020204" pitchFamily="34" charset="0"/>
                  </a:rPr>
                  <a:t>backwards</a:t>
                </a:r>
                <a:r>
                  <a:rPr lang="pl-PL" dirty="0">
                    <a:latin typeface="Frutiger 45 Light" panose="020B0603020202020204" pitchFamily="34" charset="0"/>
                  </a:rPr>
                  <a:t> </a:t>
                </a:r>
                <a:r>
                  <a:rPr lang="pl-PL" dirty="0" err="1">
                    <a:latin typeface="Frutiger 45 Light" panose="020B0603020202020204" pitchFamily="34" charset="0"/>
                  </a:rPr>
                  <a:t>until</a:t>
                </a:r>
                <a:r>
                  <a:rPr lang="pl-PL" dirty="0">
                    <a:latin typeface="Frutiger 45 Light" panose="020B0603020202020204" pitchFamily="34" charset="0"/>
                  </a:rPr>
                  <a:t> the t=t0 </a:t>
                </a:r>
                <a:r>
                  <a:rPr lang="pl-PL" dirty="0" err="1">
                    <a:latin typeface="Frutiger 45 Light" panose="020B0603020202020204" pitchFamily="34" charset="0"/>
                  </a:rPr>
                  <a:t>is</a:t>
                </a:r>
                <a:r>
                  <a:rPr lang="pl-PL" dirty="0">
                    <a:latin typeface="Frutiger 45 Light" panose="020B0603020202020204" pitchFamily="34" charset="0"/>
                  </a:rPr>
                  <a:t> </a:t>
                </a:r>
                <a:r>
                  <a:rPr lang="pl-PL" dirty="0" err="1">
                    <a:latin typeface="Frutiger 45 Light" panose="020B0603020202020204" pitchFamily="34" charset="0"/>
                  </a:rPr>
                  <a:t>reached</a:t>
                </a:r>
                <a:r>
                  <a:rPr lang="pl-PL" dirty="0">
                    <a:latin typeface="Frutiger 45 Light" panose="020B0603020202020204" pitchFamily="34" charset="0"/>
                  </a:rPr>
                  <a:t>.]</a:t>
                </a:r>
              </a:p>
            </p:txBody>
          </p:sp>
        </mc:Choice>
        <mc:Fallback xmlns="">
          <p:sp>
            <p:nvSpPr>
              <p:cNvPr id="11" name="Rectangle 10">
                <a:extLst>
                  <a:ext uri="{FF2B5EF4-FFF2-40B4-BE49-F238E27FC236}">
                    <a16:creationId xmlns:a16="http://schemas.microsoft.com/office/drawing/2014/main" id="{AEA920AE-5585-445F-BD9B-3ABF9CC2C34C}"/>
                  </a:ext>
                </a:extLst>
              </p:cNvPr>
              <p:cNvSpPr>
                <a:spLocks noRot="1" noChangeAspect="1" noMove="1" noResize="1" noEditPoints="1" noAdjustHandles="1" noChangeArrowheads="1" noChangeShapeType="1" noTextEdit="1"/>
              </p:cNvSpPr>
              <p:nvPr/>
            </p:nvSpPr>
            <p:spPr>
              <a:xfrm>
                <a:off x="629629" y="1813303"/>
                <a:ext cx="7399674" cy="3693319"/>
              </a:xfrm>
              <a:prstGeom prst="rect">
                <a:avLst/>
              </a:prstGeom>
              <a:blipFill>
                <a:blip r:embed="rId5"/>
                <a:stretch>
                  <a:fillRect l="-577" t="-825" b="-1650"/>
                </a:stretch>
              </a:blipFill>
            </p:spPr>
            <p:txBody>
              <a:bodyPr/>
              <a:lstStyle/>
              <a:p>
                <a:r>
                  <a:rPr lang="en-GB">
                    <a:noFill/>
                  </a:rPr>
                  <a:t> </a:t>
                </a:r>
              </a:p>
            </p:txBody>
          </p:sp>
        </mc:Fallback>
      </mc:AlternateContent>
      <p:sp>
        <p:nvSpPr>
          <p:cNvPr id="2" name="TextBox 1">
            <a:extLst>
              <a:ext uri="{FF2B5EF4-FFF2-40B4-BE49-F238E27FC236}">
                <a16:creationId xmlns:a16="http://schemas.microsoft.com/office/drawing/2014/main" id="{23794CC5-7E6E-407E-BAB0-2B8EFDFDFC15}"/>
              </a:ext>
            </a:extLst>
          </p:cNvPr>
          <p:cNvSpPr txBox="1"/>
          <p:nvPr/>
        </p:nvSpPr>
        <p:spPr>
          <a:xfrm>
            <a:off x="1214437" y="6194107"/>
            <a:ext cx="7629526" cy="657225"/>
          </a:xfrm>
          <a:prstGeom prst="rect">
            <a:avLst/>
          </a:prstGeom>
          <a:noFill/>
        </p:spPr>
        <p:txBody>
          <a:bodyPr wrap="none" lIns="0" tIns="0" rIns="0" bIns="0" rtlCol="0">
            <a:noAutofit/>
          </a:bodyPr>
          <a:lstStyle/>
          <a:p>
            <a:pPr algn="just">
              <a:spcBef>
                <a:spcPts val="0"/>
              </a:spcBef>
            </a:pPr>
            <a:r>
              <a:rPr lang="pl-PL" sz="1200" dirty="0"/>
              <a:t>*</a:t>
            </a:r>
            <a:r>
              <a:rPr lang="pl-PL" sz="1200" dirty="0" err="1"/>
              <a:t>Easy</a:t>
            </a:r>
            <a:r>
              <a:rPr lang="pl-PL" sz="1200" dirty="0"/>
              <a:t> to </a:t>
            </a:r>
            <a:r>
              <a:rPr lang="pl-PL" sz="1200" dirty="0" err="1"/>
              <a:t>follow</a:t>
            </a:r>
            <a:r>
              <a:rPr lang="pl-PL" sz="1200" dirty="0"/>
              <a:t> </a:t>
            </a:r>
            <a:r>
              <a:rPr lang="pl-PL" sz="1200" dirty="0" err="1"/>
              <a:t>example</a:t>
            </a:r>
            <a:r>
              <a:rPr lang="pl-PL" sz="1200" dirty="0"/>
              <a:t> </a:t>
            </a:r>
            <a:r>
              <a:rPr lang="pl-PL" sz="1200" dirty="0" err="1"/>
              <a:t>given</a:t>
            </a:r>
            <a:r>
              <a:rPr lang="pl-PL" sz="1200" dirty="0"/>
              <a:t> </a:t>
            </a:r>
            <a:r>
              <a:rPr lang="pl-PL" sz="1200" dirty="0" err="1"/>
              <a:t>at</a:t>
            </a:r>
            <a:r>
              <a:rPr lang="pl-PL" sz="1200" dirty="0"/>
              <a:t>:</a:t>
            </a:r>
          </a:p>
          <a:p>
            <a:pPr algn="just">
              <a:spcBef>
                <a:spcPts val="0"/>
              </a:spcBef>
            </a:pPr>
            <a:r>
              <a:rPr lang="en-GB" sz="1200" b="1" dirty="0"/>
              <a:t>Longstaff, Schwartz; </a:t>
            </a:r>
            <a:r>
              <a:rPr lang="en-GB" sz="1200" b="1" dirty="0" err="1"/>
              <a:t>Valueing</a:t>
            </a:r>
            <a:r>
              <a:rPr lang="en-GB" sz="1200" b="1" dirty="0"/>
              <a:t> American Options in Simulations: A simple least-square approach;</a:t>
            </a:r>
            <a:endParaRPr lang="pl-PL" sz="1200" b="1" dirty="0"/>
          </a:p>
          <a:p>
            <a:pPr algn="just">
              <a:spcBef>
                <a:spcPts val="0"/>
              </a:spcBef>
            </a:pPr>
            <a:r>
              <a:rPr lang="pl-PL" sz="1200" b="1" dirty="0"/>
              <a:t>(</a:t>
            </a:r>
            <a:r>
              <a:rPr lang="en-GB" sz="1200" b="1" dirty="0"/>
              <a:t>The review of </a:t>
            </a:r>
            <a:r>
              <a:rPr lang="en-GB" sz="1200" b="1" dirty="0" err="1"/>
              <a:t>financia</a:t>
            </a:r>
            <a:r>
              <a:rPr lang="pl-PL" sz="1200" b="1" dirty="0"/>
              <a:t>l </a:t>
            </a:r>
            <a:r>
              <a:rPr lang="en-GB" sz="1200" b="1" dirty="0"/>
              <a:t>studies, Vol14, No1, 2001.</a:t>
            </a:r>
            <a:r>
              <a:rPr lang="pl-PL" sz="1200" b="1" dirty="0"/>
              <a:t>)</a:t>
            </a:r>
            <a:endParaRPr lang="en-GB" sz="1200" b="1" dirty="0"/>
          </a:p>
          <a:p>
            <a:pPr algn="just">
              <a:spcBef>
                <a:spcPts val="0"/>
              </a:spcBef>
            </a:pPr>
            <a:endParaRPr lang="en-GB" sz="1200" dirty="0"/>
          </a:p>
        </p:txBody>
      </p:sp>
    </p:spTree>
    <p:custDataLst>
      <p:tags r:id="rId1"/>
    </p:custDataLst>
    <p:extLst>
      <p:ext uri="{BB962C8B-B14F-4D97-AF65-F5344CB8AC3E}">
        <p14:creationId xmlns:p14="http://schemas.microsoft.com/office/powerpoint/2010/main" val="13258933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AYOUT BODY"/>
          <p:cNvSpPr>
            <a:spLocks noGrp="1"/>
          </p:cNvSpPr>
          <p:nvPr>
            <p:ph sz="quarter" idx="12"/>
            <p:custDataLst>
              <p:tags r:id="rId2"/>
            </p:custDataLst>
          </p:nvPr>
        </p:nvSpPr>
        <p:spPr>
          <a:xfrm>
            <a:off x="406907" y="1217259"/>
            <a:ext cx="9203437" cy="5109281"/>
          </a:xfrm>
        </p:spPr>
        <p:txBody>
          <a:bodyPr/>
          <a:lstStyle/>
          <a:p>
            <a:pPr algn="l"/>
            <a:r>
              <a:rPr lang="en-US" sz="1800" b="0" i="0" u="none" strike="noStrike" baseline="0" dirty="0">
                <a:latin typeface="Frutiger 45 Light" panose="020B0603020202020204" pitchFamily="34" charset="0"/>
              </a:rPr>
              <a:t>Consider an American put option with a strike</a:t>
            </a:r>
            <a:r>
              <a:rPr lang="en-US" sz="1800" dirty="0">
                <a:latin typeface="Frutiger 45 Light" panose="020B0603020202020204" pitchFamily="34" charset="0"/>
              </a:rPr>
              <a:t> </a:t>
            </a:r>
            <a:r>
              <a:rPr lang="en-US" sz="1800" b="0" i="0" u="none" strike="noStrike" baseline="0" dirty="0">
                <a:latin typeface="Frutiger 45 Light" panose="020B0603020202020204" pitchFamily="34" charset="0"/>
              </a:rPr>
              <a:t>price of </a:t>
            </a:r>
            <a:r>
              <a:rPr lang="en-US" sz="1800" b="0" i="1" u="none" strike="noStrike" baseline="0" dirty="0">
                <a:latin typeface="Frutiger 45 Light" panose="020B0603020202020204" pitchFamily="34" charset="0"/>
              </a:rPr>
              <a:t>1.10$ </a:t>
            </a:r>
            <a:r>
              <a:rPr lang="en-US" sz="1800" b="0" u="none" strike="noStrike" baseline="0" dirty="0">
                <a:latin typeface="Frutiger 45 Light" panose="020B0603020202020204" pitchFamily="34" charset="0"/>
              </a:rPr>
              <a:t>and </a:t>
            </a:r>
            <a:r>
              <a:rPr lang="en-US" sz="1800" b="0" i="0" u="none" strike="noStrike" baseline="0" dirty="0">
                <a:latin typeface="Frutiger 45 Light" panose="020B0603020202020204" pitchFamily="34" charset="0"/>
              </a:rPr>
              <a:t>final expiration date 3Y. </a:t>
            </a:r>
          </a:p>
          <a:p>
            <a:pPr algn="l"/>
            <a:r>
              <a:rPr lang="en-US" sz="1800" b="0" i="0" u="none" strike="noStrike" baseline="0" dirty="0">
                <a:latin typeface="Frutiger 45 Light" panose="020B0603020202020204" pitchFamily="34" charset="0"/>
              </a:rPr>
              <a:t>The riskless rate is 6%.</a:t>
            </a:r>
            <a:endParaRPr lang="en-US" sz="1800" dirty="0">
              <a:latin typeface="Frutiger 45 Light" panose="020B0603020202020204" pitchFamily="34" charset="0"/>
            </a:endParaRPr>
          </a:p>
        </p:txBody>
      </p:sp>
      <p:sp>
        <p:nvSpPr>
          <p:cNvPr id="3" name="PAGE HEADING"/>
          <p:cNvSpPr>
            <a:spLocks noGrp="1"/>
          </p:cNvSpPr>
          <p:nvPr>
            <p:ph type="title"/>
            <p:custDataLst>
              <p:tags r:id="rId3"/>
            </p:custDataLst>
          </p:nvPr>
        </p:nvSpPr>
        <p:spPr/>
        <p:txBody>
          <a:bodyPr>
            <a:normAutofit/>
          </a:bodyPr>
          <a:lstStyle/>
          <a:p>
            <a:r>
              <a:rPr lang="pl-PL" sz="3200" dirty="0" err="1">
                <a:latin typeface="Frutiger 45 Light" panose="020B0603020202020204" pitchFamily="34" charset="0"/>
              </a:rPr>
              <a:t>Walkthrough</a:t>
            </a:r>
            <a:endParaRPr lang="en-US" sz="3200" dirty="0">
              <a:latin typeface="Frutiger 45 Light" panose="020B0603020202020204" pitchFamily="34" charset="0"/>
            </a:endParaRPr>
          </a:p>
        </p:txBody>
      </p:sp>
      <p:sp>
        <p:nvSpPr>
          <p:cNvPr id="4" name="Rectangle 3">
            <a:extLst>
              <a:ext uri="{FF2B5EF4-FFF2-40B4-BE49-F238E27FC236}">
                <a16:creationId xmlns:a16="http://schemas.microsoft.com/office/drawing/2014/main" id="{65E4A93F-EA5F-E452-851E-BCC2E29FA3DA}"/>
              </a:ext>
            </a:extLst>
          </p:cNvPr>
          <p:cNvSpPr/>
          <p:nvPr/>
        </p:nvSpPr>
        <p:spPr>
          <a:xfrm>
            <a:off x="349232" y="6768692"/>
            <a:ext cx="1620860" cy="605157"/>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GB" sz="1100" dirty="0">
              <a:solidFill>
                <a:schemeClr val="tx1"/>
              </a:solidFill>
            </a:endParaRPr>
          </a:p>
        </p:txBody>
      </p:sp>
    </p:spTree>
    <p:custDataLst>
      <p:tags r:id="rId1"/>
    </p:custDataLst>
    <p:extLst>
      <p:ext uri="{BB962C8B-B14F-4D97-AF65-F5344CB8AC3E}">
        <p14:creationId xmlns:p14="http://schemas.microsoft.com/office/powerpoint/2010/main" val="33712997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AGE HEADING"/>
          <p:cNvSpPr>
            <a:spLocks noGrp="1"/>
          </p:cNvSpPr>
          <p:nvPr>
            <p:ph type="title"/>
            <p:custDataLst>
              <p:tags r:id="rId2"/>
            </p:custDataLst>
          </p:nvPr>
        </p:nvSpPr>
        <p:spPr/>
        <p:txBody>
          <a:bodyPr>
            <a:normAutofit/>
          </a:bodyPr>
          <a:lstStyle/>
          <a:p>
            <a:r>
              <a:rPr lang="pl-PL" sz="3200" dirty="0" err="1">
                <a:latin typeface="Frutiger 45 Light" panose="020B0603020202020204" pitchFamily="34" charset="0"/>
              </a:rPr>
              <a:t>Walkthrough</a:t>
            </a:r>
            <a:endParaRPr lang="en-US" sz="3200" dirty="0">
              <a:latin typeface="Frutiger 45 Light" panose="020B0603020202020204" pitchFamily="34" charset="0"/>
            </a:endParaRPr>
          </a:p>
        </p:txBody>
      </p:sp>
      <p:sp>
        <p:nvSpPr>
          <p:cNvPr id="2" name="Rectangle 1">
            <a:extLst>
              <a:ext uri="{FF2B5EF4-FFF2-40B4-BE49-F238E27FC236}">
                <a16:creationId xmlns:a16="http://schemas.microsoft.com/office/drawing/2014/main" id="{0BEF3524-091D-41A7-3417-A4184C4CBA96}"/>
              </a:ext>
            </a:extLst>
          </p:cNvPr>
          <p:cNvSpPr/>
          <p:nvPr/>
        </p:nvSpPr>
        <p:spPr>
          <a:xfrm>
            <a:off x="349232" y="6768692"/>
            <a:ext cx="1620860" cy="605157"/>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GB" sz="1100" dirty="0">
              <a:solidFill>
                <a:schemeClr val="tx1"/>
              </a:solidFill>
            </a:endParaRPr>
          </a:p>
        </p:txBody>
      </p:sp>
      <p:sp>
        <p:nvSpPr>
          <p:cNvPr id="4" name="TextBox 3">
            <a:extLst>
              <a:ext uri="{FF2B5EF4-FFF2-40B4-BE49-F238E27FC236}">
                <a16:creationId xmlns:a16="http://schemas.microsoft.com/office/drawing/2014/main" id="{6A3341B9-DD1E-7A37-8FC1-F9A59FB39A61}"/>
              </a:ext>
            </a:extLst>
          </p:cNvPr>
          <p:cNvSpPr txBox="1"/>
          <p:nvPr/>
        </p:nvSpPr>
        <p:spPr>
          <a:xfrm>
            <a:off x="780758" y="1380403"/>
            <a:ext cx="5289452" cy="358727"/>
          </a:xfrm>
          <a:prstGeom prst="rect">
            <a:avLst/>
          </a:prstGeom>
          <a:noFill/>
        </p:spPr>
        <p:txBody>
          <a:bodyPr wrap="none" lIns="0" tIns="0" rIns="0" bIns="0" rtlCol="0">
            <a:noAutofit/>
          </a:bodyPr>
          <a:lstStyle/>
          <a:p>
            <a:r>
              <a:rPr lang="en-IN" b="1" dirty="0">
                <a:latin typeface="+mn-lt"/>
              </a:rPr>
              <a:t>Step 1</a:t>
            </a:r>
            <a:r>
              <a:rPr lang="en-IN" dirty="0">
                <a:latin typeface="+mn-lt"/>
              </a:rPr>
              <a:t>: Simulate many realizations of the asset path from now to expiry</a:t>
            </a:r>
            <a:endParaRPr lang="en-GB" dirty="0">
              <a:latin typeface="+mn-lt"/>
            </a:endParaRPr>
          </a:p>
        </p:txBody>
      </p:sp>
      <p:pic>
        <p:nvPicPr>
          <p:cNvPr id="9" name="Content Placeholder 8">
            <a:extLst>
              <a:ext uri="{FF2B5EF4-FFF2-40B4-BE49-F238E27FC236}">
                <a16:creationId xmlns:a16="http://schemas.microsoft.com/office/drawing/2014/main" id="{0BCFF60B-29F5-6A6A-F714-893AA4519CFF}"/>
              </a:ext>
            </a:extLst>
          </p:cNvPr>
          <p:cNvPicPr>
            <a:picLocks noGrp="1" noChangeAspect="1"/>
          </p:cNvPicPr>
          <p:nvPr>
            <p:ph sz="quarter" idx="12"/>
          </p:nvPr>
        </p:nvPicPr>
        <p:blipFill>
          <a:blip r:embed="rId5"/>
          <a:stretch>
            <a:fillRect/>
          </a:stretch>
        </p:blipFill>
        <p:spPr>
          <a:xfrm>
            <a:off x="1558737" y="2214626"/>
            <a:ext cx="6657942" cy="3980433"/>
          </a:xfrm>
        </p:spPr>
      </p:pic>
      <p:sp>
        <p:nvSpPr>
          <p:cNvPr id="10" name="Rectangle: Rounded Corners 9">
            <a:extLst>
              <a:ext uri="{FF2B5EF4-FFF2-40B4-BE49-F238E27FC236}">
                <a16:creationId xmlns:a16="http://schemas.microsoft.com/office/drawing/2014/main" id="{22C3068E-2B26-AE52-0400-27ED7F0CD959}"/>
              </a:ext>
            </a:extLst>
          </p:cNvPr>
          <p:cNvSpPr/>
          <p:nvPr/>
        </p:nvSpPr>
        <p:spPr>
          <a:xfrm>
            <a:off x="609271" y="1380403"/>
            <a:ext cx="844362" cy="284091"/>
          </a:xfrm>
          <a:prstGeom prst="roundRect">
            <a:avLst/>
          </a:prstGeom>
          <a:noFill/>
          <a:ln w="19050">
            <a:solidFill>
              <a:srgbClr val="7B7D8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GB" sz="1100" dirty="0">
              <a:solidFill>
                <a:schemeClr val="tx1"/>
              </a:solidFill>
            </a:endParaRPr>
          </a:p>
        </p:txBody>
      </p:sp>
    </p:spTree>
    <p:custDataLst>
      <p:tags r:id="rId1"/>
    </p:custDataLst>
    <p:extLst>
      <p:ext uri="{BB962C8B-B14F-4D97-AF65-F5344CB8AC3E}">
        <p14:creationId xmlns:p14="http://schemas.microsoft.com/office/powerpoint/2010/main" val="3300270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AGE HEADING"/>
          <p:cNvSpPr>
            <a:spLocks noGrp="1"/>
          </p:cNvSpPr>
          <p:nvPr>
            <p:ph type="title"/>
            <p:custDataLst>
              <p:tags r:id="rId2"/>
            </p:custDataLst>
          </p:nvPr>
        </p:nvSpPr>
        <p:spPr/>
        <p:txBody>
          <a:bodyPr>
            <a:normAutofit/>
          </a:bodyPr>
          <a:lstStyle/>
          <a:p>
            <a:r>
              <a:rPr lang="pl-PL" sz="3200" dirty="0" err="1">
                <a:latin typeface="Frutiger 45 Light" panose="020B0603020202020204" pitchFamily="34" charset="0"/>
              </a:rPr>
              <a:t>Walkthrough</a:t>
            </a:r>
            <a:endParaRPr lang="en-US" sz="3200" dirty="0">
              <a:latin typeface="Frutiger 45 Light" panose="020B0603020202020204" pitchFamily="34" charset="0"/>
            </a:endParaRPr>
          </a:p>
        </p:txBody>
      </p:sp>
      <p:sp>
        <p:nvSpPr>
          <p:cNvPr id="2" name="Rectangle 1">
            <a:extLst>
              <a:ext uri="{FF2B5EF4-FFF2-40B4-BE49-F238E27FC236}">
                <a16:creationId xmlns:a16="http://schemas.microsoft.com/office/drawing/2014/main" id="{55C1433C-96D5-A58A-F815-72346BC1F06B}"/>
              </a:ext>
            </a:extLst>
          </p:cNvPr>
          <p:cNvSpPr/>
          <p:nvPr/>
        </p:nvSpPr>
        <p:spPr>
          <a:xfrm>
            <a:off x="349232" y="6768692"/>
            <a:ext cx="1620860" cy="605157"/>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GB" sz="1100" dirty="0">
              <a:solidFill>
                <a:schemeClr val="tx1"/>
              </a:solidFill>
            </a:endParaRPr>
          </a:p>
        </p:txBody>
      </p:sp>
      <p:pic>
        <p:nvPicPr>
          <p:cNvPr id="5" name="Picture 4">
            <a:extLst>
              <a:ext uri="{FF2B5EF4-FFF2-40B4-BE49-F238E27FC236}">
                <a16:creationId xmlns:a16="http://schemas.microsoft.com/office/drawing/2014/main" id="{23657A12-7760-3103-2A1C-1CE09016551B}"/>
              </a:ext>
            </a:extLst>
          </p:cNvPr>
          <p:cNvPicPr>
            <a:picLocks noChangeAspect="1"/>
          </p:cNvPicPr>
          <p:nvPr/>
        </p:nvPicPr>
        <p:blipFill>
          <a:blip r:embed="rId5"/>
          <a:stretch>
            <a:fillRect/>
          </a:stretch>
        </p:blipFill>
        <p:spPr>
          <a:xfrm>
            <a:off x="2321167" y="1195579"/>
            <a:ext cx="4768949" cy="2851104"/>
          </a:xfrm>
          <a:prstGeom prst="rect">
            <a:avLst/>
          </a:prstGeom>
        </p:spPr>
      </p:pic>
      <p:pic>
        <p:nvPicPr>
          <p:cNvPr id="8" name="Picture 7">
            <a:extLst>
              <a:ext uri="{FF2B5EF4-FFF2-40B4-BE49-F238E27FC236}">
                <a16:creationId xmlns:a16="http://schemas.microsoft.com/office/drawing/2014/main" id="{8A6635E9-3AE6-8033-63F7-DFECC105B487}"/>
              </a:ext>
            </a:extLst>
          </p:cNvPr>
          <p:cNvPicPr>
            <a:picLocks noChangeAspect="1"/>
          </p:cNvPicPr>
          <p:nvPr/>
        </p:nvPicPr>
        <p:blipFill>
          <a:blip r:embed="rId6"/>
          <a:stretch>
            <a:fillRect/>
          </a:stretch>
        </p:blipFill>
        <p:spPr>
          <a:xfrm>
            <a:off x="3011832" y="4542548"/>
            <a:ext cx="3387618" cy="2831301"/>
          </a:xfrm>
          <a:prstGeom prst="rect">
            <a:avLst/>
          </a:prstGeom>
        </p:spPr>
      </p:pic>
      <p:sp>
        <p:nvSpPr>
          <p:cNvPr id="9" name="TextBox 8">
            <a:extLst>
              <a:ext uri="{FF2B5EF4-FFF2-40B4-BE49-F238E27FC236}">
                <a16:creationId xmlns:a16="http://schemas.microsoft.com/office/drawing/2014/main" id="{68785CD2-1B96-A62A-67DE-B29695EE81F7}"/>
              </a:ext>
            </a:extLst>
          </p:cNvPr>
          <p:cNvSpPr txBox="1"/>
          <p:nvPr/>
        </p:nvSpPr>
        <p:spPr>
          <a:xfrm>
            <a:off x="1159662" y="4130283"/>
            <a:ext cx="914400" cy="914400"/>
          </a:xfrm>
          <a:prstGeom prst="rect">
            <a:avLst/>
          </a:prstGeom>
          <a:noFill/>
        </p:spPr>
        <p:txBody>
          <a:bodyPr wrap="none" lIns="0" tIns="0" rIns="0" bIns="0" rtlCol="0">
            <a:noAutofit/>
          </a:bodyPr>
          <a:lstStyle/>
          <a:p>
            <a:r>
              <a:rPr lang="en-IN" b="1" dirty="0">
                <a:latin typeface="+mn-lt"/>
              </a:rPr>
              <a:t>Step 2: </a:t>
            </a:r>
            <a:r>
              <a:rPr lang="en-IN" dirty="0">
                <a:latin typeface="+mn-lt"/>
              </a:rPr>
              <a:t>Compute the Payoff at Expiration (assuming no exercise beforehand)</a:t>
            </a:r>
            <a:endParaRPr lang="en-GB" dirty="0">
              <a:latin typeface="+mn-lt"/>
            </a:endParaRPr>
          </a:p>
        </p:txBody>
      </p:sp>
      <p:sp>
        <p:nvSpPr>
          <p:cNvPr id="10" name="Rectangle: Rounded Corners 9">
            <a:extLst>
              <a:ext uri="{FF2B5EF4-FFF2-40B4-BE49-F238E27FC236}">
                <a16:creationId xmlns:a16="http://schemas.microsoft.com/office/drawing/2014/main" id="{B18ACE12-9076-B54B-68F6-6B2510972B0A}"/>
              </a:ext>
            </a:extLst>
          </p:cNvPr>
          <p:cNvSpPr/>
          <p:nvPr/>
        </p:nvSpPr>
        <p:spPr>
          <a:xfrm>
            <a:off x="1123555" y="4130283"/>
            <a:ext cx="748108" cy="298842"/>
          </a:xfrm>
          <a:prstGeom prst="roundRect">
            <a:avLst/>
          </a:prstGeom>
          <a:noFill/>
          <a:ln w="19050">
            <a:solidFill>
              <a:srgbClr val="7B7D8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GB" sz="1100" dirty="0">
              <a:solidFill>
                <a:schemeClr val="tx1"/>
              </a:solidFill>
            </a:endParaRPr>
          </a:p>
        </p:txBody>
      </p:sp>
    </p:spTree>
    <p:custDataLst>
      <p:tags r:id="rId1"/>
    </p:custDataLst>
    <p:extLst>
      <p:ext uri="{BB962C8B-B14F-4D97-AF65-F5344CB8AC3E}">
        <p14:creationId xmlns:p14="http://schemas.microsoft.com/office/powerpoint/2010/main" val="14410322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AGE HEADING"/>
          <p:cNvSpPr>
            <a:spLocks noGrp="1"/>
          </p:cNvSpPr>
          <p:nvPr>
            <p:ph type="title"/>
            <p:custDataLst>
              <p:tags r:id="rId2"/>
            </p:custDataLst>
          </p:nvPr>
        </p:nvSpPr>
        <p:spPr/>
        <p:txBody>
          <a:bodyPr>
            <a:normAutofit/>
          </a:bodyPr>
          <a:lstStyle/>
          <a:p>
            <a:r>
              <a:rPr lang="pl-PL" sz="3200" dirty="0" err="1">
                <a:latin typeface="Frutiger 45 Light" panose="020B0603020202020204" pitchFamily="34" charset="0"/>
              </a:rPr>
              <a:t>Walkthrough</a:t>
            </a:r>
            <a:endParaRPr lang="en-US" sz="3200" dirty="0">
              <a:latin typeface="Frutiger 45 Light" panose="020B0603020202020204" pitchFamily="34" charset="0"/>
            </a:endParaRPr>
          </a:p>
        </p:txBody>
      </p:sp>
      <p:sp>
        <p:nvSpPr>
          <p:cNvPr id="2" name="Rectangle 1">
            <a:extLst>
              <a:ext uri="{FF2B5EF4-FFF2-40B4-BE49-F238E27FC236}">
                <a16:creationId xmlns:a16="http://schemas.microsoft.com/office/drawing/2014/main" id="{5E5F058C-7950-ADF6-A922-D1BECE16BEA5}"/>
              </a:ext>
            </a:extLst>
          </p:cNvPr>
          <p:cNvSpPr/>
          <p:nvPr/>
        </p:nvSpPr>
        <p:spPr>
          <a:xfrm>
            <a:off x="349232" y="6768692"/>
            <a:ext cx="1620860" cy="605157"/>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GB" sz="1100" dirty="0">
              <a:solidFill>
                <a:schemeClr val="tx1"/>
              </a:solidFill>
            </a:endParaRPr>
          </a:p>
        </p:txBody>
      </p:sp>
      <p:sp>
        <p:nvSpPr>
          <p:cNvPr id="5" name="TextBox 4">
            <a:extLst>
              <a:ext uri="{FF2B5EF4-FFF2-40B4-BE49-F238E27FC236}">
                <a16:creationId xmlns:a16="http://schemas.microsoft.com/office/drawing/2014/main" id="{8382C5E9-9557-B22E-012B-6B76A4AE21E9}"/>
              </a:ext>
            </a:extLst>
          </p:cNvPr>
          <p:cNvSpPr txBox="1"/>
          <p:nvPr/>
        </p:nvSpPr>
        <p:spPr>
          <a:xfrm>
            <a:off x="1055692" y="1280160"/>
            <a:ext cx="914400" cy="914400"/>
          </a:xfrm>
          <a:prstGeom prst="rect">
            <a:avLst/>
          </a:prstGeom>
          <a:noFill/>
        </p:spPr>
        <p:txBody>
          <a:bodyPr wrap="none" lIns="0" tIns="0" rIns="0" bIns="0" rtlCol="0">
            <a:noAutofit/>
          </a:bodyPr>
          <a:lstStyle/>
          <a:p>
            <a:r>
              <a:rPr lang="en-IN" b="1" dirty="0">
                <a:latin typeface="+mn-lt"/>
              </a:rPr>
              <a:t>Step 3: </a:t>
            </a:r>
            <a:r>
              <a:rPr lang="en-IN" dirty="0">
                <a:latin typeface="+mn-lt"/>
              </a:rPr>
              <a:t>Go to the next time step and discount cash flows.</a:t>
            </a:r>
            <a:endParaRPr lang="en-GB" dirty="0">
              <a:latin typeface="+mn-lt"/>
            </a:endParaRPr>
          </a:p>
        </p:txBody>
      </p:sp>
      <p:sp>
        <p:nvSpPr>
          <p:cNvPr id="6" name="TextBox 5">
            <a:extLst>
              <a:ext uri="{FF2B5EF4-FFF2-40B4-BE49-F238E27FC236}">
                <a16:creationId xmlns:a16="http://schemas.microsoft.com/office/drawing/2014/main" id="{6368CE2D-40CE-47DA-BFF9-C87C2FD6A651}"/>
              </a:ext>
            </a:extLst>
          </p:cNvPr>
          <p:cNvSpPr txBox="1"/>
          <p:nvPr/>
        </p:nvSpPr>
        <p:spPr>
          <a:xfrm>
            <a:off x="1055692" y="1737360"/>
            <a:ext cx="914400" cy="914400"/>
          </a:xfrm>
          <a:prstGeom prst="rect">
            <a:avLst/>
          </a:prstGeom>
          <a:noFill/>
        </p:spPr>
        <p:txBody>
          <a:bodyPr wrap="none" lIns="0" tIns="0" rIns="0" bIns="0" rtlCol="0">
            <a:noAutofit/>
          </a:bodyPr>
          <a:lstStyle/>
          <a:p>
            <a:r>
              <a:rPr lang="en-IN" sz="1600" i="1" dirty="0">
                <a:latin typeface="+mn-lt"/>
              </a:rPr>
              <a:t> t = 2</a:t>
            </a:r>
            <a:endParaRPr lang="en-GB" sz="1600" i="1" dirty="0">
              <a:latin typeface="+mn-lt"/>
            </a:endParaRPr>
          </a:p>
        </p:txBody>
      </p:sp>
      <p:pic>
        <p:nvPicPr>
          <p:cNvPr id="8" name="Picture 7">
            <a:extLst>
              <a:ext uri="{FF2B5EF4-FFF2-40B4-BE49-F238E27FC236}">
                <a16:creationId xmlns:a16="http://schemas.microsoft.com/office/drawing/2014/main" id="{15BBE2E8-E6BE-8ABB-8FDA-D0EA10E8A7B1}"/>
              </a:ext>
            </a:extLst>
          </p:cNvPr>
          <p:cNvPicPr>
            <a:picLocks noChangeAspect="1"/>
          </p:cNvPicPr>
          <p:nvPr/>
        </p:nvPicPr>
        <p:blipFill>
          <a:blip r:embed="rId5"/>
          <a:srcRect l="6223" t="1780" r="1430" b="-1780"/>
          <a:stretch/>
        </p:blipFill>
        <p:spPr>
          <a:xfrm>
            <a:off x="1835946" y="2070704"/>
            <a:ext cx="3743323" cy="3402391"/>
          </a:xfrm>
          <a:prstGeom prst="rect">
            <a:avLst/>
          </a:prstGeom>
        </p:spPr>
      </p:pic>
      <p:sp>
        <p:nvSpPr>
          <p:cNvPr id="9" name="TextBox 8">
            <a:extLst>
              <a:ext uri="{FF2B5EF4-FFF2-40B4-BE49-F238E27FC236}">
                <a16:creationId xmlns:a16="http://schemas.microsoft.com/office/drawing/2014/main" id="{8BAF6E88-19C4-65FF-597E-68DE418FB17A}"/>
              </a:ext>
            </a:extLst>
          </p:cNvPr>
          <p:cNvSpPr txBox="1"/>
          <p:nvPr/>
        </p:nvSpPr>
        <p:spPr>
          <a:xfrm>
            <a:off x="1671638" y="5865019"/>
            <a:ext cx="914400" cy="914400"/>
          </a:xfrm>
          <a:prstGeom prst="rect">
            <a:avLst/>
          </a:prstGeom>
          <a:noFill/>
        </p:spPr>
        <p:txBody>
          <a:bodyPr wrap="none" lIns="0" tIns="0" rIns="0" bIns="0" rtlCol="0">
            <a:noAutofit/>
          </a:bodyPr>
          <a:lstStyle/>
          <a:p>
            <a:endParaRPr lang="en-GB" sz="1600" dirty="0">
              <a:latin typeface="+mn-lt"/>
            </a:endParaRPr>
          </a:p>
        </p:txBody>
      </p:sp>
      <p:sp>
        <p:nvSpPr>
          <p:cNvPr id="11" name="TextBox 10">
            <a:extLst>
              <a:ext uri="{FF2B5EF4-FFF2-40B4-BE49-F238E27FC236}">
                <a16:creationId xmlns:a16="http://schemas.microsoft.com/office/drawing/2014/main" id="{7D1B65A9-4BB7-6783-C91A-6642E8EF502B}"/>
              </a:ext>
            </a:extLst>
          </p:cNvPr>
          <p:cNvSpPr txBox="1"/>
          <p:nvPr/>
        </p:nvSpPr>
        <p:spPr>
          <a:xfrm>
            <a:off x="1055692" y="5484391"/>
            <a:ext cx="5965030" cy="369332"/>
          </a:xfrm>
          <a:prstGeom prst="rect">
            <a:avLst/>
          </a:prstGeom>
          <a:noFill/>
        </p:spPr>
        <p:txBody>
          <a:bodyPr wrap="square">
            <a:spAutoFit/>
          </a:bodyPr>
          <a:lstStyle/>
          <a:p>
            <a:r>
              <a:rPr lang="en-IN" sz="1800" dirty="0">
                <a:latin typeface="+mn-lt"/>
              </a:rPr>
              <a:t>We consider only paths that are in the money at time 2</a:t>
            </a:r>
            <a:endParaRPr lang="en-GB" sz="1800" dirty="0">
              <a:latin typeface="+mn-lt"/>
            </a:endParaRPr>
          </a:p>
        </p:txBody>
      </p:sp>
      <p:sp>
        <p:nvSpPr>
          <p:cNvPr id="12" name="Rectangle: Rounded Corners 11">
            <a:extLst>
              <a:ext uri="{FF2B5EF4-FFF2-40B4-BE49-F238E27FC236}">
                <a16:creationId xmlns:a16="http://schemas.microsoft.com/office/drawing/2014/main" id="{3EA687BF-F8C6-F4A9-853E-F5049AF46123}"/>
              </a:ext>
            </a:extLst>
          </p:cNvPr>
          <p:cNvSpPr/>
          <p:nvPr/>
        </p:nvSpPr>
        <p:spPr>
          <a:xfrm>
            <a:off x="871947" y="1268864"/>
            <a:ext cx="850108" cy="277178"/>
          </a:xfrm>
          <a:prstGeom prst="roundRect">
            <a:avLst/>
          </a:prstGeom>
          <a:noFill/>
          <a:ln w="19050">
            <a:solidFill>
              <a:srgbClr val="7B7D8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GB" sz="1100" dirty="0">
              <a:solidFill>
                <a:schemeClr val="tx1"/>
              </a:solidFill>
            </a:endParaRPr>
          </a:p>
        </p:txBody>
      </p:sp>
    </p:spTree>
    <p:custDataLst>
      <p:tags r:id="rId1"/>
    </p:custDataLst>
    <p:extLst>
      <p:ext uri="{BB962C8B-B14F-4D97-AF65-F5344CB8AC3E}">
        <p14:creationId xmlns:p14="http://schemas.microsoft.com/office/powerpoint/2010/main" val="20103667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AGE HEADING"/>
          <p:cNvSpPr>
            <a:spLocks noGrp="1"/>
          </p:cNvSpPr>
          <p:nvPr>
            <p:ph type="title"/>
            <p:custDataLst>
              <p:tags r:id="rId2"/>
            </p:custDataLst>
          </p:nvPr>
        </p:nvSpPr>
        <p:spPr/>
        <p:txBody>
          <a:bodyPr>
            <a:normAutofit/>
          </a:bodyPr>
          <a:lstStyle/>
          <a:p>
            <a:r>
              <a:rPr lang="pl-PL" sz="3200" dirty="0" err="1">
                <a:latin typeface="Frutiger 45 Light" panose="020B0603020202020204" pitchFamily="34" charset="0"/>
              </a:rPr>
              <a:t>Walkthrough</a:t>
            </a:r>
            <a:endParaRPr lang="en-US" sz="3200" dirty="0">
              <a:latin typeface="Frutiger 45 Light" panose="020B0603020202020204" pitchFamily="34" charset="0"/>
            </a:endParaRPr>
          </a:p>
        </p:txBody>
      </p:sp>
      <p:sp>
        <p:nvSpPr>
          <p:cNvPr id="2" name="Rectangle 1">
            <a:extLst>
              <a:ext uri="{FF2B5EF4-FFF2-40B4-BE49-F238E27FC236}">
                <a16:creationId xmlns:a16="http://schemas.microsoft.com/office/drawing/2014/main" id="{F0B0890A-8D0D-5C2E-3B1E-33A4B284A84D}"/>
              </a:ext>
            </a:extLst>
          </p:cNvPr>
          <p:cNvSpPr/>
          <p:nvPr/>
        </p:nvSpPr>
        <p:spPr>
          <a:xfrm>
            <a:off x="349232" y="6768692"/>
            <a:ext cx="1620860" cy="605157"/>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GB" sz="1100" dirty="0">
              <a:solidFill>
                <a:schemeClr val="tx1"/>
              </a:solidFill>
            </a:endParaRPr>
          </a:p>
        </p:txBody>
      </p:sp>
      <p:sp>
        <p:nvSpPr>
          <p:cNvPr id="4" name="TextBox 3">
            <a:extLst>
              <a:ext uri="{FF2B5EF4-FFF2-40B4-BE49-F238E27FC236}">
                <a16:creationId xmlns:a16="http://schemas.microsoft.com/office/drawing/2014/main" id="{6CD294BA-8DE0-22E1-6099-C403EC83D6C9}"/>
              </a:ext>
            </a:extLst>
          </p:cNvPr>
          <p:cNvSpPr txBox="1"/>
          <p:nvPr/>
        </p:nvSpPr>
        <p:spPr>
          <a:xfrm>
            <a:off x="702462" y="1364566"/>
            <a:ext cx="914400" cy="914400"/>
          </a:xfrm>
          <a:prstGeom prst="rect">
            <a:avLst/>
          </a:prstGeom>
          <a:noFill/>
        </p:spPr>
        <p:txBody>
          <a:bodyPr wrap="none" lIns="0" tIns="0" rIns="0" bIns="0" rtlCol="0">
            <a:noAutofit/>
          </a:bodyPr>
          <a:lstStyle/>
          <a:p>
            <a:r>
              <a:rPr lang="en-IN" b="1" dirty="0">
                <a:latin typeface="+mn-lt"/>
              </a:rPr>
              <a:t>Step 4: </a:t>
            </a:r>
            <a:r>
              <a:rPr lang="en-IN" dirty="0">
                <a:latin typeface="+mn-lt"/>
              </a:rPr>
              <a:t>perform regression of y against x and compute the Continuation Value</a:t>
            </a:r>
            <a:endParaRPr lang="en-GB" dirty="0">
              <a:latin typeface="+mn-lt"/>
            </a:endParaRPr>
          </a:p>
        </p:txBody>
      </p:sp>
      <p:sp>
        <p:nvSpPr>
          <p:cNvPr id="6" name="Rectangle: Rounded Corners 5">
            <a:extLst>
              <a:ext uri="{FF2B5EF4-FFF2-40B4-BE49-F238E27FC236}">
                <a16:creationId xmlns:a16="http://schemas.microsoft.com/office/drawing/2014/main" id="{824FA1D7-BDB0-5F1E-5479-66CFCF8F5F5C}"/>
              </a:ext>
            </a:extLst>
          </p:cNvPr>
          <p:cNvSpPr/>
          <p:nvPr/>
        </p:nvSpPr>
        <p:spPr>
          <a:xfrm>
            <a:off x="597877" y="1385668"/>
            <a:ext cx="780757" cy="281354"/>
          </a:xfrm>
          <a:prstGeom prst="roundRect">
            <a:avLst/>
          </a:prstGeom>
          <a:noFill/>
          <a:ln w="19050">
            <a:solidFill>
              <a:srgbClr val="7B7D8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GB" sz="1100" dirty="0">
              <a:solidFill>
                <a:schemeClr val="tx1"/>
              </a:solidFill>
            </a:endParaRPr>
          </a:p>
        </p:txBody>
      </p:sp>
      <p:sp>
        <p:nvSpPr>
          <p:cNvPr id="7" name="TextBox 6">
            <a:extLst>
              <a:ext uri="{FF2B5EF4-FFF2-40B4-BE49-F238E27FC236}">
                <a16:creationId xmlns:a16="http://schemas.microsoft.com/office/drawing/2014/main" id="{6CCFBF97-C71B-EF9B-706E-B0C7592BBC9E}"/>
              </a:ext>
            </a:extLst>
          </p:cNvPr>
          <p:cNvSpPr txBox="1"/>
          <p:nvPr/>
        </p:nvSpPr>
        <p:spPr>
          <a:xfrm>
            <a:off x="618978" y="1821766"/>
            <a:ext cx="914400" cy="914400"/>
          </a:xfrm>
          <a:prstGeom prst="rect">
            <a:avLst/>
          </a:prstGeom>
          <a:noFill/>
        </p:spPr>
        <p:txBody>
          <a:bodyPr wrap="none" lIns="0" tIns="0" rIns="0" bIns="0" rtlCol="0">
            <a:noAutofit/>
          </a:bodyPr>
          <a:lstStyle/>
          <a:p>
            <a:r>
              <a:rPr lang="en-IN" sz="1600" i="1" dirty="0">
                <a:latin typeface="+mn-lt"/>
              </a:rPr>
              <a:t> t = 2</a:t>
            </a:r>
            <a:endParaRPr lang="en-GB" sz="1600" i="1" dirty="0">
              <a:latin typeface="+mn-lt"/>
            </a:endParaRPr>
          </a:p>
        </p:txBody>
      </p:sp>
      <p:graphicFrame>
        <p:nvGraphicFramePr>
          <p:cNvPr id="9" name="Table 8">
            <a:extLst>
              <a:ext uri="{FF2B5EF4-FFF2-40B4-BE49-F238E27FC236}">
                <a16:creationId xmlns:a16="http://schemas.microsoft.com/office/drawing/2014/main" id="{B9692241-FA9A-84DD-E8AE-D78948D2ACB3}"/>
              </a:ext>
            </a:extLst>
          </p:cNvPr>
          <p:cNvGraphicFramePr>
            <a:graphicFrameLocks noGrp="1"/>
          </p:cNvGraphicFramePr>
          <p:nvPr/>
        </p:nvGraphicFramePr>
        <p:xfrm>
          <a:off x="534571" y="2374989"/>
          <a:ext cx="5001067" cy="3238021"/>
        </p:xfrm>
        <a:graphic>
          <a:graphicData uri="http://schemas.openxmlformats.org/drawingml/2006/table">
            <a:tbl>
              <a:tblPr firstRow="1">
                <a:tableStyleId>{9D7B26C5-4107-4FEC-AEDC-1716B250A1EF}</a:tableStyleId>
              </a:tblPr>
              <a:tblGrid>
                <a:gridCol w="803123">
                  <a:extLst>
                    <a:ext uri="{9D8B030D-6E8A-4147-A177-3AD203B41FA5}">
                      <a16:colId xmlns:a16="http://schemas.microsoft.com/office/drawing/2014/main" val="3164551639"/>
                    </a:ext>
                  </a:extLst>
                </a:gridCol>
                <a:gridCol w="863356">
                  <a:extLst>
                    <a:ext uri="{9D8B030D-6E8A-4147-A177-3AD203B41FA5}">
                      <a16:colId xmlns:a16="http://schemas.microsoft.com/office/drawing/2014/main" val="734445302"/>
                    </a:ext>
                  </a:extLst>
                </a:gridCol>
                <a:gridCol w="863356">
                  <a:extLst>
                    <a:ext uri="{9D8B030D-6E8A-4147-A177-3AD203B41FA5}">
                      <a16:colId xmlns:a16="http://schemas.microsoft.com/office/drawing/2014/main" val="4004016887"/>
                    </a:ext>
                  </a:extLst>
                </a:gridCol>
                <a:gridCol w="2471232">
                  <a:extLst>
                    <a:ext uri="{9D8B030D-6E8A-4147-A177-3AD203B41FA5}">
                      <a16:colId xmlns:a16="http://schemas.microsoft.com/office/drawing/2014/main" val="587425509"/>
                    </a:ext>
                  </a:extLst>
                </a:gridCol>
              </a:tblGrid>
              <a:tr h="339133">
                <a:tc>
                  <a:txBody>
                    <a:bodyPr/>
                    <a:lstStyle/>
                    <a:p>
                      <a:r>
                        <a:rPr lang="en-IN" sz="1600" b="1" dirty="0"/>
                        <a:t>Path</a:t>
                      </a:r>
                      <a:endParaRPr lang="en-GB" sz="1600" b="1" dirty="0"/>
                    </a:p>
                  </a:txBody>
                  <a:tcPr/>
                </a:tc>
                <a:tc>
                  <a:txBody>
                    <a:bodyPr/>
                    <a:lstStyle/>
                    <a:p>
                      <a:r>
                        <a:rPr lang="en-IN" sz="1600" b="1" dirty="0"/>
                        <a:t>X</a:t>
                      </a:r>
                      <a:endParaRPr lang="en-GB" sz="1600" b="1" dirty="0"/>
                    </a:p>
                  </a:txBody>
                  <a:tcPr/>
                </a:tc>
                <a:tc>
                  <a:txBody>
                    <a:bodyPr/>
                    <a:lstStyle/>
                    <a:p>
                      <a:r>
                        <a:rPr lang="en-IN" sz="1600" b="1" dirty="0"/>
                        <a:t>Y</a:t>
                      </a:r>
                      <a:endParaRPr lang="en-GB" sz="1600" b="1" dirty="0"/>
                    </a:p>
                  </a:txBody>
                  <a:tcPr/>
                </a:tc>
                <a:tc>
                  <a:txBody>
                    <a:bodyPr/>
                    <a:lstStyle/>
                    <a:p>
                      <a:r>
                        <a:rPr lang="en-IN" sz="1600" b="1" dirty="0"/>
                        <a:t>Continuation Value</a:t>
                      </a:r>
                      <a:endParaRPr lang="en-GB" sz="1600" b="1" dirty="0"/>
                    </a:p>
                  </a:txBody>
                  <a:tcPr/>
                </a:tc>
                <a:extLst>
                  <a:ext uri="{0D108BD9-81ED-4DB2-BD59-A6C34878D82A}">
                    <a16:rowId xmlns:a16="http://schemas.microsoft.com/office/drawing/2014/main" val="3918541539"/>
                  </a:ext>
                </a:extLst>
              </a:tr>
              <a:tr h="362361">
                <a:tc>
                  <a:txBody>
                    <a:bodyPr/>
                    <a:lstStyle/>
                    <a:p>
                      <a:r>
                        <a:rPr lang="en-IN" sz="1600" dirty="0"/>
                        <a:t>1</a:t>
                      </a:r>
                      <a:endParaRPr lang="en-GB" sz="1600" dirty="0"/>
                    </a:p>
                  </a:txBody>
                  <a:tcPr/>
                </a:tc>
                <a:tc>
                  <a:txBody>
                    <a:bodyPr/>
                    <a:lstStyle/>
                    <a:p>
                      <a:r>
                        <a:rPr lang="en-IN" sz="1600" dirty="0"/>
                        <a:t>1.08</a:t>
                      </a:r>
                      <a:endParaRPr lang="en-GB" sz="1600" dirty="0"/>
                    </a:p>
                  </a:txBody>
                  <a:tcPr/>
                </a:tc>
                <a:tc>
                  <a:txBody>
                    <a:bodyPr/>
                    <a:lstStyle/>
                    <a:p>
                      <a:r>
                        <a:rPr lang="en-IN" sz="1600" dirty="0"/>
                        <a:t>0</a:t>
                      </a:r>
                    </a:p>
                  </a:txBody>
                  <a:tcPr/>
                </a:tc>
                <a:tc>
                  <a:txBody>
                    <a:bodyPr/>
                    <a:lstStyle/>
                    <a:p>
                      <a:r>
                        <a:rPr lang="en-IN" sz="1600" dirty="0"/>
                        <a:t>0.0369</a:t>
                      </a:r>
                      <a:endParaRPr lang="en-GB" sz="1600" dirty="0"/>
                    </a:p>
                  </a:txBody>
                  <a:tcPr/>
                </a:tc>
                <a:extLst>
                  <a:ext uri="{0D108BD9-81ED-4DB2-BD59-A6C34878D82A}">
                    <a16:rowId xmlns:a16="http://schemas.microsoft.com/office/drawing/2014/main" val="2847907515"/>
                  </a:ext>
                </a:extLst>
              </a:tr>
              <a:tr h="362361">
                <a:tc>
                  <a:txBody>
                    <a:bodyPr/>
                    <a:lstStyle/>
                    <a:p>
                      <a:r>
                        <a:rPr lang="en-IN" sz="1600" dirty="0"/>
                        <a:t>2</a:t>
                      </a:r>
                      <a:endParaRPr lang="en-GB" sz="1600" dirty="0"/>
                    </a:p>
                  </a:txBody>
                  <a:tcPr/>
                </a:tc>
                <a:tc>
                  <a:txBody>
                    <a:bodyPr/>
                    <a:lstStyle/>
                    <a:p>
                      <a:r>
                        <a:rPr lang="en-IN" sz="1600" dirty="0"/>
                        <a:t>-</a:t>
                      </a:r>
                      <a:endParaRPr lang="en-GB" sz="1600" dirty="0"/>
                    </a:p>
                  </a:txBody>
                  <a:tcPr/>
                </a:tc>
                <a:tc>
                  <a:txBody>
                    <a:bodyPr/>
                    <a:lstStyle/>
                    <a:p>
                      <a:r>
                        <a:rPr lang="en-IN" sz="1600" dirty="0"/>
                        <a:t>-</a:t>
                      </a:r>
                      <a:endParaRPr lang="en-GB" sz="1600" dirty="0"/>
                    </a:p>
                  </a:txBody>
                  <a:tcPr/>
                </a:tc>
                <a:tc>
                  <a:txBody>
                    <a:bodyPr/>
                    <a:lstStyle/>
                    <a:p>
                      <a:r>
                        <a:rPr lang="en-IN" sz="1600" dirty="0"/>
                        <a:t>-</a:t>
                      </a:r>
                      <a:endParaRPr lang="en-GB" sz="1600" dirty="0"/>
                    </a:p>
                  </a:txBody>
                  <a:tcPr/>
                </a:tc>
                <a:extLst>
                  <a:ext uri="{0D108BD9-81ED-4DB2-BD59-A6C34878D82A}">
                    <a16:rowId xmlns:a16="http://schemas.microsoft.com/office/drawing/2014/main" val="744957661"/>
                  </a:ext>
                </a:extLst>
              </a:tr>
              <a:tr h="362361">
                <a:tc>
                  <a:txBody>
                    <a:bodyPr/>
                    <a:lstStyle/>
                    <a:p>
                      <a:r>
                        <a:rPr lang="en-IN" sz="1600" dirty="0"/>
                        <a:t>3</a:t>
                      </a:r>
                      <a:endParaRPr lang="en-GB" sz="1600" dirty="0"/>
                    </a:p>
                  </a:txBody>
                  <a:tcPr/>
                </a:tc>
                <a:tc>
                  <a:txBody>
                    <a:bodyPr/>
                    <a:lstStyle/>
                    <a:p>
                      <a:r>
                        <a:rPr lang="en-IN" sz="1600" dirty="0"/>
                        <a:t>1.07</a:t>
                      </a:r>
                      <a:endParaRPr lang="en-GB" sz="1600" dirty="0"/>
                    </a:p>
                  </a:txBody>
                  <a:tcPr/>
                </a:tc>
                <a:tc>
                  <a:txBody>
                    <a:bodyPr/>
                    <a:lstStyle/>
                    <a:p>
                      <a:r>
                        <a:rPr lang="en-GB" sz="1600" dirty="0"/>
                        <a:t>0.066</a:t>
                      </a:r>
                    </a:p>
                  </a:txBody>
                  <a:tcPr/>
                </a:tc>
                <a:tc>
                  <a:txBody>
                    <a:bodyPr/>
                    <a:lstStyle/>
                    <a:p>
                      <a:r>
                        <a:rPr lang="en-IN" sz="1600" dirty="0"/>
                        <a:t>0.0461</a:t>
                      </a:r>
                      <a:endParaRPr lang="en-GB" sz="1600" dirty="0"/>
                    </a:p>
                  </a:txBody>
                  <a:tcPr/>
                </a:tc>
                <a:extLst>
                  <a:ext uri="{0D108BD9-81ED-4DB2-BD59-A6C34878D82A}">
                    <a16:rowId xmlns:a16="http://schemas.microsoft.com/office/drawing/2014/main" val="3017090282"/>
                  </a:ext>
                </a:extLst>
              </a:tr>
              <a:tr h="362361">
                <a:tc>
                  <a:txBody>
                    <a:bodyPr/>
                    <a:lstStyle/>
                    <a:p>
                      <a:r>
                        <a:rPr lang="en-IN" sz="1600" dirty="0"/>
                        <a:t>4</a:t>
                      </a:r>
                      <a:endParaRPr lang="en-GB" sz="1600" dirty="0"/>
                    </a:p>
                  </a:txBody>
                  <a:tcPr/>
                </a:tc>
                <a:tc>
                  <a:txBody>
                    <a:bodyPr/>
                    <a:lstStyle/>
                    <a:p>
                      <a:r>
                        <a:rPr lang="en-IN" sz="1600" dirty="0"/>
                        <a:t>0.97</a:t>
                      </a:r>
                      <a:endParaRPr lang="en-GB" sz="1600" dirty="0"/>
                    </a:p>
                  </a:txBody>
                  <a:tcPr/>
                </a:tc>
                <a:tc>
                  <a:txBody>
                    <a:bodyPr/>
                    <a:lstStyle/>
                    <a:p>
                      <a:r>
                        <a:rPr lang="en-IN" sz="1600" dirty="0"/>
                        <a:t>0.170</a:t>
                      </a:r>
                      <a:endParaRPr lang="en-GB" sz="1600" dirty="0"/>
                    </a:p>
                  </a:txBody>
                  <a:tcPr/>
                </a:tc>
                <a:tc>
                  <a:txBody>
                    <a:bodyPr/>
                    <a:lstStyle/>
                    <a:p>
                      <a:r>
                        <a:rPr lang="en-IN" sz="1600" dirty="0"/>
                        <a:t>0.1176</a:t>
                      </a:r>
                      <a:endParaRPr lang="en-GB" sz="1600" dirty="0"/>
                    </a:p>
                  </a:txBody>
                  <a:tcPr/>
                </a:tc>
                <a:extLst>
                  <a:ext uri="{0D108BD9-81ED-4DB2-BD59-A6C34878D82A}">
                    <a16:rowId xmlns:a16="http://schemas.microsoft.com/office/drawing/2014/main" val="3857594503"/>
                  </a:ext>
                </a:extLst>
              </a:tr>
              <a:tr h="362361">
                <a:tc>
                  <a:txBody>
                    <a:bodyPr/>
                    <a:lstStyle/>
                    <a:p>
                      <a:r>
                        <a:rPr lang="en-IN" sz="1600" dirty="0"/>
                        <a:t>5</a:t>
                      </a:r>
                      <a:endParaRPr lang="en-GB" sz="1600" dirty="0"/>
                    </a:p>
                  </a:txBody>
                  <a:tcPr/>
                </a:tc>
                <a:tc>
                  <a:txBody>
                    <a:bodyPr/>
                    <a:lstStyle/>
                    <a:p>
                      <a:r>
                        <a:rPr lang="en-IN" sz="1600" dirty="0"/>
                        <a:t>-</a:t>
                      </a:r>
                      <a:endParaRPr lang="en-GB" sz="1600" dirty="0"/>
                    </a:p>
                  </a:txBody>
                  <a:tcPr/>
                </a:tc>
                <a:tc>
                  <a:txBody>
                    <a:bodyPr/>
                    <a:lstStyle/>
                    <a:p>
                      <a:r>
                        <a:rPr lang="en-IN" sz="1600" dirty="0"/>
                        <a:t>-</a:t>
                      </a:r>
                      <a:endParaRPr lang="en-GB" sz="1600" dirty="0"/>
                    </a:p>
                  </a:txBody>
                  <a:tcPr/>
                </a:tc>
                <a:tc>
                  <a:txBody>
                    <a:bodyPr/>
                    <a:lstStyle/>
                    <a:p>
                      <a:r>
                        <a:rPr lang="en-IN" sz="1600" dirty="0"/>
                        <a:t>-</a:t>
                      </a:r>
                      <a:endParaRPr lang="en-GB" sz="1600" dirty="0"/>
                    </a:p>
                  </a:txBody>
                  <a:tcPr/>
                </a:tc>
                <a:extLst>
                  <a:ext uri="{0D108BD9-81ED-4DB2-BD59-A6C34878D82A}">
                    <a16:rowId xmlns:a16="http://schemas.microsoft.com/office/drawing/2014/main" val="2227084340"/>
                  </a:ext>
                </a:extLst>
              </a:tr>
              <a:tr h="362361">
                <a:tc>
                  <a:txBody>
                    <a:bodyPr/>
                    <a:lstStyle/>
                    <a:p>
                      <a:r>
                        <a:rPr lang="en-IN" sz="1600" dirty="0"/>
                        <a:t>6</a:t>
                      </a:r>
                      <a:endParaRPr lang="en-GB" sz="1600" dirty="0"/>
                    </a:p>
                  </a:txBody>
                  <a:tcPr/>
                </a:tc>
                <a:tc>
                  <a:txBody>
                    <a:bodyPr/>
                    <a:lstStyle/>
                    <a:p>
                      <a:r>
                        <a:rPr lang="en-IN" sz="1600" dirty="0"/>
                        <a:t>0.77</a:t>
                      </a:r>
                      <a:endParaRPr lang="en-GB" sz="1600" dirty="0"/>
                    </a:p>
                  </a:txBody>
                  <a:tcPr/>
                </a:tc>
                <a:tc>
                  <a:txBody>
                    <a:bodyPr/>
                    <a:lstStyle/>
                    <a:p>
                      <a:r>
                        <a:rPr lang="en-IN" sz="1600" dirty="0"/>
                        <a:t>0.188</a:t>
                      </a:r>
                      <a:endParaRPr lang="en-GB" sz="1600" dirty="0"/>
                    </a:p>
                  </a:txBody>
                  <a:tcPr/>
                </a:tc>
                <a:tc>
                  <a:txBody>
                    <a:bodyPr/>
                    <a:lstStyle/>
                    <a:p>
                      <a:r>
                        <a:rPr lang="en-IN" sz="1600" dirty="0"/>
                        <a:t>0.1520</a:t>
                      </a:r>
                      <a:endParaRPr lang="en-GB" sz="1600" dirty="0"/>
                    </a:p>
                  </a:txBody>
                  <a:tcPr/>
                </a:tc>
                <a:extLst>
                  <a:ext uri="{0D108BD9-81ED-4DB2-BD59-A6C34878D82A}">
                    <a16:rowId xmlns:a16="http://schemas.microsoft.com/office/drawing/2014/main" val="3890680977"/>
                  </a:ext>
                </a:extLst>
              </a:tr>
              <a:tr h="362361">
                <a:tc>
                  <a:txBody>
                    <a:bodyPr/>
                    <a:lstStyle/>
                    <a:p>
                      <a:r>
                        <a:rPr lang="en-IN" sz="1600" dirty="0"/>
                        <a:t>7</a:t>
                      </a:r>
                      <a:endParaRPr lang="en-GB" sz="1600" dirty="0"/>
                    </a:p>
                  </a:txBody>
                  <a:tcPr/>
                </a:tc>
                <a:tc>
                  <a:txBody>
                    <a:bodyPr/>
                    <a:lstStyle/>
                    <a:p>
                      <a:r>
                        <a:rPr lang="en-IN" sz="1600" dirty="0"/>
                        <a:t>0.84</a:t>
                      </a:r>
                      <a:endParaRPr lang="en-GB" sz="1600" dirty="0"/>
                    </a:p>
                  </a:txBody>
                  <a:tcPr/>
                </a:tc>
                <a:tc>
                  <a:txBody>
                    <a:bodyPr/>
                    <a:lstStyle/>
                    <a:p>
                      <a:r>
                        <a:rPr lang="en-IN" sz="1600" dirty="0"/>
                        <a:t>0.085</a:t>
                      </a:r>
                      <a:endParaRPr lang="en-GB" sz="1600" dirty="0"/>
                    </a:p>
                  </a:txBody>
                  <a:tcPr/>
                </a:tc>
                <a:tc>
                  <a:txBody>
                    <a:bodyPr/>
                    <a:lstStyle/>
                    <a:p>
                      <a:r>
                        <a:rPr lang="en-IN" sz="1600" dirty="0"/>
                        <a:t>0.1765</a:t>
                      </a:r>
                      <a:endParaRPr lang="en-GB" sz="1600" dirty="0"/>
                    </a:p>
                  </a:txBody>
                  <a:tcPr/>
                </a:tc>
                <a:extLst>
                  <a:ext uri="{0D108BD9-81ED-4DB2-BD59-A6C34878D82A}">
                    <a16:rowId xmlns:a16="http://schemas.microsoft.com/office/drawing/2014/main" val="1147446820"/>
                  </a:ext>
                </a:extLst>
              </a:tr>
              <a:tr h="362361">
                <a:tc>
                  <a:txBody>
                    <a:bodyPr/>
                    <a:lstStyle/>
                    <a:p>
                      <a:r>
                        <a:rPr lang="en-IN" sz="1600" dirty="0"/>
                        <a:t>8</a:t>
                      </a:r>
                      <a:endParaRPr lang="en-GB" sz="1600" dirty="0"/>
                    </a:p>
                  </a:txBody>
                  <a:tcPr/>
                </a:tc>
                <a:tc>
                  <a:txBody>
                    <a:bodyPr/>
                    <a:lstStyle/>
                    <a:p>
                      <a:r>
                        <a:rPr lang="en-IN" sz="1600" dirty="0"/>
                        <a:t>-</a:t>
                      </a:r>
                      <a:endParaRPr lang="en-GB" sz="1600" dirty="0"/>
                    </a:p>
                  </a:txBody>
                  <a:tcPr/>
                </a:tc>
                <a:tc>
                  <a:txBody>
                    <a:bodyPr/>
                    <a:lstStyle/>
                    <a:p>
                      <a:r>
                        <a:rPr lang="en-IN" sz="1600" dirty="0"/>
                        <a:t>-</a:t>
                      </a:r>
                      <a:endParaRPr lang="en-GB" sz="1600" dirty="0"/>
                    </a:p>
                  </a:txBody>
                  <a:tcPr/>
                </a:tc>
                <a:tc>
                  <a:txBody>
                    <a:bodyPr/>
                    <a:lstStyle/>
                    <a:p>
                      <a:r>
                        <a:rPr lang="en-IN" sz="1600" dirty="0"/>
                        <a:t>-</a:t>
                      </a:r>
                      <a:endParaRPr lang="en-GB" sz="1600" dirty="0"/>
                    </a:p>
                  </a:txBody>
                  <a:tcPr/>
                </a:tc>
                <a:extLst>
                  <a:ext uri="{0D108BD9-81ED-4DB2-BD59-A6C34878D82A}">
                    <a16:rowId xmlns:a16="http://schemas.microsoft.com/office/drawing/2014/main" val="649096212"/>
                  </a:ext>
                </a:extLst>
              </a:tr>
            </a:tbl>
          </a:graphicData>
        </a:graphic>
      </p:graphicFrame>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802F047-8AED-5B4D-B203-1EA292D16816}"/>
                  </a:ext>
                </a:extLst>
              </p:cNvPr>
              <p:cNvSpPr txBox="1"/>
              <p:nvPr/>
            </p:nvSpPr>
            <p:spPr>
              <a:xfrm>
                <a:off x="6098344" y="2857500"/>
                <a:ext cx="914400" cy="914400"/>
              </a:xfrm>
              <a:prstGeom prst="rect">
                <a:avLst/>
              </a:prstGeom>
              <a:noFill/>
            </p:spPr>
            <p:txBody>
              <a:bodyPr wrap="none" lIns="0" tIns="0" rIns="0" bIns="0" rtlCol="0">
                <a:noAutofit/>
              </a:bodyPr>
              <a:lstStyle/>
              <a:p>
                <a:pPr/>
                <a14:m>
                  <m:oMathPara xmlns:m="http://schemas.openxmlformats.org/officeDocument/2006/math">
                    <m:oMathParaPr>
                      <m:jc m:val="centerGroup"/>
                    </m:oMathParaPr>
                    <m:oMath xmlns:m="http://schemas.openxmlformats.org/officeDocument/2006/math">
                      <m:r>
                        <a:rPr lang="en-IN" sz="1800" b="0" i="1" u="none" strike="noStrike" baseline="0" smtClean="0">
                          <a:latin typeface="Cambria Math" panose="02040503050406030204" pitchFamily="18" charset="0"/>
                        </a:rPr>
                        <m:t>𝑌</m:t>
                      </m:r>
                      <m:r>
                        <a:rPr lang="en-IN" sz="1800" b="0" i="1" u="none" strike="noStrike" baseline="0" smtClean="0">
                          <a:latin typeface="Cambria Math" panose="02040503050406030204" pitchFamily="18" charset="0"/>
                        </a:rPr>
                        <m:t>=</m:t>
                      </m:r>
                      <m:r>
                        <m:rPr>
                          <m:nor/>
                        </m:rPr>
                        <a:rPr lang="en-GB"/>
                        <m:t>−1.070 +2.983</m:t>
                      </m:r>
                      <m:r>
                        <m:rPr>
                          <m:nor/>
                        </m:rPr>
                        <a:rPr lang="en-GB"/>
                        <m:t>X</m:t>
                      </m:r>
                      <m:r>
                        <m:rPr>
                          <m:nor/>
                        </m:rPr>
                        <a:rPr lang="en-GB"/>
                        <m:t> − 1 .813</m:t>
                      </m:r>
                      <m:sSup>
                        <m:sSupPr>
                          <m:ctrlPr>
                            <a:rPr lang="en-IN" b="0" i="1" smtClean="0">
                              <a:latin typeface="Cambria Math" panose="02040503050406030204" pitchFamily="18" charset="0"/>
                            </a:rPr>
                          </m:ctrlPr>
                        </m:sSupPr>
                        <m:e>
                          <m:r>
                            <a:rPr lang="en-IN" b="0" i="1" smtClean="0">
                              <a:latin typeface="Cambria Math" panose="02040503050406030204" pitchFamily="18" charset="0"/>
                            </a:rPr>
                            <m:t>𝑋</m:t>
                          </m:r>
                        </m:e>
                        <m:sup>
                          <m:r>
                            <a:rPr lang="en-IN" b="0" i="1" smtClean="0">
                              <a:latin typeface="Cambria Math" panose="02040503050406030204" pitchFamily="18" charset="0"/>
                            </a:rPr>
                            <m:t>2</m:t>
                          </m:r>
                        </m:sup>
                      </m:sSup>
                    </m:oMath>
                  </m:oMathPara>
                </a14:m>
                <a:endParaRPr lang="en-GB" sz="1100" dirty="0">
                  <a:latin typeface="+mn-lt"/>
                </a:endParaRPr>
              </a:p>
            </p:txBody>
          </p:sp>
        </mc:Choice>
        <mc:Fallback xmlns="">
          <p:sp>
            <p:nvSpPr>
              <p:cNvPr id="10" name="TextBox 9">
                <a:extLst>
                  <a:ext uri="{FF2B5EF4-FFF2-40B4-BE49-F238E27FC236}">
                    <a16:creationId xmlns:a16="http://schemas.microsoft.com/office/drawing/2014/main" id="{1802F047-8AED-5B4D-B203-1EA292D16816}"/>
                  </a:ext>
                </a:extLst>
              </p:cNvPr>
              <p:cNvSpPr txBox="1">
                <a:spLocks noRot="1" noChangeAspect="1" noMove="1" noResize="1" noEditPoints="1" noAdjustHandles="1" noChangeArrowheads="1" noChangeShapeType="1" noTextEdit="1"/>
              </p:cNvSpPr>
              <p:nvPr/>
            </p:nvSpPr>
            <p:spPr>
              <a:xfrm>
                <a:off x="6098344" y="2857500"/>
                <a:ext cx="914400" cy="914400"/>
              </a:xfrm>
              <a:prstGeom prst="rect">
                <a:avLst/>
              </a:prstGeom>
              <a:blipFill>
                <a:blip r:embed="rId5"/>
                <a:stretch>
                  <a:fillRect l="-8667" r="-246000"/>
                </a:stretch>
              </a:blipFill>
            </p:spPr>
            <p:txBody>
              <a:bodyPr/>
              <a:lstStyle/>
              <a:p>
                <a:r>
                  <a:rPr lang="en-GB">
                    <a:noFill/>
                  </a:rPr>
                  <a:t> </a:t>
                </a:r>
              </a:p>
            </p:txBody>
          </p:sp>
        </mc:Fallback>
      </mc:AlternateContent>
    </p:spTree>
    <p:custDataLst>
      <p:tags r:id="rId1"/>
    </p:custDataLst>
    <p:extLst>
      <p:ext uri="{BB962C8B-B14F-4D97-AF65-F5344CB8AC3E}">
        <p14:creationId xmlns:p14="http://schemas.microsoft.com/office/powerpoint/2010/main" val="29876680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AGE HEADING"/>
          <p:cNvSpPr>
            <a:spLocks noGrp="1"/>
          </p:cNvSpPr>
          <p:nvPr>
            <p:ph type="title"/>
            <p:custDataLst>
              <p:tags r:id="rId2"/>
            </p:custDataLst>
          </p:nvPr>
        </p:nvSpPr>
        <p:spPr/>
        <p:txBody>
          <a:bodyPr>
            <a:normAutofit/>
          </a:bodyPr>
          <a:lstStyle/>
          <a:p>
            <a:r>
              <a:rPr lang="pl-PL" sz="3200" dirty="0" err="1">
                <a:latin typeface="Frutiger 45 Light" panose="020B0603020202020204" pitchFamily="34" charset="0"/>
              </a:rPr>
              <a:t>Walkthrough</a:t>
            </a:r>
            <a:endParaRPr lang="en-US" sz="3200" dirty="0">
              <a:latin typeface="Frutiger 45 Light" panose="020B0603020202020204" pitchFamily="34" charset="0"/>
            </a:endParaRPr>
          </a:p>
        </p:txBody>
      </p:sp>
      <p:sp>
        <p:nvSpPr>
          <p:cNvPr id="2" name="Rectangle 1">
            <a:extLst>
              <a:ext uri="{FF2B5EF4-FFF2-40B4-BE49-F238E27FC236}">
                <a16:creationId xmlns:a16="http://schemas.microsoft.com/office/drawing/2014/main" id="{A39129A5-E371-2D13-A85A-D360E48701E7}"/>
              </a:ext>
            </a:extLst>
          </p:cNvPr>
          <p:cNvSpPr/>
          <p:nvPr/>
        </p:nvSpPr>
        <p:spPr>
          <a:xfrm>
            <a:off x="349232" y="6768692"/>
            <a:ext cx="1620860" cy="605157"/>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GB" sz="1100" dirty="0">
              <a:solidFill>
                <a:schemeClr val="tx1"/>
              </a:solidFill>
            </a:endParaRPr>
          </a:p>
        </p:txBody>
      </p:sp>
      <p:sp>
        <p:nvSpPr>
          <p:cNvPr id="4" name="TextBox 3">
            <a:extLst>
              <a:ext uri="{FF2B5EF4-FFF2-40B4-BE49-F238E27FC236}">
                <a16:creationId xmlns:a16="http://schemas.microsoft.com/office/drawing/2014/main" id="{EF9DB048-B3CF-0BA0-0E6D-A9FD55A27954}"/>
              </a:ext>
            </a:extLst>
          </p:cNvPr>
          <p:cNvSpPr txBox="1"/>
          <p:nvPr/>
        </p:nvSpPr>
        <p:spPr>
          <a:xfrm>
            <a:off x="492369" y="1195754"/>
            <a:ext cx="914400" cy="914400"/>
          </a:xfrm>
          <a:prstGeom prst="rect">
            <a:avLst/>
          </a:prstGeom>
          <a:noFill/>
        </p:spPr>
        <p:txBody>
          <a:bodyPr wrap="none" lIns="0" tIns="0" rIns="0" bIns="0" rtlCol="0">
            <a:noAutofit/>
          </a:bodyPr>
          <a:lstStyle/>
          <a:p>
            <a:r>
              <a:rPr lang="en-IN" b="1" dirty="0">
                <a:latin typeface="+mn-lt"/>
              </a:rPr>
              <a:t>Step 5: </a:t>
            </a:r>
            <a:r>
              <a:rPr lang="en-US" dirty="0">
                <a:latin typeface="+mn-lt"/>
              </a:rPr>
              <a:t>compare the value of immediate exercise with the value from continuation.</a:t>
            </a:r>
            <a:endParaRPr lang="en-GB" dirty="0">
              <a:latin typeface="+mn-lt"/>
            </a:endParaRPr>
          </a:p>
        </p:txBody>
      </p:sp>
      <p:sp>
        <p:nvSpPr>
          <p:cNvPr id="6" name="Rectangle: Rounded Corners 5">
            <a:extLst>
              <a:ext uri="{FF2B5EF4-FFF2-40B4-BE49-F238E27FC236}">
                <a16:creationId xmlns:a16="http://schemas.microsoft.com/office/drawing/2014/main" id="{23AE8F73-BDA7-DF3C-25EF-57952DE6B9E9}"/>
              </a:ext>
            </a:extLst>
          </p:cNvPr>
          <p:cNvSpPr/>
          <p:nvPr/>
        </p:nvSpPr>
        <p:spPr>
          <a:xfrm>
            <a:off x="349232" y="1195754"/>
            <a:ext cx="824367" cy="288388"/>
          </a:xfrm>
          <a:prstGeom prst="roundRect">
            <a:avLst/>
          </a:prstGeom>
          <a:noFill/>
          <a:ln w="19050">
            <a:solidFill>
              <a:srgbClr val="7B7D8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GB" sz="1100" dirty="0">
              <a:solidFill>
                <a:schemeClr val="tx1"/>
              </a:solidFill>
            </a:endParaRPr>
          </a:p>
        </p:txBody>
      </p:sp>
      <p:pic>
        <p:nvPicPr>
          <p:cNvPr id="8" name="Picture 7">
            <a:extLst>
              <a:ext uri="{FF2B5EF4-FFF2-40B4-BE49-F238E27FC236}">
                <a16:creationId xmlns:a16="http://schemas.microsoft.com/office/drawing/2014/main" id="{B70B5477-649F-7D8A-9CFF-F37F63D111C8}"/>
              </a:ext>
            </a:extLst>
          </p:cNvPr>
          <p:cNvPicPr>
            <a:picLocks noChangeAspect="1"/>
          </p:cNvPicPr>
          <p:nvPr/>
        </p:nvPicPr>
        <p:blipFill>
          <a:blip r:embed="rId5"/>
          <a:stretch>
            <a:fillRect/>
          </a:stretch>
        </p:blipFill>
        <p:spPr>
          <a:xfrm>
            <a:off x="2743200" y="4657558"/>
            <a:ext cx="4220308" cy="2466575"/>
          </a:xfrm>
          <a:prstGeom prst="rect">
            <a:avLst/>
          </a:prstGeom>
        </p:spPr>
      </p:pic>
      <p:sp>
        <p:nvSpPr>
          <p:cNvPr id="11" name="TextBox 10">
            <a:extLst>
              <a:ext uri="{FF2B5EF4-FFF2-40B4-BE49-F238E27FC236}">
                <a16:creationId xmlns:a16="http://schemas.microsoft.com/office/drawing/2014/main" id="{9EE568CA-5E29-4366-FBDD-EF291AA6263F}"/>
              </a:ext>
            </a:extLst>
          </p:cNvPr>
          <p:cNvSpPr txBox="1"/>
          <p:nvPr/>
        </p:nvSpPr>
        <p:spPr>
          <a:xfrm>
            <a:off x="420624" y="1652954"/>
            <a:ext cx="914400" cy="914400"/>
          </a:xfrm>
          <a:prstGeom prst="rect">
            <a:avLst/>
          </a:prstGeom>
          <a:noFill/>
        </p:spPr>
        <p:txBody>
          <a:bodyPr wrap="none" lIns="0" tIns="0" rIns="0" bIns="0" rtlCol="0">
            <a:noAutofit/>
          </a:bodyPr>
          <a:lstStyle/>
          <a:p>
            <a:r>
              <a:rPr lang="en-IN" sz="1600" i="1" dirty="0">
                <a:latin typeface="+mn-lt"/>
              </a:rPr>
              <a:t> t = 2</a:t>
            </a:r>
            <a:endParaRPr lang="en-GB" sz="1600" i="1" dirty="0">
              <a:latin typeface="+mn-lt"/>
            </a:endParaRPr>
          </a:p>
        </p:txBody>
      </p:sp>
      <p:pic>
        <p:nvPicPr>
          <p:cNvPr id="12" name="Picture 11">
            <a:extLst>
              <a:ext uri="{FF2B5EF4-FFF2-40B4-BE49-F238E27FC236}">
                <a16:creationId xmlns:a16="http://schemas.microsoft.com/office/drawing/2014/main" id="{E92E2B8D-50A2-3760-D173-4A09624D4344}"/>
              </a:ext>
            </a:extLst>
          </p:cNvPr>
          <p:cNvPicPr>
            <a:picLocks noChangeAspect="1"/>
          </p:cNvPicPr>
          <p:nvPr/>
        </p:nvPicPr>
        <p:blipFill>
          <a:blip r:embed="rId6"/>
          <a:stretch>
            <a:fillRect/>
          </a:stretch>
        </p:blipFill>
        <p:spPr>
          <a:xfrm>
            <a:off x="2440743" y="1652954"/>
            <a:ext cx="4768949" cy="2851104"/>
          </a:xfrm>
          <a:prstGeom prst="rect">
            <a:avLst/>
          </a:prstGeom>
        </p:spPr>
      </p:pic>
    </p:spTree>
    <p:custDataLst>
      <p:tags r:id="rId1"/>
    </p:custDataLst>
    <p:extLst>
      <p:ext uri="{BB962C8B-B14F-4D97-AF65-F5344CB8AC3E}">
        <p14:creationId xmlns:p14="http://schemas.microsoft.com/office/powerpoint/2010/main" val="14968720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AGE HEADING"/>
          <p:cNvSpPr>
            <a:spLocks noGrp="1"/>
          </p:cNvSpPr>
          <p:nvPr>
            <p:ph type="title"/>
            <p:custDataLst>
              <p:tags r:id="rId2"/>
            </p:custDataLst>
          </p:nvPr>
        </p:nvSpPr>
        <p:spPr/>
        <p:txBody>
          <a:bodyPr>
            <a:normAutofit/>
          </a:bodyPr>
          <a:lstStyle/>
          <a:p>
            <a:r>
              <a:rPr lang="pl-PL" sz="3200" dirty="0" err="1">
                <a:latin typeface="Frutiger 45 Light" panose="020B0603020202020204" pitchFamily="34" charset="0"/>
              </a:rPr>
              <a:t>Walkthrough</a:t>
            </a:r>
            <a:endParaRPr lang="en-US" sz="3200" dirty="0">
              <a:latin typeface="Frutiger 45 Light" panose="020B0603020202020204" pitchFamily="34" charset="0"/>
            </a:endParaRPr>
          </a:p>
        </p:txBody>
      </p:sp>
      <p:sp>
        <p:nvSpPr>
          <p:cNvPr id="2" name="Rectangle 1">
            <a:extLst>
              <a:ext uri="{FF2B5EF4-FFF2-40B4-BE49-F238E27FC236}">
                <a16:creationId xmlns:a16="http://schemas.microsoft.com/office/drawing/2014/main" id="{FC6D1D87-FA98-22CE-E2E3-DD0ECFF63001}"/>
              </a:ext>
            </a:extLst>
          </p:cNvPr>
          <p:cNvSpPr/>
          <p:nvPr/>
        </p:nvSpPr>
        <p:spPr>
          <a:xfrm>
            <a:off x="349232" y="6768692"/>
            <a:ext cx="1620860" cy="605157"/>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GB" sz="1100" dirty="0">
              <a:solidFill>
                <a:schemeClr val="tx1"/>
              </a:solidFill>
            </a:endParaRPr>
          </a:p>
        </p:txBody>
      </p:sp>
      <p:sp>
        <p:nvSpPr>
          <p:cNvPr id="5" name="TextBox 4">
            <a:extLst>
              <a:ext uri="{FF2B5EF4-FFF2-40B4-BE49-F238E27FC236}">
                <a16:creationId xmlns:a16="http://schemas.microsoft.com/office/drawing/2014/main" id="{2C5F17CC-2DBA-797D-8AB3-5D241BCB30C3}"/>
              </a:ext>
            </a:extLst>
          </p:cNvPr>
          <p:cNvSpPr txBox="1"/>
          <p:nvPr/>
        </p:nvSpPr>
        <p:spPr>
          <a:xfrm>
            <a:off x="555351" y="1413802"/>
            <a:ext cx="914400" cy="914400"/>
          </a:xfrm>
          <a:prstGeom prst="rect">
            <a:avLst/>
          </a:prstGeom>
          <a:noFill/>
        </p:spPr>
        <p:txBody>
          <a:bodyPr wrap="none" lIns="0" tIns="0" rIns="0" bIns="0" rtlCol="0">
            <a:noAutofit/>
          </a:bodyPr>
          <a:lstStyle/>
          <a:p>
            <a:r>
              <a:rPr lang="en-IN" b="1" dirty="0">
                <a:latin typeface="+mn-lt"/>
              </a:rPr>
              <a:t>Step 6</a:t>
            </a:r>
            <a:r>
              <a:rPr lang="en-IN" dirty="0">
                <a:latin typeface="+mn-lt"/>
              </a:rPr>
              <a:t>: Update the cash flow Matrix based on the exercise decision</a:t>
            </a:r>
            <a:endParaRPr lang="en-GB" dirty="0">
              <a:latin typeface="+mn-lt"/>
            </a:endParaRPr>
          </a:p>
        </p:txBody>
      </p:sp>
      <p:sp>
        <p:nvSpPr>
          <p:cNvPr id="6" name="Rectangle: Rounded Corners 5">
            <a:extLst>
              <a:ext uri="{FF2B5EF4-FFF2-40B4-BE49-F238E27FC236}">
                <a16:creationId xmlns:a16="http://schemas.microsoft.com/office/drawing/2014/main" id="{611F64BB-24AD-2B9E-ABCE-58315F79959F}"/>
              </a:ext>
            </a:extLst>
          </p:cNvPr>
          <p:cNvSpPr/>
          <p:nvPr/>
        </p:nvSpPr>
        <p:spPr>
          <a:xfrm>
            <a:off x="420624" y="1413802"/>
            <a:ext cx="794824" cy="295422"/>
          </a:xfrm>
          <a:prstGeom prst="roundRect">
            <a:avLst/>
          </a:prstGeom>
          <a:noFill/>
          <a:ln w="19050">
            <a:solidFill>
              <a:srgbClr val="7B7D8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GB" sz="1100" dirty="0">
              <a:solidFill>
                <a:schemeClr val="tx1"/>
              </a:solidFill>
            </a:endParaRPr>
          </a:p>
        </p:txBody>
      </p:sp>
      <p:pic>
        <p:nvPicPr>
          <p:cNvPr id="7" name="Picture 6">
            <a:extLst>
              <a:ext uri="{FF2B5EF4-FFF2-40B4-BE49-F238E27FC236}">
                <a16:creationId xmlns:a16="http://schemas.microsoft.com/office/drawing/2014/main" id="{7300FCB6-925B-6573-04A3-D0203957F8CB}"/>
              </a:ext>
            </a:extLst>
          </p:cNvPr>
          <p:cNvPicPr>
            <a:picLocks noChangeAspect="1"/>
          </p:cNvPicPr>
          <p:nvPr/>
        </p:nvPicPr>
        <p:blipFill>
          <a:blip r:embed="rId5"/>
          <a:stretch>
            <a:fillRect/>
          </a:stretch>
        </p:blipFill>
        <p:spPr>
          <a:xfrm>
            <a:off x="2194558" y="1786597"/>
            <a:ext cx="4515732" cy="2699719"/>
          </a:xfrm>
          <a:prstGeom prst="rect">
            <a:avLst/>
          </a:prstGeom>
        </p:spPr>
      </p:pic>
      <p:pic>
        <p:nvPicPr>
          <p:cNvPr id="9" name="Picture 8">
            <a:extLst>
              <a:ext uri="{FF2B5EF4-FFF2-40B4-BE49-F238E27FC236}">
                <a16:creationId xmlns:a16="http://schemas.microsoft.com/office/drawing/2014/main" id="{D752056B-29A2-0694-269F-6AFE7CD53D1A}"/>
              </a:ext>
            </a:extLst>
          </p:cNvPr>
          <p:cNvPicPr>
            <a:picLocks noChangeAspect="1"/>
          </p:cNvPicPr>
          <p:nvPr/>
        </p:nvPicPr>
        <p:blipFill>
          <a:blip r:embed="rId6"/>
          <a:stretch>
            <a:fillRect/>
          </a:stretch>
        </p:blipFill>
        <p:spPr>
          <a:xfrm>
            <a:off x="2929596" y="4526129"/>
            <a:ext cx="2978836" cy="2785242"/>
          </a:xfrm>
          <a:prstGeom prst="rect">
            <a:avLst/>
          </a:prstGeom>
        </p:spPr>
      </p:pic>
    </p:spTree>
    <p:custDataLst>
      <p:tags r:id="rId1"/>
    </p:custDataLst>
    <p:extLst>
      <p:ext uri="{BB962C8B-B14F-4D97-AF65-F5344CB8AC3E}">
        <p14:creationId xmlns:p14="http://schemas.microsoft.com/office/powerpoint/2010/main" val="9668950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AGE HEADING"/>
          <p:cNvSpPr>
            <a:spLocks noGrp="1"/>
          </p:cNvSpPr>
          <p:nvPr>
            <p:ph type="title"/>
            <p:custDataLst>
              <p:tags r:id="rId2"/>
            </p:custDataLst>
          </p:nvPr>
        </p:nvSpPr>
        <p:spPr/>
        <p:txBody>
          <a:bodyPr>
            <a:normAutofit/>
          </a:bodyPr>
          <a:lstStyle/>
          <a:p>
            <a:r>
              <a:rPr lang="pl-PL" sz="3200" dirty="0" err="1">
                <a:latin typeface="Frutiger 45 Light" panose="020B0603020202020204" pitchFamily="34" charset="0"/>
              </a:rPr>
              <a:t>Walkthrough</a:t>
            </a:r>
            <a:endParaRPr lang="en-US" sz="3200" dirty="0">
              <a:latin typeface="Frutiger 45 Light" panose="020B0603020202020204" pitchFamily="34" charset="0"/>
            </a:endParaRPr>
          </a:p>
        </p:txBody>
      </p:sp>
      <p:sp>
        <p:nvSpPr>
          <p:cNvPr id="2" name="Rectangle 1">
            <a:extLst>
              <a:ext uri="{FF2B5EF4-FFF2-40B4-BE49-F238E27FC236}">
                <a16:creationId xmlns:a16="http://schemas.microsoft.com/office/drawing/2014/main" id="{FA2FF32D-3A48-F22D-A885-B9C488BE7562}"/>
              </a:ext>
            </a:extLst>
          </p:cNvPr>
          <p:cNvSpPr/>
          <p:nvPr/>
        </p:nvSpPr>
        <p:spPr>
          <a:xfrm>
            <a:off x="349232" y="6768692"/>
            <a:ext cx="1620860" cy="605157"/>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GB" sz="1100" dirty="0">
              <a:solidFill>
                <a:schemeClr val="tx1"/>
              </a:solidFill>
            </a:endParaRPr>
          </a:p>
        </p:txBody>
      </p:sp>
      <p:sp>
        <p:nvSpPr>
          <p:cNvPr id="5" name="TextBox 4">
            <a:extLst>
              <a:ext uri="{FF2B5EF4-FFF2-40B4-BE49-F238E27FC236}">
                <a16:creationId xmlns:a16="http://schemas.microsoft.com/office/drawing/2014/main" id="{13E0B8B5-D901-7EF6-ACE5-280390437B34}"/>
              </a:ext>
            </a:extLst>
          </p:cNvPr>
          <p:cNvSpPr txBox="1"/>
          <p:nvPr/>
        </p:nvSpPr>
        <p:spPr>
          <a:xfrm>
            <a:off x="420624" y="1146517"/>
            <a:ext cx="914400" cy="914400"/>
          </a:xfrm>
          <a:prstGeom prst="rect">
            <a:avLst/>
          </a:prstGeom>
          <a:noFill/>
        </p:spPr>
        <p:txBody>
          <a:bodyPr wrap="none" lIns="0" tIns="0" rIns="0" bIns="0" rtlCol="0">
            <a:noAutofit/>
          </a:bodyPr>
          <a:lstStyle/>
          <a:p>
            <a:r>
              <a:rPr lang="en-IN" dirty="0">
                <a:latin typeface="+mn-lt"/>
              </a:rPr>
              <a:t>Repeat steps 3-6</a:t>
            </a:r>
            <a:endParaRPr lang="en-GB" dirty="0">
              <a:latin typeface="+mn-lt"/>
            </a:endParaRPr>
          </a:p>
        </p:txBody>
      </p:sp>
      <p:sp>
        <p:nvSpPr>
          <p:cNvPr id="6" name="TextBox 5">
            <a:extLst>
              <a:ext uri="{FF2B5EF4-FFF2-40B4-BE49-F238E27FC236}">
                <a16:creationId xmlns:a16="http://schemas.microsoft.com/office/drawing/2014/main" id="{D6A3AE58-AC5A-E8E7-315E-FFB7ABA3BC71}"/>
              </a:ext>
            </a:extLst>
          </p:cNvPr>
          <p:cNvSpPr txBox="1"/>
          <p:nvPr/>
        </p:nvSpPr>
        <p:spPr>
          <a:xfrm>
            <a:off x="420624" y="1484141"/>
            <a:ext cx="914400" cy="914400"/>
          </a:xfrm>
          <a:prstGeom prst="rect">
            <a:avLst/>
          </a:prstGeom>
          <a:noFill/>
        </p:spPr>
        <p:txBody>
          <a:bodyPr wrap="none" lIns="0" tIns="0" rIns="0" bIns="0" rtlCol="0">
            <a:noAutofit/>
          </a:bodyPr>
          <a:lstStyle/>
          <a:p>
            <a:r>
              <a:rPr lang="en-IN" sz="1600" i="1" dirty="0">
                <a:latin typeface="+mn-lt"/>
              </a:rPr>
              <a:t> t = 1</a:t>
            </a:r>
            <a:endParaRPr lang="en-GB" sz="1600" i="1" dirty="0">
              <a:latin typeface="+mn-lt"/>
            </a:endParaRPr>
          </a:p>
        </p:txBody>
      </p:sp>
      <p:pic>
        <p:nvPicPr>
          <p:cNvPr id="8" name="Picture 7">
            <a:extLst>
              <a:ext uri="{FF2B5EF4-FFF2-40B4-BE49-F238E27FC236}">
                <a16:creationId xmlns:a16="http://schemas.microsoft.com/office/drawing/2014/main" id="{C97C8CCB-F817-8429-09FF-57F846B4A6BF}"/>
              </a:ext>
            </a:extLst>
          </p:cNvPr>
          <p:cNvPicPr>
            <a:picLocks noChangeAspect="1"/>
          </p:cNvPicPr>
          <p:nvPr/>
        </p:nvPicPr>
        <p:blipFill>
          <a:blip r:embed="rId5"/>
          <a:stretch>
            <a:fillRect/>
          </a:stretch>
        </p:blipFill>
        <p:spPr>
          <a:xfrm>
            <a:off x="1097281" y="2265600"/>
            <a:ext cx="4023359" cy="3471322"/>
          </a:xfrm>
          <a:prstGeom prst="rect">
            <a:avLst/>
          </a:prstGeom>
        </p:spPr>
      </p:pic>
      <p:sp>
        <p:nvSpPr>
          <p:cNvPr id="9" name="TextBox 8">
            <a:extLst>
              <a:ext uri="{FF2B5EF4-FFF2-40B4-BE49-F238E27FC236}">
                <a16:creationId xmlns:a16="http://schemas.microsoft.com/office/drawing/2014/main" id="{6E3A3EDE-1C2A-84FA-69A6-A66BF2B20BDD}"/>
              </a:ext>
            </a:extLst>
          </p:cNvPr>
          <p:cNvSpPr txBox="1"/>
          <p:nvPr/>
        </p:nvSpPr>
        <p:spPr>
          <a:xfrm>
            <a:off x="877824" y="5874993"/>
            <a:ext cx="5965030" cy="369332"/>
          </a:xfrm>
          <a:prstGeom prst="rect">
            <a:avLst/>
          </a:prstGeom>
          <a:noFill/>
        </p:spPr>
        <p:txBody>
          <a:bodyPr wrap="square">
            <a:spAutoFit/>
          </a:bodyPr>
          <a:lstStyle/>
          <a:p>
            <a:r>
              <a:rPr lang="en-IN" sz="1800" dirty="0">
                <a:latin typeface="+mn-lt"/>
              </a:rPr>
              <a:t>We consider only paths that are in the money at time 1</a:t>
            </a:r>
            <a:endParaRPr lang="en-GB" sz="1800" dirty="0">
              <a:latin typeface="+mn-lt"/>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A118782-A6B6-3FEB-1A80-B518634ABB5E}"/>
                  </a:ext>
                </a:extLst>
              </p:cNvPr>
              <p:cNvSpPr txBox="1"/>
              <p:nvPr/>
            </p:nvSpPr>
            <p:spPr>
              <a:xfrm>
                <a:off x="6098344" y="2857500"/>
                <a:ext cx="914400" cy="914400"/>
              </a:xfrm>
              <a:prstGeom prst="rect">
                <a:avLst/>
              </a:prstGeom>
              <a:noFill/>
            </p:spPr>
            <p:txBody>
              <a:bodyPr wrap="none" lIns="0" tIns="0" rIns="0" bIns="0" rtlCol="0">
                <a:noAutofit/>
              </a:bodyPr>
              <a:lstStyle/>
              <a:p>
                <a:pPr/>
                <a14:m>
                  <m:oMathPara xmlns:m="http://schemas.openxmlformats.org/officeDocument/2006/math">
                    <m:oMathParaPr>
                      <m:jc m:val="centerGroup"/>
                    </m:oMathParaPr>
                    <m:oMath xmlns:m="http://schemas.openxmlformats.org/officeDocument/2006/math">
                      <m:r>
                        <a:rPr lang="en-IN" sz="1800" b="0" i="1" u="none" strike="noStrike" baseline="0" smtClean="0">
                          <a:latin typeface="Cambria Math" panose="02040503050406030204" pitchFamily="18" charset="0"/>
                        </a:rPr>
                        <m:t>𝑌</m:t>
                      </m:r>
                      <m:r>
                        <a:rPr lang="en-IN" sz="1800" b="0" i="1" u="none" strike="noStrike" baseline="0" smtClean="0">
                          <a:latin typeface="Cambria Math" panose="02040503050406030204" pitchFamily="18" charset="0"/>
                        </a:rPr>
                        <m:t>=</m:t>
                      </m:r>
                      <m:r>
                        <m:rPr>
                          <m:nor/>
                        </m:rPr>
                        <a:rPr lang="en-IN" sz="1800" b="0" i="0" u="none" strike="noStrike" baseline="0" smtClean="0">
                          <a:latin typeface="Cambria Math" panose="02040503050406030204" pitchFamily="18" charset="0"/>
                        </a:rPr>
                        <m:t>2.038 − 3.335</m:t>
                      </m:r>
                      <m:r>
                        <m:rPr>
                          <m:nor/>
                        </m:rPr>
                        <a:rPr lang="en-GB"/>
                        <m:t>X</m:t>
                      </m:r>
                      <m:r>
                        <m:rPr>
                          <m:nor/>
                        </m:rPr>
                        <a:rPr lang="en-GB"/>
                        <m:t> </m:t>
                      </m:r>
                      <m:r>
                        <a:rPr lang="en-IN" b="0" i="1" smtClean="0">
                          <a:latin typeface="Cambria Math" panose="02040503050406030204" pitchFamily="18" charset="0"/>
                        </a:rPr>
                        <m:t>+1.356</m:t>
                      </m:r>
                      <m:sSup>
                        <m:sSupPr>
                          <m:ctrlPr>
                            <a:rPr lang="en-IN" b="0" i="1" smtClean="0">
                              <a:latin typeface="Cambria Math" panose="02040503050406030204" pitchFamily="18" charset="0"/>
                            </a:rPr>
                          </m:ctrlPr>
                        </m:sSupPr>
                        <m:e>
                          <m:r>
                            <a:rPr lang="en-IN" b="0" i="1" smtClean="0">
                              <a:latin typeface="Cambria Math" panose="02040503050406030204" pitchFamily="18" charset="0"/>
                            </a:rPr>
                            <m:t>𝑋</m:t>
                          </m:r>
                        </m:e>
                        <m:sup>
                          <m:r>
                            <a:rPr lang="en-IN" b="0" i="1" smtClean="0">
                              <a:latin typeface="Cambria Math" panose="02040503050406030204" pitchFamily="18" charset="0"/>
                            </a:rPr>
                            <m:t>2</m:t>
                          </m:r>
                        </m:sup>
                      </m:sSup>
                    </m:oMath>
                  </m:oMathPara>
                </a14:m>
                <a:endParaRPr lang="en-GB" sz="1100" dirty="0">
                  <a:latin typeface="+mn-lt"/>
                </a:endParaRPr>
              </a:p>
            </p:txBody>
          </p:sp>
        </mc:Choice>
        <mc:Fallback xmlns="">
          <p:sp>
            <p:nvSpPr>
              <p:cNvPr id="11" name="TextBox 10">
                <a:extLst>
                  <a:ext uri="{FF2B5EF4-FFF2-40B4-BE49-F238E27FC236}">
                    <a16:creationId xmlns:a16="http://schemas.microsoft.com/office/drawing/2014/main" id="{2A118782-A6B6-3FEB-1A80-B518634ABB5E}"/>
                  </a:ext>
                </a:extLst>
              </p:cNvPr>
              <p:cNvSpPr txBox="1">
                <a:spLocks noRot="1" noChangeAspect="1" noMove="1" noResize="1" noEditPoints="1" noAdjustHandles="1" noChangeArrowheads="1" noChangeShapeType="1" noTextEdit="1"/>
              </p:cNvSpPr>
              <p:nvPr/>
            </p:nvSpPr>
            <p:spPr>
              <a:xfrm>
                <a:off x="6098344" y="2857500"/>
                <a:ext cx="914400" cy="914400"/>
              </a:xfrm>
              <a:prstGeom prst="rect">
                <a:avLst/>
              </a:prstGeom>
              <a:blipFill>
                <a:blip r:embed="rId6"/>
                <a:stretch>
                  <a:fillRect l="-8667" r="-237333"/>
                </a:stretch>
              </a:blipFill>
            </p:spPr>
            <p:txBody>
              <a:bodyPr/>
              <a:lstStyle/>
              <a:p>
                <a:r>
                  <a:rPr lang="en-GB">
                    <a:noFill/>
                  </a:rPr>
                  <a:t> </a:t>
                </a:r>
              </a:p>
            </p:txBody>
          </p:sp>
        </mc:Fallback>
      </mc:AlternateContent>
    </p:spTree>
    <p:custDataLst>
      <p:tags r:id="rId1"/>
    </p:custDataLst>
    <p:extLst>
      <p:ext uri="{BB962C8B-B14F-4D97-AF65-F5344CB8AC3E}">
        <p14:creationId xmlns:p14="http://schemas.microsoft.com/office/powerpoint/2010/main" val="156320292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AGE HEADING"/>
          <p:cNvSpPr>
            <a:spLocks noGrp="1"/>
          </p:cNvSpPr>
          <p:nvPr>
            <p:ph type="title"/>
            <p:custDataLst>
              <p:tags r:id="rId2"/>
            </p:custDataLst>
          </p:nvPr>
        </p:nvSpPr>
        <p:spPr/>
        <p:txBody>
          <a:bodyPr>
            <a:normAutofit/>
          </a:bodyPr>
          <a:lstStyle/>
          <a:p>
            <a:r>
              <a:rPr lang="pl-PL" sz="3200" dirty="0" err="1">
                <a:latin typeface="Frutiger 45 Light" panose="020B0603020202020204" pitchFamily="34" charset="0"/>
              </a:rPr>
              <a:t>Walkthrough</a:t>
            </a:r>
            <a:endParaRPr lang="en-US" sz="3200" dirty="0">
              <a:latin typeface="Frutiger 45 Light" panose="020B0603020202020204" pitchFamily="34" charset="0"/>
            </a:endParaRPr>
          </a:p>
        </p:txBody>
      </p:sp>
      <p:sp>
        <p:nvSpPr>
          <p:cNvPr id="2" name="Rectangle 1">
            <a:extLst>
              <a:ext uri="{FF2B5EF4-FFF2-40B4-BE49-F238E27FC236}">
                <a16:creationId xmlns:a16="http://schemas.microsoft.com/office/drawing/2014/main" id="{5C8CFF24-1EDD-7B77-7E9F-59940215C584}"/>
              </a:ext>
            </a:extLst>
          </p:cNvPr>
          <p:cNvSpPr/>
          <p:nvPr/>
        </p:nvSpPr>
        <p:spPr>
          <a:xfrm>
            <a:off x="349232" y="6768692"/>
            <a:ext cx="1620860" cy="605157"/>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GB" sz="1100" dirty="0">
              <a:solidFill>
                <a:schemeClr val="tx1"/>
              </a:solidFill>
            </a:endParaRPr>
          </a:p>
        </p:txBody>
      </p:sp>
      <p:pic>
        <p:nvPicPr>
          <p:cNvPr id="4" name="Picture 3">
            <a:extLst>
              <a:ext uri="{FF2B5EF4-FFF2-40B4-BE49-F238E27FC236}">
                <a16:creationId xmlns:a16="http://schemas.microsoft.com/office/drawing/2014/main" id="{F6ED8047-BBA0-1BEF-B278-AAC955CCF2D5}"/>
              </a:ext>
            </a:extLst>
          </p:cNvPr>
          <p:cNvPicPr>
            <a:picLocks noChangeAspect="1"/>
          </p:cNvPicPr>
          <p:nvPr/>
        </p:nvPicPr>
        <p:blipFill>
          <a:blip r:embed="rId5"/>
          <a:stretch>
            <a:fillRect/>
          </a:stretch>
        </p:blipFill>
        <p:spPr>
          <a:xfrm>
            <a:off x="2195449" y="1603717"/>
            <a:ext cx="4257903" cy="2545577"/>
          </a:xfrm>
          <a:prstGeom prst="rect">
            <a:avLst/>
          </a:prstGeom>
        </p:spPr>
      </p:pic>
      <p:sp>
        <p:nvSpPr>
          <p:cNvPr id="6" name="TextBox 5">
            <a:extLst>
              <a:ext uri="{FF2B5EF4-FFF2-40B4-BE49-F238E27FC236}">
                <a16:creationId xmlns:a16="http://schemas.microsoft.com/office/drawing/2014/main" id="{6E0AFAFE-921E-417E-DB92-DD987480C767}"/>
              </a:ext>
            </a:extLst>
          </p:cNvPr>
          <p:cNvSpPr txBox="1"/>
          <p:nvPr/>
        </p:nvSpPr>
        <p:spPr>
          <a:xfrm>
            <a:off x="420624" y="1146517"/>
            <a:ext cx="914400" cy="914400"/>
          </a:xfrm>
          <a:prstGeom prst="rect">
            <a:avLst/>
          </a:prstGeom>
          <a:noFill/>
        </p:spPr>
        <p:txBody>
          <a:bodyPr wrap="none" lIns="0" tIns="0" rIns="0" bIns="0" rtlCol="0">
            <a:noAutofit/>
          </a:bodyPr>
          <a:lstStyle/>
          <a:p>
            <a:r>
              <a:rPr lang="en-IN" dirty="0">
                <a:latin typeface="+mn-lt"/>
              </a:rPr>
              <a:t>Repeat steps 3-6</a:t>
            </a:r>
            <a:endParaRPr lang="en-GB" dirty="0">
              <a:latin typeface="+mn-lt"/>
            </a:endParaRPr>
          </a:p>
        </p:txBody>
      </p:sp>
      <p:sp>
        <p:nvSpPr>
          <p:cNvPr id="8" name="TextBox 7">
            <a:extLst>
              <a:ext uri="{FF2B5EF4-FFF2-40B4-BE49-F238E27FC236}">
                <a16:creationId xmlns:a16="http://schemas.microsoft.com/office/drawing/2014/main" id="{E8667188-3B8D-65C8-127D-69ABE72A94E6}"/>
              </a:ext>
            </a:extLst>
          </p:cNvPr>
          <p:cNvSpPr txBox="1"/>
          <p:nvPr/>
        </p:nvSpPr>
        <p:spPr>
          <a:xfrm>
            <a:off x="420624" y="1441937"/>
            <a:ext cx="914400" cy="914400"/>
          </a:xfrm>
          <a:prstGeom prst="rect">
            <a:avLst/>
          </a:prstGeom>
          <a:noFill/>
        </p:spPr>
        <p:txBody>
          <a:bodyPr wrap="none" lIns="0" tIns="0" rIns="0" bIns="0" rtlCol="0">
            <a:noAutofit/>
          </a:bodyPr>
          <a:lstStyle/>
          <a:p>
            <a:r>
              <a:rPr lang="en-IN" sz="1600" i="1" dirty="0">
                <a:latin typeface="+mn-lt"/>
              </a:rPr>
              <a:t> t = 1</a:t>
            </a:r>
            <a:endParaRPr lang="en-GB" sz="1600" i="1" dirty="0">
              <a:latin typeface="+mn-lt"/>
            </a:endParaRPr>
          </a:p>
        </p:txBody>
      </p:sp>
      <p:pic>
        <p:nvPicPr>
          <p:cNvPr id="10" name="Picture 9">
            <a:extLst>
              <a:ext uri="{FF2B5EF4-FFF2-40B4-BE49-F238E27FC236}">
                <a16:creationId xmlns:a16="http://schemas.microsoft.com/office/drawing/2014/main" id="{67585A77-AEDC-E94C-4C3B-41FD99BFD862}"/>
              </a:ext>
            </a:extLst>
          </p:cNvPr>
          <p:cNvPicPr>
            <a:picLocks noChangeAspect="1"/>
          </p:cNvPicPr>
          <p:nvPr/>
        </p:nvPicPr>
        <p:blipFill>
          <a:blip r:embed="rId6"/>
          <a:stretch>
            <a:fillRect/>
          </a:stretch>
        </p:blipFill>
        <p:spPr>
          <a:xfrm>
            <a:off x="2304800" y="4215623"/>
            <a:ext cx="4421823" cy="2511636"/>
          </a:xfrm>
          <a:prstGeom prst="rect">
            <a:avLst/>
          </a:prstGeom>
        </p:spPr>
      </p:pic>
      <p:sp>
        <p:nvSpPr>
          <p:cNvPr id="5" name="TextBox 4">
            <a:extLst>
              <a:ext uri="{FF2B5EF4-FFF2-40B4-BE49-F238E27FC236}">
                <a16:creationId xmlns:a16="http://schemas.microsoft.com/office/drawing/2014/main" id="{277BDC83-9260-E15A-0A9F-7CDFFB61D2A8}"/>
              </a:ext>
            </a:extLst>
          </p:cNvPr>
          <p:cNvSpPr txBox="1"/>
          <p:nvPr/>
        </p:nvSpPr>
        <p:spPr>
          <a:xfrm>
            <a:off x="168165" y="6768692"/>
            <a:ext cx="3163614" cy="914400"/>
          </a:xfrm>
          <a:prstGeom prst="rect">
            <a:avLst/>
          </a:prstGeom>
          <a:noFill/>
        </p:spPr>
        <p:txBody>
          <a:bodyPr wrap="none" lIns="0" tIns="0" rIns="0" bIns="0" rtlCol="0">
            <a:noAutofit/>
          </a:bodyPr>
          <a:lstStyle/>
          <a:p>
            <a:pPr marL="285750" indent="-285750">
              <a:buFontTx/>
              <a:buChar char="-"/>
            </a:pPr>
            <a:r>
              <a:rPr lang="en-GB" sz="1400" dirty="0" err="1"/>
              <a:t>Tisitsiklis</a:t>
            </a:r>
            <a:r>
              <a:rPr lang="en-GB" sz="1400" dirty="0"/>
              <a:t>-Van Roy algorithm uses continuation value in the regression,</a:t>
            </a:r>
          </a:p>
          <a:p>
            <a:pPr marL="285750" indent="-285750">
              <a:buFontTx/>
              <a:buChar char="-"/>
            </a:pPr>
            <a:r>
              <a:rPr lang="en-GB" sz="1400" dirty="0"/>
              <a:t>Longstaff-Schwartz uses actual cash flows</a:t>
            </a:r>
          </a:p>
        </p:txBody>
      </p:sp>
    </p:spTree>
    <p:custDataLst>
      <p:tags r:id="rId1"/>
    </p:custDataLst>
    <p:extLst>
      <p:ext uri="{BB962C8B-B14F-4D97-AF65-F5344CB8AC3E}">
        <p14:creationId xmlns:p14="http://schemas.microsoft.com/office/powerpoint/2010/main" val="9765930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E1C5C-921A-6D59-B530-2FE5C9EAB38F}"/>
            </a:ext>
          </a:extLst>
        </p:cNvPr>
        <p:cNvGrpSpPr/>
        <p:nvPr/>
      </p:nvGrpSpPr>
      <p:grpSpPr>
        <a:xfrm>
          <a:off x="0" y="0"/>
          <a:ext cx="0" cy="0"/>
          <a:chOff x="0" y="0"/>
          <a:chExt cx="0" cy="0"/>
        </a:xfrm>
      </p:grpSpPr>
      <p:sp>
        <p:nvSpPr>
          <p:cNvPr id="3" name="PAGE HEADING">
            <a:extLst>
              <a:ext uri="{FF2B5EF4-FFF2-40B4-BE49-F238E27FC236}">
                <a16:creationId xmlns:a16="http://schemas.microsoft.com/office/drawing/2014/main" id="{A61FB5E6-728B-9049-B34C-AE9568C75B92}"/>
              </a:ext>
            </a:extLst>
          </p:cNvPr>
          <p:cNvSpPr>
            <a:spLocks noGrp="1"/>
          </p:cNvSpPr>
          <p:nvPr>
            <p:ph type="title"/>
            <p:custDataLst>
              <p:tags r:id="rId2"/>
            </p:custDataLst>
          </p:nvPr>
        </p:nvSpPr>
        <p:spPr/>
        <p:txBody>
          <a:bodyPr>
            <a:normAutofit/>
          </a:bodyPr>
          <a:lstStyle/>
          <a:p>
            <a:r>
              <a:rPr lang="pl-PL" sz="3200" dirty="0" err="1">
                <a:latin typeface="Frutiger 45 Light" panose="020B0603020202020204" pitchFamily="34" charset="0"/>
              </a:rPr>
              <a:t>Walkthrough</a:t>
            </a:r>
            <a:endParaRPr lang="en-US" sz="3200" dirty="0">
              <a:latin typeface="Frutiger 45 Light" panose="020B0603020202020204" pitchFamily="34" charset="0"/>
            </a:endParaRPr>
          </a:p>
        </p:txBody>
      </p:sp>
      <p:sp>
        <p:nvSpPr>
          <p:cNvPr id="2" name="Rectangle 1">
            <a:extLst>
              <a:ext uri="{FF2B5EF4-FFF2-40B4-BE49-F238E27FC236}">
                <a16:creationId xmlns:a16="http://schemas.microsoft.com/office/drawing/2014/main" id="{5D70B1CE-2B71-6F54-6CEB-49A4A64CBCC2}"/>
              </a:ext>
            </a:extLst>
          </p:cNvPr>
          <p:cNvSpPr/>
          <p:nvPr/>
        </p:nvSpPr>
        <p:spPr>
          <a:xfrm>
            <a:off x="349232" y="6768692"/>
            <a:ext cx="1620860" cy="605157"/>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GB" sz="1100" dirty="0">
              <a:solidFill>
                <a:schemeClr val="tx1"/>
              </a:solidFill>
            </a:endParaRPr>
          </a:p>
        </p:txBody>
      </p:sp>
      <p:sp>
        <p:nvSpPr>
          <p:cNvPr id="5" name="TextBox 4">
            <a:extLst>
              <a:ext uri="{FF2B5EF4-FFF2-40B4-BE49-F238E27FC236}">
                <a16:creationId xmlns:a16="http://schemas.microsoft.com/office/drawing/2014/main" id="{8A7112E3-17AC-EA05-4FFC-7B9F43B6F5E5}"/>
              </a:ext>
            </a:extLst>
          </p:cNvPr>
          <p:cNvSpPr txBox="1"/>
          <p:nvPr/>
        </p:nvSpPr>
        <p:spPr>
          <a:xfrm>
            <a:off x="499404" y="1413802"/>
            <a:ext cx="914400" cy="914400"/>
          </a:xfrm>
          <a:prstGeom prst="rect">
            <a:avLst/>
          </a:prstGeom>
          <a:noFill/>
        </p:spPr>
        <p:txBody>
          <a:bodyPr wrap="none" lIns="0" tIns="0" rIns="0" bIns="0" rtlCol="0">
            <a:noAutofit/>
          </a:bodyPr>
          <a:lstStyle/>
          <a:p>
            <a:r>
              <a:rPr lang="en-IN" dirty="0">
                <a:latin typeface="+mn-lt"/>
              </a:rPr>
              <a:t>Update the cash flow Matrix based on the exercise decision</a:t>
            </a:r>
            <a:endParaRPr lang="en-GB" dirty="0">
              <a:latin typeface="+mn-lt"/>
            </a:endParaRPr>
          </a:p>
        </p:txBody>
      </p:sp>
      <p:pic>
        <p:nvPicPr>
          <p:cNvPr id="7" name="Picture 6">
            <a:extLst>
              <a:ext uri="{FF2B5EF4-FFF2-40B4-BE49-F238E27FC236}">
                <a16:creationId xmlns:a16="http://schemas.microsoft.com/office/drawing/2014/main" id="{B57FD32E-C074-AAA0-0D43-F67AB9457703}"/>
              </a:ext>
            </a:extLst>
          </p:cNvPr>
          <p:cNvPicPr>
            <a:picLocks noChangeAspect="1"/>
          </p:cNvPicPr>
          <p:nvPr/>
        </p:nvPicPr>
        <p:blipFill>
          <a:blip r:embed="rId5"/>
          <a:stretch>
            <a:fillRect/>
          </a:stretch>
        </p:blipFill>
        <p:spPr>
          <a:xfrm>
            <a:off x="2194558" y="1786597"/>
            <a:ext cx="4515732" cy="2699719"/>
          </a:xfrm>
          <a:prstGeom prst="rect">
            <a:avLst/>
          </a:prstGeom>
        </p:spPr>
      </p:pic>
      <p:pic>
        <p:nvPicPr>
          <p:cNvPr id="8" name="Picture 7">
            <a:extLst>
              <a:ext uri="{FF2B5EF4-FFF2-40B4-BE49-F238E27FC236}">
                <a16:creationId xmlns:a16="http://schemas.microsoft.com/office/drawing/2014/main" id="{A7813B02-4623-8AB3-3E62-B1DBAAD196A0}"/>
              </a:ext>
            </a:extLst>
          </p:cNvPr>
          <p:cNvPicPr>
            <a:picLocks noChangeAspect="1"/>
          </p:cNvPicPr>
          <p:nvPr/>
        </p:nvPicPr>
        <p:blipFill>
          <a:blip r:embed="rId6"/>
          <a:stretch>
            <a:fillRect/>
          </a:stretch>
        </p:blipFill>
        <p:spPr>
          <a:xfrm>
            <a:off x="2806843" y="4486316"/>
            <a:ext cx="3151846" cy="2950697"/>
          </a:xfrm>
          <a:prstGeom prst="rect">
            <a:avLst/>
          </a:prstGeom>
        </p:spPr>
      </p:pic>
      <p:sp>
        <p:nvSpPr>
          <p:cNvPr id="10" name="Rectangle: Rounded Corners 9">
            <a:extLst>
              <a:ext uri="{FF2B5EF4-FFF2-40B4-BE49-F238E27FC236}">
                <a16:creationId xmlns:a16="http://schemas.microsoft.com/office/drawing/2014/main" id="{AEAF1BE0-0474-EF82-3F38-9AF34D55CABE}"/>
              </a:ext>
            </a:extLst>
          </p:cNvPr>
          <p:cNvSpPr/>
          <p:nvPr/>
        </p:nvSpPr>
        <p:spPr>
          <a:xfrm>
            <a:off x="420624" y="5183945"/>
            <a:ext cx="1914613" cy="1125415"/>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r>
              <a:rPr lang="en-IN" sz="1600" dirty="0">
                <a:ln w="0"/>
                <a:solidFill>
                  <a:schemeClr val="tx1"/>
                </a:solidFill>
                <a:effectLst>
                  <a:outerShdw blurRad="38100" dist="19050" dir="2700000" algn="tl" rotWithShape="0">
                    <a:schemeClr val="dk1">
                      <a:alpha val="40000"/>
                    </a:schemeClr>
                  </a:outerShdw>
                </a:effectLst>
              </a:rPr>
              <a:t>AMC Day 0 value is 0.1144</a:t>
            </a:r>
            <a:r>
              <a:rPr lang="en-IN" sz="1600" b="1" dirty="0">
                <a:ln w="22225">
                  <a:solidFill>
                    <a:schemeClr val="accent2"/>
                  </a:solidFill>
                  <a:prstDash val="solid"/>
                </a:ln>
                <a:solidFill>
                  <a:schemeClr val="accent2">
                    <a:lumMod val="40000"/>
                    <a:lumOff val="60000"/>
                  </a:schemeClr>
                </a:solidFill>
              </a:rPr>
              <a:t> </a:t>
            </a:r>
            <a:endParaRPr lang="en-GB" sz="1600" b="1" dirty="0">
              <a:ln w="22225">
                <a:solidFill>
                  <a:schemeClr val="accent2"/>
                </a:solidFill>
                <a:prstDash val="solid"/>
              </a:ln>
              <a:solidFill>
                <a:schemeClr val="accent2">
                  <a:lumMod val="40000"/>
                  <a:lumOff val="60000"/>
                </a:schemeClr>
              </a:solidFill>
            </a:endParaRPr>
          </a:p>
        </p:txBody>
      </p:sp>
    </p:spTree>
    <p:custDataLst>
      <p:tags r:id="rId1"/>
    </p:custDataLst>
    <p:extLst>
      <p:ext uri="{BB962C8B-B14F-4D97-AF65-F5344CB8AC3E}">
        <p14:creationId xmlns:p14="http://schemas.microsoft.com/office/powerpoint/2010/main" val="384773369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FULLPATHNAME" val=" "/>
  <p:tag name="KEYWORDS" val="C:\Program Files\Ubs\PresXpress\templates\PresPrintOnScreen.pot"/>
  <p:tag name="FDSMENUDOCLEVELBTNSTATES" val="&lt;btnStates&gt;&lt;btn tag=&quot;1001&quot; state=&quot;UP&quot;/&gt;&lt;/btnStates&gt;&#10;"/>
  <p:tag name="SERIF FONT" val="UBSHeadline"/>
  <p:tag name="SANS SERIF FONT" val="Frutiger 55 Roman"/>
  <p:tag name="LANGUAGE ID" val="1033"/>
  <p:tag name="MOST RECENT UPGRADE" val="0"/>
</p:tagLst>
</file>

<file path=ppt/tags/tag2.xml><?xml version="1.0" encoding="utf-8"?>
<p:tagLst xmlns:a="http://schemas.openxmlformats.org/drawingml/2006/main" xmlns:r="http://schemas.openxmlformats.org/officeDocument/2006/relationships" xmlns:p="http://schemas.openxmlformats.org/presentationml/2006/main">
  <p:tag name="TEXT_TYPE" val="CREATE DATE"/>
</p:tagLst>
</file>

<file path=ppt/tags/tag3.xml><?xml version="1.0" encoding="utf-8"?>
<p:tagLst xmlns:a="http://schemas.openxmlformats.org/drawingml/2006/main" xmlns:r="http://schemas.openxmlformats.org/officeDocument/2006/relationships" xmlns:p="http://schemas.openxmlformats.org/presentationml/2006/main">
  <p:tag name="TEXT_TYPE" val="PRESENTATION PRESENTER FUNCTION"/>
  <p:tag name="FONT STYLE" val="SANS SERIF"/>
</p:tagLst>
</file>

<file path=ppt/tags/tag4.xml><?xml version="1.0" encoding="utf-8"?>
<p:tagLst xmlns:a="http://schemas.openxmlformats.org/drawingml/2006/main" xmlns:r="http://schemas.openxmlformats.org/officeDocument/2006/relationships" xmlns:p="http://schemas.openxmlformats.org/presentationml/2006/main">
  <p:tag name="TEXT_TYPE" val="PRESENTATION PRESENTER"/>
  <p:tag name="FONT STYLE" val="SANS SERIF"/>
</p:tagLst>
</file>

<file path=ppt/tags/tag5.xml><?xml version="1.0" encoding="utf-8"?>
<p:tagLst xmlns:a="http://schemas.openxmlformats.org/drawingml/2006/main" xmlns:r="http://schemas.openxmlformats.org/officeDocument/2006/relationships" xmlns:p="http://schemas.openxmlformats.org/presentationml/2006/main">
  <p:tag name="TEXT_TYPE" val="PRESENTATION TITLE"/>
  <p:tag name="FONT STYLE" val="SANS SERIF"/>
</p:tagLst>
</file>

<file path=ppt/tags/tag6.xml><?xml version="1.0" encoding="utf-8"?>
<p:tagLst xmlns:a="http://schemas.openxmlformats.org/drawingml/2006/main" xmlns:r="http://schemas.openxmlformats.org/officeDocument/2006/relationships" xmlns:p="http://schemas.openxmlformats.org/presentationml/2006/main">
  <p:tag name="TEXT_TYPE" val="SECURITY TEXT"/>
  <p:tag name="FONT STYLE" val="SANS SERIF"/>
</p:tagLst>
</file>

<file path=ppt/tags/tag7.xml><?xml version="1.0" encoding="utf-8"?>
<p:tagLst xmlns:a="http://schemas.openxmlformats.org/drawingml/2006/main" xmlns:r="http://schemas.openxmlformats.org/officeDocument/2006/relationships" xmlns:p="http://schemas.openxmlformats.org/presentationml/2006/main">
  <p:tag name="FONT STYLE" val="SERIF"/>
  <p:tag name="TEXT_TYPE" val="PRESENTATION INFOLINE"/>
</p:tagLst>
</file>

<file path=ppt/tags/tag8.xml><?xml version="1.0" encoding="utf-8"?>
<p:tagLst xmlns:a="http://schemas.openxmlformats.org/drawingml/2006/main" xmlns:r="http://schemas.openxmlformats.org/officeDocument/2006/relationships" xmlns:p="http://schemas.openxmlformats.org/presentationml/2006/main">
  <p:tag name="FONT STYLE" val="SANS SERIF"/>
  <p:tag name="ISLOCKED" val="TRUE"/>
  <p:tag name="TOP" val="710000000000000E-13"/>
  <p:tag name="LEFT" val="612000000000000E-12"/>
  <p:tag name="HEIGHT" val="260000000000000E-13"/>
  <p:tag name="WIDTH" val="850000000000000E-13"/>
  <p:tag name="TEXT_TYPE" val="DRAFT STAMP"/>
</p:tagLst>
</file>

<file path=ppt/tags/tag9.xml><?xml version="1.0" encoding="utf-8"?>
<p:tagLst xmlns:a="http://schemas.openxmlformats.org/drawingml/2006/main" xmlns:r="http://schemas.openxmlformats.org/officeDocument/2006/relationships" xmlns:p="http://schemas.openxmlformats.org/presentationml/2006/main">
  <p:tag name="FONT STYLE" val="SANS SERIF"/>
</p:tagLst>
</file>

<file path=ppt/tags/tag10.xml><?xml version="1.0" encoding="utf-8"?>
<p:tagLst xmlns:a="http://schemas.openxmlformats.org/drawingml/2006/main" xmlns:r="http://schemas.openxmlformats.org/officeDocument/2006/relationships" xmlns:p="http://schemas.openxmlformats.org/presentationml/2006/main">
  <p:tag name="TEXT_TYPE" val="TOC BODY"/>
  <p:tag name="FONT STYLE" val="SANS SERIF"/>
</p:tagLst>
</file>

<file path=ppt/tags/tag11.xml><?xml version="1.0" encoding="utf-8"?>
<p:tagLst xmlns:a="http://schemas.openxmlformats.org/drawingml/2006/main" xmlns:r="http://schemas.openxmlformats.org/officeDocument/2006/relationships" xmlns:p="http://schemas.openxmlformats.org/presentationml/2006/main">
  <p:tag name="TEXT_TYPE" val="TOC TITLE"/>
  <p:tag name="FONT STYLE" val="SANS SERIF"/>
</p:tagLst>
</file>

<file path=ppt/tags/tag12.xml><?xml version="1.0" encoding="utf-8"?>
<p:tagLst xmlns:a="http://schemas.openxmlformats.org/drawingml/2006/main" xmlns:r="http://schemas.openxmlformats.org/officeDocument/2006/relationships" xmlns:p="http://schemas.openxmlformats.org/presentationml/2006/main">
  <p:tag name="TEXT_TYPE" val="DOCUMENT ID"/>
</p:tagLst>
</file>

<file path=ppt/tags/tag13.xml><?xml version="1.0" encoding="utf-8"?>
<p:tagLst xmlns:a="http://schemas.openxmlformats.org/drawingml/2006/main" xmlns:r="http://schemas.openxmlformats.org/officeDocument/2006/relationships" xmlns:p="http://schemas.openxmlformats.org/presentationml/2006/main">
  <p:tag name="FONT STYLE" val="SANS SERIF"/>
  <p:tag name="ISLOCKED" val="TRUE"/>
  <p:tag name="TOP" val="200000000000000E-13"/>
  <p:tag name="LEFT" val="331199989318848E-13"/>
  <p:tag name="HEIGHT" val="260000000000000E-13"/>
  <p:tag name="WIDTH" val="850000000000000E-13"/>
  <p:tag name="TEXT_TYPE" val="DRAFT STAMP"/>
</p:tagLst>
</file>

<file path=ppt/tags/tag14.xml><?xml version="1.0" encoding="utf-8"?>
<p:tagLst xmlns:a="http://schemas.openxmlformats.org/drawingml/2006/main" xmlns:r="http://schemas.openxmlformats.org/officeDocument/2006/relationships" xmlns:p="http://schemas.openxmlformats.org/presentationml/2006/main">
  <p:tag name="ROW" val="1"/>
  <p:tag name="COL" val="1"/>
  <p:tag name="TEXT_TYPE" val="BODY TEXT"/>
  <p:tag name="FONT STYLE" val="SANS SERIF"/>
</p:tagLst>
</file>

<file path=ppt/tags/tag15.xml><?xml version="1.0" encoding="utf-8"?>
<p:tagLst xmlns:a="http://schemas.openxmlformats.org/drawingml/2006/main" xmlns:r="http://schemas.openxmlformats.org/officeDocument/2006/relationships" xmlns:p="http://schemas.openxmlformats.org/presentationml/2006/main">
  <p:tag name="TEXT_TYPE" val="PAGE HEADING"/>
  <p:tag name="FONT STYLE" val="SANS SERIF"/>
</p:tagLst>
</file>

<file path=ppt/tags/tag16.xml><?xml version="1.0" encoding="utf-8"?>
<p:tagLst xmlns:a="http://schemas.openxmlformats.org/drawingml/2006/main" xmlns:r="http://schemas.openxmlformats.org/officeDocument/2006/relationships" xmlns:p="http://schemas.openxmlformats.org/presentationml/2006/main">
  <p:tag name="TEXT_TYPE" val="DOCUMENT ID"/>
</p:tagLst>
</file>

<file path=ppt/tags/tag17.xml><?xml version="1.0" encoding="utf-8"?>
<p:tagLst xmlns:a="http://schemas.openxmlformats.org/drawingml/2006/main" xmlns:r="http://schemas.openxmlformats.org/officeDocument/2006/relationships" xmlns:p="http://schemas.openxmlformats.org/presentationml/2006/main">
  <p:tag name="FONT STYLE" val="SANS SERIF"/>
  <p:tag name="ISLOCKED" val="TRUE"/>
  <p:tag name="TOP" val="200000000000000E-13"/>
  <p:tag name="LEFT" val="331199989318848E-13"/>
  <p:tag name="HEIGHT" val="260000000000000E-13"/>
  <p:tag name="WIDTH" val="850000000000000E-13"/>
  <p:tag name="TEXT_TYPE" val="DRAFT STAMP"/>
</p:tagLst>
</file>

<file path=ppt/tags/tag18.xml><?xml version="1.0" encoding="utf-8"?>
<p:tagLst xmlns:a="http://schemas.openxmlformats.org/drawingml/2006/main" xmlns:r="http://schemas.openxmlformats.org/officeDocument/2006/relationships" xmlns:p="http://schemas.openxmlformats.org/presentationml/2006/main">
  <p:tag name="TEXT_TYPE" val="PAGE HEADING"/>
  <p:tag name="FONT STYLE" val="SANS SERIF"/>
</p:tagLst>
</file>

<file path=ppt/tags/tag19.xml><?xml version="1.0" encoding="utf-8"?>
<p:tagLst xmlns:a="http://schemas.openxmlformats.org/drawingml/2006/main" xmlns:r="http://schemas.openxmlformats.org/officeDocument/2006/relationships" xmlns:p="http://schemas.openxmlformats.org/presentationml/2006/main">
  <p:tag name="TEXT_TYPE" val="DOCUMENT ID"/>
</p:tagLst>
</file>

<file path=ppt/tags/tag20.xml><?xml version="1.0" encoding="utf-8"?>
<p:tagLst xmlns:a="http://schemas.openxmlformats.org/drawingml/2006/main" xmlns:r="http://schemas.openxmlformats.org/officeDocument/2006/relationships" xmlns:p="http://schemas.openxmlformats.org/presentationml/2006/main">
  <p:tag name="FONT STYLE" val="SANS SERIF"/>
  <p:tag name="ISLOCKED" val="TRUE"/>
  <p:tag name="TOP" val="200000000000000E-13"/>
  <p:tag name="LEFT" val="331199989318848E-13"/>
  <p:tag name="HEIGHT" val="260000000000000E-13"/>
  <p:tag name="WIDTH" val="850000000000000E-13"/>
  <p:tag name="TEXT_TYPE" val="DRAFT STAMP"/>
</p:tagLst>
</file>

<file path=ppt/tags/tag21.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1"/>
</p:tagLst>
</file>

<file path=ppt/tags/tag22.xml><?xml version="1.0" encoding="utf-8"?>
<p:tagLst xmlns:a="http://schemas.openxmlformats.org/drawingml/2006/main" xmlns:r="http://schemas.openxmlformats.org/officeDocument/2006/relationships" xmlns:p="http://schemas.openxmlformats.org/presentationml/2006/main">
  <p:tag name="TEXT_TYPE" val="BODY TEXT"/>
  <p:tag name="FONT STYLE" val="SANS SERIF"/>
  <p:tag name="ROW" val="1"/>
  <p:tag name="COL" val="1"/>
</p:tagLst>
</file>

<file path=ppt/tags/tag23.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1"/>
</p:tagLst>
</file>

<file path=ppt/tags/tag24.xml><?xml version="1.0" encoding="utf-8"?>
<p:tagLst xmlns:a="http://schemas.openxmlformats.org/drawingml/2006/main" xmlns:r="http://schemas.openxmlformats.org/officeDocument/2006/relationships" xmlns:p="http://schemas.openxmlformats.org/presentationml/2006/main">
  <p:tag name="TEXT_TYPE" val="PAGE HEADING"/>
  <p:tag name="FONT STYLE" val="SANS SERIF"/>
</p:tagLst>
</file>

<file path=ppt/tags/tag25.xml><?xml version="1.0" encoding="utf-8"?>
<p:tagLst xmlns:a="http://schemas.openxmlformats.org/drawingml/2006/main" xmlns:r="http://schemas.openxmlformats.org/officeDocument/2006/relationships" xmlns:p="http://schemas.openxmlformats.org/presentationml/2006/main">
  <p:tag name="TEXT_TYPE" val="DOCUMENT ID"/>
</p:tagLst>
</file>

<file path=ppt/tags/tag26.xml><?xml version="1.0" encoding="utf-8"?>
<p:tagLst xmlns:a="http://schemas.openxmlformats.org/drawingml/2006/main" xmlns:r="http://schemas.openxmlformats.org/officeDocument/2006/relationships" xmlns:p="http://schemas.openxmlformats.org/presentationml/2006/main">
  <p:tag name="FONT STYLE" val="SANS SERIF"/>
  <p:tag name="ISLOCKED" val="TRUE"/>
  <p:tag name="TOP" val="200000000000000E-13"/>
  <p:tag name="LEFT" val="331199989318848E-13"/>
  <p:tag name="HEIGHT" val="260000000000000E-13"/>
  <p:tag name="WIDTH" val="850000000000000E-13"/>
  <p:tag name="TEXT_TYPE" val="DRAFT STAMP"/>
</p:tagLst>
</file>

<file path=ppt/tags/tag27.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1"/>
</p:tagLst>
</file>

<file path=ppt/tags/tag28.xml><?xml version="1.0" encoding="utf-8"?>
<p:tagLst xmlns:a="http://schemas.openxmlformats.org/drawingml/2006/main" xmlns:r="http://schemas.openxmlformats.org/officeDocument/2006/relationships" xmlns:p="http://schemas.openxmlformats.org/presentationml/2006/main">
  <p:tag name="TEXT_TYPE" val="BODY TEXT"/>
  <p:tag name="FONT STYLE" val="SANS SERIF"/>
  <p:tag name="ROW" val="1"/>
  <p:tag name="COL" val="1"/>
</p:tagLst>
</file>

<file path=ppt/tags/tag29.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1"/>
</p:tagLst>
</file>

<file path=ppt/tags/tag30.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1"/>
</p:tagLst>
</file>

<file path=ppt/tags/tag31.xml><?xml version="1.0" encoding="utf-8"?>
<p:tagLst xmlns:a="http://schemas.openxmlformats.org/drawingml/2006/main" xmlns:r="http://schemas.openxmlformats.org/officeDocument/2006/relationships" xmlns:p="http://schemas.openxmlformats.org/presentationml/2006/main">
  <p:tag name="TEXT_TYPE" val="BODY TEXT"/>
  <p:tag name="FONT STYLE" val="SANS SERIF"/>
  <p:tag name="ROW" val="1"/>
  <p:tag name="COL" val="1"/>
</p:tagLst>
</file>

<file path=ppt/tags/tag32.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1"/>
</p:tagLst>
</file>

<file path=ppt/tags/tag33.xml><?xml version="1.0" encoding="utf-8"?>
<p:tagLst xmlns:a="http://schemas.openxmlformats.org/drawingml/2006/main" xmlns:r="http://schemas.openxmlformats.org/officeDocument/2006/relationships" xmlns:p="http://schemas.openxmlformats.org/presentationml/2006/main">
  <p:tag name="TEXT_TYPE" val="PAGE HEADING"/>
  <p:tag name="FONT STYLE" val="SANS SERIF"/>
</p:tagLst>
</file>

<file path=ppt/tags/tag34.xml><?xml version="1.0" encoding="utf-8"?>
<p:tagLst xmlns:a="http://schemas.openxmlformats.org/drawingml/2006/main" xmlns:r="http://schemas.openxmlformats.org/officeDocument/2006/relationships" xmlns:p="http://schemas.openxmlformats.org/presentationml/2006/main">
  <p:tag name="TEXT_TYPE" val="DOCUMENT ID"/>
</p:tagLst>
</file>

<file path=ppt/tags/tag35.xml><?xml version="1.0" encoding="utf-8"?>
<p:tagLst xmlns:a="http://schemas.openxmlformats.org/drawingml/2006/main" xmlns:r="http://schemas.openxmlformats.org/officeDocument/2006/relationships" xmlns:p="http://schemas.openxmlformats.org/presentationml/2006/main">
  <p:tag name="FONT STYLE" val="SANS SERIF"/>
  <p:tag name="ISLOCKED" val="TRUE"/>
  <p:tag name="TOP" val="200000000000000E-13"/>
  <p:tag name="LEFT" val="331199989318848E-13"/>
  <p:tag name="HEIGHT" val="260000000000000E-13"/>
  <p:tag name="WIDTH" val="850000000000000E-13"/>
  <p:tag name="TEXT_TYPE" val="DRAFT STAMP"/>
</p:tagLst>
</file>

<file path=ppt/tags/tag36.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2"/>
</p:tagLst>
</file>

<file path=ppt/tags/tag37.xml><?xml version="1.0" encoding="utf-8"?>
<p:tagLst xmlns:a="http://schemas.openxmlformats.org/drawingml/2006/main" xmlns:r="http://schemas.openxmlformats.org/officeDocument/2006/relationships" xmlns:p="http://schemas.openxmlformats.org/presentationml/2006/main">
  <p:tag name="TEXT_TYPE" val="BODY TEXT"/>
  <p:tag name="FONT STYLE" val="SANS SERIF"/>
  <p:tag name="ROW" val="1"/>
  <p:tag name="COL" val="2"/>
</p:tagLst>
</file>

<file path=ppt/tags/tag38.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2"/>
</p:tagLst>
</file>

<file path=ppt/tags/tag39.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1"/>
</p:tagLst>
</file>

<file path=ppt/tags/tag40.xml><?xml version="1.0" encoding="utf-8"?>
<p:tagLst xmlns:a="http://schemas.openxmlformats.org/drawingml/2006/main" xmlns:r="http://schemas.openxmlformats.org/officeDocument/2006/relationships" xmlns:p="http://schemas.openxmlformats.org/presentationml/2006/main">
  <p:tag name="TEXT_TYPE" val="BODY TEXT"/>
  <p:tag name="FONT STYLE" val="SANS SERIF"/>
  <p:tag name="ROW" val="1"/>
  <p:tag name="COL" val="1"/>
</p:tagLst>
</file>

<file path=ppt/tags/tag41.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1"/>
</p:tagLst>
</file>

<file path=ppt/tags/tag42.xml><?xml version="1.0" encoding="utf-8"?>
<p:tagLst xmlns:a="http://schemas.openxmlformats.org/drawingml/2006/main" xmlns:r="http://schemas.openxmlformats.org/officeDocument/2006/relationships" xmlns:p="http://schemas.openxmlformats.org/presentationml/2006/main">
  <p:tag name="TEXT_TYPE" val="PAGE HEADING"/>
  <p:tag name="FONT STYLE" val="SANS SERIF"/>
</p:tagLst>
</file>

<file path=ppt/tags/tag43.xml><?xml version="1.0" encoding="utf-8"?>
<p:tagLst xmlns:a="http://schemas.openxmlformats.org/drawingml/2006/main" xmlns:r="http://schemas.openxmlformats.org/officeDocument/2006/relationships" xmlns:p="http://schemas.openxmlformats.org/presentationml/2006/main">
  <p:tag name="TEXT_TYPE" val="DOCUMENT ID"/>
</p:tagLst>
</file>

<file path=ppt/tags/tag44.xml><?xml version="1.0" encoding="utf-8"?>
<p:tagLst xmlns:a="http://schemas.openxmlformats.org/drawingml/2006/main" xmlns:r="http://schemas.openxmlformats.org/officeDocument/2006/relationships" xmlns:p="http://schemas.openxmlformats.org/presentationml/2006/main">
  <p:tag name="FONT STYLE" val="SANS SERIF"/>
  <p:tag name="ISLOCKED" val="TRUE"/>
  <p:tag name="TOP" val="200000000000000E-13"/>
  <p:tag name="LEFT" val="331199989318848E-13"/>
  <p:tag name="HEIGHT" val="260000000000000E-13"/>
  <p:tag name="WIDTH" val="850000000000000E-13"/>
  <p:tag name="TEXT_TYPE" val="DRAFT STAMP"/>
</p:tagLst>
</file>

<file path=ppt/tags/tag45.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3"/>
</p:tagLst>
</file>

<file path=ppt/tags/tag46.xml><?xml version="1.0" encoding="utf-8"?>
<p:tagLst xmlns:a="http://schemas.openxmlformats.org/drawingml/2006/main" xmlns:r="http://schemas.openxmlformats.org/officeDocument/2006/relationships" xmlns:p="http://schemas.openxmlformats.org/presentationml/2006/main">
  <p:tag name="TEXT_TYPE" val="BODY TEXT"/>
  <p:tag name="FONT STYLE" val="SANS SERIF"/>
  <p:tag name="ROW" val="1"/>
  <p:tag name="COL" val="3"/>
</p:tagLst>
</file>

<file path=ppt/tags/tag47.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3"/>
</p:tagLst>
</file>

<file path=ppt/tags/tag48.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2"/>
</p:tagLst>
</file>

<file path=ppt/tags/tag49.xml><?xml version="1.0" encoding="utf-8"?>
<p:tagLst xmlns:a="http://schemas.openxmlformats.org/drawingml/2006/main" xmlns:r="http://schemas.openxmlformats.org/officeDocument/2006/relationships" xmlns:p="http://schemas.openxmlformats.org/presentationml/2006/main">
  <p:tag name="TEXT_TYPE" val="BODY TEXT"/>
  <p:tag name="FONT STYLE" val="SANS SERIF"/>
  <p:tag name="ROW" val="1"/>
  <p:tag name="COL" val="2"/>
</p:tagLst>
</file>

<file path=ppt/tags/tag50.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2"/>
</p:tagLst>
</file>

<file path=ppt/tags/tag51.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1"/>
</p:tagLst>
</file>

<file path=ppt/tags/tag52.xml><?xml version="1.0" encoding="utf-8"?>
<p:tagLst xmlns:a="http://schemas.openxmlformats.org/drawingml/2006/main" xmlns:r="http://schemas.openxmlformats.org/officeDocument/2006/relationships" xmlns:p="http://schemas.openxmlformats.org/presentationml/2006/main">
  <p:tag name="TEXT_TYPE" val="BODY TEXT"/>
  <p:tag name="FONT STYLE" val="SANS SERIF"/>
  <p:tag name="ROW" val="1"/>
  <p:tag name="COL" val="1"/>
</p:tagLst>
</file>

<file path=ppt/tags/tag53.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1"/>
</p:tagLst>
</file>

<file path=ppt/tags/tag54.xml><?xml version="1.0" encoding="utf-8"?>
<p:tagLst xmlns:a="http://schemas.openxmlformats.org/drawingml/2006/main" xmlns:r="http://schemas.openxmlformats.org/officeDocument/2006/relationships" xmlns:p="http://schemas.openxmlformats.org/presentationml/2006/main">
  <p:tag name="TEXT_TYPE" val="PAGE HEADING"/>
  <p:tag name="FONT STYLE" val="SANS SERIF"/>
</p:tagLst>
</file>

<file path=ppt/tags/tag55.xml><?xml version="1.0" encoding="utf-8"?>
<p:tagLst xmlns:a="http://schemas.openxmlformats.org/drawingml/2006/main" xmlns:r="http://schemas.openxmlformats.org/officeDocument/2006/relationships" xmlns:p="http://schemas.openxmlformats.org/presentationml/2006/main">
  <p:tag name="TEXT_TYPE" val="DOCUMENT ID"/>
</p:tagLst>
</file>

<file path=ppt/tags/tag56.xml><?xml version="1.0" encoding="utf-8"?>
<p:tagLst xmlns:a="http://schemas.openxmlformats.org/drawingml/2006/main" xmlns:r="http://schemas.openxmlformats.org/officeDocument/2006/relationships" xmlns:p="http://schemas.openxmlformats.org/presentationml/2006/main">
  <p:tag name="FONT STYLE" val="SANS SERIF"/>
  <p:tag name="ISLOCKED" val="TRUE"/>
  <p:tag name="TOP" val="200000000000000E-13"/>
  <p:tag name="LEFT" val="331199989318848E-13"/>
  <p:tag name="HEIGHT" val="260000000000000E-13"/>
  <p:tag name="WIDTH" val="850000000000000E-13"/>
  <p:tag name="TEXT_TYPE" val="DRAFT STAMP"/>
</p:tagLst>
</file>

<file path=ppt/tags/tag57.xml><?xml version="1.0" encoding="utf-8"?>
<p:tagLst xmlns:a="http://schemas.openxmlformats.org/drawingml/2006/main" xmlns:r="http://schemas.openxmlformats.org/officeDocument/2006/relationships" xmlns:p="http://schemas.openxmlformats.org/presentationml/2006/main">
  <p:tag name="FONT STYLE" val="SANS SERIF"/>
  <p:tag name="ROW" val="2"/>
  <p:tag name="COL" val="2"/>
</p:tagLst>
</file>

<file path=ppt/tags/tag58.xml><?xml version="1.0" encoding="utf-8"?>
<p:tagLst xmlns:a="http://schemas.openxmlformats.org/drawingml/2006/main" xmlns:r="http://schemas.openxmlformats.org/officeDocument/2006/relationships" xmlns:p="http://schemas.openxmlformats.org/presentationml/2006/main">
  <p:tag name="TEXT_TYPE" val="BODY TEXT"/>
  <p:tag name="FONT STYLE" val="SANS SERIF"/>
  <p:tag name="ROW" val="2"/>
  <p:tag name="COL" val="2"/>
</p:tagLst>
</file>

<file path=ppt/tags/tag59.xml><?xml version="1.0" encoding="utf-8"?>
<p:tagLst xmlns:a="http://schemas.openxmlformats.org/drawingml/2006/main" xmlns:r="http://schemas.openxmlformats.org/officeDocument/2006/relationships" xmlns:p="http://schemas.openxmlformats.org/presentationml/2006/main">
  <p:tag name="ROW" val="2"/>
  <p:tag name="COL" val="2"/>
</p:tagLst>
</file>

<file path=ppt/tags/tag60.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2"/>
</p:tagLst>
</file>

<file path=ppt/tags/tag61.xml><?xml version="1.0" encoding="utf-8"?>
<p:tagLst xmlns:a="http://schemas.openxmlformats.org/drawingml/2006/main" xmlns:r="http://schemas.openxmlformats.org/officeDocument/2006/relationships" xmlns:p="http://schemas.openxmlformats.org/presentationml/2006/main">
  <p:tag name="TEXT_TYPE" val="BODY TEXT"/>
  <p:tag name="FONT STYLE" val="SANS SERIF"/>
  <p:tag name="ROW" val="1"/>
  <p:tag name="COL" val="2"/>
</p:tagLst>
</file>

<file path=ppt/tags/tag62.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2"/>
</p:tagLst>
</file>

<file path=ppt/tags/tag63.xml><?xml version="1.0" encoding="utf-8"?>
<p:tagLst xmlns:a="http://schemas.openxmlformats.org/drawingml/2006/main" xmlns:r="http://schemas.openxmlformats.org/officeDocument/2006/relationships" xmlns:p="http://schemas.openxmlformats.org/presentationml/2006/main">
  <p:tag name="FONT STYLE" val="SANS SERIF"/>
  <p:tag name="ROW" val="2"/>
  <p:tag name="COL" val="1"/>
</p:tagLst>
</file>

<file path=ppt/tags/tag64.xml><?xml version="1.0" encoding="utf-8"?>
<p:tagLst xmlns:a="http://schemas.openxmlformats.org/drawingml/2006/main" xmlns:r="http://schemas.openxmlformats.org/officeDocument/2006/relationships" xmlns:p="http://schemas.openxmlformats.org/presentationml/2006/main">
  <p:tag name="TEXT_TYPE" val="BODY TEXT"/>
  <p:tag name="FONT STYLE" val="SANS SERIF"/>
  <p:tag name="ROW" val="2"/>
  <p:tag name="COL" val="1"/>
</p:tagLst>
</file>

<file path=ppt/tags/tag65.xml><?xml version="1.0" encoding="utf-8"?>
<p:tagLst xmlns:a="http://schemas.openxmlformats.org/drawingml/2006/main" xmlns:r="http://schemas.openxmlformats.org/officeDocument/2006/relationships" xmlns:p="http://schemas.openxmlformats.org/presentationml/2006/main">
  <p:tag name="FONT STYLE" val="SANS SERIF"/>
  <p:tag name="COL" val="1"/>
  <p:tag name="ROW" val="2"/>
</p:tagLst>
</file>

<file path=ppt/tags/tag66.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1"/>
</p:tagLst>
</file>

<file path=ppt/tags/tag67.xml><?xml version="1.0" encoding="utf-8"?>
<p:tagLst xmlns:a="http://schemas.openxmlformats.org/drawingml/2006/main" xmlns:r="http://schemas.openxmlformats.org/officeDocument/2006/relationships" xmlns:p="http://schemas.openxmlformats.org/presentationml/2006/main">
  <p:tag name="TEXT_TYPE" val="BODY TEXT"/>
  <p:tag name="FONT STYLE" val="SANS SERIF"/>
  <p:tag name="ROW" val="1"/>
  <p:tag name="COL" val="1"/>
</p:tagLst>
</file>

<file path=ppt/tags/tag68.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1"/>
</p:tagLst>
</file>

<file path=ppt/tags/tag69.xml><?xml version="1.0" encoding="utf-8"?>
<p:tagLst xmlns:a="http://schemas.openxmlformats.org/drawingml/2006/main" xmlns:r="http://schemas.openxmlformats.org/officeDocument/2006/relationships" xmlns:p="http://schemas.openxmlformats.org/presentationml/2006/main">
  <p:tag name="TEXT_TYPE" val="PAGE HEADING"/>
  <p:tag name="FONT STYLE" val="SANS SERIF"/>
</p:tagLst>
</file>

<file path=ppt/tags/tag70.xml><?xml version="1.0" encoding="utf-8"?>
<p:tagLst xmlns:a="http://schemas.openxmlformats.org/drawingml/2006/main" xmlns:r="http://schemas.openxmlformats.org/officeDocument/2006/relationships" xmlns:p="http://schemas.openxmlformats.org/presentationml/2006/main">
  <p:tag name="TEXT_TYPE" val="DOCUMENT ID"/>
</p:tagLst>
</file>

<file path=ppt/tags/tag71.xml><?xml version="1.0" encoding="utf-8"?>
<p:tagLst xmlns:a="http://schemas.openxmlformats.org/drawingml/2006/main" xmlns:r="http://schemas.openxmlformats.org/officeDocument/2006/relationships" xmlns:p="http://schemas.openxmlformats.org/presentationml/2006/main">
  <p:tag name="FONT STYLE" val="SANS SERIF"/>
  <p:tag name="ISLOCKED" val="TRUE"/>
  <p:tag name="TOP" val="200000000000000E-13"/>
  <p:tag name="LEFT" val="331199989318848E-13"/>
  <p:tag name="HEIGHT" val="260000000000000E-13"/>
  <p:tag name="WIDTH" val="850000000000000E-13"/>
  <p:tag name="TEXT_TYPE" val="DRAFT STAMP"/>
</p:tagLst>
</file>

<file path=ppt/tags/tag72.xml><?xml version="1.0" encoding="utf-8"?>
<p:tagLst xmlns:a="http://schemas.openxmlformats.org/drawingml/2006/main" xmlns:r="http://schemas.openxmlformats.org/officeDocument/2006/relationships" xmlns:p="http://schemas.openxmlformats.org/presentationml/2006/main">
  <p:tag name="FONT STYLE" val="SANS SERIF"/>
  <p:tag name="ROW" val="2"/>
  <p:tag name="COL" val="2"/>
</p:tagLst>
</file>

<file path=ppt/tags/tag73.xml><?xml version="1.0" encoding="utf-8"?>
<p:tagLst xmlns:a="http://schemas.openxmlformats.org/drawingml/2006/main" xmlns:r="http://schemas.openxmlformats.org/officeDocument/2006/relationships" xmlns:p="http://schemas.openxmlformats.org/presentationml/2006/main">
  <p:tag name="TEXT_TYPE" val="BODY TEXT"/>
  <p:tag name="FONT STYLE" val="SANS SERIF"/>
  <p:tag name="ROW" val="2"/>
  <p:tag name="COL" val="2"/>
</p:tagLst>
</file>

<file path=ppt/tags/tag74.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2"/>
</p:tagLst>
</file>

<file path=ppt/tags/tag75.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2"/>
</p:tagLst>
</file>

<file path=ppt/tags/tag76.xml><?xml version="1.0" encoding="utf-8"?>
<p:tagLst xmlns:a="http://schemas.openxmlformats.org/drawingml/2006/main" xmlns:r="http://schemas.openxmlformats.org/officeDocument/2006/relationships" xmlns:p="http://schemas.openxmlformats.org/presentationml/2006/main">
  <p:tag name="TEXT_TYPE" val="BODY TEXT"/>
  <p:tag name="FONT STYLE" val="SANS SERIF"/>
  <p:tag name="ROW" val="1"/>
  <p:tag name="COL" val="2"/>
</p:tagLst>
</file>

<file path=ppt/tags/tag77.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2"/>
</p:tagLst>
</file>

<file path=ppt/tags/tag78.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1"/>
</p:tagLst>
</file>

<file path=ppt/tags/tag79.xml><?xml version="1.0" encoding="utf-8"?>
<p:tagLst xmlns:a="http://schemas.openxmlformats.org/drawingml/2006/main" xmlns:r="http://schemas.openxmlformats.org/officeDocument/2006/relationships" xmlns:p="http://schemas.openxmlformats.org/presentationml/2006/main">
  <p:tag name="TEXT_TYPE" val="BODY TEXT"/>
  <p:tag name="FONT STYLE" val="SANS SERIF"/>
  <p:tag name="ROW" val="1"/>
  <p:tag name="COL" val="1"/>
</p:tagLst>
</file>

<file path=ppt/tags/tag80.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1"/>
</p:tagLst>
</file>

<file path=ppt/tags/tag81.xml><?xml version="1.0" encoding="utf-8"?>
<p:tagLst xmlns:a="http://schemas.openxmlformats.org/drawingml/2006/main" xmlns:r="http://schemas.openxmlformats.org/officeDocument/2006/relationships" xmlns:p="http://schemas.openxmlformats.org/presentationml/2006/main">
  <p:tag name="TEXT_TYPE" val="PAGE HEADING"/>
  <p:tag name="FONT STYLE" val="SANS SERIF"/>
</p:tagLst>
</file>

<file path=ppt/tags/tag82.xml><?xml version="1.0" encoding="utf-8"?>
<p:tagLst xmlns:a="http://schemas.openxmlformats.org/drawingml/2006/main" xmlns:r="http://schemas.openxmlformats.org/officeDocument/2006/relationships" xmlns:p="http://schemas.openxmlformats.org/presentationml/2006/main">
  <p:tag name="TEXT_TYPE" val="DOCUMENT ID"/>
</p:tagLst>
</file>

<file path=ppt/tags/tag83.xml><?xml version="1.0" encoding="utf-8"?>
<p:tagLst xmlns:a="http://schemas.openxmlformats.org/drawingml/2006/main" xmlns:r="http://schemas.openxmlformats.org/officeDocument/2006/relationships" xmlns:p="http://schemas.openxmlformats.org/presentationml/2006/main">
  <p:tag name="FONT STYLE" val="SANS SERIF"/>
  <p:tag name="ISLOCKED" val="TRUE"/>
  <p:tag name="TOP" val="200000000000000E-13"/>
  <p:tag name="LEFT" val="331199989318848E-13"/>
  <p:tag name="HEIGHT" val="260000000000000E-13"/>
  <p:tag name="WIDTH" val="850000000000000E-13"/>
  <p:tag name="TEXT_TYPE" val="DRAFT STAMP"/>
</p:tagLst>
</file>

<file path=ppt/tags/tag84.xml><?xml version="1.0" encoding="utf-8"?>
<p:tagLst xmlns:a="http://schemas.openxmlformats.org/drawingml/2006/main" xmlns:r="http://schemas.openxmlformats.org/officeDocument/2006/relationships" xmlns:p="http://schemas.openxmlformats.org/presentationml/2006/main">
  <p:tag name="FONT STYLE" val="SANS SERIF"/>
  <p:tag name="ROW" val="2"/>
  <p:tag name="COL" val="1"/>
</p:tagLst>
</file>

<file path=ppt/tags/tag85.xml><?xml version="1.0" encoding="utf-8"?>
<p:tagLst xmlns:a="http://schemas.openxmlformats.org/drawingml/2006/main" xmlns:r="http://schemas.openxmlformats.org/officeDocument/2006/relationships" xmlns:p="http://schemas.openxmlformats.org/presentationml/2006/main">
  <p:tag name="TEXT_TYPE" val="BODY TEXT"/>
  <p:tag name="FONT STYLE" val="SANS SERIF"/>
  <p:tag name="ROW" val="2"/>
  <p:tag name="COL" val="1"/>
</p:tagLst>
</file>

<file path=ppt/tags/tag86.xml><?xml version="1.0" encoding="utf-8"?>
<p:tagLst xmlns:a="http://schemas.openxmlformats.org/drawingml/2006/main" xmlns:r="http://schemas.openxmlformats.org/officeDocument/2006/relationships" xmlns:p="http://schemas.openxmlformats.org/presentationml/2006/main">
  <p:tag name="FONT STYLE" val="SANS SERIF"/>
  <p:tag name="COL" val="1"/>
  <p:tag name="ROW" val="2"/>
</p:tagLst>
</file>

<file path=ppt/tags/tag87.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2"/>
</p:tagLst>
</file>

<file path=ppt/tags/tag88.xml><?xml version="1.0" encoding="utf-8"?>
<p:tagLst xmlns:a="http://schemas.openxmlformats.org/drawingml/2006/main" xmlns:r="http://schemas.openxmlformats.org/officeDocument/2006/relationships" xmlns:p="http://schemas.openxmlformats.org/presentationml/2006/main">
  <p:tag name="TEXT_TYPE" val="BODY TEXT"/>
  <p:tag name="FONT STYLE" val="SANS SERIF"/>
  <p:tag name="ROW" val="1"/>
  <p:tag name="COL" val="2"/>
</p:tagLst>
</file>

<file path=ppt/tags/tag89.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2"/>
</p:tagLst>
</file>

<file path=ppt/tags/tag90.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1"/>
</p:tagLst>
</file>

<file path=ppt/tags/tag91.xml><?xml version="1.0" encoding="utf-8"?>
<p:tagLst xmlns:a="http://schemas.openxmlformats.org/drawingml/2006/main" xmlns:r="http://schemas.openxmlformats.org/officeDocument/2006/relationships" xmlns:p="http://schemas.openxmlformats.org/presentationml/2006/main">
  <p:tag name="TEXT_TYPE" val="BODY TEXT"/>
  <p:tag name="FONT STYLE" val="SANS SERIF"/>
  <p:tag name="ROW" val="1"/>
  <p:tag name="COL" val="1"/>
</p:tagLst>
</file>

<file path=ppt/tags/tag92.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1"/>
</p:tagLst>
</file>

<file path=ppt/tags/tag93.xml><?xml version="1.0" encoding="utf-8"?>
<p:tagLst xmlns:a="http://schemas.openxmlformats.org/drawingml/2006/main" xmlns:r="http://schemas.openxmlformats.org/officeDocument/2006/relationships" xmlns:p="http://schemas.openxmlformats.org/presentationml/2006/main">
  <p:tag name="TEXT_TYPE" val="PAGE HEADING"/>
  <p:tag name="FONT STYLE" val="SANS SERIF"/>
</p:tagLst>
</file>

<file path=ppt/tags/tag94.xml><?xml version="1.0" encoding="utf-8"?>
<p:tagLst xmlns:a="http://schemas.openxmlformats.org/drawingml/2006/main" xmlns:r="http://schemas.openxmlformats.org/officeDocument/2006/relationships" xmlns:p="http://schemas.openxmlformats.org/presentationml/2006/main">
  <p:tag name="TEXT_TYPE" val="DOCUMENT ID"/>
</p:tagLst>
</file>

<file path=ppt/tags/tag95.xml><?xml version="1.0" encoding="utf-8"?>
<p:tagLst xmlns:a="http://schemas.openxmlformats.org/drawingml/2006/main" xmlns:r="http://schemas.openxmlformats.org/officeDocument/2006/relationships" xmlns:p="http://schemas.openxmlformats.org/presentationml/2006/main">
  <p:tag name="FONT STYLE" val="SANS SERIF"/>
  <p:tag name="ISLOCKED" val="TRUE"/>
  <p:tag name="TOP" val="200000000000000E-13"/>
  <p:tag name="LEFT" val="331199989318848E-13"/>
  <p:tag name="HEIGHT" val="260000000000000E-13"/>
  <p:tag name="WIDTH" val="850000000000000E-13"/>
  <p:tag name="TEXT_TYPE" val="DRAFT STAMP"/>
</p:tagLst>
</file>

<file path=ppt/tags/tag96.xml><?xml version="1.0" encoding="utf-8"?>
<p:tagLst xmlns:a="http://schemas.openxmlformats.org/drawingml/2006/main" xmlns:r="http://schemas.openxmlformats.org/officeDocument/2006/relationships" xmlns:p="http://schemas.openxmlformats.org/presentationml/2006/main">
  <p:tag name="FONT STYLE" val="SANS SERIF"/>
  <p:tag name="ROW" val="2"/>
  <p:tag name="COL" val="3"/>
</p:tagLst>
</file>

<file path=ppt/tags/tag97.xml><?xml version="1.0" encoding="utf-8"?>
<p:tagLst xmlns:a="http://schemas.openxmlformats.org/drawingml/2006/main" xmlns:r="http://schemas.openxmlformats.org/officeDocument/2006/relationships" xmlns:p="http://schemas.openxmlformats.org/presentationml/2006/main">
  <p:tag name="TEXT_TYPE" val="BODY TEXT"/>
  <p:tag name="FONT STYLE" val="SANS SERIF"/>
  <p:tag name="ROW" val="2"/>
  <p:tag name="COL" val="3"/>
</p:tagLst>
</file>

<file path=ppt/tags/tag98.xml><?xml version="1.0" encoding="utf-8"?>
<p:tagLst xmlns:a="http://schemas.openxmlformats.org/drawingml/2006/main" xmlns:r="http://schemas.openxmlformats.org/officeDocument/2006/relationships" xmlns:p="http://schemas.openxmlformats.org/presentationml/2006/main">
  <p:tag name="FONT STYLE" val="SANS SERIF"/>
  <p:tag name="ROW" val="2"/>
  <p:tag name="COL" val="3"/>
</p:tagLst>
</file>

<file path=ppt/tags/tag99.xml><?xml version="1.0" encoding="utf-8"?>
<p:tagLst xmlns:a="http://schemas.openxmlformats.org/drawingml/2006/main" xmlns:r="http://schemas.openxmlformats.org/officeDocument/2006/relationships" xmlns:p="http://schemas.openxmlformats.org/presentationml/2006/main">
  <p:tag name="FONT STYLE" val="SANS SERIF"/>
  <p:tag name="ROW" val="2"/>
  <p:tag name="COL" val="2"/>
</p:tagLst>
</file>

<file path=ppt/tags/tag100.xml><?xml version="1.0" encoding="utf-8"?>
<p:tagLst xmlns:a="http://schemas.openxmlformats.org/drawingml/2006/main" xmlns:r="http://schemas.openxmlformats.org/officeDocument/2006/relationships" xmlns:p="http://schemas.openxmlformats.org/presentationml/2006/main">
  <p:tag name="TEXT_TYPE" val="BODY TEXT"/>
  <p:tag name="FONT STYLE" val="SANS SERIF"/>
  <p:tag name="ROW" val="2"/>
  <p:tag name="COL" val="2"/>
</p:tagLst>
</file>

<file path=ppt/tags/tag101.xml><?xml version="1.0" encoding="utf-8"?>
<p:tagLst xmlns:a="http://schemas.openxmlformats.org/drawingml/2006/main" xmlns:r="http://schemas.openxmlformats.org/officeDocument/2006/relationships" xmlns:p="http://schemas.openxmlformats.org/presentationml/2006/main">
  <p:tag name="FONT STYLE" val="SANS SERIF"/>
  <p:tag name="ROW" val="2"/>
  <p:tag name="COL" val="2"/>
</p:tagLst>
</file>

<file path=ppt/tags/tag102.xml><?xml version="1.0" encoding="utf-8"?>
<p:tagLst xmlns:a="http://schemas.openxmlformats.org/drawingml/2006/main" xmlns:r="http://schemas.openxmlformats.org/officeDocument/2006/relationships" xmlns:p="http://schemas.openxmlformats.org/presentationml/2006/main">
  <p:tag name="FONT STYLE" val="SANS SERIF"/>
  <p:tag name="ROW" val="2"/>
  <p:tag name="COL" val="1"/>
</p:tagLst>
</file>

<file path=ppt/tags/tag103.xml><?xml version="1.0" encoding="utf-8"?>
<p:tagLst xmlns:a="http://schemas.openxmlformats.org/drawingml/2006/main" xmlns:r="http://schemas.openxmlformats.org/officeDocument/2006/relationships" xmlns:p="http://schemas.openxmlformats.org/presentationml/2006/main">
  <p:tag name="TEXT_TYPE" val="BODY TEXT"/>
  <p:tag name="FONT STYLE" val="SANS SERIF"/>
  <p:tag name="ROW" val="2"/>
  <p:tag name="COL" val="1"/>
</p:tagLst>
</file>

<file path=ppt/tags/tag104.xml><?xml version="1.0" encoding="utf-8"?>
<p:tagLst xmlns:a="http://schemas.openxmlformats.org/drawingml/2006/main" xmlns:r="http://schemas.openxmlformats.org/officeDocument/2006/relationships" xmlns:p="http://schemas.openxmlformats.org/presentationml/2006/main">
  <p:tag name="FONT STYLE" val="SANS SERIF"/>
  <p:tag name="COL" val="1"/>
  <p:tag name="ROW" val="2"/>
</p:tagLst>
</file>

<file path=ppt/tags/tag105.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3"/>
</p:tagLst>
</file>

<file path=ppt/tags/tag106.xml><?xml version="1.0" encoding="utf-8"?>
<p:tagLst xmlns:a="http://schemas.openxmlformats.org/drawingml/2006/main" xmlns:r="http://schemas.openxmlformats.org/officeDocument/2006/relationships" xmlns:p="http://schemas.openxmlformats.org/presentationml/2006/main">
  <p:tag name="TEXT_TYPE" val="BODY TEXT"/>
  <p:tag name="FONT STYLE" val="SANS SERIF"/>
  <p:tag name="ROW" val="1"/>
  <p:tag name="COL" val="3"/>
</p:tagLst>
</file>

<file path=ppt/tags/tag107.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3"/>
</p:tagLst>
</file>

<file path=ppt/tags/tag108.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2"/>
</p:tagLst>
</file>

<file path=ppt/tags/tag109.xml><?xml version="1.0" encoding="utf-8"?>
<p:tagLst xmlns:a="http://schemas.openxmlformats.org/drawingml/2006/main" xmlns:r="http://schemas.openxmlformats.org/officeDocument/2006/relationships" xmlns:p="http://schemas.openxmlformats.org/presentationml/2006/main">
  <p:tag name="TEXT_TYPE" val="BODY TEXT"/>
  <p:tag name="FONT STYLE" val="SANS SERIF"/>
  <p:tag name="ROW" val="1"/>
  <p:tag name="COL" val="2"/>
</p:tagLst>
</file>

<file path=ppt/tags/tag110.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2"/>
</p:tagLst>
</file>

<file path=ppt/tags/tag111.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1"/>
</p:tagLst>
</file>

<file path=ppt/tags/tag112.xml><?xml version="1.0" encoding="utf-8"?>
<p:tagLst xmlns:a="http://schemas.openxmlformats.org/drawingml/2006/main" xmlns:r="http://schemas.openxmlformats.org/officeDocument/2006/relationships" xmlns:p="http://schemas.openxmlformats.org/presentationml/2006/main">
  <p:tag name="TEXT_TYPE" val="BODY TEXT"/>
  <p:tag name="FONT STYLE" val="SANS SERIF"/>
  <p:tag name="ROW" val="1"/>
  <p:tag name="COL" val="1"/>
</p:tagLst>
</file>

<file path=ppt/tags/tag113.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1"/>
</p:tagLst>
</file>

<file path=ppt/tags/tag114.xml><?xml version="1.0" encoding="utf-8"?>
<p:tagLst xmlns:a="http://schemas.openxmlformats.org/drawingml/2006/main" xmlns:r="http://schemas.openxmlformats.org/officeDocument/2006/relationships" xmlns:p="http://schemas.openxmlformats.org/presentationml/2006/main">
  <p:tag name="TEXT_TYPE" val="PAGE HEADING"/>
  <p:tag name="FONT STYLE" val="SANS SERIF"/>
</p:tagLst>
</file>

<file path=ppt/tags/tag115.xml><?xml version="1.0" encoding="utf-8"?>
<p:tagLst xmlns:a="http://schemas.openxmlformats.org/drawingml/2006/main" xmlns:r="http://schemas.openxmlformats.org/officeDocument/2006/relationships" xmlns:p="http://schemas.openxmlformats.org/presentationml/2006/main">
  <p:tag name="TEXT_TYPE" val="DOCUMENT ID"/>
</p:tagLst>
</file>

<file path=ppt/tags/tag116.xml><?xml version="1.0" encoding="utf-8"?>
<p:tagLst xmlns:a="http://schemas.openxmlformats.org/drawingml/2006/main" xmlns:r="http://schemas.openxmlformats.org/officeDocument/2006/relationships" xmlns:p="http://schemas.openxmlformats.org/presentationml/2006/main">
  <p:tag name="FONT STYLE" val="SANS SERIF"/>
  <p:tag name="ISLOCKED" val="TRUE"/>
  <p:tag name="TOP" val="200000000000000E-13"/>
  <p:tag name="LEFT" val="331199989318848E-13"/>
  <p:tag name="HEIGHT" val="260000000000000E-13"/>
  <p:tag name="WIDTH" val="850000000000000E-13"/>
  <p:tag name="TEXT_TYPE" val="DRAFT STAMP"/>
</p:tagLst>
</file>

<file path=ppt/tags/tag117.xml><?xml version="1.0" encoding="utf-8"?>
<p:tagLst xmlns:a="http://schemas.openxmlformats.org/drawingml/2006/main" xmlns:r="http://schemas.openxmlformats.org/officeDocument/2006/relationships" xmlns:p="http://schemas.openxmlformats.org/presentationml/2006/main">
  <p:tag name="TEXT_TYPE" val="DOCUMENT ID"/>
</p:tagLst>
</file>

<file path=ppt/tags/tag118.xml><?xml version="1.0" encoding="utf-8"?>
<p:tagLst xmlns:a="http://schemas.openxmlformats.org/drawingml/2006/main" xmlns:r="http://schemas.openxmlformats.org/officeDocument/2006/relationships" xmlns:p="http://schemas.openxmlformats.org/presentationml/2006/main">
  <p:tag name="FONT STYLE" val="SANS SERIF"/>
  <p:tag name="ISLOCKED" val="TRUE"/>
  <p:tag name="TOP" val="200000000000000E-13"/>
  <p:tag name="LEFT" val="331199989318848E-13"/>
  <p:tag name="HEIGHT" val="260000000000000E-13"/>
  <p:tag name="WIDTH" val="850000000000000E-13"/>
  <p:tag name="TEXT_TYPE" val="DRAFT STAMP"/>
</p:tagLst>
</file>

<file path=ppt/tags/tag119.xml><?xml version="1.0" encoding="utf-8"?>
<p:tagLst xmlns:a="http://schemas.openxmlformats.org/drawingml/2006/main" xmlns:r="http://schemas.openxmlformats.org/officeDocument/2006/relationships" xmlns:p="http://schemas.openxmlformats.org/presentationml/2006/main">
  <p:tag name="TEXT_TYPE" val="PAGE HEADING"/>
  <p:tag name="FONT STYLE" val="SANS SERIF"/>
</p:tagLst>
</file>

<file path=ppt/tags/tag120.xml><?xml version="1.0" encoding="utf-8"?>
<p:tagLst xmlns:a="http://schemas.openxmlformats.org/drawingml/2006/main" xmlns:r="http://schemas.openxmlformats.org/officeDocument/2006/relationships" xmlns:p="http://schemas.openxmlformats.org/presentationml/2006/main">
  <p:tag name="TEXT_TYPE" val="DOCUMENT ID"/>
</p:tagLst>
</file>

<file path=ppt/tags/tag121.xml><?xml version="1.0" encoding="utf-8"?>
<p:tagLst xmlns:a="http://schemas.openxmlformats.org/drawingml/2006/main" xmlns:r="http://schemas.openxmlformats.org/officeDocument/2006/relationships" xmlns:p="http://schemas.openxmlformats.org/presentationml/2006/main">
  <p:tag name="FONT STYLE" val="SANS SERIF"/>
  <p:tag name="ISLOCKED" val="TRUE"/>
  <p:tag name="TOP" val="200000000000000E-13"/>
  <p:tag name="LEFT" val="331199989318848E-13"/>
  <p:tag name="HEIGHT" val="260000000000000E-13"/>
  <p:tag name="WIDTH" val="850000000000000E-13"/>
  <p:tag name="TEXT_TYPE" val="DRAFT STAMP"/>
</p:tagLst>
</file>

<file path=ppt/tags/tag122.xml><?xml version="1.0" encoding="utf-8"?>
<p:tagLst xmlns:a="http://schemas.openxmlformats.org/drawingml/2006/main" xmlns:r="http://schemas.openxmlformats.org/officeDocument/2006/relationships" xmlns:p="http://schemas.openxmlformats.org/presentationml/2006/main">
  <p:tag name="TEXT_TYPE" val="BODY TEXT"/>
  <p:tag name="COL" val="1"/>
  <p:tag name="ROW" val="1"/>
</p:tagLst>
</file>

<file path=ppt/tags/tag123.xml><?xml version="1.0" encoding="utf-8"?>
<p:tagLst xmlns:a="http://schemas.openxmlformats.org/drawingml/2006/main" xmlns:r="http://schemas.openxmlformats.org/officeDocument/2006/relationships" xmlns:p="http://schemas.openxmlformats.org/presentationml/2006/main">
  <p:tag name="TEXT_TYPE" val="THIN BLUE LINE"/>
</p:tagLst>
</file>

<file path=ppt/tags/tag124.xml><?xml version="1.0" encoding="utf-8"?>
<p:tagLst xmlns:a="http://schemas.openxmlformats.org/drawingml/2006/main" xmlns:r="http://schemas.openxmlformats.org/officeDocument/2006/relationships" xmlns:p="http://schemas.openxmlformats.org/presentationml/2006/main">
  <p:tag name="TEXT_TYPE" val="PAGE HEADING"/>
  <p:tag name="FONT STYLE" val="SANS SERIF"/>
</p:tagLst>
</file>

<file path=ppt/tags/tag125.xml><?xml version="1.0" encoding="utf-8"?>
<p:tagLst xmlns:a="http://schemas.openxmlformats.org/drawingml/2006/main" xmlns:r="http://schemas.openxmlformats.org/officeDocument/2006/relationships" xmlns:p="http://schemas.openxmlformats.org/presentationml/2006/main">
  <p:tag name="FONT STYLE" val="SANS SERIF"/>
  <p:tag name="ISLOCKED" val="TRUE"/>
  <p:tag name="TOP" val="200000000000000E-13"/>
  <p:tag name="LEFT" val="331199989318848E-13"/>
  <p:tag name="HEIGHT" val="260000000000000E-13"/>
  <p:tag name="WIDTH" val="850000000000000E-13"/>
  <p:tag name="TEXT_TYPE" val="DRAFT STAMP"/>
</p:tagLst>
</file>

<file path=ppt/tags/tag126.xml><?xml version="1.0" encoding="utf-8"?>
<p:tagLst xmlns:a="http://schemas.openxmlformats.org/drawingml/2006/main" xmlns:r="http://schemas.openxmlformats.org/officeDocument/2006/relationships" xmlns:p="http://schemas.openxmlformats.org/presentationml/2006/main">
  <p:tag name="SLIDE_TYPE" val="COVER"/>
</p:tagLst>
</file>

<file path=ppt/tags/tag127.xml><?xml version="1.0" encoding="utf-8"?>
<p:tagLst xmlns:a="http://schemas.openxmlformats.org/drawingml/2006/main" xmlns:r="http://schemas.openxmlformats.org/officeDocument/2006/relationships" xmlns:p="http://schemas.openxmlformats.org/presentationml/2006/main">
  <p:tag name="TEXT_TYPE" val="CREATE DATE"/>
</p:tagLst>
</file>

<file path=ppt/tags/tag128.xml><?xml version="1.0" encoding="utf-8"?>
<p:tagLst xmlns:a="http://schemas.openxmlformats.org/drawingml/2006/main" xmlns:r="http://schemas.openxmlformats.org/officeDocument/2006/relationships" xmlns:p="http://schemas.openxmlformats.org/presentationml/2006/main">
  <p:tag name="TEXT_TYPE" val="PRESENTATION PRESENTER FUNCTION"/>
  <p:tag name="FONT STYLE" val="SANS SERIF"/>
</p:tagLst>
</file>

<file path=ppt/tags/tag129.xml><?xml version="1.0" encoding="utf-8"?>
<p:tagLst xmlns:a="http://schemas.openxmlformats.org/drawingml/2006/main" xmlns:r="http://schemas.openxmlformats.org/officeDocument/2006/relationships" xmlns:p="http://schemas.openxmlformats.org/presentationml/2006/main">
  <p:tag name="TEXT_TYPE" val="PRESENTATION PRESENTER"/>
  <p:tag name="FONT STYLE" val="SANS SERIF"/>
</p:tagLst>
</file>

<file path=ppt/tags/tag130.xml><?xml version="1.0" encoding="utf-8"?>
<p:tagLst xmlns:a="http://schemas.openxmlformats.org/drawingml/2006/main" xmlns:r="http://schemas.openxmlformats.org/officeDocument/2006/relationships" xmlns:p="http://schemas.openxmlformats.org/presentationml/2006/main">
  <p:tag name="TEXT_TYPE" val="PRESENTATION TITLE"/>
  <p:tag name="FONT STYLE" val="SANS SERIF"/>
</p:tagLst>
</file>

<file path=ppt/tags/tag131.xml><?xml version="1.0" encoding="utf-8"?>
<p:tagLst xmlns:a="http://schemas.openxmlformats.org/drawingml/2006/main" xmlns:r="http://schemas.openxmlformats.org/officeDocument/2006/relationships" xmlns:p="http://schemas.openxmlformats.org/presentationml/2006/main">
  <p:tag name="FONT STYLE" val="SERIF"/>
  <p:tag name="TEXT_TYPE" val="PRESENTATION INFOLINE"/>
</p:tagLst>
</file>

<file path=ppt/tags/tag132.xml><?xml version="1.0" encoding="utf-8"?>
<p:tagLst xmlns:a="http://schemas.openxmlformats.org/drawingml/2006/main" xmlns:r="http://schemas.openxmlformats.org/officeDocument/2006/relationships" xmlns:p="http://schemas.openxmlformats.org/presentationml/2006/main">
  <p:tag name="SLIDE_TYPE" val="TOC"/>
</p:tagLst>
</file>

<file path=ppt/tags/tag133.xml><?xml version="1.0" encoding="utf-8"?>
<p:tagLst xmlns:a="http://schemas.openxmlformats.org/drawingml/2006/main" xmlns:r="http://schemas.openxmlformats.org/officeDocument/2006/relationships" xmlns:p="http://schemas.openxmlformats.org/presentationml/2006/main">
  <p:tag name="TEXT_TYPE" val="TOC TITLE"/>
  <p:tag name="FONT STYLE" val="SANS SERIF"/>
</p:tagLst>
</file>

<file path=ppt/tags/tag134.xml><?xml version="1.0" encoding="utf-8"?>
<p:tagLst xmlns:a="http://schemas.openxmlformats.org/drawingml/2006/main" xmlns:r="http://schemas.openxmlformats.org/officeDocument/2006/relationships" xmlns:p="http://schemas.openxmlformats.org/presentationml/2006/main">
  <p:tag name="TEXT_TYPE" val="TOC BODY"/>
  <p:tag name="FONT STYLE" val="SANS SERIF"/>
</p:tagLst>
</file>

<file path=ppt/tags/tag135.xml><?xml version="1.0" encoding="utf-8"?>
<p:tagLst xmlns:a="http://schemas.openxmlformats.org/drawingml/2006/main" xmlns:r="http://schemas.openxmlformats.org/officeDocument/2006/relationships" xmlns:p="http://schemas.openxmlformats.org/presentationml/2006/main">
  <p:tag name="SLIDE_SUB_TYPE" val="SECTION"/>
  <p:tag name="SLIDE_TYPE" val="DIVIDER"/>
</p:tagLst>
</file>

<file path=ppt/tags/tag136.xml><?xml version="1.0" encoding="utf-8"?>
<p:tagLst xmlns:a="http://schemas.openxmlformats.org/drawingml/2006/main" xmlns:r="http://schemas.openxmlformats.org/officeDocument/2006/relationships" xmlns:p="http://schemas.openxmlformats.org/presentationml/2006/main">
  <p:tag name="FONT STYLE" val="SANS SERIF"/>
  <p:tag name="TEXT_TYPE" val="DIVIDER TITLE"/>
</p:tagLst>
</file>

<file path=ppt/tags/tag137.xml><?xml version="1.0" encoding="utf-8"?>
<p:tagLst xmlns:a="http://schemas.openxmlformats.org/drawingml/2006/main" xmlns:r="http://schemas.openxmlformats.org/officeDocument/2006/relationships" xmlns:p="http://schemas.openxmlformats.org/presentationml/2006/main">
  <p:tag name="TEXT_TYPE" val="DIVIDER NUMBER"/>
</p:tagLst>
</file>

<file path=ppt/tags/tag138.xml><?xml version="1.0" encoding="utf-8"?>
<p:tagLst xmlns:a="http://schemas.openxmlformats.org/drawingml/2006/main" xmlns:r="http://schemas.openxmlformats.org/officeDocument/2006/relationships" xmlns:p="http://schemas.openxmlformats.org/presentationml/2006/main">
  <p:tag name="SLIDE_TYPE" val="BODY"/>
</p:tagLst>
</file>

<file path=ppt/tags/tag139.xml><?xml version="1.0" encoding="utf-8"?>
<p:tagLst xmlns:a="http://schemas.openxmlformats.org/drawingml/2006/main" xmlns:r="http://schemas.openxmlformats.org/officeDocument/2006/relationships" xmlns:p="http://schemas.openxmlformats.org/presentationml/2006/main">
  <p:tag name="ROW" val="1"/>
  <p:tag name="COL" val="1"/>
  <p:tag name="TEXT_TYPE" val="BODY TEXT"/>
  <p:tag name="FONT STYLE" val="SANS SERIF"/>
</p:tagLst>
</file>

<file path=ppt/tags/tag140.xml><?xml version="1.0" encoding="utf-8"?>
<p:tagLst xmlns:a="http://schemas.openxmlformats.org/drawingml/2006/main" xmlns:r="http://schemas.openxmlformats.org/officeDocument/2006/relationships" xmlns:p="http://schemas.openxmlformats.org/presentationml/2006/main">
  <p:tag name="FONT STYLE" val="SANS SERIF"/>
  <p:tag name="TEXT_TYPE" val="PAGE HEADING"/>
</p:tagLst>
</file>

<file path=ppt/tags/tag141.xml><?xml version="1.0" encoding="utf-8"?>
<p:tagLst xmlns:a="http://schemas.openxmlformats.org/drawingml/2006/main" xmlns:r="http://schemas.openxmlformats.org/officeDocument/2006/relationships" xmlns:p="http://schemas.openxmlformats.org/presentationml/2006/main">
  <p:tag name="SLIDE_TYPE" val="BODY"/>
</p:tagLst>
</file>

<file path=ppt/tags/tag142.xml><?xml version="1.0" encoding="utf-8"?>
<p:tagLst xmlns:a="http://schemas.openxmlformats.org/drawingml/2006/main" xmlns:r="http://schemas.openxmlformats.org/officeDocument/2006/relationships" xmlns:p="http://schemas.openxmlformats.org/presentationml/2006/main">
  <p:tag name="FONT STYLE" val="SANS SERIF"/>
  <p:tag name="TEXT_TYPE" val="PAGE HEADING"/>
</p:tagLst>
</file>

<file path=ppt/tags/tag143.xml><?xml version="1.0" encoding="utf-8"?>
<p:tagLst xmlns:a="http://schemas.openxmlformats.org/drawingml/2006/main" xmlns:r="http://schemas.openxmlformats.org/officeDocument/2006/relationships" xmlns:p="http://schemas.openxmlformats.org/presentationml/2006/main">
  <p:tag name="FONT STYLE" val="SERIF FONT"/>
  <p:tag name="TEXT_TYPE" val="MESSAGE TEXT"/>
  <p:tag name="ISLOCKED" val="TRUE"/>
  <p:tag name="TOP" val="882500000000000E-13"/>
  <p:tag name="LEFT" val="331199989318848E-13"/>
  <p:tag name="HEIGHT" val="216000003814697E-13"/>
  <p:tag name="WIDTH" val="723599975585938E-12"/>
</p:tagLst>
</file>

<file path=ppt/tags/tag144.xml><?xml version="1.0" encoding="utf-8"?>
<p:tagLst xmlns:a="http://schemas.openxmlformats.org/drawingml/2006/main" xmlns:r="http://schemas.openxmlformats.org/officeDocument/2006/relationships" xmlns:p="http://schemas.openxmlformats.org/presentationml/2006/main">
  <p:tag name="SLIDE_TYPE" val="BODY"/>
</p:tagLst>
</file>

<file path=ppt/tags/tag145.xml><?xml version="1.0" encoding="utf-8"?>
<p:tagLst xmlns:a="http://schemas.openxmlformats.org/drawingml/2006/main" xmlns:r="http://schemas.openxmlformats.org/officeDocument/2006/relationships" xmlns:p="http://schemas.openxmlformats.org/presentationml/2006/main">
  <p:tag name="FONT STYLE" val="SANS SERIF"/>
  <p:tag name="TEXT_TYPE" val="PAGE HEADING"/>
</p:tagLst>
</file>

<file path=ppt/tags/tag146.xml><?xml version="1.0" encoding="utf-8"?>
<p:tagLst xmlns:a="http://schemas.openxmlformats.org/drawingml/2006/main" xmlns:r="http://schemas.openxmlformats.org/officeDocument/2006/relationships" xmlns:p="http://schemas.openxmlformats.org/presentationml/2006/main">
  <p:tag name="ROW" val="1"/>
  <p:tag name="COL" val="1"/>
  <p:tag name="TEXT_TYPE" val="BODY TEXT"/>
  <p:tag name="FONT STYLE" val="SANS SERIF"/>
</p:tagLst>
</file>

<file path=ppt/tags/tag147.xml><?xml version="1.0" encoding="utf-8"?>
<p:tagLst xmlns:a="http://schemas.openxmlformats.org/drawingml/2006/main" xmlns:r="http://schemas.openxmlformats.org/officeDocument/2006/relationships" xmlns:p="http://schemas.openxmlformats.org/presentationml/2006/main">
  <p:tag name="FONT STYLE" val="SERIF FONT"/>
  <p:tag name="TEXT_TYPE" val="MESSAGE TEXT"/>
  <p:tag name="ISLOCKED" val="TRUE"/>
  <p:tag name="TOP" val="882500000000000E-13"/>
  <p:tag name="LEFT" val="331199989318848E-13"/>
  <p:tag name="HEIGHT" val="216000003814697E-13"/>
  <p:tag name="WIDTH" val="723599975585938E-12"/>
</p:tagLst>
</file>

<file path=ppt/tags/tag148.xml><?xml version="1.0" encoding="utf-8"?>
<p:tagLst xmlns:a="http://schemas.openxmlformats.org/drawingml/2006/main" xmlns:r="http://schemas.openxmlformats.org/officeDocument/2006/relationships" xmlns:p="http://schemas.openxmlformats.org/presentationml/2006/main">
  <p:tag name="SLIDE_TYPE" val="BODY"/>
</p:tagLst>
</file>

<file path=ppt/tags/tag149.xml><?xml version="1.0" encoding="utf-8"?>
<p:tagLst xmlns:a="http://schemas.openxmlformats.org/drawingml/2006/main" xmlns:r="http://schemas.openxmlformats.org/officeDocument/2006/relationships" xmlns:p="http://schemas.openxmlformats.org/presentationml/2006/main">
  <p:tag name="FONT STYLE" val="SANS SERIF"/>
  <p:tag name="TEXT_TYPE" val="PAGE HEADING"/>
</p:tagLst>
</file>

<file path=ppt/tags/tag150.xml><?xml version="1.0" encoding="utf-8"?>
<p:tagLst xmlns:a="http://schemas.openxmlformats.org/drawingml/2006/main" xmlns:r="http://schemas.openxmlformats.org/officeDocument/2006/relationships" xmlns:p="http://schemas.openxmlformats.org/presentationml/2006/main">
  <p:tag name="FONT STYLE" val="SERIF FONT"/>
  <p:tag name="TEXT_TYPE" val="MESSAGE TEXT"/>
  <p:tag name="ISLOCKED" val="TRUE"/>
  <p:tag name="TOP" val="882500000000000E-13"/>
  <p:tag name="LEFT" val="331199989318848E-13"/>
  <p:tag name="HEIGHT" val="216000003814697E-13"/>
  <p:tag name="WIDTH" val="723599975585938E-12"/>
</p:tagLst>
</file>

<file path=ppt/tags/tag151.xml><?xml version="1.0" encoding="utf-8"?>
<p:tagLst xmlns:a="http://schemas.openxmlformats.org/drawingml/2006/main" xmlns:r="http://schemas.openxmlformats.org/officeDocument/2006/relationships" xmlns:p="http://schemas.openxmlformats.org/presentationml/2006/main">
  <p:tag name="SLIDE_TYPE" val="BODY"/>
</p:tagLst>
</file>

<file path=ppt/tags/tag152.xml><?xml version="1.0" encoding="utf-8"?>
<p:tagLst xmlns:a="http://schemas.openxmlformats.org/drawingml/2006/main" xmlns:r="http://schemas.openxmlformats.org/officeDocument/2006/relationships" xmlns:p="http://schemas.openxmlformats.org/presentationml/2006/main">
  <p:tag name="TEXT_TYPE" val="PAGE HEADING"/>
  <p:tag name="FONT STYLE" val="SANS SERIF"/>
</p:tagLst>
</file>

<file path=ppt/tags/tag153.xml><?xml version="1.0" encoding="utf-8"?>
<p:tagLst xmlns:a="http://schemas.openxmlformats.org/drawingml/2006/main" xmlns:r="http://schemas.openxmlformats.org/officeDocument/2006/relationships" xmlns:p="http://schemas.openxmlformats.org/presentationml/2006/main">
  <p:tag name="FONT STYLE" val="SERIF FONT"/>
  <p:tag name="TEXT_TYPE" val="MESSAGE TEXT"/>
  <p:tag name="ISLOCKED" val="TRUE"/>
  <p:tag name="TOP" val="882500000000000E-13"/>
  <p:tag name="LEFT" val="331199989318848E-13"/>
  <p:tag name="HEIGHT" val="216000003814697E-13"/>
  <p:tag name="WIDTH" val="723599975585938E-12"/>
</p:tagLst>
</file>

<file path=ppt/tags/tag154.xml><?xml version="1.0" encoding="utf-8"?>
<p:tagLst xmlns:a="http://schemas.openxmlformats.org/drawingml/2006/main" xmlns:r="http://schemas.openxmlformats.org/officeDocument/2006/relationships" xmlns:p="http://schemas.openxmlformats.org/presentationml/2006/main">
  <p:tag name="SLIDE_TYPE" val="BODY"/>
</p:tagLst>
</file>

<file path=ppt/tags/tag155.xml><?xml version="1.0" encoding="utf-8"?>
<p:tagLst xmlns:a="http://schemas.openxmlformats.org/drawingml/2006/main" xmlns:r="http://schemas.openxmlformats.org/officeDocument/2006/relationships" xmlns:p="http://schemas.openxmlformats.org/presentationml/2006/main">
  <p:tag name="ROW" val="1"/>
  <p:tag name="COL" val="1"/>
  <p:tag name="TEXT_TYPE" val="BODY TEXT"/>
  <p:tag name="FONT STYLE" val="SANS SERIF"/>
</p:tagLst>
</file>

<file path=ppt/tags/tag156.xml><?xml version="1.0" encoding="utf-8"?>
<p:tagLst xmlns:a="http://schemas.openxmlformats.org/drawingml/2006/main" xmlns:r="http://schemas.openxmlformats.org/officeDocument/2006/relationships" xmlns:p="http://schemas.openxmlformats.org/presentationml/2006/main">
  <p:tag name="FONT STYLE" val="SANS SERIF"/>
  <p:tag name="TEXT_TYPE" val="PAGE HEADING"/>
</p:tagLst>
</file>

<file path=ppt/tags/tag157.xml><?xml version="1.0" encoding="utf-8"?>
<p:tagLst xmlns:a="http://schemas.openxmlformats.org/drawingml/2006/main" xmlns:r="http://schemas.openxmlformats.org/officeDocument/2006/relationships" xmlns:p="http://schemas.openxmlformats.org/presentationml/2006/main">
  <p:tag name="SLIDE_TYPE" val="BODY"/>
</p:tagLst>
</file>

<file path=ppt/tags/tag158.xml><?xml version="1.0" encoding="utf-8"?>
<p:tagLst xmlns:a="http://schemas.openxmlformats.org/drawingml/2006/main" xmlns:r="http://schemas.openxmlformats.org/officeDocument/2006/relationships" xmlns:p="http://schemas.openxmlformats.org/presentationml/2006/main">
  <p:tag name="FONT STYLE" val="SANS SERIF"/>
  <p:tag name="TEXT_TYPE" val="PAGE HEADING"/>
</p:tagLst>
</file>

<file path=ppt/tags/tag159.xml><?xml version="1.0" encoding="utf-8"?>
<p:tagLst xmlns:a="http://schemas.openxmlformats.org/drawingml/2006/main" xmlns:r="http://schemas.openxmlformats.org/officeDocument/2006/relationships" xmlns:p="http://schemas.openxmlformats.org/presentationml/2006/main">
  <p:tag name="FONT STYLE" val="SERIF FONT"/>
  <p:tag name="TEXT_TYPE" val="MESSAGE TEXT"/>
  <p:tag name="ISLOCKED" val="TRUE"/>
  <p:tag name="TOP" val="882500000000000E-13"/>
  <p:tag name="LEFT" val="331199989318848E-13"/>
  <p:tag name="HEIGHT" val="216000003814697E-13"/>
  <p:tag name="WIDTH" val="723599975585938E-12"/>
</p:tagLst>
</file>

<file path=ppt/tags/tag160.xml><?xml version="1.0" encoding="utf-8"?>
<p:tagLst xmlns:a="http://schemas.openxmlformats.org/drawingml/2006/main" xmlns:r="http://schemas.openxmlformats.org/officeDocument/2006/relationships" xmlns:p="http://schemas.openxmlformats.org/presentationml/2006/main">
  <p:tag name="SLIDE_TYPE" val="BODY"/>
</p:tagLst>
</file>

<file path=ppt/tags/tag161.xml><?xml version="1.0" encoding="utf-8"?>
<p:tagLst xmlns:a="http://schemas.openxmlformats.org/drawingml/2006/main" xmlns:r="http://schemas.openxmlformats.org/officeDocument/2006/relationships" xmlns:p="http://schemas.openxmlformats.org/presentationml/2006/main">
  <p:tag name="FONT STYLE" val="SANS SERIF"/>
  <p:tag name="TEXT_TYPE" val="PAGE HEADING"/>
</p:tagLst>
</file>

<file path=ppt/tags/tag162.xml><?xml version="1.0" encoding="utf-8"?>
<p:tagLst xmlns:a="http://schemas.openxmlformats.org/drawingml/2006/main" xmlns:r="http://schemas.openxmlformats.org/officeDocument/2006/relationships" xmlns:p="http://schemas.openxmlformats.org/presentationml/2006/main">
  <p:tag name="FONT STYLE" val="SERIF FONT"/>
  <p:tag name="TEXT_TYPE" val="MESSAGE TEXT"/>
  <p:tag name="ISLOCKED" val="TRUE"/>
  <p:tag name="TOP" val="882500000000000E-13"/>
  <p:tag name="LEFT" val="331199989318848E-13"/>
  <p:tag name="HEIGHT" val="216000003814697E-13"/>
  <p:tag name="WIDTH" val="723599975585938E-12"/>
</p:tagLst>
</file>

<file path=ppt/tags/tag163.xml><?xml version="1.0" encoding="utf-8"?>
<p:tagLst xmlns:a="http://schemas.openxmlformats.org/drawingml/2006/main" xmlns:r="http://schemas.openxmlformats.org/officeDocument/2006/relationships" xmlns:p="http://schemas.openxmlformats.org/presentationml/2006/main">
  <p:tag name="SLIDE_TYPE" val="BODY"/>
</p:tagLst>
</file>

<file path=ppt/tags/tag164.xml><?xml version="1.0" encoding="utf-8"?>
<p:tagLst xmlns:a="http://schemas.openxmlformats.org/drawingml/2006/main" xmlns:r="http://schemas.openxmlformats.org/officeDocument/2006/relationships" xmlns:p="http://schemas.openxmlformats.org/presentationml/2006/main">
  <p:tag name="FONT STYLE" val="SANS SERIF"/>
  <p:tag name="TEXT_TYPE" val="PAGE HEADING"/>
</p:tagLst>
</file>

<file path=ppt/tags/tag165.xml><?xml version="1.0" encoding="utf-8"?>
<p:tagLst xmlns:a="http://schemas.openxmlformats.org/drawingml/2006/main" xmlns:r="http://schemas.openxmlformats.org/officeDocument/2006/relationships" xmlns:p="http://schemas.openxmlformats.org/presentationml/2006/main">
  <p:tag name="FONT STYLE" val="SERIF FONT"/>
  <p:tag name="TEXT_TYPE" val="MESSAGE TEXT"/>
  <p:tag name="ISLOCKED" val="TRUE"/>
  <p:tag name="TOP" val="882500000000000E-13"/>
  <p:tag name="LEFT" val="331199989318848E-13"/>
  <p:tag name="HEIGHT" val="216000003814697E-13"/>
  <p:tag name="WIDTH" val="723599975585938E-12"/>
</p:tagLst>
</file>

<file path=ppt/tags/tag166.xml><?xml version="1.0" encoding="utf-8"?>
<p:tagLst xmlns:a="http://schemas.openxmlformats.org/drawingml/2006/main" xmlns:r="http://schemas.openxmlformats.org/officeDocument/2006/relationships" xmlns:p="http://schemas.openxmlformats.org/presentationml/2006/main">
  <p:tag name="SLIDE_TYPE" val="BODY"/>
</p:tagLst>
</file>

<file path=ppt/tags/tag167.xml><?xml version="1.0" encoding="utf-8"?>
<p:tagLst xmlns:a="http://schemas.openxmlformats.org/drawingml/2006/main" xmlns:r="http://schemas.openxmlformats.org/officeDocument/2006/relationships" xmlns:p="http://schemas.openxmlformats.org/presentationml/2006/main">
  <p:tag name="FONT STYLE" val="SANS SERIF"/>
  <p:tag name="TEXT_TYPE" val="PAGE HEADING"/>
</p:tagLst>
</file>

<file path=ppt/tags/tag168.xml><?xml version="1.0" encoding="utf-8"?>
<p:tagLst xmlns:a="http://schemas.openxmlformats.org/drawingml/2006/main" xmlns:r="http://schemas.openxmlformats.org/officeDocument/2006/relationships" xmlns:p="http://schemas.openxmlformats.org/presentationml/2006/main">
  <p:tag name="FONT STYLE" val="SERIF FONT"/>
  <p:tag name="TEXT_TYPE" val="MESSAGE TEXT"/>
  <p:tag name="ISLOCKED" val="TRUE"/>
  <p:tag name="TOP" val="882500000000000E-13"/>
  <p:tag name="LEFT" val="331199989318848E-13"/>
  <p:tag name="HEIGHT" val="216000003814697E-13"/>
  <p:tag name="WIDTH" val="723599975585938E-12"/>
</p:tagLst>
</file>

<file path=ppt/tags/tag169.xml><?xml version="1.0" encoding="utf-8"?>
<p:tagLst xmlns:a="http://schemas.openxmlformats.org/drawingml/2006/main" xmlns:r="http://schemas.openxmlformats.org/officeDocument/2006/relationships" xmlns:p="http://schemas.openxmlformats.org/presentationml/2006/main">
  <p:tag name="SLIDE_SUB_TYPE" val="SECTION"/>
  <p:tag name="SLIDE_TYPE" val="DIVIDER"/>
</p:tagLst>
</file>

<file path=ppt/tags/tag170.xml><?xml version="1.0" encoding="utf-8"?>
<p:tagLst xmlns:a="http://schemas.openxmlformats.org/drawingml/2006/main" xmlns:r="http://schemas.openxmlformats.org/officeDocument/2006/relationships" xmlns:p="http://schemas.openxmlformats.org/presentationml/2006/main">
  <p:tag name="FONT STYLE" val="SANS SERIF"/>
  <p:tag name="TEXT_TYPE" val="DIVIDER TITLE"/>
</p:tagLst>
</file>

<file path=ppt/tags/tag171.xml><?xml version="1.0" encoding="utf-8"?>
<p:tagLst xmlns:a="http://schemas.openxmlformats.org/drawingml/2006/main" xmlns:r="http://schemas.openxmlformats.org/officeDocument/2006/relationships" xmlns:p="http://schemas.openxmlformats.org/presentationml/2006/main">
  <p:tag name="TEXT_TYPE" val="DIVIDER NUMBER"/>
</p:tagLst>
</file>

<file path=ppt/tags/tag172.xml><?xml version="1.0" encoding="utf-8"?>
<p:tagLst xmlns:a="http://schemas.openxmlformats.org/drawingml/2006/main" xmlns:r="http://schemas.openxmlformats.org/officeDocument/2006/relationships" xmlns:p="http://schemas.openxmlformats.org/presentationml/2006/main">
  <p:tag name="SLIDE_TYPE" val="BODY"/>
</p:tagLst>
</file>

<file path=ppt/tags/tag173.xml><?xml version="1.0" encoding="utf-8"?>
<p:tagLst xmlns:a="http://schemas.openxmlformats.org/drawingml/2006/main" xmlns:r="http://schemas.openxmlformats.org/officeDocument/2006/relationships" xmlns:p="http://schemas.openxmlformats.org/presentationml/2006/main">
  <p:tag name="FONT STYLE" val="SANS SERIF"/>
  <p:tag name="TEXT_TYPE" val="PAGE HEADING"/>
</p:tagLst>
</file>

<file path=ppt/tags/tag174.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1"/>
  <p:tag name="TOP" val="128.625"/>
  <p:tag name="LEFT" val="59.25"/>
  <p:tag name="WIDTH" val="155.5"/>
  <p:tag name="HEIGHT" val="28"/>
</p:tagLst>
</file>

<file path=ppt/tags/tag175.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1"/>
  <p:tag name="TOP" val="128.625"/>
  <p:tag name="LEFT" val="59.25"/>
  <p:tag name="WIDTH" val="155.5"/>
  <p:tag name="HEIGHT" val="28"/>
</p:tagLst>
</file>

<file path=ppt/tags/tag176.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1"/>
  <p:tag name="TOP" val="128.625"/>
  <p:tag name="LEFT" val="59.25"/>
  <p:tag name="WIDTH" val="155.5"/>
  <p:tag name="HEIGHT" val="28"/>
</p:tagLst>
</file>

<file path=ppt/tags/tag177.xml><?xml version="1.0" encoding="utf-8"?>
<p:tagLst xmlns:a="http://schemas.openxmlformats.org/drawingml/2006/main" xmlns:r="http://schemas.openxmlformats.org/officeDocument/2006/relationships" xmlns:p="http://schemas.openxmlformats.org/presentationml/2006/main">
  <p:tag name="FONT STYLE" val="SERIF FONT"/>
  <p:tag name="TEXT_TYPE" val="MESSAGE TEXT"/>
  <p:tag name="ISLOCKED" val="TRUE"/>
  <p:tag name="TOP" val="882500000000000E-13"/>
  <p:tag name="LEFT" val="331199989318848E-13"/>
  <p:tag name="HEIGHT" val="216000003814697E-13"/>
  <p:tag name="WIDTH" val="723599975585938E-12"/>
</p:tagLst>
</file>

<file path=ppt/tags/tag178.xml><?xml version="1.0" encoding="utf-8"?>
<p:tagLst xmlns:a="http://schemas.openxmlformats.org/drawingml/2006/main" xmlns:r="http://schemas.openxmlformats.org/officeDocument/2006/relationships" xmlns:p="http://schemas.openxmlformats.org/presentationml/2006/main">
  <p:tag name="SLIDE_TYPE" val="BODY"/>
</p:tagLst>
</file>

<file path=ppt/tags/tag179.xml><?xml version="1.0" encoding="utf-8"?>
<p:tagLst xmlns:a="http://schemas.openxmlformats.org/drawingml/2006/main" xmlns:r="http://schemas.openxmlformats.org/officeDocument/2006/relationships" xmlns:p="http://schemas.openxmlformats.org/presentationml/2006/main">
  <p:tag name="FONT STYLE" val="SANS SERIF"/>
  <p:tag name="TEXT_TYPE" val="PAGE HEADING"/>
</p:tagLst>
</file>

<file path=ppt/tags/tag180.xml><?xml version="1.0" encoding="utf-8"?>
<p:tagLst xmlns:a="http://schemas.openxmlformats.org/drawingml/2006/main" xmlns:r="http://schemas.openxmlformats.org/officeDocument/2006/relationships" xmlns:p="http://schemas.openxmlformats.org/presentationml/2006/main">
  <p:tag name="FONT STYLE" val="SERIF FONT"/>
  <p:tag name="TEXT_TYPE" val="MESSAGE TEXT"/>
  <p:tag name="ISLOCKED" val="TRUE"/>
  <p:tag name="TOP" val="882500000000000E-13"/>
  <p:tag name="LEFT" val="331199989318848E-13"/>
  <p:tag name="HEIGHT" val="216000003814697E-13"/>
  <p:tag name="WIDTH" val="723599975585938E-12"/>
</p:tagLst>
</file>

<file path=ppt/tags/tag181.xml><?xml version="1.0" encoding="utf-8"?>
<p:tagLst xmlns:a="http://schemas.openxmlformats.org/drawingml/2006/main" xmlns:r="http://schemas.openxmlformats.org/officeDocument/2006/relationships" xmlns:p="http://schemas.openxmlformats.org/presentationml/2006/main">
  <p:tag name="FONT STYLE" val="SERIF FONT"/>
  <p:tag name="TEXT_TYPE" val="MESSAGE TEXT"/>
  <p:tag name="ISLOCKED" val="TRUE"/>
  <p:tag name="TOP" val="882500000000000E-13"/>
  <p:tag name="LEFT" val="331199989318848E-13"/>
  <p:tag name="HEIGHT" val="216000003814697E-13"/>
  <p:tag name="WIDTH" val="723599975585938E-12"/>
</p:tagLst>
</file>

<file path=ppt/tags/tag182.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1"/>
  <p:tag name="TOP" val="128.625"/>
  <p:tag name="LEFT" val="59.25"/>
  <p:tag name="WIDTH" val="155.5"/>
  <p:tag name="HEIGHT" val="28"/>
</p:tagLst>
</file>

<file path=ppt/tags/tag183.xml><?xml version="1.0" encoding="utf-8"?>
<p:tagLst xmlns:a="http://schemas.openxmlformats.org/drawingml/2006/main" xmlns:r="http://schemas.openxmlformats.org/officeDocument/2006/relationships" xmlns:p="http://schemas.openxmlformats.org/presentationml/2006/main">
  <p:tag name="FONT STYLE" val="SERIF FONT"/>
  <p:tag name="TEXT_TYPE" val="MESSAGE TEXT"/>
  <p:tag name="ISLOCKED" val="TRUE"/>
  <p:tag name="TOP" val="882500000000000E-13"/>
  <p:tag name="LEFT" val="331199989318848E-13"/>
  <p:tag name="HEIGHT" val="216000003814697E-13"/>
  <p:tag name="WIDTH" val="723599975585938E-12"/>
</p:tagLst>
</file>

<file path=ppt/tags/tag184.xml><?xml version="1.0" encoding="utf-8"?>
<p:tagLst xmlns:a="http://schemas.openxmlformats.org/drawingml/2006/main" xmlns:r="http://schemas.openxmlformats.org/officeDocument/2006/relationships" xmlns:p="http://schemas.openxmlformats.org/presentationml/2006/main">
  <p:tag name="SLIDE_TYPE" val="BODY"/>
</p:tagLst>
</file>

<file path=ppt/tags/tag185.xml><?xml version="1.0" encoding="utf-8"?>
<p:tagLst xmlns:a="http://schemas.openxmlformats.org/drawingml/2006/main" xmlns:r="http://schemas.openxmlformats.org/officeDocument/2006/relationships" xmlns:p="http://schemas.openxmlformats.org/presentationml/2006/main">
  <p:tag name="FONT STYLE" val="SANS SERIF"/>
  <p:tag name="TEXT_TYPE" val="PAGE HEADING"/>
</p:tagLst>
</file>

<file path=ppt/tags/tag186.xml><?xml version="1.0" encoding="utf-8"?>
<p:tagLst xmlns:a="http://schemas.openxmlformats.org/drawingml/2006/main" xmlns:r="http://schemas.openxmlformats.org/officeDocument/2006/relationships" xmlns:p="http://schemas.openxmlformats.org/presentationml/2006/main">
  <p:tag name="FONT STYLE" val="SERIF FONT"/>
  <p:tag name="TEXT_TYPE" val="MESSAGE TEXT"/>
  <p:tag name="ISLOCKED" val="TRUE"/>
  <p:tag name="TOP" val="882500000000000E-13"/>
  <p:tag name="LEFT" val="331199989318848E-13"/>
  <p:tag name="HEIGHT" val="216000003814697E-13"/>
  <p:tag name="WIDTH" val="723599975585938E-12"/>
</p:tagLst>
</file>

<file path=ppt/tags/tag187.xml><?xml version="1.0" encoding="utf-8"?>
<p:tagLst xmlns:a="http://schemas.openxmlformats.org/drawingml/2006/main" xmlns:r="http://schemas.openxmlformats.org/officeDocument/2006/relationships" xmlns:p="http://schemas.openxmlformats.org/presentationml/2006/main">
  <p:tag name="FONT STYLE" val="SERIF FONT"/>
  <p:tag name="TEXT_TYPE" val="MESSAGE TEXT"/>
  <p:tag name="ISLOCKED" val="TRUE"/>
  <p:tag name="TOP" val="882500000000000E-13"/>
  <p:tag name="LEFT" val="331199989318848E-13"/>
  <p:tag name="HEIGHT" val="216000003814697E-13"/>
  <p:tag name="WIDTH" val="723599975585938E-12"/>
</p:tagLst>
</file>

<file path=ppt/tags/tag188.xml><?xml version="1.0" encoding="utf-8"?>
<p:tagLst xmlns:a="http://schemas.openxmlformats.org/drawingml/2006/main" xmlns:r="http://schemas.openxmlformats.org/officeDocument/2006/relationships" xmlns:p="http://schemas.openxmlformats.org/presentationml/2006/main">
  <p:tag name="FONT STYLE" val="SERIF FONT"/>
  <p:tag name="TEXT_TYPE" val="MESSAGE TEXT"/>
  <p:tag name="ISLOCKED" val="TRUE"/>
  <p:tag name="TOP" val="882500000000000E-13"/>
  <p:tag name="LEFT" val="331199989318848E-13"/>
  <p:tag name="HEIGHT" val="216000003814697E-13"/>
  <p:tag name="WIDTH" val="723599975585938E-12"/>
</p:tagLst>
</file>

<file path=ppt/tags/tag189.xml><?xml version="1.0" encoding="utf-8"?>
<p:tagLst xmlns:a="http://schemas.openxmlformats.org/drawingml/2006/main" xmlns:r="http://schemas.openxmlformats.org/officeDocument/2006/relationships" xmlns:p="http://schemas.openxmlformats.org/presentationml/2006/main">
  <p:tag name="SLIDE_TYPE" val="BODY"/>
</p:tagLst>
</file>

<file path=ppt/tags/tag190.xml><?xml version="1.0" encoding="utf-8"?>
<p:tagLst xmlns:a="http://schemas.openxmlformats.org/drawingml/2006/main" xmlns:r="http://schemas.openxmlformats.org/officeDocument/2006/relationships" xmlns:p="http://schemas.openxmlformats.org/presentationml/2006/main">
  <p:tag name="FONT STYLE" val="SANS SERIF"/>
  <p:tag name="TEXT_TYPE" val="PAGE HEADING"/>
</p:tagLst>
</file>

<file path=ppt/tags/tag191.xml><?xml version="1.0" encoding="utf-8"?>
<p:tagLst xmlns:a="http://schemas.openxmlformats.org/drawingml/2006/main" xmlns:r="http://schemas.openxmlformats.org/officeDocument/2006/relationships" xmlns:p="http://schemas.openxmlformats.org/presentationml/2006/main">
  <p:tag name="FONT STYLE" val="SERIF FONT"/>
  <p:tag name="TEXT_TYPE" val="MESSAGE TEXT"/>
  <p:tag name="ISLOCKED" val="TRUE"/>
  <p:tag name="TOP" val="882500000000000E-13"/>
  <p:tag name="LEFT" val="331199989318848E-13"/>
  <p:tag name="HEIGHT" val="216000003814697E-13"/>
  <p:tag name="WIDTH" val="723599975585938E-12"/>
</p:tagLst>
</file>

<file path=ppt/tags/tag192.xml><?xml version="1.0" encoding="utf-8"?>
<p:tagLst xmlns:a="http://schemas.openxmlformats.org/drawingml/2006/main" xmlns:r="http://schemas.openxmlformats.org/officeDocument/2006/relationships" xmlns:p="http://schemas.openxmlformats.org/presentationml/2006/main">
  <p:tag name="FONT STYLE" val="SERIF FONT"/>
  <p:tag name="TEXT_TYPE" val="MESSAGE TEXT"/>
  <p:tag name="ISLOCKED" val="TRUE"/>
  <p:tag name="TOP" val="882500000000000E-13"/>
  <p:tag name="LEFT" val="331199989318848E-13"/>
  <p:tag name="HEIGHT" val="216000003814697E-13"/>
  <p:tag name="WIDTH" val="723599975585938E-12"/>
</p:tagLst>
</file>

<file path=ppt/tags/tag193.xml><?xml version="1.0" encoding="utf-8"?>
<p:tagLst xmlns:a="http://schemas.openxmlformats.org/drawingml/2006/main" xmlns:r="http://schemas.openxmlformats.org/officeDocument/2006/relationships" xmlns:p="http://schemas.openxmlformats.org/presentationml/2006/main">
  <p:tag name="SLIDE_TYPE" val="BODY"/>
</p:tagLst>
</file>

<file path=ppt/tags/tag194.xml><?xml version="1.0" encoding="utf-8"?>
<p:tagLst xmlns:a="http://schemas.openxmlformats.org/drawingml/2006/main" xmlns:r="http://schemas.openxmlformats.org/officeDocument/2006/relationships" xmlns:p="http://schemas.openxmlformats.org/presentationml/2006/main">
  <p:tag name="FONT STYLE" val="SANS SERIF"/>
  <p:tag name="TEXT_TYPE" val="PAGE HEADING"/>
</p:tagLst>
</file>

<file path=ppt/tags/tag195.xml><?xml version="1.0" encoding="utf-8"?>
<p:tagLst xmlns:a="http://schemas.openxmlformats.org/drawingml/2006/main" xmlns:r="http://schemas.openxmlformats.org/officeDocument/2006/relationships" xmlns:p="http://schemas.openxmlformats.org/presentationml/2006/main">
  <p:tag name="FONT STYLE" val="SERIF FONT"/>
  <p:tag name="TEXT_TYPE" val="MESSAGE TEXT"/>
  <p:tag name="ISLOCKED" val="TRUE"/>
  <p:tag name="TOP" val="882500000000000E-13"/>
  <p:tag name="LEFT" val="331199989318848E-13"/>
  <p:tag name="HEIGHT" val="216000003814697E-13"/>
  <p:tag name="WIDTH" val="723599975585938E-12"/>
</p:tagLst>
</file>

<file path=ppt/tags/tag196.xml><?xml version="1.0" encoding="utf-8"?>
<p:tagLst xmlns:a="http://schemas.openxmlformats.org/drawingml/2006/main" xmlns:r="http://schemas.openxmlformats.org/officeDocument/2006/relationships" xmlns:p="http://schemas.openxmlformats.org/presentationml/2006/main">
  <p:tag name="FONT STYLE" val="SERIF FONT"/>
  <p:tag name="TEXT_TYPE" val="MESSAGE TEXT"/>
  <p:tag name="ISLOCKED" val="TRUE"/>
  <p:tag name="TOP" val="882500000000000E-13"/>
  <p:tag name="LEFT" val="331199989318848E-13"/>
  <p:tag name="HEIGHT" val="216000003814697E-13"/>
  <p:tag name="WIDTH" val="723599975585938E-12"/>
</p:tagLst>
</file>

<file path=ppt/tags/tag197.xml><?xml version="1.0" encoding="utf-8"?>
<p:tagLst xmlns:a="http://schemas.openxmlformats.org/drawingml/2006/main" xmlns:r="http://schemas.openxmlformats.org/officeDocument/2006/relationships" xmlns:p="http://schemas.openxmlformats.org/presentationml/2006/main">
  <p:tag name="SLIDE_SUB_TYPE" val="SECTION"/>
  <p:tag name="SLIDE_TYPE" val="DIVIDER"/>
</p:tagLst>
</file>

<file path=ppt/tags/tag198.xml><?xml version="1.0" encoding="utf-8"?>
<p:tagLst xmlns:a="http://schemas.openxmlformats.org/drawingml/2006/main" xmlns:r="http://schemas.openxmlformats.org/officeDocument/2006/relationships" xmlns:p="http://schemas.openxmlformats.org/presentationml/2006/main">
  <p:tag name="FONT STYLE" val="SANS SERIF"/>
  <p:tag name="TEXT_TYPE" val="DIVIDER TITLE"/>
</p:tagLst>
</file>

<file path=ppt/tags/tag199.xml><?xml version="1.0" encoding="utf-8"?>
<p:tagLst xmlns:a="http://schemas.openxmlformats.org/drawingml/2006/main" xmlns:r="http://schemas.openxmlformats.org/officeDocument/2006/relationships" xmlns:p="http://schemas.openxmlformats.org/presentationml/2006/main">
  <p:tag name="TEXT_TYPE" val="DIVIDER NUMBER"/>
</p:tagLst>
</file>

<file path=ppt/tags/tag200.xml><?xml version="1.0" encoding="utf-8"?>
<p:tagLst xmlns:a="http://schemas.openxmlformats.org/drawingml/2006/main" xmlns:r="http://schemas.openxmlformats.org/officeDocument/2006/relationships" xmlns:p="http://schemas.openxmlformats.org/presentationml/2006/main">
  <p:tag name="SLIDE_TYPE" val="BODY"/>
</p:tagLst>
</file>

<file path=ppt/tags/tag201.xml><?xml version="1.0" encoding="utf-8"?>
<p:tagLst xmlns:a="http://schemas.openxmlformats.org/drawingml/2006/main" xmlns:r="http://schemas.openxmlformats.org/officeDocument/2006/relationships" xmlns:p="http://schemas.openxmlformats.org/presentationml/2006/main">
  <p:tag name="ROW" val="1"/>
  <p:tag name="COL" val="1"/>
  <p:tag name="TEXT_TYPE" val="BODY TEXT"/>
  <p:tag name="FONT STYLE" val="SANS SERIF"/>
</p:tagLst>
</file>

<file path=ppt/tags/tag202.xml><?xml version="1.0" encoding="utf-8"?>
<p:tagLst xmlns:a="http://schemas.openxmlformats.org/drawingml/2006/main" xmlns:r="http://schemas.openxmlformats.org/officeDocument/2006/relationships" xmlns:p="http://schemas.openxmlformats.org/presentationml/2006/main">
  <p:tag name="FONT STYLE" val="SANS SERIF"/>
  <p:tag name="TEXT_TYPE" val="PAGE HEADING"/>
</p:tagLst>
</file>

<file path=ppt/tags/tag203.xml><?xml version="1.0" encoding="utf-8"?>
<p:tagLst xmlns:a="http://schemas.openxmlformats.org/drawingml/2006/main" xmlns:r="http://schemas.openxmlformats.org/officeDocument/2006/relationships" xmlns:p="http://schemas.openxmlformats.org/presentationml/2006/main">
  <p:tag name="FONT STYLE" val="SERIF FONT"/>
  <p:tag name="TEXT_TYPE" val="MESSAGE TEXT"/>
  <p:tag name="ISLOCKED" val="TRUE"/>
  <p:tag name="TOP" val="882500000000000E-13"/>
  <p:tag name="LEFT" val="331199989318848E-13"/>
  <p:tag name="HEIGHT" val="216000003814697E-13"/>
  <p:tag name="WIDTH" val="723599975585938E-12"/>
</p:tagLst>
</file>

<file path=ppt/tags/tag204.xml><?xml version="1.0" encoding="utf-8"?>
<p:tagLst xmlns:a="http://schemas.openxmlformats.org/drawingml/2006/main" xmlns:r="http://schemas.openxmlformats.org/officeDocument/2006/relationships" xmlns:p="http://schemas.openxmlformats.org/presentationml/2006/main">
  <p:tag name="TEXT_TYPE" val="BODY TEXT"/>
  <p:tag name="FONT STYLE" val="SANS SERIF"/>
  <p:tag name="ROW" val="1"/>
  <p:tag name="COL" val="1"/>
</p:tagLst>
</file>

<file path=ppt/tags/tag205.xml><?xml version="1.0" encoding="utf-8"?>
<p:tagLst xmlns:a="http://schemas.openxmlformats.org/drawingml/2006/main" xmlns:r="http://schemas.openxmlformats.org/officeDocument/2006/relationships" xmlns:p="http://schemas.openxmlformats.org/presentationml/2006/main">
  <p:tag name="SLIDE_TYPE" val="BODY"/>
</p:tagLst>
</file>

<file path=ppt/tags/tag206.xml><?xml version="1.0" encoding="utf-8"?>
<p:tagLst xmlns:a="http://schemas.openxmlformats.org/drawingml/2006/main" xmlns:r="http://schemas.openxmlformats.org/officeDocument/2006/relationships" xmlns:p="http://schemas.openxmlformats.org/presentationml/2006/main">
  <p:tag name="FONT STYLE" val="SANS SERIF"/>
  <p:tag name="TEXT_TYPE" val="PAGE HEADING"/>
</p:tagLst>
</file>

<file path=ppt/tags/tag207.xml><?xml version="1.0" encoding="utf-8"?>
<p:tagLst xmlns:a="http://schemas.openxmlformats.org/drawingml/2006/main" xmlns:r="http://schemas.openxmlformats.org/officeDocument/2006/relationships" xmlns:p="http://schemas.openxmlformats.org/presentationml/2006/main">
  <p:tag name="FONT STYLE" val="SERIF FONT"/>
  <p:tag name="TEXT_TYPE" val="MESSAGE TEXT"/>
  <p:tag name="ISLOCKED" val="TRUE"/>
  <p:tag name="TOP" val="882500000000000E-13"/>
  <p:tag name="LEFT" val="331199989318848E-13"/>
  <p:tag name="HEIGHT" val="216000003814697E-13"/>
  <p:tag name="WIDTH" val="723599975585938E-12"/>
</p:tagLst>
</file>

<file path=ppt/tags/tag208.xml><?xml version="1.0" encoding="utf-8"?>
<p:tagLst xmlns:a="http://schemas.openxmlformats.org/drawingml/2006/main" xmlns:r="http://schemas.openxmlformats.org/officeDocument/2006/relationships" xmlns:p="http://schemas.openxmlformats.org/presentationml/2006/main">
  <p:tag name="SLIDE_TYPE" val="BODY"/>
</p:tagLst>
</file>

<file path=ppt/tags/tag209.xml><?xml version="1.0" encoding="utf-8"?>
<p:tagLst xmlns:a="http://schemas.openxmlformats.org/drawingml/2006/main" xmlns:r="http://schemas.openxmlformats.org/officeDocument/2006/relationships" xmlns:p="http://schemas.openxmlformats.org/presentationml/2006/main">
  <p:tag name="FONT STYLE" val="SANS SERIF"/>
  <p:tag name="TEXT_TYPE" val="PAGE HEADING"/>
</p:tagLst>
</file>

<file path=ppt/tags/tag210.xml><?xml version="1.0" encoding="utf-8"?>
<p:tagLst xmlns:a="http://schemas.openxmlformats.org/drawingml/2006/main" xmlns:r="http://schemas.openxmlformats.org/officeDocument/2006/relationships" xmlns:p="http://schemas.openxmlformats.org/presentationml/2006/main">
  <p:tag name="FONT STYLE" val="SERIF FONT"/>
  <p:tag name="TEXT_TYPE" val="MESSAGE TEXT"/>
  <p:tag name="ISLOCKED" val="TRUE"/>
  <p:tag name="TOP" val="882500000000000E-13"/>
  <p:tag name="LEFT" val="331199989318848E-13"/>
  <p:tag name="HEIGHT" val="216000003814697E-13"/>
  <p:tag name="WIDTH" val="723599975585938E-12"/>
</p:tagLst>
</file>

<file path=ppt/tags/tag211.xml><?xml version="1.0" encoding="utf-8"?>
<p:tagLst xmlns:a="http://schemas.openxmlformats.org/drawingml/2006/main" xmlns:r="http://schemas.openxmlformats.org/officeDocument/2006/relationships" xmlns:p="http://schemas.openxmlformats.org/presentationml/2006/main">
  <p:tag name="SLIDE_TYPE" val="BODY"/>
</p:tagLst>
</file>

<file path=ppt/tags/tag212.xml><?xml version="1.0" encoding="utf-8"?>
<p:tagLst xmlns:a="http://schemas.openxmlformats.org/drawingml/2006/main" xmlns:r="http://schemas.openxmlformats.org/officeDocument/2006/relationships" xmlns:p="http://schemas.openxmlformats.org/presentationml/2006/main">
  <p:tag name="FONT STYLE" val="SANS SERIF"/>
  <p:tag name="TEXT_TYPE" val="PAGE HEADING"/>
</p:tagLst>
</file>

<file path=ppt/tags/tag213.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1"/>
  <p:tag name="TOP" val="128.625"/>
  <p:tag name="LEFT" val="59.25"/>
  <p:tag name="WIDTH" val="155.5"/>
  <p:tag name="HEIGHT" val="28"/>
</p:tagLst>
</file>

<file path=ppt/tags/tag214.xml><?xml version="1.0" encoding="utf-8"?>
<p:tagLst xmlns:a="http://schemas.openxmlformats.org/drawingml/2006/main" xmlns:r="http://schemas.openxmlformats.org/officeDocument/2006/relationships" xmlns:p="http://schemas.openxmlformats.org/presentationml/2006/main">
  <p:tag name="FONT STYLE" val="SERIF FONT"/>
  <p:tag name="TEXT_TYPE" val="MESSAGE TEXT"/>
  <p:tag name="ISLOCKED" val="TRUE"/>
  <p:tag name="TOP" val="882500000000000E-13"/>
  <p:tag name="LEFT" val="331199989318848E-13"/>
  <p:tag name="HEIGHT" val="216000003814697E-13"/>
  <p:tag name="WIDTH" val="723599975585938E-12"/>
</p:tagLst>
</file>

<file path=ppt/tags/tag215.xml><?xml version="1.0" encoding="utf-8"?>
<p:tagLst xmlns:a="http://schemas.openxmlformats.org/drawingml/2006/main" xmlns:r="http://schemas.openxmlformats.org/officeDocument/2006/relationships" xmlns:p="http://schemas.openxmlformats.org/presentationml/2006/main">
  <p:tag name="SLIDE_SUB_TYPE" val="SECTION"/>
  <p:tag name="SLIDE_TYPE" val="DIVIDER"/>
</p:tagLst>
</file>

<file path=ppt/tags/tag216.xml><?xml version="1.0" encoding="utf-8"?>
<p:tagLst xmlns:a="http://schemas.openxmlformats.org/drawingml/2006/main" xmlns:r="http://schemas.openxmlformats.org/officeDocument/2006/relationships" xmlns:p="http://schemas.openxmlformats.org/presentationml/2006/main">
  <p:tag name="FONT STYLE" val="SANS SERIF"/>
  <p:tag name="TEXT_TYPE" val="DIVIDER TITLE"/>
</p:tagLst>
</file>

<file path=ppt/tags/tag217.xml><?xml version="1.0" encoding="utf-8"?>
<p:tagLst xmlns:a="http://schemas.openxmlformats.org/drawingml/2006/main" xmlns:r="http://schemas.openxmlformats.org/officeDocument/2006/relationships" xmlns:p="http://schemas.openxmlformats.org/presentationml/2006/main">
  <p:tag name="TEXT_TYPE" val="DIVIDER NUMBER"/>
</p:tagLst>
</file>

<file path=ppt/tags/tag218.xml><?xml version="1.0" encoding="utf-8"?>
<p:tagLst xmlns:a="http://schemas.openxmlformats.org/drawingml/2006/main" xmlns:r="http://schemas.openxmlformats.org/officeDocument/2006/relationships" xmlns:p="http://schemas.openxmlformats.org/presentationml/2006/main">
  <p:tag name="SLIDE_TYPE" val="BODY"/>
</p:tagLst>
</file>

<file path=ppt/tags/tag219.xml><?xml version="1.0" encoding="utf-8"?>
<p:tagLst xmlns:a="http://schemas.openxmlformats.org/drawingml/2006/main" xmlns:r="http://schemas.openxmlformats.org/officeDocument/2006/relationships" xmlns:p="http://schemas.openxmlformats.org/presentationml/2006/main">
  <p:tag name="FONT STYLE" val="SANS SERIF"/>
  <p:tag name="TEXT_TYPE" val="PAGE HEADING"/>
</p:tagLst>
</file>

<file path=ppt/tags/tag220.xml><?xml version="1.0" encoding="utf-8"?>
<p:tagLst xmlns:a="http://schemas.openxmlformats.org/drawingml/2006/main" xmlns:r="http://schemas.openxmlformats.org/officeDocument/2006/relationships" xmlns:p="http://schemas.openxmlformats.org/presentationml/2006/main">
  <p:tag name="FONT STYLE" val="SERIF FONT"/>
  <p:tag name="TEXT_TYPE" val="MESSAGE TEXT"/>
  <p:tag name="ISLOCKED" val="TRUE"/>
  <p:tag name="TOP" val="882500000000000E-13"/>
  <p:tag name="LEFT" val="331199989318848E-13"/>
  <p:tag name="HEIGHT" val="216000003814697E-13"/>
  <p:tag name="WIDTH" val="723599975585938E-12"/>
</p:tagLst>
</file>

<file path=ppt/tags/tag221.xml><?xml version="1.0" encoding="utf-8"?>
<p:tagLst xmlns:a="http://schemas.openxmlformats.org/drawingml/2006/main" xmlns:r="http://schemas.openxmlformats.org/officeDocument/2006/relationships" xmlns:p="http://schemas.openxmlformats.org/presentationml/2006/main">
  <p:tag name="SLIDE_TYPE" val="BODY"/>
</p:tagLst>
</file>

<file path=ppt/tags/tag222.xml><?xml version="1.0" encoding="utf-8"?>
<p:tagLst xmlns:a="http://schemas.openxmlformats.org/drawingml/2006/main" xmlns:r="http://schemas.openxmlformats.org/officeDocument/2006/relationships" xmlns:p="http://schemas.openxmlformats.org/presentationml/2006/main">
  <p:tag name="FONT STYLE" val="SANS SERIF"/>
  <p:tag name="TEXT_TYPE" val="PAGE HEADING"/>
</p:tagLst>
</file>

<file path=ppt/tags/tag223.xml><?xml version="1.0" encoding="utf-8"?>
<p:tagLst xmlns:a="http://schemas.openxmlformats.org/drawingml/2006/main" xmlns:r="http://schemas.openxmlformats.org/officeDocument/2006/relationships" xmlns:p="http://schemas.openxmlformats.org/presentationml/2006/main">
  <p:tag name="FONT STYLE" val="SERIF FONT"/>
  <p:tag name="TEXT_TYPE" val="MESSAGE TEXT"/>
  <p:tag name="ISLOCKED" val="TRUE"/>
  <p:tag name="TOP" val="882500000000000E-13"/>
  <p:tag name="LEFT" val="331199989318848E-13"/>
  <p:tag name="HEIGHT" val="216000003814697E-13"/>
  <p:tag name="WIDTH" val="723599975585938E-12"/>
</p:tagLst>
</file>

<file path=ppt/tags/tag224.xml><?xml version="1.0" encoding="utf-8"?>
<p:tagLst xmlns:a="http://schemas.openxmlformats.org/drawingml/2006/main" xmlns:r="http://schemas.openxmlformats.org/officeDocument/2006/relationships" xmlns:p="http://schemas.openxmlformats.org/presentationml/2006/main">
  <p:tag name="SLIDE_TYPE" val="BODY"/>
</p:tagLst>
</file>

<file path=ppt/tags/tag225.xml><?xml version="1.0" encoding="utf-8"?>
<p:tagLst xmlns:a="http://schemas.openxmlformats.org/drawingml/2006/main" xmlns:r="http://schemas.openxmlformats.org/officeDocument/2006/relationships" xmlns:p="http://schemas.openxmlformats.org/presentationml/2006/main">
  <p:tag name="ROW" val="1"/>
  <p:tag name="COL" val="1"/>
  <p:tag name="TEXT_TYPE" val="BODY TEXT"/>
  <p:tag name="FONT STYLE" val="SANS SERIF"/>
</p:tagLst>
</file>

<file path=ppt/tags/tag226.xml><?xml version="1.0" encoding="utf-8"?>
<p:tagLst xmlns:a="http://schemas.openxmlformats.org/drawingml/2006/main" xmlns:r="http://schemas.openxmlformats.org/officeDocument/2006/relationships" xmlns:p="http://schemas.openxmlformats.org/presentationml/2006/main">
  <p:tag name="FONT STYLE" val="SANS SERIF"/>
  <p:tag name="TEXT_TYPE" val="PAGE HEADING"/>
</p:tagLst>
</file>

<file path=ppt/tags/tag227.xml><?xml version="1.0" encoding="utf-8"?>
<p:tagLst xmlns:a="http://schemas.openxmlformats.org/drawingml/2006/main" xmlns:r="http://schemas.openxmlformats.org/officeDocument/2006/relationships" xmlns:p="http://schemas.openxmlformats.org/presentationml/2006/main">
  <p:tag name="FONT STYLE" val="SERIF FONT"/>
  <p:tag name="TEXT_TYPE" val="MESSAGE TEXT"/>
  <p:tag name="ISLOCKED" val="TRUE"/>
  <p:tag name="TOP" val="882500000000000E-13"/>
  <p:tag name="LEFT" val="331199989318848E-13"/>
  <p:tag name="HEIGHT" val="216000003814697E-13"/>
  <p:tag name="WIDTH" val="723599975585938E-12"/>
</p:tagLst>
</file>

<file path=ppt/tags/tag228.xml><?xml version="1.0" encoding="utf-8"?>
<p:tagLst xmlns:a="http://schemas.openxmlformats.org/drawingml/2006/main" xmlns:r="http://schemas.openxmlformats.org/officeDocument/2006/relationships" xmlns:p="http://schemas.openxmlformats.org/presentationml/2006/main">
  <p:tag name="SLIDE_TYPE" val="BODY"/>
</p:tagLst>
</file>

<file path=ppt/tags/tag229.xml><?xml version="1.0" encoding="utf-8"?>
<p:tagLst xmlns:a="http://schemas.openxmlformats.org/drawingml/2006/main" xmlns:r="http://schemas.openxmlformats.org/officeDocument/2006/relationships" xmlns:p="http://schemas.openxmlformats.org/presentationml/2006/main">
  <p:tag name="FONT STYLE" val="SANS SERIF"/>
  <p:tag name="TEXT_TYPE" val="PAGE HEADING"/>
</p:tagLst>
</file>

<file path=ppt/tags/tag230.xml><?xml version="1.0" encoding="utf-8"?>
<p:tagLst xmlns:a="http://schemas.openxmlformats.org/drawingml/2006/main" xmlns:r="http://schemas.openxmlformats.org/officeDocument/2006/relationships" xmlns:p="http://schemas.openxmlformats.org/presentationml/2006/main">
  <p:tag name="FONT STYLE" val="SERIF FONT"/>
  <p:tag name="TEXT_TYPE" val="MESSAGE TEXT"/>
  <p:tag name="ISLOCKED" val="TRUE"/>
  <p:tag name="TOP" val="882500000000000E-13"/>
  <p:tag name="LEFT" val="331199989318848E-13"/>
  <p:tag name="HEIGHT" val="216000003814697E-13"/>
  <p:tag name="WIDTH" val="723599975585938E-12"/>
</p:tagLst>
</file>

<file path=ppt/tags/tag231.xml><?xml version="1.0" encoding="utf-8"?>
<p:tagLst xmlns:a="http://schemas.openxmlformats.org/drawingml/2006/main" xmlns:r="http://schemas.openxmlformats.org/officeDocument/2006/relationships" xmlns:p="http://schemas.openxmlformats.org/presentationml/2006/main">
  <p:tag name="SLIDE_TYPE" val="BODY"/>
</p:tagLst>
</file>

<file path=ppt/tags/tag232.xml><?xml version="1.0" encoding="utf-8"?>
<p:tagLst xmlns:a="http://schemas.openxmlformats.org/drawingml/2006/main" xmlns:r="http://schemas.openxmlformats.org/officeDocument/2006/relationships" xmlns:p="http://schemas.openxmlformats.org/presentationml/2006/main">
  <p:tag name="TEXT_TYPE" val="BODY TEXT"/>
  <p:tag name="COL" val="1"/>
  <p:tag name="ROW" val="1"/>
</p:tagLst>
</file>

<file path=ppt/tags/tag233.xml><?xml version="1.0" encoding="utf-8"?>
<p:tagLst xmlns:a="http://schemas.openxmlformats.org/drawingml/2006/main" xmlns:r="http://schemas.openxmlformats.org/officeDocument/2006/relationships" xmlns:p="http://schemas.openxmlformats.org/presentationml/2006/main">
  <p:tag name="FONT STYLE" val="SANS SERIF"/>
  <p:tag name="TEXT_TYPE" val="PAGE HEADING"/>
</p:tagLst>
</file>

<file path=ppt/tags/tag234.xml><?xml version="1.0" encoding="utf-8"?>
<p:tagLst xmlns:a="http://schemas.openxmlformats.org/drawingml/2006/main" xmlns:r="http://schemas.openxmlformats.org/officeDocument/2006/relationships" xmlns:p="http://schemas.openxmlformats.org/presentationml/2006/main">
  <p:tag name="SLIDE_TYPE" val="BODY"/>
</p:tagLst>
</file>

<file path=ppt/tags/tag235.xml><?xml version="1.0" encoding="utf-8"?>
<p:tagLst xmlns:a="http://schemas.openxmlformats.org/drawingml/2006/main" xmlns:r="http://schemas.openxmlformats.org/officeDocument/2006/relationships" xmlns:p="http://schemas.openxmlformats.org/presentationml/2006/main">
  <p:tag name="FONT STYLE" val="SANS SERIF"/>
  <p:tag name="TEXT_TYPE" val="PAGE HEADING"/>
</p:tagLst>
</file>

<file path=ppt/tags/tag236.xml><?xml version="1.0" encoding="utf-8"?>
<p:tagLst xmlns:a="http://schemas.openxmlformats.org/drawingml/2006/main" xmlns:r="http://schemas.openxmlformats.org/officeDocument/2006/relationships" xmlns:p="http://schemas.openxmlformats.org/presentationml/2006/main">
  <p:tag name="SLIDE_TYPE" val="BODY"/>
</p:tagLst>
</file>

<file path=ppt/tags/tag237.xml><?xml version="1.0" encoding="utf-8"?>
<p:tagLst xmlns:a="http://schemas.openxmlformats.org/drawingml/2006/main" xmlns:r="http://schemas.openxmlformats.org/officeDocument/2006/relationships" xmlns:p="http://schemas.openxmlformats.org/presentationml/2006/main">
  <p:tag name="FONT STYLE" val="SANS SERIF"/>
  <p:tag name="TEXT_TYPE" val="PAGE HEADING"/>
</p:tagLst>
</file>

<file path=ppt/tags/tag238.xml><?xml version="1.0" encoding="utf-8"?>
<p:tagLst xmlns:a="http://schemas.openxmlformats.org/drawingml/2006/main" xmlns:r="http://schemas.openxmlformats.org/officeDocument/2006/relationships" xmlns:p="http://schemas.openxmlformats.org/presentationml/2006/main">
  <p:tag name="SLIDE_TYPE" val="BODY"/>
</p:tagLst>
</file>

<file path=ppt/tags/tag239.xml><?xml version="1.0" encoding="utf-8"?>
<p:tagLst xmlns:a="http://schemas.openxmlformats.org/drawingml/2006/main" xmlns:r="http://schemas.openxmlformats.org/officeDocument/2006/relationships" xmlns:p="http://schemas.openxmlformats.org/presentationml/2006/main">
  <p:tag name="FONT STYLE" val="SANS SERIF"/>
  <p:tag name="TEXT_TYPE" val="PAGE HEADING"/>
</p:tagLst>
</file>

<file path=ppt/tags/tag240.xml><?xml version="1.0" encoding="utf-8"?>
<p:tagLst xmlns:a="http://schemas.openxmlformats.org/drawingml/2006/main" xmlns:r="http://schemas.openxmlformats.org/officeDocument/2006/relationships" xmlns:p="http://schemas.openxmlformats.org/presentationml/2006/main">
  <p:tag name="SLIDE_TYPE" val="BODY"/>
</p:tagLst>
</file>

<file path=ppt/tags/tag241.xml><?xml version="1.0" encoding="utf-8"?>
<p:tagLst xmlns:a="http://schemas.openxmlformats.org/drawingml/2006/main" xmlns:r="http://schemas.openxmlformats.org/officeDocument/2006/relationships" xmlns:p="http://schemas.openxmlformats.org/presentationml/2006/main">
  <p:tag name="FONT STYLE" val="SANS SERIF"/>
  <p:tag name="TEXT_TYPE" val="PAGE HEADING"/>
</p:tagLst>
</file>

<file path=ppt/tags/tag242.xml><?xml version="1.0" encoding="utf-8"?>
<p:tagLst xmlns:a="http://schemas.openxmlformats.org/drawingml/2006/main" xmlns:r="http://schemas.openxmlformats.org/officeDocument/2006/relationships" xmlns:p="http://schemas.openxmlformats.org/presentationml/2006/main">
  <p:tag name="SLIDE_TYPE" val="BODY"/>
</p:tagLst>
</file>

<file path=ppt/tags/tag243.xml><?xml version="1.0" encoding="utf-8"?>
<p:tagLst xmlns:a="http://schemas.openxmlformats.org/drawingml/2006/main" xmlns:r="http://schemas.openxmlformats.org/officeDocument/2006/relationships" xmlns:p="http://schemas.openxmlformats.org/presentationml/2006/main">
  <p:tag name="FONT STYLE" val="SANS SERIF"/>
  <p:tag name="TEXT_TYPE" val="PAGE HEADING"/>
</p:tagLst>
</file>

<file path=ppt/tags/tag244.xml><?xml version="1.0" encoding="utf-8"?>
<p:tagLst xmlns:a="http://schemas.openxmlformats.org/drawingml/2006/main" xmlns:r="http://schemas.openxmlformats.org/officeDocument/2006/relationships" xmlns:p="http://schemas.openxmlformats.org/presentationml/2006/main">
  <p:tag name="SLIDE_TYPE" val="BODY"/>
</p:tagLst>
</file>

<file path=ppt/tags/tag245.xml><?xml version="1.0" encoding="utf-8"?>
<p:tagLst xmlns:a="http://schemas.openxmlformats.org/drawingml/2006/main" xmlns:r="http://schemas.openxmlformats.org/officeDocument/2006/relationships" xmlns:p="http://schemas.openxmlformats.org/presentationml/2006/main">
  <p:tag name="FONT STYLE" val="SANS SERIF"/>
  <p:tag name="TEXT_TYPE" val="PAGE HEADING"/>
</p:tagLst>
</file>

<file path=ppt/tags/tag246.xml><?xml version="1.0" encoding="utf-8"?>
<p:tagLst xmlns:a="http://schemas.openxmlformats.org/drawingml/2006/main" xmlns:r="http://schemas.openxmlformats.org/officeDocument/2006/relationships" xmlns:p="http://schemas.openxmlformats.org/presentationml/2006/main">
  <p:tag name="SLIDE_TYPE" val="BODY"/>
</p:tagLst>
</file>

<file path=ppt/tags/tag247.xml><?xml version="1.0" encoding="utf-8"?>
<p:tagLst xmlns:a="http://schemas.openxmlformats.org/drawingml/2006/main" xmlns:r="http://schemas.openxmlformats.org/officeDocument/2006/relationships" xmlns:p="http://schemas.openxmlformats.org/presentationml/2006/main">
  <p:tag name="FONT STYLE" val="SANS SERIF"/>
  <p:tag name="TEXT_TYPE" val="PAGE HEADING"/>
</p:tagLst>
</file>

<file path=ppt/tags/tag248.xml><?xml version="1.0" encoding="utf-8"?>
<p:tagLst xmlns:a="http://schemas.openxmlformats.org/drawingml/2006/main" xmlns:r="http://schemas.openxmlformats.org/officeDocument/2006/relationships" xmlns:p="http://schemas.openxmlformats.org/presentationml/2006/main">
  <p:tag name="SLIDE_TYPE" val="BODY"/>
</p:tagLst>
</file>

<file path=ppt/tags/tag249.xml><?xml version="1.0" encoding="utf-8"?>
<p:tagLst xmlns:a="http://schemas.openxmlformats.org/drawingml/2006/main" xmlns:r="http://schemas.openxmlformats.org/officeDocument/2006/relationships" xmlns:p="http://schemas.openxmlformats.org/presentationml/2006/main">
  <p:tag name="FONT STYLE" val="SANS SERIF"/>
  <p:tag name="TEXT_TYPE" val="PAGE HEADING"/>
</p:tagLst>
</file>

<file path=ppt/tags/tag250.xml><?xml version="1.0" encoding="utf-8"?>
<p:tagLst xmlns:a="http://schemas.openxmlformats.org/drawingml/2006/main" xmlns:r="http://schemas.openxmlformats.org/officeDocument/2006/relationships" xmlns:p="http://schemas.openxmlformats.org/presentationml/2006/main">
  <p:tag name="SLIDE_TYPE" val="BODY"/>
</p:tagLst>
</file>

<file path=ppt/tags/tag251.xml><?xml version="1.0" encoding="utf-8"?>
<p:tagLst xmlns:a="http://schemas.openxmlformats.org/drawingml/2006/main" xmlns:r="http://schemas.openxmlformats.org/officeDocument/2006/relationships" xmlns:p="http://schemas.openxmlformats.org/presentationml/2006/main">
  <p:tag name="FONT STYLE" val="SANS SERIF"/>
  <p:tag name="TEXT_TYPE" val="PAGE HEADING"/>
</p:tagLst>
</file>

<file path=ppt/tags/tag1830.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1"/>
  <p:tag name="TOP" val="128.625"/>
  <p:tag name="LEFT" val="59.25"/>
  <p:tag name="WIDTH" val="155.5"/>
  <p:tag name="HEIGHT" val="28"/>
</p:tagLst>
</file>

<file path=ppt/tags/tag1840.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1"/>
  <p:tag name="TOP" val="128.625"/>
  <p:tag name="LEFT" val="59.25"/>
  <p:tag name="WIDTH" val="155.5"/>
  <p:tag name="HEIGHT" val="28"/>
</p:tagLst>
</file>

<file path=ppt/tags/tag1880.xml><?xml version="1.0" encoding="utf-8"?>
<p:tagLst xmlns:a="http://schemas.openxmlformats.org/drawingml/2006/main" xmlns:r="http://schemas.openxmlformats.org/officeDocument/2006/relationships" xmlns:p="http://schemas.openxmlformats.org/presentationml/2006/main">
  <p:tag name="FONT STYLE" val="SERIF FONT"/>
  <p:tag name="TEXT_TYPE" val="MESSAGE TEXT"/>
  <p:tag name="ISLOCKED" val="TRUE"/>
  <p:tag name="TOP" val="882500000000000E-13"/>
  <p:tag name="LEFT" val="331199989318848E-13"/>
  <p:tag name="HEIGHT" val="216000003814697E-13"/>
  <p:tag name="WIDTH" val="723599975585938E-12"/>
</p:tagLst>
</file>

<file path=ppt/tags/tag1900.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1"/>
  <p:tag name="TOP" val="128.625"/>
  <p:tag name="LEFT" val="59.25"/>
  <p:tag name="WIDTH" val="155.5"/>
  <p:tag name="HEIGHT" val="28"/>
</p:tagLst>
</file>

<file path=ppt/tags/tag1950.xml><?xml version="1.0" encoding="utf-8"?>
<p:tagLst xmlns:a="http://schemas.openxmlformats.org/drawingml/2006/main" xmlns:r="http://schemas.openxmlformats.org/officeDocument/2006/relationships" xmlns:p="http://schemas.openxmlformats.org/presentationml/2006/main">
  <p:tag name="FONT STYLE" val="SERIF FONT"/>
  <p:tag name="TEXT_TYPE" val="MESSAGE TEXT"/>
  <p:tag name="ISLOCKED" val="TRUE"/>
  <p:tag name="TOP" val="882500000000000E-13"/>
  <p:tag name="LEFT" val="331199989318848E-13"/>
  <p:tag name="HEIGHT" val="216000003814697E-13"/>
  <p:tag name="WIDTH" val="723599975585938E-12"/>
</p:tagLst>
</file>

<file path=ppt/tags/tag2000.xml><?xml version="1.0" encoding="utf-8"?>
<p:tagLst xmlns:a="http://schemas.openxmlformats.org/drawingml/2006/main" xmlns:r="http://schemas.openxmlformats.org/officeDocument/2006/relationships" xmlns:p="http://schemas.openxmlformats.org/presentationml/2006/main">
  <p:tag name="FONT STYLE" val="SERIF FONT"/>
  <p:tag name="TEXT_TYPE" val="MESSAGE TEXT"/>
  <p:tag name="ISLOCKED" val="TRUE"/>
  <p:tag name="TOP" val="882500000000000E-13"/>
  <p:tag name="LEFT" val="331199989318848E-13"/>
  <p:tag name="HEIGHT" val="216000003814697E-13"/>
  <p:tag name="WIDTH" val="723599975585938E-12"/>
</p:tagLst>
</file>

<file path=ppt/theme/theme1.xml><?xml version="1.0" encoding="utf-8"?>
<a:theme xmlns:a="http://schemas.openxmlformats.org/drawingml/2006/main" name="PresXpress_OnScreen_Theme">
  <a:themeElements>
    <a:clrScheme name="UBSNewColorsV2">
      <a:dk1>
        <a:sysClr val="windowText" lastClr="000000"/>
      </a:dk1>
      <a:lt1>
        <a:sysClr val="window" lastClr="FFFFFF"/>
      </a:lt1>
      <a:dk2>
        <a:srgbClr val="E60000"/>
      </a:dk2>
      <a:lt2>
        <a:srgbClr val="FFFFFF"/>
      </a:lt2>
      <a:accent1>
        <a:srgbClr val="4D3C2F"/>
      </a:accent1>
      <a:accent2>
        <a:srgbClr val="CFBD9B"/>
      </a:accent2>
      <a:accent3>
        <a:srgbClr val="C07156"/>
      </a:accent3>
      <a:accent4>
        <a:srgbClr val="E8C767"/>
      </a:accent4>
      <a:accent5>
        <a:srgbClr val="AEB0B3"/>
      </a:accent5>
      <a:accent6>
        <a:srgbClr val="A43725"/>
      </a:accent6>
      <a:hlink>
        <a:srgbClr val="0000FF"/>
      </a:hlink>
      <a:folHlink>
        <a:srgbClr val="800080"/>
      </a:folHlink>
    </a:clrScheme>
    <a:fontScheme name="UBS OnScreen Fontset">
      <a:majorFont>
        <a:latin typeface="UBSHeadline"/>
        <a:ea typeface="MS PGothic"/>
        <a:cs typeface=""/>
      </a:majorFont>
      <a:minorFont>
        <a:latin typeface="Frutiger 55 Roman"/>
        <a:ea typeface="MS PGothic"/>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9050">
          <a:solidFill>
            <a:srgbClr val="7B7D80"/>
          </a:solidFill>
        </a:ln>
      </a:spPr>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lgn="ctr">
          <a:defRPr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rgbClr val="7B7D80"/>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defRPr dirty="0"/>
        </a:defPPr>
      </a:lstStyle>
    </a:txDef>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3783FF"/>
      </a:dk2>
      <a:lt2>
        <a:srgbClr val="295595"/>
      </a:lt2>
      <a:accent1>
        <a:srgbClr val="295595"/>
      </a:accent1>
      <a:accent2>
        <a:srgbClr val="FFFFFF"/>
      </a:accent2>
      <a:accent3>
        <a:srgbClr val="FFFFFF"/>
      </a:accent3>
      <a:accent4>
        <a:srgbClr val="000000"/>
      </a:accent4>
      <a:accent5>
        <a:srgbClr val="ACB4C8"/>
      </a:accent5>
      <a:accent6>
        <a:srgbClr val="E7E7E7"/>
      </a:accent6>
      <a:hlink>
        <a:srgbClr val="000000"/>
      </a:hlink>
      <a:folHlink>
        <a:srgbClr val="DDF2FA"/>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outs:outSpaceData xmlns:outs="http://schemas.microsoft.com/office/2009/outspace/metadata">
  <outs:relatedDates>
    <outs:relatedDate>
      <outs:type>3</outs:type>
      <outs:displayName>Last Modified</outs:displayName>
      <outs:dateTime>2009-09-25T15:45:46Z</outs:dateTime>
      <outs:isPinned>true</outs:isPinned>
    </outs:relatedDate>
    <outs:relatedDate>
      <outs:type>2</outs:type>
      <outs:displayName>Created</outs:displayName>
      <outs:dateTime>2002-05-03T03:00:09Z</outs:dateTime>
      <outs:isPinned>true</outs:isPinned>
    </outs:relatedDate>
    <outs:relatedDate>
      <outs:type>4</outs:type>
      <outs:displayName>Last Printed</outs:displayName>
      <outs:dateTime>2002-05-24T21:26:29Z</outs:dateTime>
      <outs:isPinned>true</outs:isPinned>
    </outs:relatedDate>
  </outs:relatedDates>
  <outs:relatedDocuments>
    <outs:relatedDocument>
      <outs:type>2</outs:type>
      <outs:displayName>Other documents in current folder</outs:displayName>
      <outs:uri/>
      <outs:isPinned>true</outs:isPinned>
    </outs:relatedDocument>
  </outs:relatedDocuments>
  <outs:relatedPeople>
    <outs:relatedPeopleItem>
      <outs:category>Author</outs:category>
      <outs:people>
        <outs:relatedPerson>
          <outs:displayName>Eric Larrabee</outs:displayName>
          <outs:accountName/>
        </outs:relatedPerson>
      </outs:people>
      <outs:source>0</outs:source>
      <outs:isPinned>true</outs:isPinned>
    </outs:relatedPeopleItem>
    <outs:relatedPeopleItem>
      <outs:category>Last modified by</outs:category>
      <outs:people>
        <outs:relatedPerson>
          <outs:displayName>e43180838</outs:displayName>
          <outs:accountName/>
        </outs:relatedPerson>
      </outs:people>
      <outs:source>0</outs:source>
      <outs:isPinned>true</outs:isPinned>
    </outs:relatedPeopleItem>
    <outs:relatedPeopleItem>
      <outs:category>Manager</outs:category>
      <outs:people/>
      <outs:source>0</outs:source>
      <outs:isPinned>false</outs:isPinned>
    </outs:relatedPeopleItem>
  </outs:relatedPeople>
  <propertyMetadataList xmlns="http://schemas.microsoft.com/office/2009/outspace/metadata">
    <propertyMetadata>
      <type>0</type>
      <propertyId>2228224</propertyId>
      <propertyName/>
      <isPinned>true</isPinned>
    </propertyMetadata>
    <propertyMetadata>
      <type>0</type>
      <propertyId>1114115</propertyId>
      <propertyName/>
      <isPinned>true</isPinned>
    </propertyMetadata>
    <propertyMetadata>
      <type>0</type>
      <propertyId>1114117</propertyId>
      <propertyName/>
      <isPinned>true</isPinned>
    </propertyMetadata>
    <propertyMetadata>
      <type>0</type>
      <propertyId>589825</propertyId>
      <propertyName/>
      <isPinned>false</isPinned>
    </propertyMetadata>
    <propertyMetadata>
      <type>0</type>
      <propertyId>1114116</propertyId>
      <propertyName/>
      <isPinned>false</isPinned>
    </propertyMetadata>
    <propertyMetadata>
      <type>0</type>
      <propertyId>14</propertyId>
      <propertyName/>
      <isPinned>true</isPinned>
    </propertyMetadata>
    <propertyMetadata>
      <type>0</type>
      <propertyId>8</propertyId>
      <propertyName/>
      <isPinned>true</isPinned>
    </propertyMetadata>
    <propertyMetadata>
      <type>0</type>
      <propertyId>6</propertyId>
      <propertyName/>
      <isPinned>false</isPinned>
    </propertyMetadata>
    <propertyMetadata>
      <type>0</type>
      <propertyId>1114118</propertyId>
      <propertyName/>
      <isPinned>false</isPinned>
    </propertyMetadata>
    <propertyMetadata>
      <type>0</type>
      <propertyId>1179649</propertyId>
      <propertyName/>
      <isPinned>false</isPinned>
    </propertyMetadata>
    <propertyMetadata>
      <type>0</type>
      <propertyId>655365</propertyId>
      <propertyName/>
      <isPinned>false</isPinned>
    </propertyMetadata>
    <propertyMetadata>
      <type>0</type>
      <propertyId>1</propertyId>
      <propertyName/>
      <isPinned>false</isPinned>
    </propertyMetadata>
    <propertyMetadata>
      <type>0</type>
      <propertyId>0</propertyId>
      <propertyName/>
      <isPinned>true</isPinned>
    </propertyMetadata>
    <propertyMetadata>
      <type>0</type>
      <propertyId>13</propertyId>
      <propertyName/>
      <isPinned>false</isPinned>
    </propertyMetadata>
    <propertyMetadata>
      <type>0</type>
      <propertyId>1179653</propertyId>
      <propertyName/>
      <isPinned>false</isPinned>
    </propertyMetadata>
    <propertyMetadata>
      <type>0</type>
      <propertyId>22</propertyId>
      <propertyName/>
      <isPinned>false</isPinned>
    </propertyMetadata>
  </propertyMetadataList>
  <outs:corruptMetadataWasLost/>
</outs:outSpaceData>
</file>

<file path=customXml/itemProps1.xml><?xml version="1.0" encoding="utf-8"?>
<ds:datastoreItem xmlns:ds="http://schemas.openxmlformats.org/officeDocument/2006/customXml" ds:itemID="{38396EF9-1456-4C26-847A-906984625B92}">
  <ds:schemaRefs>
    <ds:schemaRef ds:uri="http://schemas.microsoft.com/office/2009/outspace/metadata"/>
  </ds:schemaRefs>
</ds:datastoreItem>
</file>

<file path=docProps/app.xml><?xml version="1.0" encoding="utf-8"?>
<Properties xmlns="http://schemas.openxmlformats.org/officeDocument/2006/extended-properties" xmlns:vt="http://schemas.openxmlformats.org/officeDocument/2006/docPropsVTypes">
  <Template/>
  <TotalTime>0</TotalTime>
  <Words>3015</Words>
  <Application>Microsoft Office PowerPoint</Application>
  <PresentationFormat>Custom</PresentationFormat>
  <Paragraphs>515</Paragraphs>
  <Slides>41</Slides>
  <Notes>19</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41</vt:i4>
      </vt:variant>
    </vt:vector>
  </HeadingPairs>
  <TitlesOfParts>
    <vt:vector size="51" baseType="lpstr">
      <vt:lpstr>Arial Unicode MS</vt:lpstr>
      <vt:lpstr>Arial</vt:lpstr>
      <vt:lpstr>Cambria Math</vt:lpstr>
      <vt:lpstr>Frutiger 45 Light</vt:lpstr>
      <vt:lpstr>Frutiger 55 Roman</vt:lpstr>
      <vt:lpstr>Symbol</vt:lpstr>
      <vt:lpstr>Times New Roman</vt:lpstr>
      <vt:lpstr>UBSHeadline</vt:lpstr>
      <vt:lpstr>PresXpress_OnScreen_Theme</vt:lpstr>
      <vt:lpstr>Equation</vt:lpstr>
      <vt:lpstr>Introduction to Monte Carlo Simulation in Finance</vt:lpstr>
      <vt:lpstr>Table of contents</vt:lpstr>
      <vt:lpstr>Section 1</vt:lpstr>
      <vt:lpstr>Counterparty Credit Risk - Introduction</vt:lpstr>
      <vt:lpstr>Counterparty Credit Risk - Introduction</vt:lpstr>
      <vt:lpstr>Counterparty Credit Risk - Introduction</vt:lpstr>
      <vt:lpstr>Counterparty Credit Risk - Introduction</vt:lpstr>
      <vt:lpstr>Counterparty Credit Risk - Introduction</vt:lpstr>
      <vt:lpstr>Modelling Counterparty Credit Risk</vt:lpstr>
      <vt:lpstr>Counterparty Credit Risk - Introduction</vt:lpstr>
      <vt:lpstr>Counterparty Credit Risk - Introduction</vt:lpstr>
      <vt:lpstr>Counterparty Credit Risk - Introduction</vt:lpstr>
      <vt:lpstr>Counterparty Credit Risk - Introduction</vt:lpstr>
      <vt:lpstr>Section 2</vt:lpstr>
      <vt:lpstr>Monte Carlo Simulations</vt:lpstr>
      <vt:lpstr>Monte Carlo Simulations</vt:lpstr>
      <vt:lpstr>Monte Carlo Simulations</vt:lpstr>
      <vt:lpstr>Modelling Counterparty Credit Risk</vt:lpstr>
      <vt:lpstr>Monte Carlo Simulations</vt:lpstr>
      <vt:lpstr>Modelling Counterparty Credit Risk</vt:lpstr>
      <vt:lpstr>Modelling Counterparty Credit Risk</vt:lpstr>
      <vt:lpstr>Section 3</vt:lpstr>
      <vt:lpstr>Modelling Counterparty Credit Risk</vt:lpstr>
      <vt:lpstr>Modelling Counterparty Credit Risk</vt:lpstr>
      <vt:lpstr>Modelling Counterparty Credit Risk</vt:lpstr>
      <vt:lpstr>Modelling Counterparty Credit Risk</vt:lpstr>
      <vt:lpstr>Section 5</vt:lpstr>
      <vt:lpstr>Backward Induction and American Monte-Carlo Methods</vt:lpstr>
      <vt:lpstr>Backward Induction and American Monte-Carlo Methods</vt:lpstr>
      <vt:lpstr>Backward Induction and American Monte-Carlo Methods</vt:lpstr>
      <vt:lpstr>Backward Induction and American Monte- Carlo Methods</vt:lpstr>
      <vt:lpstr>Walkthrough</vt:lpstr>
      <vt:lpstr>Walkthrough</vt:lpstr>
      <vt:lpstr>Walkthrough</vt:lpstr>
      <vt:lpstr>Walkthrough</vt:lpstr>
      <vt:lpstr>Walkthrough</vt:lpstr>
      <vt:lpstr>Walkthrough</vt:lpstr>
      <vt:lpstr>Walkthrough</vt:lpstr>
      <vt:lpstr>Walkthrough</vt:lpstr>
      <vt:lpstr>Walkthrough</vt:lpstr>
      <vt:lpstr>Walkthrough</vt:lpstr>
    </vt:vector>
  </TitlesOfParts>
  <Company>UBS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Larrabee, Eric</dc:creator>
  <cp:lastModifiedBy>Janiczko, Tomasz</cp:lastModifiedBy>
  <cp:revision>141</cp:revision>
  <cp:lastPrinted>2002-05-24T21:26:29Z</cp:lastPrinted>
  <dcterms:created xsi:type="dcterms:W3CDTF">2002-05-03T03:00:09Z</dcterms:created>
  <dcterms:modified xsi:type="dcterms:W3CDTF">2026-03-20T09:10:59Z</dcterms:modified>
  <cp:version>3.4.01</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UniqueID">
    <vt:lpwstr/>
  </property>
  <property fmtid="{D5CDD505-2E9C-101B-9397-08002B2CF9AE}" pid="3" name="PresPrintTemplate">
    <vt:lpwstr>True</vt:lpwstr>
  </property>
  <property fmtid="{D5CDD505-2E9C-101B-9397-08002B2CF9AE}" pid="4" name="PresPrintOnScreen">
    <vt:lpwstr>True</vt:lpwstr>
  </property>
  <property fmtid="{D5CDD505-2E9C-101B-9397-08002B2CF9AE}" pid="5" name="split-s">
    <vt:lpwstr>0</vt:lpwstr>
  </property>
  <property fmtid="{D5CDD505-2E9C-101B-9397-08002B2CF9AE}" pid="6" name="split-a">
    <vt:lpwstr>0</vt:lpwstr>
  </property>
  <property fmtid="{D5CDD505-2E9C-101B-9397-08002B2CF9AE}" pid="7" name="CreatedAddinVersion">
    <vt:lpwstr>3.4.03</vt:lpwstr>
  </property>
  <property fmtid="{D5CDD505-2E9C-101B-9397-08002B2CF9AE}" pid="8" name="CurrentAddinVersion">
    <vt:lpwstr>3.3.02</vt:lpwstr>
  </property>
  <property fmtid="{D5CDD505-2E9C-101B-9397-08002B2CF9AE}" pid="9" name="CreateDate">
    <vt:lpwstr>3/12/2018 9:12:02 AM</vt:lpwstr>
  </property>
  <property fmtid="{D5CDD505-2E9C-101B-9397-08002B2CF9AE}" pid="10" name="CreatedTemplateVersion">
    <vt:lpwstr>3.4.03</vt:lpwstr>
  </property>
  <property fmtid="{D5CDD505-2E9C-101B-9397-08002B2CF9AE}" pid="11" name="MOST RECENT UPGRADE">
    <vt:lpwstr>0</vt:lpwstr>
  </property>
  <property fmtid="{D5CDD505-2E9C-101B-9397-08002B2CF9AE}" pid="12" name="CoverLogoIncluded">
    <vt:lpwstr>True</vt:lpwstr>
  </property>
  <property fmtid="{D5CDD505-2E9C-101B-9397-08002B2CF9AE}" pid="13" name="CoverLogoID">
    <vt:lpwstr>plain_co</vt:lpwstr>
  </property>
  <property fmtid="{D5CDD505-2E9C-101B-9397-08002B2CF9AE}" pid="14" name="CoverPage.Ppt">
    <vt:lpwstr>True</vt:lpwstr>
  </property>
  <property fmtid="{D5CDD505-2E9C-101B-9397-08002B2CF9AE}" pid="15" name="CoverPhoto.Ppt">
    <vt:lpwstr/>
  </property>
  <property fmtid="{D5CDD505-2E9C-101B-9397-08002B2CF9AE}" pid="16" name="CoverPhotoPath">
    <vt:lpwstr/>
  </property>
  <property fmtid="{D5CDD505-2E9C-101B-9397-08002B2CF9AE}" pid="17" name="CoverPhotoIncluded">
    <vt:lpwstr>False</vt:lpwstr>
  </property>
  <property fmtid="{D5CDD505-2E9C-101B-9397-08002B2CF9AE}" pid="18" name="CoverPhotoIsCustom">
    <vt:lpwstr>False</vt:lpwstr>
  </property>
  <property fmtid="{D5CDD505-2E9C-101B-9397-08002B2CF9AE}" pid="19" name="InsideLogoIncluded">
    <vt:lpwstr>True</vt:lpwstr>
  </property>
  <property fmtid="{D5CDD505-2E9C-101B-9397-08002B2CF9AE}" pid="20" name="InsideLogoID">
    <vt:lpwstr>plain_co</vt:lpwstr>
  </property>
  <property fmtid="{D5CDD505-2E9C-101B-9397-08002B2CF9AE}" pid="21" name="IDStampItems">
    <vt:lpwstr>15</vt:lpwstr>
  </property>
  <property fmtid="{D5CDD505-2E9C-101B-9397-08002B2CF9AE}" pid="22" name="TOC.Ppt">
    <vt:lpwstr>True</vt:lpwstr>
  </property>
  <property fmtid="{D5CDD505-2E9C-101B-9397-08002B2CF9AE}" pid="23" name="TocSecLevel1">
    <vt:lpwstr>1</vt:lpwstr>
  </property>
  <property fmtid="{D5CDD505-2E9C-101B-9397-08002B2CF9AE}" pid="24" name="TocSecLevel2">
    <vt:lpwstr>2</vt:lpwstr>
  </property>
  <property fmtid="{D5CDD505-2E9C-101B-9397-08002B2CF9AE}" pid="25" name="TocSecLevel3">
    <vt:lpwstr>3</vt:lpwstr>
  </property>
  <property fmtid="{D5CDD505-2E9C-101B-9397-08002B2CF9AE}" pid="26" name="TocApdxLevel1">
    <vt:lpwstr>4</vt:lpwstr>
  </property>
  <property fmtid="{D5CDD505-2E9C-101B-9397-08002B2CF9AE}" pid="27" name="TocApdxLevel2">
    <vt:lpwstr>5</vt:lpwstr>
  </property>
  <property fmtid="{D5CDD505-2E9C-101B-9397-08002B2CF9AE}" pid="28" name="TocApdxLevel3">
    <vt:lpwstr>6</vt:lpwstr>
  </property>
  <property fmtid="{D5CDD505-2E9C-101B-9397-08002B2CF9AE}" pid="29" name="SPageNumbering1.Ppt">
    <vt:lpwstr>True</vt:lpwstr>
  </property>
  <property fmtid="{D5CDD505-2E9C-101B-9397-08002B2CF9AE}" pid="30" name="SPageNumbering2.Ppt">
    <vt:lpwstr>False</vt:lpwstr>
  </property>
  <property fmtid="{D5CDD505-2E9C-101B-9397-08002B2CF9AE}" pid="31" name="SPageNumbering3.Ppt">
    <vt:lpwstr>False</vt:lpwstr>
  </property>
  <property fmtid="{D5CDD505-2E9C-101B-9397-08002B2CF9AE}" pid="32" name="APageNumbering1.Ppt">
    <vt:lpwstr>True</vt:lpwstr>
  </property>
  <property fmtid="{D5CDD505-2E9C-101B-9397-08002B2CF9AE}" pid="33" name="APageNumbering2.Ppt">
    <vt:lpwstr>False</vt:lpwstr>
  </property>
  <property fmtid="{D5CDD505-2E9C-101B-9397-08002B2CF9AE}" pid="34" name="APageNumbering3.Ppt">
    <vt:lpwstr>False</vt:lpwstr>
  </property>
  <property fmtid="{D5CDD505-2E9C-101B-9397-08002B2CF9AE}" pid="35" name="Language">
    <vt:lpwstr>1033</vt:lpwstr>
  </property>
  <property fmtid="{D5CDD505-2E9C-101B-9397-08002B2CF9AE}" pid="36" name="CCSTemplate">
    <vt:lpwstr>False</vt:lpwstr>
  </property>
  <property fmtid="{D5CDD505-2E9C-101B-9397-08002B2CF9AE}" pid="37" name="ContactPage.Ppt">
    <vt:lpwstr>True</vt:lpwstr>
  </property>
  <property fmtid="{D5CDD505-2E9C-101B-9397-08002B2CF9AE}" pid="38" name="CompanyName">
    <vt:lpwstr/>
  </property>
  <property fmtid="{D5CDD505-2E9C-101B-9397-08002B2CF9AE}" pid="39" name="CompanyNameExtension">
    <vt:lpwstr/>
  </property>
  <property fmtid="{D5CDD505-2E9C-101B-9397-08002B2CF9AE}" pid="40" name="CompanyDescriptor">
    <vt:lpwstr/>
  </property>
  <property fmtid="{D5CDD505-2E9C-101B-9397-08002B2CF9AE}" pid="41" name="CompanyType">
    <vt:lpwstr>0</vt:lpwstr>
  </property>
  <property fmtid="{D5CDD505-2E9C-101B-9397-08002B2CF9AE}" pid="42" name="BusinessUnit">
    <vt:lpwstr>UBSCC</vt:lpwstr>
  </property>
  <property fmtid="{D5CDD505-2E9C-101B-9397-08002B2CF9AE}" pid="43" name="Address.Office">
    <vt:lpwstr/>
  </property>
  <property fmtid="{D5CDD505-2E9C-101B-9397-08002B2CF9AE}" pid="44" name="Fax1.Office">
    <vt:lpwstr/>
  </property>
  <property fmtid="{D5CDD505-2E9C-101B-9397-08002B2CF9AE}" pid="45" name="Phone1.Office">
    <vt:lpwstr/>
  </property>
  <property fmtid="{D5CDD505-2E9C-101B-9397-08002B2CF9AE}" pid="46" name="CompanyID">
    <vt:lpwstr/>
  </property>
  <property fmtid="{D5CDD505-2E9C-101B-9397-08002B2CF9AE}" pid="47" name="CompanyLCID">
    <vt:lpwstr>0</vt:lpwstr>
  </property>
  <property fmtid="{D5CDD505-2E9C-101B-9397-08002B2CF9AE}" pid="48" name="AuthorInfoIncluded">
    <vt:lpwstr>False</vt:lpwstr>
  </property>
  <property fmtid="{D5CDD505-2E9C-101B-9397-08002B2CF9AE}" pid="49" name="AuthorInfoName">
    <vt:lpwstr/>
  </property>
  <property fmtid="{D5CDD505-2E9C-101B-9397-08002B2CF9AE}" pid="50" name="AuthorInfoDetails1">
    <vt:lpwstr/>
  </property>
  <property fmtid="{D5CDD505-2E9C-101B-9397-08002B2CF9AE}" pid="51" name="AuthorInfoDetails2">
    <vt:lpwstr/>
  </property>
  <property fmtid="{D5CDD505-2E9C-101B-9397-08002B2CF9AE}" pid="52" name="AuthorInfoEmail">
    <vt:lpwstr/>
  </property>
  <property fmtid="{D5CDD505-2E9C-101B-9397-08002B2CF9AE}" pid="53" name="AuthorInfoPhone">
    <vt:lpwstr/>
  </property>
  <property fmtid="{D5CDD505-2E9C-101B-9397-08002B2CF9AE}" pid="54" name="Endorsement">
    <vt:lpwstr/>
  </property>
  <property fmtid="{D5CDD505-2E9C-101B-9397-08002B2CF9AE}" pid="55" name="OnScreenShowPageNums">
    <vt:lpwstr>False</vt:lpwstr>
  </property>
  <property fmtid="{D5CDD505-2E9C-101B-9397-08002B2CF9AE}" pid="56" name="OnScreenTOCHyperlink">
    <vt:lpwstr>True</vt:lpwstr>
  </property>
  <property fmtid="{D5CDD505-2E9C-101B-9397-08002B2CF9AE}" pid="57" name="SectionDivider.Ppt">
    <vt:lpwstr>True</vt:lpwstr>
  </property>
  <property fmtid="{D5CDD505-2E9C-101B-9397-08002B2CF9AE}" pid="58" name="IDStampDateFormatID">
    <vt:lpwstr>F1</vt:lpwstr>
  </property>
  <property fmtid="{D5CDD505-2E9C-101B-9397-08002B2CF9AE}" pid="59" name="IDStampDateFormat-T">
    <vt:lpwstr>MMMM d, yyyy h:mm AM/PM</vt:lpwstr>
  </property>
  <property fmtid="{D5CDD505-2E9C-101B-9397-08002B2CF9AE}" pid="60" name="CalendarDateFormatID">
    <vt:lpwstr>F1</vt:lpwstr>
  </property>
  <property fmtid="{D5CDD505-2E9C-101B-9397-08002B2CF9AE}" pid="61" name="CalendarDateFormat-T">
    <vt:lpwstr>MMMM yyyy</vt:lpwstr>
  </property>
  <property fmtid="{D5CDD505-2E9C-101B-9397-08002B2CF9AE}" pid="62" name="CalendarStartDay">
    <vt:lpwstr>1</vt:lpwstr>
  </property>
  <property fmtid="{D5CDD505-2E9C-101B-9397-08002B2CF9AE}" pid="63" name="CoverPageDateFormatFilter">
    <vt:lpwstr>1</vt:lpwstr>
  </property>
  <property fmtid="{D5CDD505-2E9C-101B-9397-08002B2CF9AE}" pid="64" name="CoverPageDateFormatID">
    <vt:lpwstr>F1</vt:lpwstr>
  </property>
  <property fmtid="{D5CDD505-2E9C-101B-9397-08002B2CF9AE}" pid="65" name="CoverPageDateFormat-T">
    <vt:lpwstr>MMMM d, yyyy</vt:lpwstr>
  </property>
  <property fmtid="{D5CDD505-2E9C-101B-9397-08002B2CF9AE}" pid="66" name="DisclaimerPage.Ppt">
    <vt:lpwstr>False</vt:lpwstr>
  </property>
  <property fmtid="{D5CDD505-2E9C-101B-9397-08002B2CF9AE}" pid="67" name="DisclaimerID.Ppt">
    <vt:lpwstr>D1</vt:lpwstr>
  </property>
  <property fmtid="{D5CDD505-2E9C-101B-9397-08002B2CF9AE}" pid="68" name="UseInternalUBSFont.Office">
    <vt:lpwstr>True</vt:lpwstr>
  </property>
  <property fmtid="{D5CDD505-2E9C-101B-9397-08002B2CF9AE}" pid="69" name="EmbedFonts">
    <vt:lpwstr>False</vt:lpwstr>
  </property>
  <property fmtid="{D5CDD505-2E9C-101B-9397-08002B2CF9AE}" pid="70" name="TableSpacerBorder">
    <vt:lpwstr>False</vt:lpwstr>
  </property>
  <property fmtid="{D5CDD505-2E9C-101B-9397-08002B2CF9AE}" pid="71" name="Address-T">
    <vt:lpwstr>&lt;&lt;Address&gt;&gt;</vt:lpwstr>
  </property>
  <property fmtid="{D5CDD505-2E9C-101B-9397-08002B2CF9AE}" pid="72" name="AmountDealType-T">
    <vt:lpwstr>&lt;&lt;Amt./deal-Type&gt;&gt;</vt:lpwstr>
  </property>
  <property fmtid="{D5CDD505-2E9C-101B-9397-08002B2CF9AE}" pid="73" name="ContactDetails-T">
    <vt:lpwstr>&lt;&lt;Contact details&gt;&gt;</vt:lpwstr>
  </property>
  <property fmtid="{D5CDD505-2E9C-101B-9397-08002B2CF9AE}" pid="74" name="ContactName-T">
    <vt:lpwstr>&lt;&lt;Contact name&gt;&gt;</vt:lpwstr>
  </property>
  <property fmtid="{D5CDD505-2E9C-101B-9397-08002B2CF9AE}" pid="75" name="Date-T">
    <vt:lpwstr>&lt;&lt;Date&gt;&gt;</vt:lpwstr>
  </property>
  <property fmtid="{D5CDD505-2E9C-101B-9397-08002B2CF9AE}" pid="76" name="EMailAddress-T">
    <vt:lpwstr>&lt;&lt;Email address&gt;&gt;</vt:lpwstr>
  </property>
  <property fmtid="{D5CDD505-2E9C-101B-9397-08002B2CF9AE}" pid="77" name="LegalEntity-T">
    <vt:lpwstr>&lt;&lt;Legal entity&gt;&gt;</vt:lpwstr>
  </property>
  <property fmtid="{D5CDD505-2E9C-101B-9397-08002B2CF9AE}" pid="78" name="Logo-T">
    <vt:lpwstr>&lt;&lt;Logo&gt;&gt;</vt:lpwstr>
  </property>
  <property fmtid="{D5CDD505-2E9C-101B-9397-08002B2CF9AE}" pid="79" name="Summary-T">
    <vt:lpwstr>&lt;&lt;Summary&gt;&gt;</vt:lpwstr>
  </property>
  <property fmtid="{D5CDD505-2E9C-101B-9397-08002B2CF9AE}" pid="80" name="TableHeading-T">
    <vt:lpwstr>&lt;&lt;Table heading&gt;&gt;</vt:lpwstr>
  </property>
  <property fmtid="{D5CDD505-2E9C-101B-9397-08002B2CF9AE}" pid="81" name="TableSubheading-T">
    <vt:lpwstr>&lt;&lt;Table subheading&gt;&gt;</vt:lpwstr>
  </property>
  <property fmtid="{D5CDD505-2E9C-101B-9397-08002B2CF9AE}" pid="82" name="Subheading-T">
    <vt:lpwstr>&lt;&lt;Table subheading&gt;&gt;</vt:lpwstr>
  </property>
  <property fmtid="{D5CDD505-2E9C-101B-9397-08002B2CF9AE}" pid="83" name="TelephoneNumber-T">
    <vt:lpwstr>&lt;&lt;Telephone number&gt;&gt;</vt:lpwstr>
  </property>
  <property fmtid="{D5CDD505-2E9C-101B-9397-08002B2CF9AE}" pid="84" name="Text-T">
    <vt:lpwstr>&lt;&lt;Text&gt;&gt;</vt:lpwstr>
  </property>
  <property fmtid="{D5CDD505-2E9C-101B-9397-08002B2CF9AE}" pid="85" name="WebAddress-T">
    <vt:lpwstr>&lt;&lt;Web address</vt:lpwstr>
  </property>
  <property fmtid="{D5CDD505-2E9C-101B-9397-08002B2CF9AE}" pid="86" name="Year-T">
    <vt:lpwstr>&lt;&lt;Year&gt;&gt;</vt:lpwstr>
  </property>
  <property fmtid="{D5CDD505-2E9C-101B-9397-08002B2CF9AE}" pid="87" name="Appendix-T">
    <vt:lpwstr>Appendix</vt:lpwstr>
  </property>
  <property fmtid="{D5CDD505-2E9C-101B-9397-08002B2CF9AE}" pid="88" name="Appendices-T">
    <vt:lpwstr>Appendices</vt:lpwstr>
  </property>
  <property fmtid="{D5CDD505-2E9C-101B-9397-08002B2CF9AE}" pid="89" name="AwardTitle-T">
    <vt:lpwstr>&lt;&lt;Award title&gt;&gt;</vt:lpwstr>
  </property>
  <property fmtid="{D5CDD505-2E9C-101B-9397-08002B2CF9AE}" pid="90" name="AwardSubTitle-T">
    <vt:lpwstr>&lt;&lt;Award subtitle&gt;&gt;</vt:lpwstr>
  </property>
  <property fmtid="{D5CDD505-2E9C-101B-9397-08002B2CF9AE}" pid="91" name="BiographicalDetails-T">
    <vt:lpwstr>&lt;&lt;Biographical details&gt;&gt;</vt:lpwstr>
  </property>
  <property fmtid="{D5CDD505-2E9C-101B-9397-08002B2CF9AE}" pid="92" name="Conclusion-T">
    <vt:lpwstr>&lt;&lt;Conclusion&gt;&gt;</vt:lpwstr>
  </property>
  <property fmtid="{D5CDD505-2E9C-101B-9397-08002B2CF9AE}" pid="93" name="ContactInformation-T">
    <vt:lpwstr>Contact information</vt:lpwstr>
  </property>
  <property fmtid="{D5CDD505-2E9C-101B-9397-08002B2CF9AE}" pid="94" name="Continued-T">
    <vt:lpwstr>Continued</vt:lpwstr>
  </property>
  <property fmtid="{D5CDD505-2E9C-101B-9397-08002B2CF9AE}" pid="95" name="DividerTitle-T">
    <vt:lpwstr>&lt;&lt;Divider title&gt;&gt;</vt:lpwstr>
  </property>
  <property fmtid="{D5CDD505-2E9C-101B-9397-08002B2CF9AE}" pid="96" name="Draft-T">
    <vt:lpwstr>Draft</vt:lpwstr>
  </property>
  <property fmtid="{D5CDD505-2E9C-101B-9397-08002B2CF9AE}" pid="97" name="LayoutHeading-T">
    <vt:lpwstr>&lt;&lt;Layout heading&gt;&gt;</vt:lpwstr>
  </property>
  <property fmtid="{D5CDD505-2E9C-101B-9397-08002B2CF9AE}" pid="98" name="MessageText-T">
    <vt:lpwstr>&lt;&lt;Message&gt;&gt;</vt:lpwstr>
  </property>
  <property fmtid="{D5CDD505-2E9C-101B-9397-08002B2CF9AE}" pid="99" name="Name-T">
    <vt:lpwstr>&lt;&lt;Name&gt;&gt;</vt:lpwstr>
  </property>
  <property fmtid="{D5CDD505-2E9C-101B-9397-08002B2CF9AE}" pid="100" name="Notes-T">
    <vt:lpwstr>Notes</vt:lpwstr>
  </property>
  <property fmtid="{D5CDD505-2E9C-101B-9397-08002B2CF9AE}" pid="101" name="PageHeading-T">
    <vt:lpwstr>&lt;&lt;Page heading&gt;&gt;</vt:lpwstr>
  </property>
  <property fmtid="{D5CDD505-2E9C-101B-9397-08002B2CF9AE}" pid="102" name="PresentationTitle-T">
    <vt:lpwstr>&lt;&lt;Presentation title&gt;&gt;</vt:lpwstr>
  </property>
  <property fmtid="{D5CDD505-2E9C-101B-9397-08002B2CF9AE}" pid="103" name="PresentationSubTitle-T">
    <vt:lpwstr>&lt;&lt;Presentation subtitle&gt;&gt;</vt:lpwstr>
  </property>
  <property fmtid="{D5CDD505-2E9C-101B-9397-08002B2CF9AE}" pid="104" name="PresentationPresenter-T">
    <vt:lpwstr>&lt;&lt;Presentation presenter&gt;&gt;</vt:lpwstr>
  </property>
  <property fmtid="{D5CDD505-2E9C-101B-9397-08002B2CF9AE}" pid="105" name="PresPresenterFunction-T">
    <vt:lpwstr>&lt;&lt;Presenter function&gt;&gt;</vt:lpwstr>
  </property>
  <property fmtid="{D5CDD505-2E9C-101B-9397-08002B2CF9AE}" pid="106" name="Quote-T">
    <vt:lpwstr>&lt;&lt;Quote&gt;&gt;</vt:lpwstr>
  </property>
  <property fmtid="{D5CDD505-2E9C-101B-9397-08002B2CF9AE}" pid="107" name="QuoteSource-T">
    <vt:lpwstr>&lt;&lt;Quote source&gt;&gt;</vt:lpwstr>
  </property>
  <property fmtid="{D5CDD505-2E9C-101B-9397-08002B2CF9AE}" pid="108" name="Section-T">
    <vt:lpwstr>Section</vt:lpwstr>
  </property>
  <property fmtid="{D5CDD505-2E9C-101B-9397-08002B2CF9AE}" pid="109" name="Sections-T">
    <vt:lpwstr>Sections</vt:lpwstr>
  </property>
  <property fmtid="{D5CDD505-2E9C-101B-9397-08002B2CF9AE}" pid="110" name="Source-T">
    <vt:lpwstr>Source</vt:lpwstr>
  </property>
  <property fmtid="{D5CDD505-2E9C-101B-9397-08002B2CF9AE}" pid="111" name="Subappendix-T">
    <vt:lpwstr>Subappendix</vt:lpwstr>
  </property>
  <property fmtid="{D5CDD505-2E9C-101B-9397-08002B2CF9AE}" pid="112" name="Subsection-T">
    <vt:lpwstr>Subsection</vt:lpwstr>
  </property>
  <property fmtid="{D5CDD505-2E9C-101B-9397-08002B2CF9AE}" pid="113" name="Subsubappendix-T">
    <vt:lpwstr>Subsubappendix</vt:lpwstr>
  </property>
  <property fmtid="{D5CDD505-2E9C-101B-9397-08002B2CF9AE}" pid="114" name="Subsubsection-T">
    <vt:lpwstr>Subsubsection</vt:lpwstr>
  </property>
  <property fmtid="{D5CDD505-2E9C-101B-9397-08002B2CF9AE}" pid="115" name="TableOfContents-T">
    <vt:lpwstr>Table of contents</vt:lpwstr>
  </property>
  <property fmtid="{D5CDD505-2E9C-101B-9397-08002B2CF9AE}" pid="116" name="Title-T">
    <vt:lpwstr>&lt;&lt;Title&gt;&gt;</vt:lpwstr>
  </property>
  <property fmtid="{D5CDD505-2E9C-101B-9397-08002B2CF9AE}" pid="117" name="Security-T">
    <vt:lpwstr>Public</vt:lpwstr>
  </property>
  <property fmtid="{D5CDD505-2E9C-101B-9397-08002B2CF9AE}" pid="118" name="Month1">
    <vt:lpwstr>January</vt:lpwstr>
  </property>
  <property fmtid="{D5CDD505-2E9C-101B-9397-08002B2CF9AE}" pid="119" name="Month2">
    <vt:lpwstr>February</vt:lpwstr>
  </property>
  <property fmtid="{D5CDD505-2E9C-101B-9397-08002B2CF9AE}" pid="120" name="Month3">
    <vt:lpwstr>March</vt:lpwstr>
  </property>
  <property fmtid="{D5CDD505-2E9C-101B-9397-08002B2CF9AE}" pid="121" name="Month4">
    <vt:lpwstr>April</vt:lpwstr>
  </property>
  <property fmtid="{D5CDD505-2E9C-101B-9397-08002B2CF9AE}" pid="122" name="Month5">
    <vt:lpwstr>May</vt:lpwstr>
  </property>
  <property fmtid="{D5CDD505-2E9C-101B-9397-08002B2CF9AE}" pid="123" name="Month6">
    <vt:lpwstr>June</vt:lpwstr>
  </property>
  <property fmtid="{D5CDD505-2E9C-101B-9397-08002B2CF9AE}" pid="124" name="Month7">
    <vt:lpwstr>July</vt:lpwstr>
  </property>
  <property fmtid="{D5CDD505-2E9C-101B-9397-08002B2CF9AE}" pid="125" name="Month8">
    <vt:lpwstr>August</vt:lpwstr>
  </property>
  <property fmtid="{D5CDD505-2E9C-101B-9397-08002B2CF9AE}" pid="126" name="Month9">
    <vt:lpwstr>September</vt:lpwstr>
  </property>
  <property fmtid="{D5CDD505-2E9C-101B-9397-08002B2CF9AE}" pid="127" name="Month10">
    <vt:lpwstr>October</vt:lpwstr>
  </property>
  <property fmtid="{D5CDD505-2E9C-101B-9397-08002B2CF9AE}" pid="128" name="Month11">
    <vt:lpwstr>November</vt:lpwstr>
  </property>
  <property fmtid="{D5CDD505-2E9C-101B-9397-08002B2CF9AE}" pid="129" name="Month12">
    <vt:lpwstr>December</vt:lpwstr>
  </property>
  <property fmtid="{D5CDD505-2E9C-101B-9397-08002B2CF9AE}" pid="130" name="D1">
    <vt:lpwstr>S</vt:lpwstr>
  </property>
  <property fmtid="{D5CDD505-2E9C-101B-9397-08002B2CF9AE}" pid="131" name="D2">
    <vt:lpwstr>M</vt:lpwstr>
  </property>
  <property fmtid="{D5CDD505-2E9C-101B-9397-08002B2CF9AE}" pid="132" name="D3">
    <vt:lpwstr>T</vt:lpwstr>
  </property>
  <property fmtid="{D5CDD505-2E9C-101B-9397-08002B2CF9AE}" pid="133" name="D4">
    <vt:lpwstr>W</vt:lpwstr>
  </property>
  <property fmtid="{D5CDD505-2E9C-101B-9397-08002B2CF9AE}" pid="134" name="D5">
    <vt:lpwstr>T</vt:lpwstr>
  </property>
  <property fmtid="{D5CDD505-2E9C-101B-9397-08002B2CF9AE}" pid="135" name="D6">
    <vt:lpwstr>F</vt:lpwstr>
  </property>
  <property fmtid="{D5CDD505-2E9C-101B-9397-08002B2CF9AE}" pid="136" name="D7">
    <vt:lpwstr>S</vt:lpwstr>
  </property>
  <property fmtid="{D5CDD505-2E9C-101B-9397-08002B2CF9AE}" pid="137" name="Chart_Num_Categories_On_XAxis">
    <vt:lpwstr>6</vt:lpwstr>
  </property>
  <property fmtid="{D5CDD505-2E9C-101B-9397-08002B2CF9AE}" pid="138" name="Chart_Annotation_Add_Date">
    <vt:lpwstr>True</vt:lpwstr>
  </property>
  <property fmtid="{D5CDD505-2E9C-101B-9397-08002B2CF9AE}" pid="139" name="Chart_Annotation_Date_Bold">
    <vt:lpwstr>True</vt:lpwstr>
  </property>
  <property fmtid="{D5CDD505-2E9C-101B-9397-08002B2CF9AE}" pid="140" name="Chart_Annotation_Date_Format">
    <vt:lpwstr>F1</vt:lpwstr>
  </property>
  <property fmtid="{D5CDD505-2E9C-101B-9397-08002B2CF9AE}" pid="141" name="Chart_Pie_Chart_Labels">
    <vt:lpwstr>True</vt:lpwstr>
  </property>
  <property fmtid="{D5CDD505-2E9C-101B-9397-08002B2CF9AE}" pid="142" name="Chart_Pie_Chart_Legend">
    <vt:lpwstr>False</vt:lpwstr>
  </property>
  <property fmtid="{D5CDD505-2E9C-101B-9397-08002B2CF9AE}" pid="143" name="Chart_Average_Translated-T">
    <vt:lpwstr>Average</vt:lpwstr>
  </property>
  <property fmtid="{D5CDD505-2E9C-101B-9397-08002B2CF9AE}" pid="144" name="Chart_Share_PX-T">
    <vt:lpwstr>Stock price</vt:lpwstr>
  </property>
  <property fmtid="{D5CDD505-2E9C-101B-9397-08002B2CF9AE}" pid="145" name="Chart_Stock_Volume_XAxis-T">
    <vt:lpwstr>Closing date</vt:lpwstr>
  </property>
  <property fmtid="{D5CDD505-2E9C-101B-9397-08002B2CF9AE}" pid="146" name="Chart_Volume_Label-T">
    <vt:lpwstr>Volume (000s)</vt:lpwstr>
  </property>
  <property fmtid="{D5CDD505-2E9C-101B-9397-08002B2CF9AE}" pid="147" name="Chart_Thick_Lines">
    <vt:lpwstr>False</vt:lpwstr>
  </property>
  <property fmtid="{D5CDD505-2E9C-101B-9397-08002B2CF9AE}" pid="148" name="Chart_Show_Gridlines">
    <vt:lpwstr>True</vt:lpwstr>
  </property>
  <property fmtid="{D5CDD505-2E9C-101B-9397-08002B2CF9AE}" pid="149" name="Chart_Show_YAxis">
    <vt:lpwstr>False</vt:lpwstr>
  </property>
  <property fmtid="{D5CDD505-2E9C-101B-9397-08002B2CF9AE}" pid="150" name="Chart_Use_Stack_White_Border">
    <vt:lpwstr>True</vt:lpwstr>
  </property>
  <property fmtid="{D5CDD505-2E9C-101B-9397-08002B2CF9AE}" pid="151" name="Chart_Use_Dash_Style">
    <vt:lpwstr>False</vt:lpwstr>
  </property>
  <property fmtid="{D5CDD505-2E9C-101B-9397-08002B2CF9AE}" pid="152" name="DateFormat.Ppt">
    <vt:lpwstr>F1</vt:lpwstr>
  </property>
  <property fmtid="{D5CDD505-2E9C-101B-9397-08002B2CF9AE}" pid="153" name="IncludeID.Ppt">
    <vt:bool>false</vt:bool>
  </property>
  <property fmtid="{D5CDD505-2E9C-101B-9397-08002B2CF9AE}" pid="154" name="DraftStamp.Ppt">
    <vt:bool>false</vt:bool>
  </property>
  <property fmtid="{D5CDD505-2E9C-101B-9397-08002B2CF9AE}" pid="155" name="SecurityLevel">
    <vt:lpwstr>1</vt:lpwstr>
  </property>
  <property fmtid="{D5CDD505-2E9C-101B-9397-08002B2CF9AE}" pid="156" name="PresPrint4x3OnScreen">
    <vt:bool>true</vt:bool>
  </property>
  <property fmtid="{D5CDD505-2E9C-101B-9397-08002B2CF9AE}" pid="157" name="_SIProp12DataClass+cc5a530f-41a6-45ea-9bc4-32c4db9fb913">
    <vt:lpwstr>v=1.2&gt;I=cc5a530f-41a6-45ea-9bc4-32c4db9fb913&amp;N=NotProtectedAttachment&amp;V=1.3&amp;U=System&amp;D=System&amp;A=Associated&amp;H=False</vt:lpwstr>
  </property>
  <property fmtid="{D5CDD505-2E9C-101B-9397-08002B2CF9AE}" pid="158" name="IQP_Classification">
    <vt:lpwstr>NotProtectedAttachment</vt:lpwstr>
  </property>
  <property fmtid="{D5CDD505-2E9C-101B-9397-08002B2CF9AE}" pid="159" name="MSIP_Label_0c1e85bf-ac82-4d95-8ebe-b1488d74b05a_Enabled">
    <vt:lpwstr>true</vt:lpwstr>
  </property>
  <property fmtid="{D5CDD505-2E9C-101B-9397-08002B2CF9AE}" pid="160" name="MSIP_Label_0c1e85bf-ac82-4d95-8ebe-b1488d74b05a_SetDate">
    <vt:lpwstr>2024-03-08T12:35:59Z</vt:lpwstr>
  </property>
  <property fmtid="{D5CDD505-2E9C-101B-9397-08002B2CF9AE}" pid="161" name="MSIP_Label_0c1e85bf-ac82-4d95-8ebe-b1488d74b05a_Method">
    <vt:lpwstr>Privileged</vt:lpwstr>
  </property>
  <property fmtid="{D5CDD505-2E9C-101B-9397-08002B2CF9AE}" pid="162" name="MSIP_Label_0c1e85bf-ac82-4d95-8ebe-b1488d74b05a_Name">
    <vt:lpwstr>0c1e85bf-ac82-4d95-8ebe-b1488d74b05a</vt:lpwstr>
  </property>
  <property fmtid="{D5CDD505-2E9C-101B-9397-08002B2CF9AE}" pid="163" name="MSIP_Label_0c1e85bf-ac82-4d95-8ebe-b1488d74b05a_SiteId">
    <vt:lpwstr>fb6ea403-7cf1-4905-810a-fe5547e98204</vt:lpwstr>
  </property>
  <property fmtid="{D5CDD505-2E9C-101B-9397-08002B2CF9AE}" pid="164" name="MSIP_Label_0c1e85bf-ac82-4d95-8ebe-b1488d74b05a_ActionId">
    <vt:lpwstr>e1df0a75-aabd-489c-ba9d-8eaac9440487</vt:lpwstr>
  </property>
  <property fmtid="{D5CDD505-2E9C-101B-9397-08002B2CF9AE}" pid="165" name="MSIP_Label_0c1e85bf-ac82-4d95-8ebe-b1488d74b05a_ContentBits">
    <vt:lpwstr>0</vt:lpwstr>
  </property>
</Properties>
</file>